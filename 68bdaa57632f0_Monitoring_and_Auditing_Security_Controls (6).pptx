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758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2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8.png"/><Relationship Id="rId17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7.png"/><Relationship Id="rId5" Type="http://schemas.openxmlformats.org/officeDocument/2006/relationships/image" Target="../media/image42.png"/><Relationship Id="rId15" Type="http://schemas.openxmlformats.org/officeDocument/2006/relationships/image" Target="../media/image19.png"/><Relationship Id="rId10" Type="http://schemas.openxmlformats.org/officeDocument/2006/relationships/image" Target="../media/image46.png"/><Relationship Id="rId4" Type="http://schemas.openxmlformats.org/officeDocument/2006/relationships/image" Target="../media/image41.png"/><Relationship Id="rId9" Type="http://schemas.openxmlformats.org/officeDocument/2006/relationships/image" Target="../media/image13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38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19.png"/><Relationship Id="rId5" Type="http://schemas.openxmlformats.org/officeDocument/2006/relationships/image" Target="../media/image53.png"/><Relationship Id="rId15" Type="http://schemas.openxmlformats.org/officeDocument/2006/relationships/image" Target="../media/image58.png"/><Relationship Id="rId10" Type="http://schemas.openxmlformats.org/officeDocument/2006/relationships/image" Target="../media/image57.png"/><Relationship Id="rId4" Type="http://schemas.openxmlformats.org/officeDocument/2006/relationships/image" Target="../media/image52.png"/><Relationship Id="rId9" Type="http://schemas.openxmlformats.org/officeDocument/2006/relationships/image" Target="../media/image43.png"/><Relationship Id="rId1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1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5" Type="http://schemas.openxmlformats.org/officeDocument/2006/relationships/image" Target="../media/image55.png"/><Relationship Id="rId10" Type="http://schemas.openxmlformats.org/officeDocument/2006/relationships/image" Target="../media/image65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6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12" Type="http://schemas.openxmlformats.org/officeDocument/2006/relationships/image" Target="../media/image15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58.png"/><Relationship Id="rId5" Type="http://schemas.openxmlformats.org/officeDocument/2006/relationships/image" Target="../media/image71.png"/><Relationship Id="rId15" Type="http://schemas.openxmlformats.org/officeDocument/2006/relationships/image" Target="../media/image78.png"/><Relationship Id="rId10" Type="http://schemas.openxmlformats.org/officeDocument/2006/relationships/image" Target="../media/image75.png"/><Relationship Id="rId4" Type="http://schemas.openxmlformats.org/officeDocument/2006/relationships/image" Target="../media/image57.png"/><Relationship Id="rId9" Type="http://schemas.openxmlformats.org/officeDocument/2006/relationships/image" Target="../media/image59.png"/><Relationship Id="rId14" Type="http://schemas.openxmlformats.org/officeDocument/2006/relationships/image" Target="../media/image7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8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12" Type="http://schemas.openxmlformats.org/officeDocument/2006/relationships/image" Target="../media/image8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11" Type="http://schemas.openxmlformats.org/officeDocument/2006/relationships/image" Target="../media/image86.png"/><Relationship Id="rId5" Type="http://schemas.openxmlformats.org/officeDocument/2006/relationships/image" Target="../media/image81.png"/><Relationship Id="rId15" Type="http://schemas.openxmlformats.org/officeDocument/2006/relationships/image" Target="../media/image89.png"/><Relationship Id="rId10" Type="http://schemas.openxmlformats.org/officeDocument/2006/relationships/image" Target="../media/image39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Relationship Id="rId14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82.png"/><Relationship Id="rId18" Type="http://schemas.openxmlformats.org/officeDocument/2006/relationships/image" Target="../media/image103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12" Type="http://schemas.openxmlformats.org/officeDocument/2006/relationships/image" Target="../media/image49.png"/><Relationship Id="rId17" Type="http://schemas.openxmlformats.org/officeDocument/2006/relationships/image" Target="../media/image10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11" Type="http://schemas.openxmlformats.org/officeDocument/2006/relationships/image" Target="../media/image98.png"/><Relationship Id="rId5" Type="http://schemas.openxmlformats.org/officeDocument/2006/relationships/image" Target="../media/image92.png"/><Relationship Id="rId15" Type="http://schemas.openxmlformats.org/officeDocument/2006/relationships/image" Target="../media/image100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Relationship Id="rId14" Type="http://schemas.openxmlformats.org/officeDocument/2006/relationships/image" Target="../media/image9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112.png"/><Relationship Id="rId18" Type="http://schemas.openxmlformats.org/officeDocument/2006/relationships/image" Target="../media/image116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1.png"/><Relationship Id="rId17" Type="http://schemas.openxmlformats.org/officeDocument/2006/relationships/image" Target="../media/image65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5.png"/><Relationship Id="rId20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30.png"/><Relationship Id="rId5" Type="http://schemas.openxmlformats.org/officeDocument/2006/relationships/image" Target="../media/image106.png"/><Relationship Id="rId15" Type="http://schemas.openxmlformats.org/officeDocument/2006/relationships/image" Target="../media/image114.png"/><Relationship Id="rId10" Type="http://schemas.openxmlformats.org/officeDocument/2006/relationships/image" Target="../media/image110.png"/><Relationship Id="rId19" Type="http://schemas.openxmlformats.org/officeDocument/2006/relationships/image" Target="../media/image117.png"/><Relationship Id="rId4" Type="http://schemas.openxmlformats.org/officeDocument/2006/relationships/image" Target="../media/image105.png"/><Relationship Id="rId9" Type="http://schemas.openxmlformats.org/officeDocument/2006/relationships/image" Target="../media/image109.png"/><Relationship Id="rId14" Type="http://schemas.openxmlformats.org/officeDocument/2006/relationships/image" Target="../media/image1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4.png"/><Relationship Id="rId18" Type="http://schemas.openxmlformats.org/officeDocument/2006/relationships/image" Target="../media/image32.png"/><Relationship Id="rId3" Type="http://schemas.openxmlformats.org/officeDocument/2006/relationships/image" Target="../media/image104.png"/><Relationship Id="rId7" Type="http://schemas.openxmlformats.org/officeDocument/2006/relationships/image" Target="../media/image16.png"/><Relationship Id="rId12" Type="http://schemas.openxmlformats.org/officeDocument/2006/relationships/image" Target="../media/image43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1.png"/><Relationship Id="rId11" Type="http://schemas.openxmlformats.org/officeDocument/2006/relationships/image" Target="../media/image81.png"/><Relationship Id="rId5" Type="http://schemas.openxmlformats.org/officeDocument/2006/relationships/image" Target="../media/image120.png"/><Relationship Id="rId15" Type="http://schemas.openxmlformats.org/officeDocument/2006/relationships/image" Target="../media/image126.png"/><Relationship Id="rId10" Type="http://schemas.openxmlformats.org/officeDocument/2006/relationships/image" Target="../media/image25.png"/><Relationship Id="rId19" Type="http://schemas.openxmlformats.org/officeDocument/2006/relationships/image" Target="../media/image24.png"/><Relationship Id="rId4" Type="http://schemas.openxmlformats.org/officeDocument/2006/relationships/image" Target="../media/image119.png"/><Relationship Id="rId9" Type="http://schemas.openxmlformats.org/officeDocument/2006/relationships/image" Target="../media/image123.png"/><Relationship Id="rId14" Type="http://schemas.openxmlformats.org/officeDocument/2006/relationships/image" Target="../media/image1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48.png"/><Relationship Id="rId3" Type="http://schemas.openxmlformats.org/officeDocument/2006/relationships/image" Target="../media/image128.png"/><Relationship Id="rId7" Type="http://schemas.openxmlformats.org/officeDocument/2006/relationships/image" Target="../media/image131.png"/><Relationship Id="rId12" Type="http://schemas.openxmlformats.org/officeDocument/2006/relationships/image" Target="../media/image134.png"/><Relationship Id="rId17" Type="http://schemas.openxmlformats.org/officeDocument/2006/relationships/image" Target="../media/image8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3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37.png"/><Relationship Id="rId5" Type="http://schemas.openxmlformats.org/officeDocument/2006/relationships/image" Target="../media/image130.png"/><Relationship Id="rId15" Type="http://schemas.openxmlformats.org/officeDocument/2006/relationships/image" Target="../media/image136.png"/><Relationship Id="rId10" Type="http://schemas.openxmlformats.org/officeDocument/2006/relationships/image" Target="../media/image30.png"/><Relationship Id="rId4" Type="http://schemas.openxmlformats.org/officeDocument/2006/relationships/image" Target="../media/image129.png"/><Relationship Id="rId9" Type="http://schemas.openxmlformats.org/officeDocument/2006/relationships/image" Target="../media/image133.png"/><Relationship Id="rId14" Type="http://schemas.openxmlformats.org/officeDocument/2006/relationships/image" Target="../media/image13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87.png"/><Relationship Id="rId3" Type="http://schemas.openxmlformats.org/officeDocument/2006/relationships/image" Target="../media/image138.png"/><Relationship Id="rId7" Type="http://schemas.openxmlformats.org/officeDocument/2006/relationships/image" Target="../media/image47.png"/><Relationship Id="rId12" Type="http://schemas.openxmlformats.org/officeDocument/2006/relationships/image" Target="../media/image14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4.png"/><Relationship Id="rId5" Type="http://schemas.openxmlformats.org/officeDocument/2006/relationships/image" Target="../media/image139.png"/><Relationship Id="rId10" Type="http://schemas.openxmlformats.org/officeDocument/2006/relationships/image" Target="../media/image143.png"/><Relationship Id="rId4" Type="http://schemas.openxmlformats.org/officeDocument/2006/relationships/image" Target="../media/image13.png"/><Relationship Id="rId9" Type="http://schemas.openxmlformats.org/officeDocument/2006/relationships/image" Target="../media/image142.png"/><Relationship Id="rId14" Type="http://schemas.openxmlformats.org/officeDocument/2006/relationships/image" Target="../media/image14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80.png"/><Relationship Id="rId18" Type="http://schemas.openxmlformats.org/officeDocument/2006/relationships/image" Target="../media/image153.png"/><Relationship Id="rId3" Type="http://schemas.openxmlformats.org/officeDocument/2006/relationships/image" Target="../media/image138.png"/><Relationship Id="rId7" Type="http://schemas.openxmlformats.org/officeDocument/2006/relationships/image" Target="../media/image25.png"/><Relationship Id="rId12" Type="http://schemas.openxmlformats.org/officeDocument/2006/relationships/image" Target="../media/image116.png"/><Relationship Id="rId17" Type="http://schemas.openxmlformats.org/officeDocument/2006/relationships/image" Target="../media/image15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9.png"/><Relationship Id="rId20" Type="http://schemas.openxmlformats.org/officeDocument/2006/relationships/image" Target="../media/image15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11" Type="http://schemas.openxmlformats.org/officeDocument/2006/relationships/image" Target="../media/image151.png"/><Relationship Id="rId5" Type="http://schemas.openxmlformats.org/officeDocument/2006/relationships/image" Target="../media/image148.png"/><Relationship Id="rId15" Type="http://schemas.openxmlformats.org/officeDocument/2006/relationships/image" Target="../media/image58.png"/><Relationship Id="rId10" Type="http://schemas.openxmlformats.org/officeDocument/2006/relationships/image" Target="../media/image150.png"/><Relationship Id="rId19" Type="http://schemas.openxmlformats.org/officeDocument/2006/relationships/image" Target="../media/image154.png"/><Relationship Id="rId4" Type="http://schemas.openxmlformats.org/officeDocument/2006/relationships/image" Target="../media/image147.png"/><Relationship Id="rId9" Type="http://schemas.openxmlformats.org/officeDocument/2006/relationships/image" Target="../media/image32.png"/><Relationship Id="rId1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13" Type="http://schemas.openxmlformats.org/officeDocument/2006/relationships/image" Target="../media/image165.png"/><Relationship Id="rId18" Type="http://schemas.openxmlformats.org/officeDocument/2006/relationships/image" Target="../media/image170.png"/><Relationship Id="rId3" Type="http://schemas.openxmlformats.org/officeDocument/2006/relationships/image" Target="../media/image138.png"/><Relationship Id="rId7" Type="http://schemas.openxmlformats.org/officeDocument/2006/relationships/image" Target="../media/image159.png"/><Relationship Id="rId12" Type="http://schemas.openxmlformats.org/officeDocument/2006/relationships/image" Target="../media/image164.png"/><Relationship Id="rId17" Type="http://schemas.openxmlformats.org/officeDocument/2006/relationships/image" Target="../media/image16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pn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5" Type="http://schemas.openxmlformats.org/officeDocument/2006/relationships/image" Target="../media/image167.png"/><Relationship Id="rId10" Type="http://schemas.openxmlformats.org/officeDocument/2006/relationships/image" Target="../media/image162.png"/><Relationship Id="rId4" Type="http://schemas.openxmlformats.org/officeDocument/2006/relationships/image" Target="../media/image156.png"/><Relationship Id="rId9" Type="http://schemas.openxmlformats.org/officeDocument/2006/relationships/image" Target="../media/image161.png"/><Relationship Id="rId14" Type="http://schemas.openxmlformats.org/officeDocument/2006/relationships/image" Target="../media/image1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7475" y="757238"/>
            <a:ext cx="3829050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ICDFA GRC102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1194792" y="1671638"/>
            <a:ext cx="6754416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4: Monitoring and Auditing Security Controls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3111103" y="2343150"/>
            <a:ext cx="292179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AED6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Information Security Governance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90000"/>
          </a:blip>
          <a:stretch>
            <a:fillRect/>
          </a:stretch>
        </p:blipFill>
        <p:spPr>
          <a:xfrm>
            <a:off x="3671888" y="3314700"/>
            <a:ext cx="342900" cy="3429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4443413" y="3314700"/>
            <a:ext cx="342900" cy="34290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>
            <a:alphaModFix amt="90000"/>
          </a:blip>
          <a:stretch>
            <a:fillRect/>
          </a:stretch>
        </p:blipFill>
        <p:spPr>
          <a:xfrm>
            <a:off x="5214938" y="3314700"/>
            <a:ext cx="257175" cy="3429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84979" y="3943350"/>
            <a:ext cx="6174042" cy="442913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INTERNATIONAL CYBERSECURITY AND DIGITAL FORENSICS ACADEMY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63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Objectives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957263"/>
            <a:ext cx="857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the end of this week, you will be able to understand and apply key concepts related to monitoring and auditing security controls in an information security governance context. </a:t>
            </a:r>
            <a:endParaRPr lang="en-US" sz="1046" dirty="0"/>
          </a:p>
        </p:txBody>
      </p:sp>
      <p:sp>
        <p:nvSpPr>
          <p:cNvPr id="6" name="Shape 3"/>
          <p:cNvSpPr/>
          <p:nvPr/>
        </p:nvSpPr>
        <p:spPr>
          <a:xfrm>
            <a:off x="285750" y="1600200"/>
            <a:ext cx="4214813" cy="106154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785938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7231" y="1743075"/>
            <a:ext cx="36504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Monitoring</a:t>
            </a:r>
            <a:endParaRPr lang="en-US" sz="1046" dirty="0"/>
          </a:p>
        </p:txBody>
      </p:sp>
      <p:sp>
        <p:nvSpPr>
          <p:cNvPr id="9" name="Text 5"/>
          <p:cNvSpPr/>
          <p:nvPr/>
        </p:nvSpPr>
        <p:spPr>
          <a:xfrm>
            <a:off x="707231" y="1978819"/>
            <a:ext cx="36504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Explain the principles of continuous monitoring and its role in security governance, including key frameworks and methodologies.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4643438" y="1600200"/>
            <a:ext cx="4214813" cy="106154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785938"/>
            <a:ext cx="171450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64919" y="1743075"/>
            <a:ext cx="36504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Metrics</a:t>
            </a:r>
            <a:endParaRPr lang="en-US" sz="1046" dirty="0"/>
          </a:p>
        </p:txBody>
      </p:sp>
      <p:sp>
        <p:nvSpPr>
          <p:cNvPr id="13" name="Text 8"/>
          <p:cNvSpPr/>
          <p:nvPr/>
        </p:nvSpPr>
        <p:spPr>
          <a:xfrm>
            <a:off x="5064919" y="1978819"/>
            <a:ext cx="36504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and implement effective security metrics and key performance indicators (KPIs) to measure security control effectiveness.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285750" y="2804620"/>
            <a:ext cx="4214813" cy="106154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990357"/>
            <a:ext cx="128588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4369" y="2947495"/>
            <a:ext cx="36933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Methodologies</a:t>
            </a:r>
            <a:endParaRPr lang="en-US" sz="1046" dirty="0"/>
          </a:p>
        </p:txBody>
      </p:sp>
      <p:sp>
        <p:nvSpPr>
          <p:cNvPr id="17" name="Text 11"/>
          <p:cNvSpPr/>
          <p:nvPr/>
        </p:nvSpPr>
        <p:spPr>
          <a:xfrm>
            <a:off x="664369" y="3183238"/>
            <a:ext cx="3693319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Apply security audit methodologies to evaluate the implementation and effectiveness of security controls across the organization.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4643438" y="2804620"/>
            <a:ext cx="4214813" cy="106154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2990357"/>
            <a:ext cx="171450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64919" y="2947495"/>
            <a:ext cx="365045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Collection</a:t>
            </a:r>
            <a:endParaRPr lang="en-US" sz="1046" dirty="0"/>
          </a:p>
        </p:txBody>
      </p:sp>
      <p:sp>
        <p:nvSpPr>
          <p:cNvPr id="21" name="Text 14"/>
          <p:cNvSpPr/>
          <p:nvPr/>
        </p:nvSpPr>
        <p:spPr>
          <a:xfrm>
            <a:off x="5064919" y="3183238"/>
            <a:ext cx="36504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Demonstrate techniques for collecting, analyzing, and documenting audit evidence to support security governance decisions.</a:t>
            </a:r>
            <a:endParaRPr lang="en-US" sz="942" dirty="0"/>
          </a:p>
        </p:txBody>
      </p:sp>
      <p:sp>
        <p:nvSpPr>
          <p:cNvPr id="22" name="Shape 15"/>
          <p:cNvSpPr/>
          <p:nvPr/>
        </p:nvSpPr>
        <p:spPr>
          <a:xfrm>
            <a:off x="285750" y="4009039"/>
            <a:ext cx="4214813" cy="106154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25" y="4194777"/>
            <a:ext cx="128588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64369" y="4151914"/>
            <a:ext cx="369331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Monitoring</a:t>
            </a:r>
            <a:endParaRPr lang="en-US" sz="1046" dirty="0"/>
          </a:p>
        </p:txBody>
      </p:sp>
      <p:sp>
        <p:nvSpPr>
          <p:cNvPr id="25" name="Text 17"/>
          <p:cNvSpPr/>
          <p:nvPr/>
        </p:nvSpPr>
        <p:spPr>
          <a:xfrm>
            <a:off x="664369" y="4387658"/>
            <a:ext cx="369331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strategies for monitoring compliance with security policies, standards, and regulatory requirements.</a:t>
            </a:r>
            <a:endParaRPr lang="en-US" sz="942" dirty="0"/>
          </a:p>
        </p:txBody>
      </p:sp>
      <p:sp>
        <p:nvSpPr>
          <p:cNvPr id="26" name="Shape 18"/>
          <p:cNvSpPr/>
          <p:nvPr/>
        </p:nvSpPr>
        <p:spPr>
          <a:xfrm>
            <a:off x="4643438" y="4009039"/>
            <a:ext cx="4214813" cy="106154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4194777"/>
            <a:ext cx="214313" cy="1714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07781" y="4151914"/>
            <a:ext cx="360759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Technologies</a:t>
            </a:r>
            <a:endParaRPr lang="en-US" sz="1046" dirty="0"/>
          </a:p>
        </p:txBody>
      </p:sp>
      <p:sp>
        <p:nvSpPr>
          <p:cNvPr id="29" name="Text 20"/>
          <p:cNvSpPr/>
          <p:nvPr/>
        </p:nvSpPr>
        <p:spPr>
          <a:xfrm>
            <a:off x="5107781" y="4387658"/>
            <a:ext cx="36075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Evaluate security monitoring technologies, including SIEM systems, log management tools, and automation approaches.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2917"/>
            <a:ext cx="9144000" cy="60734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Monitoring Overview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Continuous monitoring is an ongoing process of maintaining awareness of information security vulnerabilities and threats to support organizational risk management decisions.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Components of Continuous Monitoring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1765204"/>
            <a:ext cx="4924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Visibility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071060" y="1765204"/>
            <a:ext cx="30771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Comprehensive view of security posture across systems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78644" y="1913772"/>
            <a:ext cx="7637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networks.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40920"/>
            <a:ext cx="128588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2931" y="2119489"/>
            <a:ext cx="11968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Awareness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789788" y="2119489"/>
            <a:ext cx="2188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Timely detection of security events and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92931" y="2268057"/>
            <a:ext cx="4804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changes.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495206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8644" y="2473775"/>
            <a:ext cx="15011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 and Measurement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2079752" y="2473775"/>
            <a:ext cx="1837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Quantifiable indicators to assess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78644" y="2622342"/>
            <a:ext cx="114015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effectiveness.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849491"/>
            <a:ext cx="142875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7219" y="2828060"/>
            <a:ext cx="6859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293158" y="2828060"/>
            <a:ext cx="29637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Use of automated tools to collect, analyze, and report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607219" y="2976628"/>
            <a:ext cx="890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security data.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285750" y="3400230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392906" y="350738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Benefits of Continuous Monitoring</a:t>
            </a:r>
            <a:endParaRPr lang="en-US" sz="1046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796708"/>
            <a:ext cx="114300" cy="1143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78644" y="3775277"/>
            <a:ext cx="15234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Enhanced Security Posture</a:t>
            </a:r>
            <a:endParaRPr lang="en-US" sz="837" dirty="0"/>
          </a:p>
        </p:txBody>
      </p:sp>
      <p:sp>
        <p:nvSpPr>
          <p:cNvPr id="28" name="Text 20"/>
          <p:cNvSpPr/>
          <p:nvPr/>
        </p:nvSpPr>
        <p:spPr>
          <a:xfrm>
            <a:off x="2102048" y="3775277"/>
            <a:ext cx="20807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Faster identification and remediation </a:t>
            </a:r>
            <a:endParaRPr lang="en-US" sz="837" dirty="0"/>
          </a:p>
        </p:txBody>
      </p:sp>
      <p:sp>
        <p:nvSpPr>
          <p:cNvPr id="29" name="Text 21"/>
          <p:cNvSpPr/>
          <p:nvPr/>
        </p:nvSpPr>
        <p:spPr>
          <a:xfrm>
            <a:off x="578644" y="3923844"/>
            <a:ext cx="8121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 weaknesses. </a:t>
            </a:r>
            <a:endParaRPr lang="en-US" sz="837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4150993"/>
            <a:ext cx="142875" cy="1143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07219" y="4129562"/>
            <a:ext cx="16148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Improved Risk Management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2222069" y="4129562"/>
            <a:ext cx="19399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Better data for risk-based decision </a:t>
            </a:r>
            <a:endParaRPr lang="en-US" sz="837" dirty="0"/>
          </a:p>
        </p:txBody>
      </p:sp>
      <p:sp>
        <p:nvSpPr>
          <p:cNvPr id="33" name="Text 24"/>
          <p:cNvSpPr/>
          <p:nvPr/>
        </p:nvSpPr>
        <p:spPr>
          <a:xfrm>
            <a:off x="607219" y="4278130"/>
            <a:ext cx="4330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making. </a:t>
            </a:r>
            <a:endParaRPr lang="en-US" sz="837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" y="4505278"/>
            <a:ext cx="85725" cy="11430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50069" y="4483847"/>
            <a:ext cx="13937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Streamlined Compliance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1943853" y="4483847"/>
            <a:ext cx="21132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Ongoing evidence of compliance with </a:t>
            </a:r>
            <a:endParaRPr lang="en-US" sz="837" dirty="0"/>
          </a:p>
        </p:txBody>
      </p:sp>
      <p:sp>
        <p:nvSpPr>
          <p:cNvPr id="37" name="Text 27"/>
          <p:cNvSpPr/>
          <p:nvPr/>
        </p:nvSpPr>
        <p:spPr>
          <a:xfrm>
            <a:off x="550069" y="4632415"/>
            <a:ext cx="4326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policies. </a:t>
            </a:r>
            <a:endParaRPr lang="en-US" sz="837" dirty="0"/>
          </a:p>
        </p:txBody>
      </p:sp>
      <p:sp>
        <p:nvSpPr>
          <p:cNvPr id="38" name="Shape 28"/>
          <p:cNvSpPr/>
          <p:nvPr/>
        </p:nvSpPr>
        <p:spPr>
          <a:xfrm>
            <a:off x="4842765" y="574533"/>
            <a:ext cx="3908329" cy="18665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9" name="Text 29"/>
          <p:cNvSpPr/>
          <p:nvPr/>
        </p:nvSpPr>
        <p:spPr>
          <a:xfrm>
            <a:off x="4949921" y="689263"/>
            <a:ext cx="3704771" cy="16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Monitoring Lifecycle</a:t>
            </a:r>
            <a:endParaRPr lang="en-US" sz="1046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49921" y="953151"/>
            <a:ext cx="3704771" cy="1696324"/>
          </a:xfrm>
          <a:prstGeom prst="rect">
            <a:avLst/>
          </a:prstGeom>
        </p:spPr>
      </p:pic>
      <p:sp>
        <p:nvSpPr>
          <p:cNvPr id="41" name="Shape 30"/>
          <p:cNvSpPr/>
          <p:nvPr/>
        </p:nvSpPr>
        <p:spPr>
          <a:xfrm>
            <a:off x="4801305" y="2649475"/>
            <a:ext cx="4114800" cy="140006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2" name="Text 31"/>
          <p:cNvSpPr/>
          <p:nvPr/>
        </p:nvSpPr>
        <p:spPr>
          <a:xfrm>
            <a:off x="4908461" y="275663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Frameworks and Standards</a:t>
            </a:r>
            <a:endParaRPr lang="en-US" sz="1046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08461" y="3045953"/>
            <a:ext cx="100013" cy="1143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79911" y="3024522"/>
            <a:ext cx="8898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NIST SP 800-137</a:t>
            </a:r>
            <a:endParaRPr lang="en-US" sz="837" dirty="0"/>
          </a:p>
        </p:txBody>
      </p:sp>
      <p:sp>
        <p:nvSpPr>
          <p:cNvPr id="45" name="Text 33"/>
          <p:cNvSpPr/>
          <p:nvPr/>
        </p:nvSpPr>
        <p:spPr>
          <a:xfrm>
            <a:off x="5969755" y="3024522"/>
            <a:ext cx="24805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Information Security Continuous Monitoring </a:t>
            </a:r>
            <a:endParaRPr lang="en-US" sz="837" dirty="0"/>
          </a:p>
        </p:txBody>
      </p:sp>
      <p:sp>
        <p:nvSpPr>
          <p:cNvPr id="46" name="Text 34"/>
          <p:cNvSpPr/>
          <p:nvPr/>
        </p:nvSpPr>
        <p:spPr>
          <a:xfrm>
            <a:off x="5079911" y="3173089"/>
            <a:ext cx="6152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framework. </a:t>
            </a:r>
            <a:endParaRPr lang="en-US" sz="837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08461" y="3400238"/>
            <a:ext cx="100013" cy="1143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79911" y="3378807"/>
            <a:ext cx="10776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ISO/IEC 27001:2013</a:t>
            </a:r>
            <a:endParaRPr lang="en-US" sz="837" dirty="0"/>
          </a:p>
        </p:txBody>
      </p:sp>
      <p:sp>
        <p:nvSpPr>
          <p:cNvPr id="49" name="Text 36"/>
          <p:cNvSpPr/>
          <p:nvPr/>
        </p:nvSpPr>
        <p:spPr>
          <a:xfrm>
            <a:off x="6157557" y="3378807"/>
            <a:ext cx="1997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Monitoring, measurement, analysis </a:t>
            </a:r>
            <a:endParaRPr lang="en-US" sz="837" dirty="0"/>
          </a:p>
        </p:txBody>
      </p:sp>
      <p:sp>
        <p:nvSpPr>
          <p:cNvPr id="50" name="Text 37"/>
          <p:cNvSpPr/>
          <p:nvPr/>
        </p:nvSpPr>
        <p:spPr>
          <a:xfrm>
            <a:off x="5079911" y="3527375"/>
            <a:ext cx="7578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requirements. </a:t>
            </a:r>
            <a:endParaRPr lang="en-US" sz="837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8461" y="3754524"/>
            <a:ext cx="100013" cy="1143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79911" y="3733092"/>
            <a:ext cx="6402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COBIT 2019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5720114" y="3733092"/>
            <a:ext cx="30171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Monitor, Evaluate and Assess (MEA) domain processes. </a:t>
            </a:r>
            <a:endParaRPr lang="en-US" sz="837" dirty="0"/>
          </a:p>
        </p:txBody>
      </p:sp>
      <p:sp>
        <p:nvSpPr>
          <p:cNvPr id="54" name="Shape 40"/>
          <p:cNvSpPr/>
          <p:nvPr/>
        </p:nvSpPr>
        <p:spPr>
          <a:xfrm>
            <a:off x="4788580" y="4034721"/>
            <a:ext cx="4114800" cy="1194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5" name="Text 41"/>
          <p:cNvSpPr/>
          <p:nvPr/>
        </p:nvSpPr>
        <p:spPr>
          <a:xfrm>
            <a:off x="4895736" y="4141878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Challenges</a:t>
            </a:r>
            <a:endParaRPr lang="en-US" sz="1046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5736" y="4431200"/>
            <a:ext cx="114300" cy="114300"/>
          </a:xfrm>
          <a:prstGeom prst="rect">
            <a:avLst/>
          </a:prstGeom>
        </p:spPr>
      </p:pic>
      <p:sp>
        <p:nvSpPr>
          <p:cNvPr id="57" name="Text 42"/>
          <p:cNvSpPr/>
          <p:nvPr/>
        </p:nvSpPr>
        <p:spPr>
          <a:xfrm>
            <a:off x="5081474" y="4409768"/>
            <a:ext cx="10694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Intensity</a:t>
            </a:r>
            <a:endParaRPr lang="en-US" sz="837" dirty="0"/>
          </a:p>
        </p:txBody>
      </p:sp>
      <p:sp>
        <p:nvSpPr>
          <p:cNvPr id="58" name="Text 43"/>
          <p:cNvSpPr/>
          <p:nvPr/>
        </p:nvSpPr>
        <p:spPr>
          <a:xfrm>
            <a:off x="6150888" y="4409768"/>
            <a:ext cx="2584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Requires significant technology and personnel </a:t>
            </a:r>
            <a:endParaRPr lang="en-US" sz="837" dirty="0"/>
          </a:p>
        </p:txBody>
      </p:sp>
      <p:sp>
        <p:nvSpPr>
          <p:cNvPr id="59" name="Text 44"/>
          <p:cNvSpPr/>
          <p:nvPr/>
        </p:nvSpPr>
        <p:spPr>
          <a:xfrm>
            <a:off x="5081474" y="4558336"/>
            <a:ext cx="5535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resources. </a:t>
            </a:r>
            <a:endParaRPr lang="en-US" sz="837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95736" y="4785485"/>
            <a:ext cx="114300" cy="11430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5081474" y="4764054"/>
            <a:ext cx="8244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Overload</a:t>
            </a:r>
            <a:endParaRPr lang="en-US" sz="837" dirty="0"/>
          </a:p>
        </p:txBody>
      </p:sp>
      <p:sp>
        <p:nvSpPr>
          <p:cNvPr id="62" name="Text 46"/>
          <p:cNvSpPr/>
          <p:nvPr/>
        </p:nvSpPr>
        <p:spPr>
          <a:xfrm>
            <a:off x="5905935" y="4764054"/>
            <a:ext cx="27909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Managing and analyzing large volumes of security </a:t>
            </a:r>
            <a:endParaRPr lang="en-US" sz="837" dirty="0"/>
          </a:p>
        </p:txBody>
      </p:sp>
      <p:sp>
        <p:nvSpPr>
          <p:cNvPr id="63" name="Text 47"/>
          <p:cNvSpPr/>
          <p:nvPr/>
        </p:nvSpPr>
        <p:spPr>
          <a:xfrm>
            <a:off x="5081474" y="4912621"/>
            <a:ext cx="2704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data. </a:t>
            </a:r>
            <a:endParaRPr lang="en-US" sz="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7341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Metrics and Measurement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Security metrics provide quantifiable measurements to evaluate the effectiveness of security controls and inform governance decisions.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210140"/>
            <a:ext cx="4114800" cy="13086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31729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Characteristics of Effective Security Metrics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606618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1585187"/>
            <a:ext cx="5019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Relevant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080548" y="1585187"/>
            <a:ext cx="2833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Aligned with security objectives and business goals </a:t>
            </a:r>
            <a:endParaRPr lang="en-US" sz="83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1812336"/>
            <a:ext cx="85725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0069" y="1790905"/>
            <a:ext cx="6696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Measurable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1219767" y="1790905"/>
            <a:ext cx="15048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Quantifiable and objective </a:t>
            </a:r>
            <a:endParaRPr lang="en-US" sz="83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018054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8644" y="1996622"/>
            <a:ext cx="6117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Actionable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1190383" y="1996622"/>
            <a:ext cx="20791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Provides insights that drive decisions </a:t>
            </a:r>
            <a:endParaRPr lang="en-US" sz="83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223771"/>
            <a:ext cx="114300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78644" y="2202340"/>
            <a:ext cx="6453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Repeatable</a:t>
            </a:r>
            <a:endParaRPr lang="en-US" sz="837" dirty="0"/>
          </a:p>
        </p:txBody>
      </p:sp>
      <p:sp>
        <p:nvSpPr>
          <p:cNvPr id="19" name="Text 12"/>
          <p:cNvSpPr/>
          <p:nvPr/>
        </p:nvSpPr>
        <p:spPr>
          <a:xfrm>
            <a:off x="1223981" y="2202340"/>
            <a:ext cx="1954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Consistently measurable over time </a:t>
            </a:r>
            <a:endParaRPr lang="en-US" sz="837" dirty="0"/>
          </a:p>
        </p:txBody>
      </p:sp>
      <p:sp>
        <p:nvSpPr>
          <p:cNvPr id="20" name="Shape 13"/>
          <p:cNvSpPr/>
          <p:nvPr/>
        </p:nvSpPr>
        <p:spPr>
          <a:xfrm>
            <a:off x="285750" y="2625942"/>
            <a:ext cx="4114800" cy="13086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392906" y="2733098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Security Metrics</a:t>
            </a:r>
            <a:endParaRPr lang="en-US" sz="1046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022420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78644" y="3000989"/>
            <a:ext cx="13923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Metrics</a:t>
            </a:r>
            <a:endParaRPr lang="en-US" sz="837" dirty="0"/>
          </a:p>
        </p:txBody>
      </p:sp>
      <p:sp>
        <p:nvSpPr>
          <p:cNvPr id="24" name="Text 16"/>
          <p:cNvSpPr/>
          <p:nvPr/>
        </p:nvSpPr>
        <p:spPr>
          <a:xfrm>
            <a:off x="1970949" y="3000989"/>
            <a:ext cx="2288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Measure deployment of security controls </a:t>
            </a:r>
            <a:endParaRPr lang="en-US" sz="837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3228138"/>
            <a:ext cx="128588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92931" y="3206707"/>
            <a:ext cx="12090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Effectiveness Metrics</a:t>
            </a:r>
            <a:endParaRPr lang="en-US" sz="837" dirty="0"/>
          </a:p>
        </p:txBody>
      </p:sp>
      <p:sp>
        <p:nvSpPr>
          <p:cNvPr id="27" name="Text 18"/>
          <p:cNvSpPr/>
          <p:nvPr/>
        </p:nvSpPr>
        <p:spPr>
          <a:xfrm>
            <a:off x="1802011" y="3206707"/>
            <a:ext cx="2197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Measure how well controls are working </a:t>
            </a:r>
            <a:endParaRPr lang="en-US" sz="837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906" y="3433856"/>
            <a:ext cx="114300" cy="1143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78644" y="3412424"/>
            <a:ext cx="6949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Metrics</a:t>
            </a:r>
            <a:endParaRPr lang="en-US" sz="837" dirty="0"/>
          </a:p>
        </p:txBody>
      </p:sp>
      <p:sp>
        <p:nvSpPr>
          <p:cNvPr id="30" name="Text 20"/>
          <p:cNvSpPr/>
          <p:nvPr/>
        </p:nvSpPr>
        <p:spPr>
          <a:xfrm>
            <a:off x="1273597" y="3412424"/>
            <a:ext cx="15643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Measure security risk levels </a:t>
            </a:r>
            <a:endParaRPr lang="en-US" sz="837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2906" y="3639573"/>
            <a:ext cx="85725" cy="11430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50069" y="3618142"/>
            <a:ext cx="11253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Metrics</a:t>
            </a:r>
            <a:endParaRPr lang="en-US" sz="837" dirty="0"/>
          </a:p>
        </p:txBody>
      </p:sp>
      <p:sp>
        <p:nvSpPr>
          <p:cNvPr id="33" name="Text 22"/>
          <p:cNvSpPr/>
          <p:nvPr/>
        </p:nvSpPr>
        <p:spPr>
          <a:xfrm>
            <a:off x="1675377" y="3618142"/>
            <a:ext cx="26074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Measure adherence to policies and regulations </a:t>
            </a:r>
            <a:endParaRPr lang="en-US" sz="837" dirty="0"/>
          </a:p>
        </p:txBody>
      </p:sp>
      <p:sp>
        <p:nvSpPr>
          <p:cNvPr id="34" name="Shape 23"/>
          <p:cNvSpPr/>
          <p:nvPr/>
        </p:nvSpPr>
        <p:spPr>
          <a:xfrm>
            <a:off x="4743450" y="742950"/>
            <a:ext cx="4114800" cy="227171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5" name="Text 24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Metrics by Stakeholder Focus</a:t>
            </a:r>
            <a:endParaRPr lang="en-US" sz="1046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1121569"/>
            <a:ext cx="3900488" cy="1785938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4743450" y="3121819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8" name="Text 26"/>
          <p:cNvSpPr/>
          <p:nvPr/>
        </p:nvSpPr>
        <p:spPr>
          <a:xfrm>
            <a:off x="4850606" y="3228975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Performance Indicators (KPIs)</a:t>
            </a:r>
            <a:endParaRPr lang="en-US" sz="1046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3518297"/>
            <a:ext cx="114300" cy="11430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036344" y="3496866"/>
            <a:ext cx="16216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Time to Detect (MTTD)</a:t>
            </a:r>
            <a:endParaRPr lang="en-US" sz="837" dirty="0"/>
          </a:p>
        </p:txBody>
      </p:sp>
      <p:sp>
        <p:nvSpPr>
          <p:cNvPr id="41" name="Text 28"/>
          <p:cNvSpPr/>
          <p:nvPr/>
        </p:nvSpPr>
        <p:spPr>
          <a:xfrm>
            <a:off x="6658031" y="3496866"/>
            <a:ext cx="1831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Average time to identify security </a:t>
            </a:r>
            <a:endParaRPr lang="en-US" sz="837" dirty="0"/>
          </a:p>
        </p:txBody>
      </p:sp>
      <p:sp>
        <p:nvSpPr>
          <p:cNvPr id="42" name="Text 29"/>
          <p:cNvSpPr/>
          <p:nvPr/>
        </p:nvSpPr>
        <p:spPr>
          <a:xfrm>
            <a:off x="5036344" y="3645433"/>
            <a:ext cx="4859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incidents </a:t>
            </a:r>
            <a:endParaRPr lang="en-US" sz="837" dirty="0"/>
          </a:p>
        </p:txBody>
      </p:sp>
      <p:pic>
        <p:nvPicPr>
          <p:cNvPr id="4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872582"/>
            <a:ext cx="114300" cy="114300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036344" y="3851151"/>
            <a:ext cx="17252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Mean Time to Respond (MTTR)</a:t>
            </a:r>
            <a:endParaRPr lang="en-US" sz="837" dirty="0"/>
          </a:p>
        </p:txBody>
      </p:sp>
      <p:sp>
        <p:nvSpPr>
          <p:cNvPr id="45" name="Text 31"/>
          <p:cNvSpPr/>
          <p:nvPr/>
        </p:nvSpPr>
        <p:spPr>
          <a:xfrm>
            <a:off x="6761587" y="3851151"/>
            <a:ext cx="16121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Average time to contain and </a:t>
            </a:r>
            <a:endParaRPr lang="en-US" sz="837" dirty="0"/>
          </a:p>
        </p:txBody>
      </p:sp>
      <p:sp>
        <p:nvSpPr>
          <p:cNvPr id="46" name="Text 32"/>
          <p:cNvSpPr/>
          <p:nvPr/>
        </p:nvSpPr>
        <p:spPr>
          <a:xfrm>
            <a:off x="5036344" y="3999719"/>
            <a:ext cx="10659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remediate incidents </a:t>
            </a:r>
            <a:endParaRPr lang="en-US" sz="837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4226868"/>
            <a:ext cx="114300" cy="1143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036344" y="4205436"/>
            <a:ext cx="15310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Vulnerability Management</a:t>
            </a:r>
            <a:endParaRPr lang="en-US" sz="837" dirty="0"/>
          </a:p>
        </p:txBody>
      </p:sp>
      <p:sp>
        <p:nvSpPr>
          <p:cNvPr id="49" name="Text 34"/>
          <p:cNvSpPr/>
          <p:nvPr/>
        </p:nvSpPr>
        <p:spPr>
          <a:xfrm>
            <a:off x="6567394" y="4205436"/>
            <a:ext cx="21410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% of critical vulnerabilities remediated </a:t>
            </a:r>
            <a:endParaRPr lang="en-US" sz="837" dirty="0"/>
          </a:p>
        </p:txBody>
      </p:sp>
      <p:sp>
        <p:nvSpPr>
          <p:cNvPr id="50" name="Text 35"/>
          <p:cNvSpPr/>
          <p:nvPr/>
        </p:nvSpPr>
        <p:spPr>
          <a:xfrm>
            <a:off x="5036344" y="4354004"/>
            <a:ext cx="5567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within SLA </a:t>
            </a:r>
            <a:endParaRPr lang="en-US" sz="837" dirty="0"/>
          </a:p>
        </p:txBody>
      </p:sp>
      <p:sp>
        <p:nvSpPr>
          <p:cNvPr id="51" name="Shape 36"/>
          <p:cNvSpPr/>
          <p:nvPr/>
        </p:nvSpPr>
        <p:spPr>
          <a:xfrm>
            <a:off x="285750" y="3958223"/>
            <a:ext cx="4114800" cy="1045778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2" name="Text 37"/>
          <p:cNvSpPr/>
          <p:nvPr/>
        </p:nvSpPr>
        <p:spPr>
          <a:xfrm>
            <a:off x="392906" y="406537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 Implementation Challenges</a:t>
            </a:r>
            <a:endParaRPr lang="en-US" sz="1046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2906" y="4354701"/>
            <a:ext cx="114300" cy="11430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578644" y="4333270"/>
            <a:ext cx="721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Quality</a:t>
            </a:r>
            <a:endParaRPr lang="en-US" sz="837" dirty="0"/>
          </a:p>
        </p:txBody>
      </p:sp>
      <p:sp>
        <p:nvSpPr>
          <p:cNvPr id="55" name="Text 39"/>
          <p:cNvSpPr/>
          <p:nvPr/>
        </p:nvSpPr>
        <p:spPr>
          <a:xfrm>
            <a:off x="1300107" y="4333270"/>
            <a:ext cx="27786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Ensuring metrics are based on accurate, complete </a:t>
            </a:r>
            <a:endParaRPr lang="en-US" sz="837" dirty="0"/>
          </a:p>
        </p:txBody>
      </p:sp>
      <p:sp>
        <p:nvSpPr>
          <p:cNvPr id="56" name="Text 40"/>
          <p:cNvSpPr/>
          <p:nvPr/>
        </p:nvSpPr>
        <p:spPr>
          <a:xfrm>
            <a:off x="578644" y="4481838"/>
            <a:ext cx="2398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</a:t>
            </a:r>
            <a:endParaRPr lang="en-US" sz="837" dirty="0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2906" y="4708987"/>
            <a:ext cx="114300" cy="11430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578644" y="4687555"/>
            <a:ext cx="449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Context</a:t>
            </a:r>
            <a:endParaRPr lang="en-US" sz="837" dirty="0"/>
          </a:p>
        </p:txBody>
      </p:sp>
      <p:sp>
        <p:nvSpPr>
          <p:cNvPr id="59" name="Text 42"/>
          <p:cNvSpPr/>
          <p:nvPr/>
        </p:nvSpPr>
        <p:spPr>
          <a:xfrm>
            <a:off x="1027863" y="4687555"/>
            <a:ext cx="31683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Providing sufficient context for meaningful interpretation </a:t>
            </a:r>
            <a:endParaRPr lang="en-US" sz="83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6176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Auditing Fundamentals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Security auditing is a structured process of examining and evaluating an organization's security controls to determine their effectiveness and compliance with policies.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Security Audits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8572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0069" y="1765204"/>
            <a:ext cx="8649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Internal Audits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414993" y="1765204"/>
            <a:ext cx="26290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Conducted by organization's own audit team to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50069" y="1913772"/>
            <a:ext cx="15174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 control effectiveness.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40920"/>
            <a:ext cx="100013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4356" y="2119489"/>
            <a:ext cx="875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External Audits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439800" y="2119489"/>
            <a:ext cx="28089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Performed by independent third parties to provide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64356" y="2268057"/>
            <a:ext cx="11727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objective assessment.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495206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0069" y="2473775"/>
            <a:ext cx="10656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Audits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615687" y="2473775"/>
            <a:ext cx="23300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Focus on adherence to specific regulatory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50069" y="2622342"/>
            <a:ext cx="19245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requirements (e.g., HIPAA, PCI DSS). 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285750" y="3045944"/>
            <a:ext cx="4114800" cy="2057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392906" y="315310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Audit Frequency by Type</a:t>
            </a:r>
            <a:endParaRPr lang="en-US" sz="1046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3424563"/>
            <a:ext cx="3900488" cy="157162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704795" y="589990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4811951" y="69714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Audit Principles</a:t>
            </a:r>
            <a:endParaRPr lang="en-US" sz="1046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1951" y="986468"/>
            <a:ext cx="142875" cy="114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26264" y="965037"/>
            <a:ext cx="8157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Independence</a:t>
            </a:r>
            <a:endParaRPr lang="en-US" sz="837" dirty="0"/>
          </a:p>
        </p:txBody>
      </p:sp>
      <p:sp>
        <p:nvSpPr>
          <p:cNvPr id="27" name="Text 19"/>
          <p:cNvSpPr/>
          <p:nvPr/>
        </p:nvSpPr>
        <p:spPr>
          <a:xfrm>
            <a:off x="5842047" y="965037"/>
            <a:ext cx="25776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Auditors must be independent of the activities </a:t>
            </a:r>
            <a:endParaRPr lang="en-US" sz="837" dirty="0"/>
          </a:p>
        </p:txBody>
      </p:sp>
      <p:sp>
        <p:nvSpPr>
          <p:cNvPr id="28" name="Text 20"/>
          <p:cNvSpPr/>
          <p:nvPr/>
        </p:nvSpPr>
        <p:spPr>
          <a:xfrm>
            <a:off x="5026264" y="1113605"/>
            <a:ext cx="7761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being audited. </a:t>
            </a:r>
            <a:endParaRPr lang="en-US" sz="837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1951" y="1340753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997689" y="1319322"/>
            <a:ext cx="8845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Evidence-Based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5882258" y="1319322"/>
            <a:ext cx="25723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Findings must be based on verifiable evidence 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4997689" y="1467890"/>
            <a:ext cx="13560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rather than assumptions. </a:t>
            </a:r>
            <a:endParaRPr lang="en-US" sz="837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1951" y="1695039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997689" y="1673608"/>
            <a:ext cx="533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Sampling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5531489" y="1673608"/>
            <a:ext cx="31290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Using representative samples to draw conclusions about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4997689" y="1822175"/>
            <a:ext cx="10212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larger populations.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1951" y="2049324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97689" y="2027893"/>
            <a:ext cx="6173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Risk-Based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5615037" y="2027893"/>
            <a:ext cx="28926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Focus audit resources on areas of highest risk to the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4997689" y="2176461"/>
            <a:ext cx="7087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organization. </a:t>
            </a:r>
            <a:endParaRPr lang="en-US" sz="837" dirty="0"/>
          </a:p>
        </p:txBody>
      </p:sp>
      <p:sp>
        <p:nvSpPr>
          <p:cNvPr id="41" name="Shape 30"/>
          <p:cNvSpPr/>
          <p:nvPr/>
        </p:nvSpPr>
        <p:spPr>
          <a:xfrm>
            <a:off x="4686300" y="2518060"/>
            <a:ext cx="4114800" cy="1754349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2" name="Text 31"/>
          <p:cNvSpPr/>
          <p:nvPr/>
        </p:nvSpPr>
        <p:spPr>
          <a:xfrm>
            <a:off x="4793456" y="262521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Audit Process</a:t>
            </a:r>
            <a:endParaRPr lang="en-US" sz="1046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93456" y="2914538"/>
            <a:ext cx="114300" cy="1143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4979194" y="2893107"/>
            <a:ext cx="5081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Planning</a:t>
            </a:r>
            <a:endParaRPr lang="en-US" sz="837" dirty="0"/>
          </a:p>
        </p:txBody>
      </p:sp>
      <p:sp>
        <p:nvSpPr>
          <p:cNvPr id="45" name="Text 33"/>
          <p:cNvSpPr/>
          <p:nvPr/>
        </p:nvSpPr>
        <p:spPr>
          <a:xfrm>
            <a:off x="5487377" y="2893107"/>
            <a:ext cx="2866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Define scope, objectives, criteria, and methodology. </a:t>
            </a:r>
            <a:endParaRPr lang="en-US" sz="837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3456" y="3120255"/>
            <a:ext cx="114300" cy="11430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4979194" y="3098824"/>
            <a:ext cx="5637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Fieldwork</a:t>
            </a:r>
            <a:endParaRPr lang="en-US" sz="837" dirty="0"/>
          </a:p>
        </p:txBody>
      </p:sp>
      <p:sp>
        <p:nvSpPr>
          <p:cNvPr id="48" name="Text 35"/>
          <p:cNvSpPr/>
          <p:nvPr/>
        </p:nvSpPr>
        <p:spPr>
          <a:xfrm>
            <a:off x="5542936" y="3098824"/>
            <a:ext cx="28889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Collect evidence through interviews, documentation </a:t>
            </a:r>
            <a:endParaRPr lang="en-US" sz="837" dirty="0"/>
          </a:p>
        </p:txBody>
      </p:sp>
      <p:sp>
        <p:nvSpPr>
          <p:cNvPr id="49" name="Text 36"/>
          <p:cNvSpPr/>
          <p:nvPr/>
        </p:nvSpPr>
        <p:spPr>
          <a:xfrm>
            <a:off x="4979194" y="3247392"/>
            <a:ext cx="10400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review, and testing. </a:t>
            </a:r>
            <a:endParaRPr lang="en-US" sz="837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3456" y="3474541"/>
            <a:ext cx="114300" cy="11430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4979194" y="3453110"/>
            <a:ext cx="4713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</a:t>
            </a:r>
            <a:endParaRPr lang="en-US" sz="837" dirty="0"/>
          </a:p>
        </p:txBody>
      </p:sp>
      <p:sp>
        <p:nvSpPr>
          <p:cNvPr id="52" name="Text 38"/>
          <p:cNvSpPr/>
          <p:nvPr/>
        </p:nvSpPr>
        <p:spPr>
          <a:xfrm>
            <a:off x="5450570" y="3453110"/>
            <a:ext cx="30561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Evaluate evidence against audit criteria to identify gaps 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4979194" y="3601677"/>
            <a:ext cx="5942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issues. </a:t>
            </a:r>
            <a:endParaRPr lang="en-US" sz="837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3456" y="3828826"/>
            <a:ext cx="85725" cy="11430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4950619" y="3807395"/>
            <a:ext cx="5699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Reporting</a:t>
            </a:r>
            <a:endParaRPr lang="en-US" sz="837" dirty="0"/>
          </a:p>
        </p:txBody>
      </p:sp>
      <p:sp>
        <p:nvSpPr>
          <p:cNvPr id="56" name="Text 41"/>
          <p:cNvSpPr/>
          <p:nvPr/>
        </p:nvSpPr>
        <p:spPr>
          <a:xfrm>
            <a:off x="5520528" y="3807395"/>
            <a:ext cx="29191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Document findings, recommendations, and required 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4950619" y="3955963"/>
            <a:ext cx="4149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actions. </a:t>
            </a:r>
            <a:endParaRPr lang="en-US" sz="837" dirty="0"/>
          </a:p>
        </p:txBody>
      </p:sp>
      <p:sp>
        <p:nvSpPr>
          <p:cNvPr id="58" name="Shape 43"/>
          <p:cNvSpPr/>
          <p:nvPr/>
        </p:nvSpPr>
        <p:spPr>
          <a:xfrm>
            <a:off x="4686300" y="4281319"/>
            <a:ext cx="4114800" cy="89721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9" name="Text 44"/>
          <p:cNvSpPr/>
          <p:nvPr/>
        </p:nvSpPr>
        <p:spPr>
          <a:xfrm>
            <a:off x="4793456" y="4388475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Audit Standards</a:t>
            </a:r>
            <a:endParaRPr lang="en-US" sz="1046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3456" y="4677797"/>
            <a:ext cx="100013" cy="11430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4964906" y="4656366"/>
            <a:ext cx="5550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 19011</a:t>
            </a:r>
            <a:endParaRPr lang="en-US" sz="837" dirty="0"/>
          </a:p>
        </p:txBody>
      </p:sp>
      <p:sp>
        <p:nvSpPr>
          <p:cNvPr id="62" name="Text 46"/>
          <p:cNvSpPr/>
          <p:nvPr/>
        </p:nvSpPr>
        <p:spPr>
          <a:xfrm>
            <a:off x="5519970" y="4656366"/>
            <a:ext cx="25428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Guidelines for auditing management systems </a:t>
            </a:r>
            <a:endParaRPr lang="en-US" sz="837" dirty="0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93456" y="4883514"/>
            <a:ext cx="100013" cy="11430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4964906" y="4862083"/>
            <a:ext cx="7143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ISACA COBIT</a:t>
            </a:r>
            <a:endParaRPr lang="en-US" sz="837" dirty="0"/>
          </a:p>
        </p:txBody>
      </p:sp>
      <p:sp>
        <p:nvSpPr>
          <p:cNvPr id="65" name="Text 48"/>
          <p:cNvSpPr/>
          <p:nvPr/>
        </p:nvSpPr>
        <p:spPr>
          <a:xfrm>
            <a:off x="5679281" y="4862083"/>
            <a:ext cx="26736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Control Objectives for Information Technologies </a:t>
            </a:r>
            <a:endParaRPr lang="en-US" sz="83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5698"/>
            <a:ext cx="9144000" cy="71578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Planning and Preparation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885825"/>
            <a:ext cx="41148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Effective security audit planning establishes the foundation for successful audits by defining scope, objectives, and methodologies before execution begins. 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8625" y="1750219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Planning Steps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059186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363" y="2037755"/>
            <a:ext cx="13424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 Audit Objectives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956829" y="2037755"/>
            <a:ext cx="22304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Clearly articulate what the audit aims to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614363" y="2197764"/>
            <a:ext cx="28136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achieve and which security controls will be assessed.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50641"/>
            <a:ext cx="100013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0075" y="2429210"/>
            <a:ext cx="9730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Determine Scope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573132" y="2429210"/>
            <a:ext cx="26332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 systems, processes, and organizational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600075" y="2589219"/>
            <a:ext cx="1733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units to be included in the audit.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842096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788" y="2820665"/>
            <a:ext cx="11440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Select Audit Criteria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729820" y="2820665"/>
            <a:ext cx="21440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Choose the standards, frameworks, or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85788" y="2980674"/>
            <a:ext cx="25930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policies against which controls will be evaluated.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233551"/>
            <a:ext cx="142875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2938" y="3212120"/>
            <a:ext cx="12242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Assemble Audit Team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867226" y="3212120"/>
            <a:ext cx="22861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 team members with appropriate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642938" y="3372129"/>
            <a:ext cx="33120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skills and ensure independence from the areas being audited. </a:t>
            </a:r>
            <a:endParaRPr lang="en-US" sz="837" dirty="0"/>
          </a:p>
        </p:txBody>
      </p:sp>
      <p:sp>
        <p:nvSpPr>
          <p:cNvPr id="25" name="Text 18"/>
          <p:cNvSpPr/>
          <p:nvPr/>
        </p:nvSpPr>
        <p:spPr>
          <a:xfrm>
            <a:off x="240363" y="3640446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Planning Timeline</a:t>
            </a:r>
            <a:endParaRPr lang="en-US" sz="1046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363" y="3926196"/>
            <a:ext cx="3829050" cy="178593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743450" y="676745"/>
            <a:ext cx="4114800" cy="213732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4886325" y="819620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Documentation</a:t>
            </a:r>
            <a:endParaRPr lang="en-US" sz="1046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1128587"/>
            <a:ext cx="85725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43488" y="1107156"/>
            <a:ext cx="7783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Charter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5821877" y="1107156"/>
            <a:ext cx="24430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Formal document authorizing the audit and 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5043488" y="1267165"/>
            <a:ext cx="27571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defining its purpose, authority, and responsibilities. </a:t>
            </a:r>
            <a:endParaRPr lang="en-US" sz="837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6325" y="1520042"/>
            <a:ext cx="85725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43488" y="1498611"/>
            <a:ext cx="5912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Plan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5634772" y="1498611"/>
            <a:ext cx="26025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Detailed document outlining scope, objectives,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5043488" y="1658620"/>
            <a:ext cx="21546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timeline, resources, and methodologies.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6325" y="1911498"/>
            <a:ext cx="85725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43488" y="1890066"/>
            <a:ext cx="8358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Program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5879362" y="1890066"/>
            <a:ext cx="27636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Step-by-step procedures for conducting the audit,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43488" y="2050075"/>
            <a:ext cx="29313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including testing methods and evidence requirements. </a:t>
            </a:r>
            <a:endParaRPr lang="en-US" sz="83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6325" y="2302953"/>
            <a:ext cx="85725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43488" y="2281521"/>
            <a:ext cx="11226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Notification Letters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6166145" y="2281521"/>
            <a:ext cx="24191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Communications to stakeholders about the 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5043488" y="2441530"/>
            <a:ext cx="2429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upcoming audit, its scope, and requirements. </a:t>
            </a:r>
            <a:endParaRPr lang="en-US" sz="837" dirty="0"/>
          </a:p>
        </p:txBody>
      </p:sp>
      <p:sp>
        <p:nvSpPr>
          <p:cNvPr id="45" name="Shape 33"/>
          <p:cNvSpPr/>
          <p:nvPr/>
        </p:nvSpPr>
        <p:spPr>
          <a:xfrm>
            <a:off x="4734985" y="2849769"/>
            <a:ext cx="4114800" cy="174586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6" name="Text 34"/>
          <p:cNvSpPr/>
          <p:nvPr/>
        </p:nvSpPr>
        <p:spPr>
          <a:xfrm>
            <a:off x="4877860" y="2992644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Risk-Based Audit Planning</a:t>
            </a:r>
            <a:endParaRPr lang="en-US" sz="1046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7860" y="3301611"/>
            <a:ext cx="114300" cy="1143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63598" y="3280180"/>
            <a:ext cx="9458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Assessment</a:t>
            </a:r>
            <a:endParaRPr lang="en-US" sz="837" dirty="0"/>
          </a:p>
        </p:txBody>
      </p:sp>
      <p:sp>
        <p:nvSpPr>
          <p:cNvPr id="49" name="Text 36"/>
          <p:cNvSpPr/>
          <p:nvPr/>
        </p:nvSpPr>
        <p:spPr>
          <a:xfrm>
            <a:off x="6009447" y="3280180"/>
            <a:ext cx="23119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 high-risk areas that require more </a:t>
            </a:r>
            <a:endParaRPr lang="en-US" sz="837" dirty="0"/>
          </a:p>
        </p:txBody>
      </p:sp>
      <p:sp>
        <p:nvSpPr>
          <p:cNvPr id="50" name="Text 37"/>
          <p:cNvSpPr/>
          <p:nvPr/>
        </p:nvSpPr>
        <p:spPr>
          <a:xfrm>
            <a:off x="5063598" y="3440188"/>
            <a:ext cx="11378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intensive audit focus. </a:t>
            </a:r>
            <a:endParaRPr lang="en-US" sz="837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7860" y="3693066"/>
            <a:ext cx="114300" cy="1143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63598" y="3671635"/>
            <a:ext cx="1208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Prioritization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6272454" y="3671635"/>
            <a:ext cx="22702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Focus on controls that mitigate the most </a:t>
            </a:r>
            <a:endParaRPr lang="en-US" sz="837" dirty="0"/>
          </a:p>
        </p:txBody>
      </p:sp>
      <p:sp>
        <p:nvSpPr>
          <p:cNvPr id="54" name="Text 40"/>
          <p:cNvSpPr/>
          <p:nvPr/>
        </p:nvSpPr>
        <p:spPr>
          <a:xfrm>
            <a:off x="5063598" y="3831644"/>
            <a:ext cx="19160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significant risks to the organization. </a:t>
            </a:r>
            <a:endParaRPr lang="en-US" sz="837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7860" y="4084521"/>
            <a:ext cx="114300" cy="1143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063598" y="4063090"/>
            <a:ext cx="11287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Resource Allocation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6192310" y="4063090"/>
            <a:ext cx="23808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Assign audit resources based on risk levels </a:t>
            </a:r>
            <a:endParaRPr lang="en-US" sz="837" dirty="0"/>
          </a:p>
        </p:txBody>
      </p:sp>
      <p:sp>
        <p:nvSpPr>
          <p:cNvPr id="58" name="Text 43"/>
          <p:cNvSpPr/>
          <p:nvPr/>
        </p:nvSpPr>
        <p:spPr>
          <a:xfrm>
            <a:off x="5063598" y="4223099"/>
            <a:ext cx="11498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control criticality. </a:t>
            </a:r>
            <a:endParaRPr lang="en-US" sz="837" dirty="0"/>
          </a:p>
        </p:txBody>
      </p:sp>
      <p:sp>
        <p:nvSpPr>
          <p:cNvPr id="59" name="Shape 44"/>
          <p:cNvSpPr/>
          <p:nvPr/>
        </p:nvSpPr>
        <p:spPr>
          <a:xfrm>
            <a:off x="4722206" y="4631338"/>
            <a:ext cx="4114800" cy="174586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0" name="Text 45"/>
          <p:cNvSpPr/>
          <p:nvPr/>
        </p:nvSpPr>
        <p:spPr>
          <a:xfrm>
            <a:off x="4865081" y="4774213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Preparation Best Practices</a:t>
            </a:r>
            <a:endParaRPr lang="en-US" sz="1046" dirty="0"/>
          </a:p>
        </p:txBody>
      </p:sp>
      <p:pic>
        <p:nvPicPr>
          <p:cNvPr id="61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65081" y="5083180"/>
            <a:ext cx="114300" cy="114300"/>
          </a:xfrm>
          <a:prstGeom prst="rect">
            <a:avLst/>
          </a:prstGeom>
        </p:spPr>
      </p:pic>
      <p:sp>
        <p:nvSpPr>
          <p:cNvPr id="62" name="Text 46"/>
          <p:cNvSpPr/>
          <p:nvPr/>
        </p:nvSpPr>
        <p:spPr>
          <a:xfrm>
            <a:off x="5050819" y="5061749"/>
            <a:ext cx="1216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Preliminary Research</a:t>
            </a:r>
            <a:endParaRPr lang="en-US" sz="837" dirty="0"/>
          </a:p>
        </p:txBody>
      </p:sp>
      <p:sp>
        <p:nvSpPr>
          <p:cNvPr id="63" name="Text 47"/>
          <p:cNvSpPr/>
          <p:nvPr/>
        </p:nvSpPr>
        <p:spPr>
          <a:xfrm>
            <a:off x="6267209" y="5061749"/>
            <a:ext cx="17590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Review previous audit findings, </a:t>
            </a:r>
            <a:endParaRPr lang="en-US" sz="837" dirty="0"/>
          </a:p>
        </p:txBody>
      </p:sp>
      <p:sp>
        <p:nvSpPr>
          <p:cNvPr id="64" name="Text 48"/>
          <p:cNvSpPr/>
          <p:nvPr/>
        </p:nvSpPr>
        <p:spPr>
          <a:xfrm>
            <a:off x="5050819" y="5221758"/>
            <a:ext cx="31681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documentation, and known issues before fieldwork begins. </a:t>
            </a:r>
            <a:endParaRPr lang="en-US" sz="837" dirty="0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65081" y="5474636"/>
            <a:ext cx="114300" cy="11430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5050819" y="5453204"/>
            <a:ext cx="14471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Stakeholder Engagement</a:t>
            </a:r>
            <a:endParaRPr lang="en-US" sz="837" dirty="0"/>
          </a:p>
        </p:txBody>
      </p:sp>
      <p:sp>
        <p:nvSpPr>
          <p:cNvPr id="67" name="Text 50"/>
          <p:cNvSpPr/>
          <p:nvPr/>
        </p:nvSpPr>
        <p:spPr>
          <a:xfrm>
            <a:off x="6497986" y="5453204"/>
            <a:ext cx="21151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Involve key stakeholders early to gain </a:t>
            </a:r>
            <a:endParaRPr lang="en-US" sz="837" dirty="0"/>
          </a:p>
        </p:txBody>
      </p:sp>
      <p:sp>
        <p:nvSpPr>
          <p:cNvPr id="68" name="Text 51"/>
          <p:cNvSpPr/>
          <p:nvPr/>
        </p:nvSpPr>
        <p:spPr>
          <a:xfrm>
            <a:off x="5050819" y="5613213"/>
            <a:ext cx="16783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buy-in and ensure cooperation. </a:t>
            </a:r>
            <a:endParaRPr lang="en-US" sz="837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65081" y="5866091"/>
            <a:ext cx="114300" cy="114300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5050819" y="5844660"/>
            <a:ext cx="9435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Tool Preparation</a:t>
            </a:r>
            <a:endParaRPr lang="en-US" sz="837" dirty="0"/>
          </a:p>
        </p:txBody>
      </p:sp>
      <p:sp>
        <p:nvSpPr>
          <p:cNvPr id="71" name="Text 53"/>
          <p:cNvSpPr/>
          <p:nvPr/>
        </p:nvSpPr>
        <p:spPr>
          <a:xfrm>
            <a:off x="5994380" y="5844660"/>
            <a:ext cx="26430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Ensure all necessary audit tools, templates, and </a:t>
            </a:r>
            <a:endParaRPr lang="en-US" sz="837" dirty="0"/>
          </a:p>
        </p:txBody>
      </p:sp>
      <p:sp>
        <p:nvSpPr>
          <p:cNvPr id="72" name="Text 54"/>
          <p:cNvSpPr/>
          <p:nvPr/>
        </p:nvSpPr>
        <p:spPr>
          <a:xfrm>
            <a:off x="5050819" y="6004668"/>
            <a:ext cx="19936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checklists are ready before fieldwork. </a:t>
            </a:r>
            <a:endParaRPr lang="en-US" sz="83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1578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71513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42875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 Execution Techniques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885825"/>
            <a:ext cx="41148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Effective security audit execution requires a structured approach and appropriate techniques to gather reliable evidence about control effectiveness.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607344"/>
            <a:ext cx="4114800" cy="213732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1750219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Audit Techniques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059186"/>
            <a:ext cx="12858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8650" y="2037755"/>
            <a:ext cx="7039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Observation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332644" y="2037755"/>
            <a:ext cx="28363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Watching processes being performed to verify they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628650" y="2197764"/>
            <a:ext cx="2404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follow documented procedures and controls.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450641"/>
            <a:ext cx="142875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2938" y="2429210"/>
            <a:ext cx="6084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Interviews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251356" y="2429210"/>
            <a:ext cx="24146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Structured conversations with personnel to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642938" y="2589219"/>
            <a:ext cx="33609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understand processes, responsibilities, and control awareness.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625" y="2842096"/>
            <a:ext cx="8572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788" y="2820665"/>
            <a:ext cx="13264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Documentation Review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912237" y="2820665"/>
            <a:ext cx="20280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Examining policies, procedures, and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85788" y="2980674"/>
            <a:ext cx="30554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records to verify they exist, are current, and are followed.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5" y="3233551"/>
            <a:ext cx="100013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0075" y="3212120"/>
            <a:ext cx="4144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Testing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014552" y="3212120"/>
            <a:ext cx="31876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Performing specific tests to verify control implementation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600075" y="3372129"/>
            <a:ext cx="9657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effectiveness. </a:t>
            </a:r>
            <a:endParaRPr lang="en-US" sz="837" dirty="0"/>
          </a:p>
        </p:txBody>
      </p:sp>
      <p:sp>
        <p:nvSpPr>
          <p:cNvPr id="27" name="Shape 19"/>
          <p:cNvSpPr/>
          <p:nvPr/>
        </p:nvSpPr>
        <p:spPr>
          <a:xfrm>
            <a:off x="4743450" y="681558"/>
            <a:ext cx="4114800" cy="213732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4886325" y="824433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Testing Approaches</a:t>
            </a:r>
            <a:endParaRPr lang="en-US" sz="1046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6325" y="1133400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72063" y="1111969"/>
            <a:ext cx="533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Sampling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5605862" y="1111969"/>
            <a:ext cx="30326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Selecting a representative subset of items to test when 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5072063" y="1271978"/>
            <a:ext cx="24340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population is too large to test completely. </a:t>
            </a:r>
            <a:endParaRPr lang="en-US" sz="837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6325" y="1524855"/>
            <a:ext cx="142875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100638" y="1503424"/>
            <a:ext cx="10892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Testing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6189920" y="1503424"/>
            <a:ext cx="23325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Using tools to automatically test technical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5100638" y="1663433"/>
            <a:ext cx="35624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controls, such as vulnerability scanners or configuration analyzers.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6325" y="1916311"/>
            <a:ext cx="100013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57775" y="1894879"/>
            <a:ext cx="11247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Penetration Testing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6182497" y="1894879"/>
            <a:ext cx="24363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Simulating attacks to identify vulnerabilities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57775" y="2054888"/>
            <a:ext cx="25662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systems or processes that could be exploited. </a:t>
            </a:r>
            <a:endParaRPr lang="en-US" sz="83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6325" y="2307766"/>
            <a:ext cx="128588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86350" y="2286334"/>
            <a:ext cx="12691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 Walkthroughs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6355538" y="2286334"/>
            <a:ext cx="2218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Following a transaction or process from 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5086350" y="2446343"/>
            <a:ext cx="31783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beginning to end to verify controls are applied consistently. </a:t>
            </a:r>
            <a:endParaRPr lang="en-US" sz="837" dirty="0"/>
          </a:p>
        </p:txBody>
      </p:sp>
      <p:sp>
        <p:nvSpPr>
          <p:cNvPr id="45" name="Shape 33"/>
          <p:cNvSpPr/>
          <p:nvPr/>
        </p:nvSpPr>
        <p:spPr>
          <a:xfrm>
            <a:off x="4736909" y="2863304"/>
            <a:ext cx="4114800" cy="213732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6" name="Text 34"/>
          <p:cNvSpPr/>
          <p:nvPr/>
        </p:nvSpPr>
        <p:spPr>
          <a:xfrm>
            <a:off x="4879784" y="3006179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 Practices for Audit Execution</a:t>
            </a:r>
            <a:endParaRPr lang="en-US" sz="1046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9784" y="3315146"/>
            <a:ext cx="85725" cy="1143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36947" y="3293715"/>
            <a:ext cx="15988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Standardized Checklists</a:t>
            </a:r>
            <a:endParaRPr lang="en-US" sz="837" dirty="0"/>
          </a:p>
        </p:txBody>
      </p:sp>
      <p:sp>
        <p:nvSpPr>
          <p:cNvPr id="49" name="Text 36"/>
          <p:cNvSpPr/>
          <p:nvPr/>
        </p:nvSpPr>
        <p:spPr>
          <a:xfrm>
            <a:off x="6635779" y="3293715"/>
            <a:ext cx="20212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Develop and use standardized audit </a:t>
            </a:r>
            <a:endParaRPr lang="en-US" sz="837" dirty="0"/>
          </a:p>
        </p:txBody>
      </p:sp>
      <p:sp>
        <p:nvSpPr>
          <p:cNvPr id="50" name="Text 37"/>
          <p:cNvSpPr/>
          <p:nvPr/>
        </p:nvSpPr>
        <p:spPr>
          <a:xfrm>
            <a:off x="5036947" y="3453723"/>
            <a:ext cx="27488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checklists to ensure consistency and completeness. </a:t>
            </a:r>
            <a:endParaRPr lang="en-US" sz="837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9784" y="3706601"/>
            <a:ext cx="142875" cy="1143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94097" y="3685170"/>
            <a:ext cx="1360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Maintain Independence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6454953" y="3685170"/>
            <a:ext cx="21517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Ensure auditors are independent from </a:t>
            </a:r>
            <a:endParaRPr lang="en-US" sz="837" dirty="0"/>
          </a:p>
        </p:txBody>
      </p:sp>
      <p:sp>
        <p:nvSpPr>
          <p:cNvPr id="54" name="Text 40"/>
          <p:cNvSpPr/>
          <p:nvPr/>
        </p:nvSpPr>
        <p:spPr>
          <a:xfrm>
            <a:off x="5094097" y="3845179"/>
            <a:ext cx="28179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areas being audited to avoid conflicts of interest. </a:t>
            </a:r>
            <a:endParaRPr lang="en-US" sz="837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79784" y="4098056"/>
            <a:ext cx="128588" cy="1143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079809" y="4076625"/>
            <a:ext cx="124393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 Everything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6323742" y="4076625"/>
            <a:ext cx="21768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Maintain detailed documentation of all </a:t>
            </a:r>
            <a:endParaRPr lang="en-US" sz="837" dirty="0"/>
          </a:p>
        </p:txBody>
      </p:sp>
      <p:sp>
        <p:nvSpPr>
          <p:cNvPr id="58" name="Text 43"/>
          <p:cNvSpPr/>
          <p:nvPr/>
        </p:nvSpPr>
        <p:spPr>
          <a:xfrm>
            <a:off x="5079809" y="4236634"/>
            <a:ext cx="20682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 activities, findings, and evidence. </a:t>
            </a:r>
            <a:endParaRPr lang="en-US" sz="837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79784" y="4489511"/>
            <a:ext cx="142875" cy="11430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5094097" y="4468080"/>
            <a:ext cx="17569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Involve Subject Matter Experts</a:t>
            </a:r>
            <a:endParaRPr lang="en-US" sz="837" dirty="0"/>
          </a:p>
        </p:txBody>
      </p:sp>
      <p:sp>
        <p:nvSpPr>
          <p:cNvPr id="61" name="Text 45"/>
          <p:cNvSpPr/>
          <p:nvPr/>
        </p:nvSpPr>
        <p:spPr>
          <a:xfrm>
            <a:off x="6851013" y="4468080"/>
            <a:ext cx="17605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Include technical experts when </a:t>
            </a:r>
            <a:endParaRPr lang="en-US" sz="837" dirty="0"/>
          </a:p>
        </p:txBody>
      </p:sp>
      <p:sp>
        <p:nvSpPr>
          <p:cNvPr id="62" name="Text 46"/>
          <p:cNvSpPr/>
          <p:nvPr/>
        </p:nvSpPr>
        <p:spPr>
          <a:xfrm>
            <a:off x="5094097" y="4628089"/>
            <a:ext cx="25071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auditing specialized areas or complex controls. </a:t>
            </a:r>
            <a:endParaRPr lang="en-US" sz="837" dirty="0"/>
          </a:p>
        </p:txBody>
      </p:sp>
      <p:sp>
        <p:nvSpPr>
          <p:cNvPr id="63" name="Shape 47"/>
          <p:cNvSpPr/>
          <p:nvPr/>
        </p:nvSpPr>
        <p:spPr>
          <a:xfrm>
            <a:off x="290793" y="3807912"/>
            <a:ext cx="4114800" cy="135441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4" name="Text 48"/>
          <p:cNvSpPr/>
          <p:nvPr/>
        </p:nvSpPr>
        <p:spPr>
          <a:xfrm>
            <a:off x="433668" y="3950787"/>
            <a:ext cx="38290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Challenges</a:t>
            </a:r>
            <a:endParaRPr lang="en-US" sz="1046" dirty="0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3668" y="4259755"/>
            <a:ext cx="114300" cy="11430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619406" y="4238323"/>
            <a:ext cx="8433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Access</a:t>
            </a:r>
            <a:endParaRPr lang="en-US" sz="837" dirty="0"/>
          </a:p>
        </p:txBody>
      </p:sp>
      <p:sp>
        <p:nvSpPr>
          <p:cNvPr id="67" name="Text 50"/>
          <p:cNvSpPr/>
          <p:nvPr/>
        </p:nvSpPr>
        <p:spPr>
          <a:xfrm>
            <a:off x="1462731" y="4238323"/>
            <a:ext cx="27315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Difficulty obtaining access to systems, personnel, </a:t>
            </a:r>
            <a:endParaRPr lang="en-US" sz="837" dirty="0"/>
          </a:p>
        </p:txBody>
      </p:sp>
      <p:sp>
        <p:nvSpPr>
          <p:cNvPr id="68" name="Text 51"/>
          <p:cNvSpPr/>
          <p:nvPr/>
        </p:nvSpPr>
        <p:spPr>
          <a:xfrm>
            <a:off x="619406" y="4398332"/>
            <a:ext cx="2130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documentation needed for the audit. </a:t>
            </a:r>
            <a:endParaRPr lang="en-US" sz="837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33668" y="4651210"/>
            <a:ext cx="114300" cy="114300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619406" y="4629779"/>
            <a:ext cx="9706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Constraints</a:t>
            </a:r>
            <a:endParaRPr lang="en-US" sz="837" dirty="0"/>
          </a:p>
        </p:txBody>
      </p:sp>
      <p:sp>
        <p:nvSpPr>
          <p:cNvPr id="71" name="Text 53"/>
          <p:cNvSpPr/>
          <p:nvPr/>
        </p:nvSpPr>
        <p:spPr>
          <a:xfrm>
            <a:off x="1590063" y="4629779"/>
            <a:ext cx="26228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Pressure to complete audits quickly, potentially </a:t>
            </a:r>
            <a:endParaRPr lang="en-US" sz="837" dirty="0"/>
          </a:p>
        </p:txBody>
      </p:sp>
      <p:sp>
        <p:nvSpPr>
          <p:cNvPr id="72" name="Text 54"/>
          <p:cNvSpPr/>
          <p:nvPr/>
        </p:nvSpPr>
        <p:spPr>
          <a:xfrm>
            <a:off x="619406" y="4789787"/>
            <a:ext cx="15884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compromising thoroughness. </a:t>
            </a:r>
            <a:endParaRPr lang="en-US" sz="83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076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Evidence Collection and Analysis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 collection and analysis are critical components of security auditing, providing the factual basis for audit findings and recommendations.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Audit Evidence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8572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0069" y="1765204"/>
            <a:ext cx="13145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Documentary Evidence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864658" y="1765204"/>
            <a:ext cx="21295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Policies, procedures, logs, and written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50069" y="1913772"/>
            <a:ext cx="4340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records.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40920"/>
            <a:ext cx="128588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2931" y="2119489"/>
            <a:ext cx="15870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System-Generated Evidence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2179988" y="2119489"/>
            <a:ext cx="2019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Configuration settings, system logs,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92931" y="2268057"/>
            <a:ext cx="12793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automated reports.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495206"/>
            <a:ext cx="14287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219" y="2473775"/>
            <a:ext cx="11987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Testimonial Evidence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806001" y="2473775"/>
            <a:ext cx="22966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Information obtained through interviews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607219" y="2622342"/>
            <a:ext cx="6712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surveys.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849491"/>
            <a:ext cx="128588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2931" y="2828060"/>
            <a:ext cx="13428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Observational Evidence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935733" y="2828060"/>
            <a:ext cx="20728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Direct observations of processes and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592931" y="2976628"/>
            <a:ext cx="11479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controls in operation.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285750" y="3400230"/>
            <a:ext cx="4114800" cy="2057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392906" y="350738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Reliability by Type</a:t>
            </a:r>
            <a:endParaRPr lang="en-US" sz="1046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778848"/>
            <a:ext cx="3900488" cy="1571625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743450" y="742950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Collection Best Practices</a:t>
            </a:r>
            <a:endParaRPr lang="en-US" sz="1046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1139428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36344" y="1117997"/>
            <a:ext cx="9637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Chain of Custody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6000136" y="1117997"/>
            <a:ext cx="27177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Maintain proper documentation of how evidence 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5036344" y="1266565"/>
            <a:ext cx="14518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was collected and handled. </a:t>
            </a:r>
            <a:endParaRPr lang="en-US" sz="837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493713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36344" y="1472282"/>
            <a:ext cx="12469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Sufficient Sample Size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6283263" y="1472282"/>
            <a:ext cx="20974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Collect enough samples to draw valid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5036344" y="1620850"/>
            <a:ext cx="6590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conclusions.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1847999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36344" y="1826568"/>
            <a:ext cx="9482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Multiple Sources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5984593" y="1826568"/>
            <a:ext cx="23164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Gather evidence from multiple sources to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36344" y="1975135"/>
            <a:ext cx="1134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corroborate findings. </a:t>
            </a:r>
            <a:endParaRPr lang="en-US" sz="837" dirty="0"/>
          </a:p>
        </p:txBody>
      </p:sp>
      <p:sp>
        <p:nvSpPr>
          <p:cNvPr id="41" name="Shape 30"/>
          <p:cNvSpPr/>
          <p:nvPr/>
        </p:nvSpPr>
        <p:spPr>
          <a:xfrm>
            <a:off x="4743450" y="2398737"/>
            <a:ext cx="4114800" cy="1754349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2" name="Text 31"/>
          <p:cNvSpPr/>
          <p:nvPr/>
        </p:nvSpPr>
        <p:spPr>
          <a:xfrm>
            <a:off x="4850606" y="2505894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Analysis Techniques</a:t>
            </a:r>
            <a:endParaRPr lang="en-US" sz="1046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2795215"/>
            <a:ext cx="114300" cy="11430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36344" y="2773784"/>
            <a:ext cx="8261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 Analysis</a:t>
            </a:r>
            <a:endParaRPr lang="en-US" sz="837" dirty="0"/>
          </a:p>
        </p:txBody>
      </p:sp>
      <p:sp>
        <p:nvSpPr>
          <p:cNvPr id="45" name="Text 33"/>
          <p:cNvSpPr/>
          <p:nvPr/>
        </p:nvSpPr>
        <p:spPr>
          <a:xfrm>
            <a:off x="5862507" y="2773784"/>
            <a:ext cx="27244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Examining patterns and trends in data over time. </a:t>
            </a:r>
            <a:endParaRPr lang="en-US" sz="837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3000933"/>
            <a:ext cx="114300" cy="11430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5036344" y="2979502"/>
            <a:ext cx="11386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Root Cause Analysis</a:t>
            </a:r>
            <a:endParaRPr lang="en-US" sz="837" dirty="0"/>
          </a:p>
        </p:txBody>
      </p:sp>
      <p:sp>
        <p:nvSpPr>
          <p:cNvPr id="48" name="Text 35"/>
          <p:cNvSpPr/>
          <p:nvPr/>
        </p:nvSpPr>
        <p:spPr>
          <a:xfrm>
            <a:off x="6175018" y="2979502"/>
            <a:ext cx="2231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underlying causes of control </a:t>
            </a:r>
            <a:endParaRPr lang="en-US" sz="837" dirty="0"/>
          </a:p>
        </p:txBody>
      </p:sp>
      <p:sp>
        <p:nvSpPr>
          <p:cNvPr id="49" name="Text 36"/>
          <p:cNvSpPr/>
          <p:nvPr/>
        </p:nvSpPr>
        <p:spPr>
          <a:xfrm>
            <a:off x="5036344" y="3128070"/>
            <a:ext cx="427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failures. </a:t>
            </a:r>
            <a:endParaRPr lang="en-US" sz="837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355218"/>
            <a:ext cx="142875" cy="11430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064919" y="3333787"/>
            <a:ext cx="12018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Mapping</a:t>
            </a:r>
            <a:endParaRPr lang="en-US" sz="837" dirty="0"/>
          </a:p>
        </p:txBody>
      </p:sp>
      <p:sp>
        <p:nvSpPr>
          <p:cNvPr id="52" name="Text 38"/>
          <p:cNvSpPr/>
          <p:nvPr/>
        </p:nvSpPr>
        <p:spPr>
          <a:xfrm>
            <a:off x="6266799" y="3333787"/>
            <a:ext cx="22690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Comparing evidence against compliance 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5064919" y="3482355"/>
            <a:ext cx="7578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requirements. </a:t>
            </a:r>
            <a:endParaRPr lang="en-US" sz="837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3709504"/>
            <a:ext cx="128588" cy="11430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5050631" y="3688073"/>
            <a:ext cx="7252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 Analysis</a:t>
            </a:r>
            <a:endParaRPr lang="en-US" sz="837" dirty="0"/>
          </a:p>
        </p:txBody>
      </p:sp>
      <p:sp>
        <p:nvSpPr>
          <p:cNvPr id="56" name="Text 41"/>
          <p:cNvSpPr/>
          <p:nvPr/>
        </p:nvSpPr>
        <p:spPr>
          <a:xfrm>
            <a:off x="5775889" y="3688073"/>
            <a:ext cx="29080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differences between expected and actual 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5050631" y="3836640"/>
            <a:ext cx="7056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state. </a:t>
            </a:r>
            <a:endParaRPr lang="en-US" sz="837" dirty="0"/>
          </a:p>
        </p:txBody>
      </p:sp>
      <p:sp>
        <p:nvSpPr>
          <p:cNvPr id="58" name="Shape 43"/>
          <p:cNvSpPr/>
          <p:nvPr/>
        </p:nvSpPr>
        <p:spPr>
          <a:xfrm>
            <a:off x="4743450" y="4260242"/>
            <a:ext cx="4114800" cy="1194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9" name="Text 44"/>
          <p:cNvSpPr/>
          <p:nvPr/>
        </p:nvSpPr>
        <p:spPr>
          <a:xfrm>
            <a:off x="4850606" y="436739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Challenges</a:t>
            </a:r>
            <a:endParaRPr lang="en-US" sz="1046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0606" y="4656720"/>
            <a:ext cx="114300" cy="114300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5036344" y="4635289"/>
            <a:ext cx="11881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Incomplete Evidence</a:t>
            </a:r>
            <a:endParaRPr lang="en-US" sz="837" dirty="0"/>
          </a:p>
        </p:txBody>
      </p:sp>
      <p:sp>
        <p:nvSpPr>
          <p:cNvPr id="62" name="Text 46"/>
          <p:cNvSpPr/>
          <p:nvPr/>
        </p:nvSpPr>
        <p:spPr>
          <a:xfrm>
            <a:off x="6224494" y="4635289"/>
            <a:ext cx="22637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Missing or partial evidence that makes it </a:t>
            </a:r>
            <a:endParaRPr lang="en-US" sz="837" dirty="0"/>
          </a:p>
        </p:txBody>
      </p:sp>
      <p:sp>
        <p:nvSpPr>
          <p:cNvPr id="63" name="Text 47"/>
          <p:cNvSpPr/>
          <p:nvPr/>
        </p:nvSpPr>
        <p:spPr>
          <a:xfrm>
            <a:off x="5036344" y="4783857"/>
            <a:ext cx="15319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difficult to draw conclusions. </a:t>
            </a:r>
            <a:endParaRPr lang="en-US" sz="837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0606" y="5011006"/>
            <a:ext cx="114300" cy="114300"/>
          </a:xfrm>
          <a:prstGeom prst="rect">
            <a:avLst/>
          </a:prstGeom>
        </p:spPr>
      </p:pic>
      <p:sp>
        <p:nvSpPr>
          <p:cNvPr id="65" name="Text 48"/>
          <p:cNvSpPr/>
          <p:nvPr/>
        </p:nvSpPr>
        <p:spPr>
          <a:xfrm>
            <a:off x="5036344" y="4989575"/>
            <a:ext cx="11582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Conflicting Evidence</a:t>
            </a:r>
            <a:endParaRPr lang="en-US" sz="837" dirty="0"/>
          </a:p>
        </p:txBody>
      </p:sp>
      <p:sp>
        <p:nvSpPr>
          <p:cNvPr id="66" name="Text 49"/>
          <p:cNvSpPr/>
          <p:nvPr/>
        </p:nvSpPr>
        <p:spPr>
          <a:xfrm>
            <a:off x="6194552" y="4989575"/>
            <a:ext cx="2061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Different evidence sources providing </a:t>
            </a:r>
            <a:endParaRPr lang="en-US" sz="837" dirty="0"/>
          </a:p>
        </p:txBody>
      </p:sp>
      <p:sp>
        <p:nvSpPr>
          <p:cNvPr id="67" name="Text 50"/>
          <p:cNvSpPr/>
          <p:nvPr/>
        </p:nvSpPr>
        <p:spPr>
          <a:xfrm>
            <a:off x="5036344" y="5138142"/>
            <a:ext cx="14132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contradictory information. </a:t>
            </a:r>
            <a:endParaRPr lang="en-US" sz="83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33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Monitoring and Reporting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Compliance monitoring is the ongoing process of evaluating adherence to security policies, standards, and regulatory requirements to ensure continued compliance.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Components of Compliance Monitoring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1765204"/>
            <a:ext cx="1131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Assessment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710007" y="1765204"/>
            <a:ext cx="22953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Regular evaluation of security controls to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78644" y="1913772"/>
            <a:ext cx="10575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verify effectiveness.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4092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8644" y="2119489"/>
            <a:ext cx="10268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Metrics Collection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605530" y="2119489"/>
            <a:ext cx="23939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Gathering quantifiable data on compliance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78644" y="2268057"/>
            <a:ext cx="3574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495206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8644" y="2473775"/>
            <a:ext cx="7252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 Analysis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303902" y="2473775"/>
            <a:ext cx="2969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areas where compliance requirements are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78644" y="2622342"/>
            <a:ext cx="7889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being met. 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285750" y="3045944"/>
            <a:ext cx="4114800" cy="2057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392906" y="315310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Monitoring Maturity Model</a:t>
            </a:r>
            <a:endParaRPr lang="en-US" sz="1046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3424563"/>
            <a:ext cx="3900488" cy="1571625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743450" y="742950"/>
            <a:ext cx="4114800" cy="125149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Reporting Best Practices</a:t>
            </a:r>
            <a:endParaRPr lang="en-US" sz="1046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0606" y="1139428"/>
            <a:ext cx="142875" cy="114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64919" y="1117997"/>
            <a:ext cx="1030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Audience-Focused</a:t>
            </a:r>
            <a:endParaRPr lang="en-US" sz="837" dirty="0"/>
          </a:p>
        </p:txBody>
      </p:sp>
      <p:sp>
        <p:nvSpPr>
          <p:cNvPr id="27" name="Text 19"/>
          <p:cNvSpPr/>
          <p:nvPr/>
        </p:nvSpPr>
        <p:spPr>
          <a:xfrm>
            <a:off x="6095907" y="1117997"/>
            <a:ext cx="25779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Tailor reports to different stakeholders' needs. </a:t>
            </a:r>
            <a:endParaRPr lang="en-US" sz="837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1345146"/>
            <a:ext cx="128588" cy="1143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050631" y="1323715"/>
            <a:ext cx="12555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Representation</a:t>
            </a:r>
            <a:endParaRPr lang="en-US" sz="837" dirty="0"/>
          </a:p>
        </p:txBody>
      </p:sp>
      <p:sp>
        <p:nvSpPr>
          <p:cNvPr id="30" name="Text 21"/>
          <p:cNvSpPr/>
          <p:nvPr/>
        </p:nvSpPr>
        <p:spPr>
          <a:xfrm>
            <a:off x="6306229" y="1323715"/>
            <a:ext cx="21400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Use charts and dashboards to present 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5050631" y="1472282"/>
            <a:ext cx="10013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status. </a:t>
            </a:r>
            <a:endParaRPr lang="en-US" sz="837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699431"/>
            <a:ext cx="114300" cy="1143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036344" y="1678000"/>
            <a:ext cx="14027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Risk-Based Prioritization</a:t>
            </a:r>
            <a:endParaRPr lang="en-US" sz="837" dirty="0"/>
          </a:p>
        </p:txBody>
      </p:sp>
      <p:sp>
        <p:nvSpPr>
          <p:cNvPr id="34" name="Text 24"/>
          <p:cNvSpPr/>
          <p:nvPr/>
        </p:nvSpPr>
        <p:spPr>
          <a:xfrm>
            <a:off x="6439058" y="1678000"/>
            <a:ext cx="2301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Highlight compliance gaps based on risk. </a:t>
            </a:r>
            <a:endParaRPr lang="en-US" sz="837" dirty="0"/>
          </a:p>
        </p:txBody>
      </p:sp>
      <p:sp>
        <p:nvSpPr>
          <p:cNvPr id="35" name="Shape 25"/>
          <p:cNvSpPr/>
          <p:nvPr/>
        </p:nvSpPr>
        <p:spPr>
          <a:xfrm>
            <a:off x="4743450" y="2101602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6" name="Text 26"/>
          <p:cNvSpPr/>
          <p:nvPr/>
        </p:nvSpPr>
        <p:spPr>
          <a:xfrm>
            <a:off x="4850606" y="2208758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Compliance Monitoring</a:t>
            </a:r>
            <a:endParaRPr lang="en-US" sz="1046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2498080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36344" y="2476649"/>
            <a:ext cx="12207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Monitoring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6257088" y="2476649"/>
            <a:ext cx="23339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tools that continuously assess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36344" y="2625217"/>
            <a:ext cx="10013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status. </a:t>
            </a:r>
            <a:endParaRPr lang="en-US" sz="83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2852365"/>
            <a:ext cx="142875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64919" y="2830934"/>
            <a:ext cx="10892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Testing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6154201" y="2830934"/>
            <a:ext cx="20192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Scheduled scripts that verify control 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5064919" y="2979502"/>
            <a:ext cx="889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implementation. </a:t>
            </a:r>
            <a:endParaRPr lang="en-US" sz="837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3206651"/>
            <a:ext cx="100013" cy="1143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22056" y="3185220"/>
            <a:ext cx="4650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Alerting</a:t>
            </a:r>
            <a:endParaRPr lang="en-US" sz="837" dirty="0"/>
          </a:p>
        </p:txBody>
      </p:sp>
      <p:sp>
        <p:nvSpPr>
          <p:cNvPr id="47" name="Text 34"/>
          <p:cNvSpPr/>
          <p:nvPr/>
        </p:nvSpPr>
        <p:spPr>
          <a:xfrm>
            <a:off x="5487153" y="3185220"/>
            <a:ext cx="31913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Notifications when compliance status changes or controls </a:t>
            </a:r>
            <a:endParaRPr lang="en-US" sz="837" dirty="0"/>
          </a:p>
        </p:txBody>
      </p:sp>
      <p:sp>
        <p:nvSpPr>
          <p:cNvPr id="48" name="Text 35"/>
          <p:cNvSpPr/>
          <p:nvPr/>
        </p:nvSpPr>
        <p:spPr>
          <a:xfrm>
            <a:off x="5022056" y="3333787"/>
            <a:ext cx="1930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fail. </a:t>
            </a:r>
            <a:endParaRPr lang="en-US" sz="837" dirty="0"/>
          </a:p>
        </p:txBody>
      </p:sp>
      <p:sp>
        <p:nvSpPr>
          <p:cNvPr id="49" name="Shape 36"/>
          <p:cNvSpPr/>
          <p:nvPr/>
        </p:nvSpPr>
        <p:spPr>
          <a:xfrm>
            <a:off x="4743450" y="3757389"/>
            <a:ext cx="4114800" cy="1194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0" name="Text 37"/>
          <p:cNvSpPr/>
          <p:nvPr/>
        </p:nvSpPr>
        <p:spPr>
          <a:xfrm>
            <a:off x="4850606" y="386454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Compliance Metrics</a:t>
            </a:r>
            <a:endParaRPr lang="en-US" sz="1046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4153867"/>
            <a:ext cx="114300" cy="1143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36344" y="4132436"/>
            <a:ext cx="9596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Rate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5996006" y="4132436"/>
            <a:ext cx="23071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Percentage of requirements that are fully </a:t>
            </a:r>
            <a:endParaRPr lang="en-US" sz="837" dirty="0"/>
          </a:p>
        </p:txBody>
      </p:sp>
      <p:sp>
        <p:nvSpPr>
          <p:cNvPr id="54" name="Text 40"/>
          <p:cNvSpPr/>
          <p:nvPr/>
        </p:nvSpPr>
        <p:spPr>
          <a:xfrm>
            <a:off x="5036344" y="4281004"/>
            <a:ext cx="478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satisfied. </a:t>
            </a:r>
            <a:endParaRPr lang="en-US" sz="837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4508153"/>
            <a:ext cx="114300" cy="1143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036344" y="4486721"/>
            <a:ext cx="9037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Failures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5940140" y="4486721"/>
            <a:ext cx="22665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Number of controls that failed testing or </a:t>
            </a:r>
            <a:endParaRPr lang="en-US" sz="837" dirty="0"/>
          </a:p>
        </p:txBody>
      </p:sp>
      <p:sp>
        <p:nvSpPr>
          <p:cNvPr id="58" name="Text 43"/>
          <p:cNvSpPr/>
          <p:nvPr/>
        </p:nvSpPr>
        <p:spPr>
          <a:xfrm>
            <a:off x="5036344" y="4635289"/>
            <a:ext cx="6614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assessment. </a:t>
            </a:r>
            <a:endParaRPr lang="en-US" sz="83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1320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Management and Analysis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Log management is the process of collecting, storing, analyzing, and monitoring log data generated by systems, applications, and devices to support security monitoring and auditing.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3086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Log Sources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1765204"/>
            <a:ext cx="7084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 Logs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287075" y="1765204"/>
            <a:ext cx="2556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Operating system events and system changes </a:t>
            </a:r>
            <a:endParaRPr lang="en-US" sz="83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1992353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8644" y="1970922"/>
            <a:ext cx="760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Logs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1338644" y="1970922"/>
            <a:ext cx="24176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Authentication attempts and security alerts </a:t>
            </a:r>
            <a:endParaRPr lang="en-US" sz="83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198070"/>
            <a:ext cx="142875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7219" y="2176639"/>
            <a:ext cx="7956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Logs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1402882" y="2176639"/>
            <a:ext cx="26335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Firewall, router, and network traffic information </a:t>
            </a:r>
            <a:endParaRPr lang="en-US" sz="83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403788"/>
            <a:ext cx="128588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2931" y="2382357"/>
            <a:ext cx="9456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 Logs</a:t>
            </a:r>
            <a:endParaRPr lang="en-US" sz="837" dirty="0"/>
          </a:p>
        </p:txBody>
      </p:sp>
      <p:sp>
        <p:nvSpPr>
          <p:cNvPr id="19" name="Text 12"/>
          <p:cNvSpPr/>
          <p:nvPr/>
        </p:nvSpPr>
        <p:spPr>
          <a:xfrm>
            <a:off x="1538557" y="2382357"/>
            <a:ext cx="25123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Application-specific events and user activities </a:t>
            </a:r>
            <a:endParaRPr lang="en-US" sz="837" dirty="0"/>
          </a:p>
        </p:txBody>
      </p:sp>
      <p:sp>
        <p:nvSpPr>
          <p:cNvPr id="20" name="Shape 13"/>
          <p:cNvSpPr/>
          <p:nvPr/>
        </p:nvSpPr>
        <p:spPr>
          <a:xfrm>
            <a:off x="285750" y="2805959"/>
            <a:ext cx="4114800" cy="2057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392906" y="2913115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Volume by Source (Average Daily)</a:t>
            </a:r>
            <a:endParaRPr lang="en-US" sz="1046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184578"/>
            <a:ext cx="3900488" cy="157162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4743450" y="742950"/>
            <a:ext cx="4114800" cy="160578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4" name="Text 16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Management Lifecycle</a:t>
            </a:r>
            <a:endParaRPr lang="en-US" sz="1046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1139428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036344" y="1117997"/>
            <a:ext cx="13569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Generation &amp; Collection</a:t>
            </a:r>
            <a:endParaRPr lang="en-US" sz="837" dirty="0"/>
          </a:p>
        </p:txBody>
      </p:sp>
      <p:sp>
        <p:nvSpPr>
          <p:cNvPr id="27" name="Text 18"/>
          <p:cNvSpPr/>
          <p:nvPr/>
        </p:nvSpPr>
        <p:spPr>
          <a:xfrm>
            <a:off x="6393321" y="1117997"/>
            <a:ext cx="2343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Configuring systems to generate logs and </a:t>
            </a:r>
            <a:endParaRPr lang="en-US" sz="837" dirty="0"/>
          </a:p>
        </p:txBody>
      </p:sp>
      <p:sp>
        <p:nvSpPr>
          <p:cNvPr id="28" name="Text 19"/>
          <p:cNvSpPr/>
          <p:nvPr/>
        </p:nvSpPr>
        <p:spPr>
          <a:xfrm>
            <a:off x="5036344" y="1266565"/>
            <a:ext cx="8269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collecting them </a:t>
            </a:r>
            <a:endParaRPr lang="en-US" sz="837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493713"/>
            <a:ext cx="114300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36344" y="1472282"/>
            <a:ext cx="13986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Normalization &amp; Parsing</a:t>
            </a:r>
            <a:endParaRPr lang="en-US" sz="837" dirty="0"/>
          </a:p>
        </p:txBody>
      </p:sp>
      <p:sp>
        <p:nvSpPr>
          <p:cNvPr id="31" name="Text 21"/>
          <p:cNvSpPr/>
          <p:nvPr/>
        </p:nvSpPr>
        <p:spPr>
          <a:xfrm>
            <a:off x="6435040" y="1472282"/>
            <a:ext cx="2084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Converting logs to a standard format </a:t>
            </a:r>
            <a:endParaRPr lang="en-US" sz="837" dirty="0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1699431"/>
            <a:ext cx="100013" cy="1143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5022056" y="1678000"/>
            <a:ext cx="11525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Storage &amp; Retention</a:t>
            </a:r>
            <a:endParaRPr lang="en-US" sz="837" dirty="0"/>
          </a:p>
        </p:txBody>
      </p:sp>
      <p:sp>
        <p:nvSpPr>
          <p:cNvPr id="34" name="Text 23"/>
          <p:cNvSpPr/>
          <p:nvPr/>
        </p:nvSpPr>
        <p:spPr>
          <a:xfrm>
            <a:off x="6174656" y="1678000"/>
            <a:ext cx="2322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Securely storing logs for required periods </a:t>
            </a:r>
            <a:endParaRPr lang="en-US" sz="837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1905149"/>
            <a:ext cx="114300" cy="1143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036344" y="1883718"/>
            <a:ext cx="12633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Analysis &amp; Correlation</a:t>
            </a:r>
            <a:endParaRPr lang="en-US" sz="837" dirty="0"/>
          </a:p>
        </p:txBody>
      </p:sp>
      <p:sp>
        <p:nvSpPr>
          <p:cNvPr id="37" name="Text 25"/>
          <p:cNvSpPr/>
          <p:nvPr/>
        </p:nvSpPr>
        <p:spPr>
          <a:xfrm>
            <a:off x="6299727" y="1883718"/>
            <a:ext cx="2206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Examining logs to identify patterns and </a:t>
            </a:r>
            <a:endParaRPr lang="en-US" sz="837" dirty="0"/>
          </a:p>
        </p:txBody>
      </p:sp>
      <p:sp>
        <p:nvSpPr>
          <p:cNvPr id="38" name="Text 26"/>
          <p:cNvSpPr/>
          <p:nvPr/>
        </p:nvSpPr>
        <p:spPr>
          <a:xfrm>
            <a:off x="5036344" y="2032285"/>
            <a:ext cx="3513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events </a:t>
            </a:r>
            <a:endParaRPr lang="en-US" sz="837" dirty="0"/>
          </a:p>
        </p:txBody>
      </p:sp>
      <p:sp>
        <p:nvSpPr>
          <p:cNvPr id="39" name="Shape 27"/>
          <p:cNvSpPr/>
          <p:nvPr/>
        </p:nvSpPr>
        <p:spPr>
          <a:xfrm>
            <a:off x="4743450" y="2455887"/>
            <a:ext cx="4114800" cy="140006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0" name="Text 28"/>
          <p:cNvSpPr/>
          <p:nvPr/>
        </p:nvSpPr>
        <p:spPr>
          <a:xfrm>
            <a:off x="4850606" y="2563044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Analysis Techniques</a:t>
            </a:r>
            <a:endParaRPr lang="en-US" sz="1046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2852365"/>
            <a:ext cx="114300" cy="1143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036344" y="2830934"/>
            <a:ext cx="11494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 Recognition</a:t>
            </a:r>
            <a:endParaRPr lang="en-US" sz="837" dirty="0"/>
          </a:p>
        </p:txBody>
      </p:sp>
      <p:sp>
        <p:nvSpPr>
          <p:cNvPr id="43" name="Text 30"/>
          <p:cNvSpPr/>
          <p:nvPr/>
        </p:nvSpPr>
        <p:spPr>
          <a:xfrm>
            <a:off x="6185762" y="2830934"/>
            <a:ext cx="2562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known patterns indicating security </a:t>
            </a:r>
            <a:endParaRPr lang="en-US" sz="837" dirty="0"/>
          </a:p>
        </p:txBody>
      </p:sp>
      <p:sp>
        <p:nvSpPr>
          <p:cNvPr id="44" name="Text 31"/>
          <p:cNvSpPr/>
          <p:nvPr/>
        </p:nvSpPr>
        <p:spPr>
          <a:xfrm>
            <a:off x="5036344" y="2979502"/>
            <a:ext cx="3513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events </a:t>
            </a:r>
            <a:endParaRPr lang="en-US" sz="837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206651"/>
            <a:ext cx="114300" cy="114300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036344" y="3185220"/>
            <a:ext cx="10939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Anomaly Detection</a:t>
            </a:r>
            <a:endParaRPr lang="en-US" sz="837" dirty="0"/>
          </a:p>
        </p:txBody>
      </p:sp>
      <p:sp>
        <p:nvSpPr>
          <p:cNvPr id="47" name="Text 33"/>
          <p:cNvSpPr/>
          <p:nvPr/>
        </p:nvSpPr>
        <p:spPr>
          <a:xfrm>
            <a:off x="6130314" y="3185220"/>
            <a:ext cx="24686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deviations from normal behavior </a:t>
            </a:r>
            <a:endParaRPr lang="en-US" sz="837" dirty="0"/>
          </a:p>
        </p:txBody>
      </p:sp>
      <p:pic>
        <p:nvPicPr>
          <p:cNvPr id="48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3412368"/>
            <a:ext cx="142875" cy="11430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064919" y="3390937"/>
            <a:ext cx="9978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 Correlation</a:t>
            </a:r>
            <a:endParaRPr lang="en-US" sz="837" dirty="0"/>
          </a:p>
        </p:txBody>
      </p:sp>
      <p:sp>
        <p:nvSpPr>
          <p:cNvPr id="50" name="Text 35"/>
          <p:cNvSpPr/>
          <p:nvPr/>
        </p:nvSpPr>
        <p:spPr>
          <a:xfrm>
            <a:off x="6062783" y="3390937"/>
            <a:ext cx="25423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Connecting related events across multiple log </a:t>
            </a:r>
            <a:endParaRPr lang="en-US" sz="837" dirty="0"/>
          </a:p>
        </p:txBody>
      </p:sp>
      <p:sp>
        <p:nvSpPr>
          <p:cNvPr id="51" name="Text 36"/>
          <p:cNvSpPr/>
          <p:nvPr/>
        </p:nvSpPr>
        <p:spPr>
          <a:xfrm>
            <a:off x="5064919" y="3539505"/>
            <a:ext cx="4135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 </a:t>
            </a:r>
            <a:endParaRPr lang="en-US" sz="837" dirty="0"/>
          </a:p>
        </p:txBody>
      </p:sp>
      <p:sp>
        <p:nvSpPr>
          <p:cNvPr id="52" name="Shape 37"/>
          <p:cNvSpPr/>
          <p:nvPr/>
        </p:nvSpPr>
        <p:spPr>
          <a:xfrm>
            <a:off x="4743450" y="3963107"/>
            <a:ext cx="4114800" cy="140006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3" name="Text 38"/>
          <p:cNvSpPr/>
          <p:nvPr/>
        </p:nvSpPr>
        <p:spPr>
          <a:xfrm>
            <a:off x="4850606" y="407026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Best Practices</a:t>
            </a:r>
            <a:endParaRPr lang="en-US" sz="1046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0606" y="4359585"/>
            <a:ext cx="114300" cy="11430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5036344" y="4338154"/>
            <a:ext cx="12329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Time Synchronization</a:t>
            </a:r>
            <a:endParaRPr lang="en-US" sz="837" dirty="0"/>
          </a:p>
        </p:txBody>
      </p:sp>
      <p:sp>
        <p:nvSpPr>
          <p:cNvPr id="56" name="Text 40"/>
          <p:cNvSpPr/>
          <p:nvPr/>
        </p:nvSpPr>
        <p:spPr>
          <a:xfrm>
            <a:off x="6269310" y="4338154"/>
            <a:ext cx="2315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Ensure all systems use synchronized time </a:t>
            </a:r>
            <a:endParaRPr lang="en-US" sz="837" dirty="0"/>
          </a:p>
        </p:txBody>
      </p:sp>
      <p:sp>
        <p:nvSpPr>
          <p:cNvPr id="57" name="Text 41"/>
          <p:cNvSpPr/>
          <p:nvPr/>
        </p:nvSpPr>
        <p:spPr>
          <a:xfrm>
            <a:off x="5036344" y="4486721"/>
            <a:ext cx="4135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sources </a:t>
            </a:r>
            <a:endParaRPr lang="en-US" sz="837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0606" y="4713870"/>
            <a:ext cx="100013" cy="114300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5022056" y="4692439"/>
            <a:ext cx="7478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Integrity</a:t>
            </a:r>
            <a:endParaRPr lang="en-US" sz="837" dirty="0"/>
          </a:p>
        </p:txBody>
      </p:sp>
      <p:sp>
        <p:nvSpPr>
          <p:cNvPr id="60" name="Text 43"/>
          <p:cNvSpPr/>
          <p:nvPr/>
        </p:nvSpPr>
        <p:spPr>
          <a:xfrm>
            <a:off x="5769945" y="4692439"/>
            <a:ext cx="24805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Protect logs from unauthorized modification </a:t>
            </a:r>
            <a:endParaRPr lang="en-US" sz="837" dirty="0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50606" y="4919588"/>
            <a:ext cx="114300" cy="114300"/>
          </a:xfrm>
          <a:prstGeom prst="rect">
            <a:avLst/>
          </a:prstGeom>
        </p:spPr>
      </p:pic>
      <p:sp>
        <p:nvSpPr>
          <p:cNvPr id="62" name="Text 44"/>
          <p:cNvSpPr/>
          <p:nvPr/>
        </p:nvSpPr>
        <p:spPr>
          <a:xfrm>
            <a:off x="5036344" y="4898157"/>
            <a:ext cx="999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Filtering Strategy</a:t>
            </a:r>
            <a:endParaRPr lang="en-US" sz="837" dirty="0"/>
          </a:p>
        </p:txBody>
      </p:sp>
      <p:sp>
        <p:nvSpPr>
          <p:cNvPr id="63" name="Text 45"/>
          <p:cNvSpPr/>
          <p:nvPr/>
        </p:nvSpPr>
        <p:spPr>
          <a:xfrm>
            <a:off x="6035687" y="4898157"/>
            <a:ext cx="260342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Balance between collecting too much data and </a:t>
            </a:r>
            <a:endParaRPr lang="en-US" sz="837" dirty="0"/>
          </a:p>
        </p:txBody>
      </p:sp>
      <p:sp>
        <p:nvSpPr>
          <p:cNvPr id="64" name="Text 46"/>
          <p:cNvSpPr/>
          <p:nvPr/>
        </p:nvSpPr>
        <p:spPr>
          <a:xfrm>
            <a:off x="5036344" y="5046725"/>
            <a:ext cx="7973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missing events </a:t>
            </a:r>
            <a:endParaRPr lang="en-US" sz="83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5617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SIEM and Monitoring Technologies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Security Information and Event Management (SIEM) systems collect, analyze, and correlate security event data from multiple sources to support threat detection, incident response, and compliance monitoring.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570174"/>
            <a:ext cx="4114800" cy="225720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677330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Core SIEM Capabilities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966652"/>
            <a:ext cx="128588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2931" y="1945221"/>
            <a:ext cx="16649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Log Collection &amp; Aggregation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2257844" y="1945221"/>
            <a:ext cx="19740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Gathering security event data from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92931" y="2093788"/>
            <a:ext cx="21182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diverse sources across the organization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320937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8644" y="2299506"/>
            <a:ext cx="13986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Normalization &amp; Parsing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977340" y="2299506"/>
            <a:ext cx="20382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Converting varied log formats into a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78644" y="2448074"/>
            <a:ext cx="18588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standardized structure for analysis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675223"/>
            <a:ext cx="14287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219" y="2653792"/>
            <a:ext cx="12633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Correlation &amp; Analysis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870602" y="2653792"/>
            <a:ext cx="22785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relationships between events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607219" y="2802359"/>
            <a:ext cx="13013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across different systems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3029508"/>
            <a:ext cx="100013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64356" y="3008077"/>
            <a:ext cx="12956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Alerting &amp; Notification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859970" y="3008077"/>
            <a:ext cx="2182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Generating alerts for security incidents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564356" y="3156645"/>
            <a:ext cx="14080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based on predefined rules </a:t>
            </a:r>
            <a:endParaRPr lang="en-US" sz="837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383793"/>
            <a:ext cx="114300" cy="1143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8644" y="3362362"/>
            <a:ext cx="13914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Dashboards &amp; Reporting</a:t>
            </a:r>
            <a:endParaRPr lang="en-US" sz="837" dirty="0"/>
          </a:p>
        </p:txBody>
      </p:sp>
      <p:sp>
        <p:nvSpPr>
          <p:cNvPr id="26" name="Text 18"/>
          <p:cNvSpPr/>
          <p:nvPr/>
        </p:nvSpPr>
        <p:spPr>
          <a:xfrm>
            <a:off x="1970140" y="3362362"/>
            <a:ext cx="22422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Visualizing security data and generating </a:t>
            </a:r>
            <a:endParaRPr lang="en-US" sz="837" dirty="0"/>
          </a:p>
        </p:txBody>
      </p:sp>
      <p:sp>
        <p:nvSpPr>
          <p:cNvPr id="27" name="Text 19"/>
          <p:cNvSpPr/>
          <p:nvPr/>
        </p:nvSpPr>
        <p:spPr>
          <a:xfrm>
            <a:off x="578644" y="3510930"/>
            <a:ext cx="10360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reports </a:t>
            </a:r>
            <a:endParaRPr lang="en-US" sz="837" dirty="0"/>
          </a:p>
        </p:txBody>
      </p:sp>
      <p:sp>
        <p:nvSpPr>
          <p:cNvPr id="28" name="Shape 20"/>
          <p:cNvSpPr/>
          <p:nvPr/>
        </p:nvSpPr>
        <p:spPr>
          <a:xfrm>
            <a:off x="285750" y="3934532"/>
            <a:ext cx="4114800" cy="20574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9" name="Text 21"/>
          <p:cNvSpPr/>
          <p:nvPr/>
        </p:nvSpPr>
        <p:spPr>
          <a:xfrm>
            <a:off x="392906" y="4041688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SIEM Adoption by Organization Size</a:t>
            </a:r>
            <a:endParaRPr lang="en-US" sz="1046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4313151"/>
            <a:ext cx="3900488" cy="157162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743450" y="742950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2" name="Text 23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Modern SIEM Enhancements</a:t>
            </a:r>
            <a:endParaRPr lang="en-US" sz="1046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139428"/>
            <a:ext cx="142875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64919" y="1117997"/>
            <a:ext cx="22527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User &amp; Entity Behavior Analytics (UEBA)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7317656" y="1117997"/>
            <a:ext cx="10302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Machine learning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5064919" y="1266565"/>
            <a:ext cx="32948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algorithms that detect anomalous user and system behaviors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1493713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36344" y="1472282"/>
            <a:ext cx="23935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Orchestration &amp; Response (SOAR)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7429919" y="1472282"/>
            <a:ext cx="11582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incident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36344" y="1620850"/>
            <a:ext cx="1881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workflows and playbooks </a:t>
            </a:r>
            <a:endParaRPr lang="en-US" sz="83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1847999"/>
            <a:ext cx="142875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64919" y="1826568"/>
            <a:ext cx="10136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Cloud Integration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6078550" y="1826568"/>
            <a:ext cx="23146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Monitoring cloud environments and SaaS 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5064919" y="1975135"/>
            <a:ext cx="647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applications </a:t>
            </a:r>
            <a:endParaRPr lang="en-US" sz="837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2202284"/>
            <a:ext cx="100013" cy="1143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22056" y="2180853"/>
            <a:ext cx="12306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Big Data Architecture</a:t>
            </a:r>
            <a:endParaRPr lang="en-US" sz="837" dirty="0"/>
          </a:p>
        </p:txBody>
      </p:sp>
      <p:sp>
        <p:nvSpPr>
          <p:cNvPr id="47" name="Text 34"/>
          <p:cNvSpPr/>
          <p:nvPr/>
        </p:nvSpPr>
        <p:spPr>
          <a:xfrm>
            <a:off x="6252735" y="2180853"/>
            <a:ext cx="23489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Scalable platforms for processing massive </a:t>
            </a:r>
            <a:endParaRPr lang="en-US" sz="837" dirty="0"/>
          </a:p>
        </p:txBody>
      </p:sp>
      <p:sp>
        <p:nvSpPr>
          <p:cNvPr id="48" name="Text 35"/>
          <p:cNvSpPr/>
          <p:nvPr/>
        </p:nvSpPr>
        <p:spPr>
          <a:xfrm>
            <a:off x="5022056" y="2329421"/>
            <a:ext cx="13118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volumes of security data </a:t>
            </a:r>
            <a:endParaRPr lang="en-US" sz="837" dirty="0"/>
          </a:p>
        </p:txBody>
      </p:sp>
      <p:sp>
        <p:nvSpPr>
          <p:cNvPr id="49" name="Shape 36"/>
          <p:cNvSpPr/>
          <p:nvPr/>
        </p:nvSpPr>
        <p:spPr>
          <a:xfrm>
            <a:off x="4743450" y="2753023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0" name="Text 37"/>
          <p:cNvSpPr/>
          <p:nvPr/>
        </p:nvSpPr>
        <p:spPr>
          <a:xfrm>
            <a:off x="4850606" y="286017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Complementary Monitoring Technologies</a:t>
            </a:r>
            <a:endParaRPr lang="en-US" sz="1046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149501"/>
            <a:ext cx="142875" cy="1143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64919" y="3128070"/>
            <a:ext cx="17306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Network Traffic Analysis (NTA)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6795548" y="3128070"/>
            <a:ext cx="15135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Monitoring network traffic </a:t>
            </a:r>
            <a:endParaRPr lang="en-US" sz="837" dirty="0"/>
          </a:p>
        </p:txBody>
      </p:sp>
      <p:sp>
        <p:nvSpPr>
          <p:cNvPr id="54" name="Text 40"/>
          <p:cNvSpPr/>
          <p:nvPr/>
        </p:nvSpPr>
        <p:spPr>
          <a:xfrm>
            <a:off x="5064919" y="3276637"/>
            <a:ext cx="21891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 to detect anomalies and threats </a:t>
            </a:r>
            <a:endParaRPr lang="en-US" sz="837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3503786"/>
            <a:ext cx="142875" cy="1143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064919" y="3482355"/>
            <a:ext cx="21209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Endpoint Detection &amp; Response (EDR)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7185887" y="3482355"/>
            <a:ext cx="9320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Monitoring and </a:t>
            </a:r>
            <a:endParaRPr lang="en-US" sz="837" dirty="0"/>
          </a:p>
        </p:txBody>
      </p:sp>
      <p:sp>
        <p:nvSpPr>
          <p:cNvPr id="58" name="Text 43"/>
          <p:cNvSpPr/>
          <p:nvPr/>
        </p:nvSpPr>
        <p:spPr>
          <a:xfrm>
            <a:off x="5064919" y="3630923"/>
            <a:ext cx="2580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responding to suspicious activities on endpoints </a:t>
            </a:r>
            <a:endParaRPr lang="en-US" sz="837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0606" y="3858071"/>
            <a:ext cx="114300" cy="11430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5036344" y="3836640"/>
            <a:ext cx="12829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Vulnerability Scanners</a:t>
            </a:r>
            <a:endParaRPr lang="en-US" sz="837" dirty="0"/>
          </a:p>
        </p:txBody>
      </p:sp>
      <p:sp>
        <p:nvSpPr>
          <p:cNvPr id="61" name="Text 45"/>
          <p:cNvSpPr/>
          <p:nvPr/>
        </p:nvSpPr>
        <p:spPr>
          <a:xfrm>
            <a:off x="6319261" y="3836640"/>
            <a:ext cx="20404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Identifying security vulnerabilities in </a:t>
            </a:r>
            <a:endParaRPr lang="en-US" sz="837" dirty="0"/>
          </a:p>
        </p:txBody>
      </p:sp>
      <p:sp>
        <p:nvSpPr>
          <p:cNvPr id="62" name="Text 46"/>
          <p:cNvSpPr/>
          <p:nvPr/>
        </p:nvSpPr>
        <p:spPr>
          <a:xfrm>
            <a:off x="5036344" y="3985208"/>
            <a:ext cx="13476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systems and applications </a:t>
            </a:r>
            <a:endParaRPr lang="en-US" sz="837" dirty="0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0606" y="4212357"/>
            <a:ext cx="100013" cy="11430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5022056" y="4190926"/>
            <a:ext cx="16803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Threat Intelligence Platforms</a:t>
            </a:r>
            <a:endParaRPr lang="en-US" sz="837" dirty="0"/>
          </a:p>
        </p:txBody>
      </p:sp>
      <p:sp>
        <p:nvSpPr>
          <p:cNvPr id="65" name="Text 48"/>
          <p:cNvSpPr/>
          <p:nvPr/>
        </p:nvSpPr>
        <p:spPr>
          <a:xfrm>
            <a:off x="6702400" y="4190926"/>
            <a:ext cx="19379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Integrating external threat data to </a:t>
            </a:r>
            <a:endParaRPr lang="en-US" sz="837" dirty="0"/>
          </a:p>
        </p:txBody>
      </p:sp>
      <p:sp>
        <p:nvSpPr>
          <p:cNvPr id="66" name="Text 49"/>
          <p:cNvSpPr/>
          <p:nvPr/>
        </p:nvSpPr>
        <p:spPr>
          <a:xfrm>
            <a:off x="5022056" y="4339493"/>
            <a:ext cx="16272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enhance detection capabilities </a:t>
            </a:r>
            <a:endParaRPr lang="en-US" sz="837" dirty="0"/>
          </a:p>
        </p:txBody>
      </p:sp>
      <p:sp>
        <p:nvSpPr>
          <p:cNvPr id="67" name="Shape 50"/>
          <p:cNvSpPr/>
          <p:nvPr/>
        </p:nvSpPr>
        <p:spPr>
          <a:xfrm>
            <a:off x="4743450" y="4763095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8" name="Text 51"/>
          <p:cNvSpPr/>
          <p:nvPr/>
        </p:nvSpPr>
        <p:spPr>
          <a:xfrm>
            <a:off x="4850606" y="4870252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Considerations</a:t>
            </a:r>
            <a:endParaRPr lang="en-US" sz="1046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50606" y="5159573"/>
            <a:ext cx="114300" cy="114300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5036344" y="5138142"/>
            <a:ext cx="13013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 Case Development</a:t>
            </a:r>
            <a:endParaRPr lang="en-US" sz="837" dirty="0"/>
          </a:p>
        </p:txBody>
      </p:sp>
      <p:sp>
        <p:nvSpPr>
          <p:cNvPr id="71" name="Text 53"/>
          <p:cNvSpPr/>
          <p:nvPr/>
        </p:nvSpPr>
        <p:spPr>
          <a:xfrm>
            <a:off x="6337650" y="5138142"/>
            <a:ext cx="19598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Define specific security monitoring </a:t>
            </a:r>
            <a:endParaRPr lang="en-US" sz="837" dirty="0"/>
          </a:p>
        </p:txBody>
      </p:sp>
      <p:sp>
        <p:nvSpPr>
          <p:cNvPr id="72" name="Text 54"/>
          <p:cNvSpPr/>
          <p:nvPr/>
        </p:nvSpPr>
        <p:spPr>
          <a:xfrm>
            <a:off x="5036344" y="5286710"/>
            <a:ext cx="22773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scenarios aligned with organizational risks </a:t>
            </a:r>
            <a:endParaRPr lang="en-US" sz="837" dirty="0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50606" y="5513859"/>
            <a:ext cx="142875" cy="114300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5064919" y="5492428"/>
            <a:ext cx="1288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Tuning &amp; Optimization</a:t>
            </a:r>
            <a:endParaRPr lang="en-US" sz="837" dirty="0"/>
          </a:p>
        </p:txBody>
      </p:sp>
      <p:sp>
        <p:nvSpPr>
          <p:cNvPr id="75" name="Text 56"/>
          <p:cNvSpPr/>
          <p:nvPr/>
        </p:nvSpPr>
        <p:spPr>
          <a:xfrm>
            <a:off x="6353082" y="5492428"/>
            <a:ext cx="23881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Refine rules and thresholds to reduce false </a:t>
            </a:r>
            <a:endParaRPr lang="en-US" sz="837" dirty="0"/>
          </a:p>
        </p:txBody>
      </p:sp>
      <p:sp>
        <p:nvSpPr>
          <p:cNvPr id="76" name="Text 57"/>
          <p:cNvSpPr/>
          <p:nvPr/>
        </p:nvSpPr>
        <p:spPr>
          <a:xfrm>
            <a:off x="5064919" y="5640995"/>
            <a:ext cx="1712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positives and improve detection </a:t>
            </a:r>
            <a:endParaRPr lang="en-US" sz="837" dirty="0"/>
          </a:p>
        </p:txBody>
      </p:sp>
      <p:pic>
        <p:nvPicPr>
          <p:cNvPr id="77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50606" y="5868144"/>
            <a:ext cx="142875" cy="114300"/>
          </a:xfrm>
          <a:prstGeom prst="rect">
            <a:avLst/>
          </a:prstGeom>
        </p:spPr>
      </p:pic>
      <p:sp>
        <p:nvSpPr>
          <p:cNvPr id="78" name="Text 58"/>
          <p:cNvSpPr/>
          <p:nvPr/>
        </p:nvSpPr>
        <p:spPr>
          <a:xfrm>
            <a:off x="5064919" y="5846713"/>
            <a:ext cx="11282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Staffing &amp; Expertise</a:t>
            </a:r>
            <a:endParaRPr lang="en-US" sz="837" dirty="0"/>
          </a:p>
        </p:txBody>
      </p:sp>
      <p:sp>
        <p:nvSpPr>
          <p:cNvPr id="79" name="Text 59"/>
          <p:cNvSpPr/>
          <p:nvPr/>
        </p:nvSpPr>
        <p:spPr>
          <a:xfrm>
            <a:off x="6193185" y="5846713"/>
            <a:ext cx="2532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Ensure adequate skilled personnel to operate </a:t>
            </a:r>
            <a:endParaRPr lang="en-US" sz="837" dirty="0"/>
          </a:p>
        </p:txBody>
      </p:sp>
      <p:sp>
        <p:nvSpPr>
          <p:cNvPr id="80" name="Text 60"/>
          <p:cNvSpPr/>
          <p:nvPr/>
        </p:nvSpPr>
        <p:spPr>
          <a:xfrm>
            <a:off x="5064919" y="5995281"/>
            <a:ext cx="12159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maintain the SIEM </a:t>
            </a:r>
            <a:endParaRPr lang="en-US" sz="83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56175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Automation in Monitoring and Auditing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Automation enhances security monitoring and auditing by increasing efficiency, consistency, and coverage while reducing human error and resource requirements.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Automation Technologies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14287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219" y="1765204"/>
            <a:ext cx="19375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Robotic Process Automation (RPA)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2544738" y="1765204"/>
            <a:ext cx="15556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Software robots that mimic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607219" y="1913772"/>
            <a:ext cx="25909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human actions to perform repetitive audit tasks.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4092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8644" y="2119489"/>
            <a:ext cx="10283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Machine Learning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607009" y="2119489"/>
            <a:ext cx="23736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Algorithms that learn from data to identify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78644" y="2268057"/>
            <a:ext cx="268261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patterns, anomalies, and potential security issues.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495206"/>
            <a:ext cx="142875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7219" y="2473775"/>
            <a:ext cx="9098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Scripting &amp; APIs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517070" y="2473775"/>
            <a:ext cx="22661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Custom scripts and API integrations that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607219" y="2622342"/>
            <a:ext cx="205477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 data collection and analysis.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849491"/>
            <a:ext cx="142875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7219" y="2828060"/>
            <a:ext cx="11184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Orchestration Tools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725662" y="2828060"/>
            <a:ext cx="25662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Platforms that coordinate multiple automated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607219" y="2976628"/>
            <a:ext cx="18940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processes across different systems.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285750" y="3400230"/>
            <a:ext cx="4114800" cy="227171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392906" y="350738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 Impact on Monitoring &amp; Auditing</a:t>
            </a:r>
            <a:endParaRPr lang="en-US" sz="1046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778848"/>
            <a:ext cx="3900488" cy="178593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743450" y="742950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Monitoring Capabilities</a:t>
            </a:r>
            <a:endParaRPr lang="en-US" sz="1046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1139428"/>
            <a:ext cx="114300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36344" y="1117997"/>
            <a:ext cx="17819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Control Monitoring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6818291" y="1117997"/>
            <a:ext cx="18204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Real-time verification of security 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5036344" y="1266565"/>
            <a:ext cx="21286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effectiveness and configuration. </a:t>
            </a:r>
            <a:endParaRPr lang="en-US" sz="837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493713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36344" y="1472282"/>
            <a:ext cx="11399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Alerting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6176274" y="1472282"/>
            <a:ext cx="25332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Immediate notifications when security events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5036344" y="1620850"/>
            <a:ext cx="16444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compliance violations occur.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1847999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36344" y="1826568"/>
            <a:ext cx="8261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 Analysis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5862507" y="1826568"/>
            <a:ext cx="27936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identification of patterns and trends in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36344" y="1975135"/>
            <a:ext cx="12592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data over time. </a:t>
            </a:r>
            <a:endParaRPr lang="en-US" sz="83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2202284"/>
            <a:ext cx="85725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07769" y="2180853"/>
            <a:ext cx="12447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Reporting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6252511" y="2180853"/>
            <a:ext cx="21662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Generation of compliance and security 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5007769" y="2329421"/>
            <a:ext cx="19867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reports without manual intervention. </a:t>
            </a:r>
            <a:endParaRPr lang="en-US" sz="837" dirty="0"/>
          </a:p>
        </p:txBody>
      </p:sp>
      <p:sp>
        <p:nvSpPr>
          <p:cNvPr id="45" name="Shape 33"/>
          <p:cNvSpPr/>
          <p:nvPr/>
        </p:nvSpPr>
        <p:spPr>
          <a:xfrm>
            <a:off x="4743450" y="2753023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6" name="Text 34"/>
          <p:cNvSpPr/>
          <p:nvPr/>
        </p:nvSpPr>
        <p:spPr>
          <a:xfrm>
            <a:off x="4850606" y="286017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Automated Audit Processes</a:t>
            </a:r>
            <a:endParaRPr lang="en-US" sz="1046" dirty="0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3149501"/>
            <a:ext cx="85725" cy="11430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007769" y="3128070"/>
            <a:ext cx="8676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Control Testing</a:t>
            </a:r>
            <a:endParaRPr lang="en-US" sz="837" dirty="0"/>
          </a:p>
        </p:txBody>
      </p:sp>
      <p:sp>
        <p:nvSpPr>
          <p:cNvPr id="49" name="Text 36"/>
          <p:cNvSpPr/>
          <p:nvPr/>
        </p:nvSpPr>
        <p:spPr>
          <a:xfrm>
            <a:off x="5875427" y="3128070"/>
            <a:ext cx="20624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scripts that verify control </a:t>
            </a:r>
            <a:endParaRPr lang="en-US" sz="837" dirty="0"/>
          </a:p>
        </p:txBody>
      </p:sp>
      <p:sp>
        <p:nvSpPr>
          <p:cNvPr id="50" name="Text 37"/>
          <p:cNvSpPr/>
          <p:nvPr/>
        </p:nvSpPr>
        <p:spPr>
          <a:xfrm>
            <a:off x="5007769" y="3276637"/>
            <a:ext cx="18539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and effectiveness. </a:t>
            </a:r>
            <a:endParaRPr lang="en-US" sz="837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503786"/>
            <a:ext cx="100013" cy="11430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22056" y="3482355"/>
            <a:ext cx="14523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Sampling &amp; Analysis</a:t>
            </a:r>
            <a:endParaRPr lang="en-US" sz="837" dirty="0"/>
          </a:p>
        </p:txBody>
      </p:sp>
      <p:sp>
        <p:nvSpPr>
          <p:cNvPr id="53" name="Text 39"/>
          <p:cNvSpPr/>
          <p:nvPr/>
        </p:nvSpPr>
        <p:spPr>
          <a:xfrm>
            <a:off x="6474358" y="3482355"/>
            <a:ext cx="22767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selection and examination of </a:t>
            </a:r>
            <a:endParaRPr lang="en-US" sz="837" dirty="0"/>
          </a:p>
        </p:txBody>
      </p:sp>
      <p:sp>
        <p:nvSpPr>
          <p:cNvPr id="54" name="Text 40"/>
          <p:cNvSpPr/>
          <p:nvPr/>
        </p:nvSpPr>
        <p:spPr>
          <a:xfrm>
            <a:off x="5022056" y="3630923"/>
            <a:ext cx="15522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representative data samples. </a:t>
            </a:r>
            <a:endParaRPr lang="en-US" sz="837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3858071"/>
            <a:ext cx="85725" cy="11430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5007769" y="3836640"/>
            <a:ext cx="15020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Configuration Assessment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6509798" y="3836640"/>
            <a:ext cx="1911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comparison of system </a:t>
            </a:r>
            <a:endParaRPr lang="en-US" sz="837" dirty="0"/>
          </a:p>
        </p:txBody>
      </p:sp>
      <p:sp>
        <p:nvSpPr>
          <p:cNvPr id="58" name="Text 43"/>
          <p:cNvSpPr/>
          <p:nvPr/>
        </p:nvSpPr>
        <p:spPr>
          <a:xfrm>
            <a:off x="5007769" y="3985208"/>
            <a:ext cx="22166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configurations against security baselines. </a:t>
            </a:r>
            <a:endParaRPr lang="en-US" sz="837" dirty="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0606" y="4212357"/>
            <a:ext cx="114300" cy="114300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5036344" y="4190926"/>
            <a:ext cx="12627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Workflow Automation</a:t>
            </a:r>
            <a:endParaRPr lang="en-US" sz="837" dirty="0"/>
          </a:p>
        </p:txBody>
      </p:sp>
      <p:sp>
        <p:nvSpPr>
          <p:cNvPr id="61" name="Text 45"/>
          <p:cNvSpPr/>
          <p:nvPr/>
        </p:nvSpPr>
        <p:spPr>
          <a:xfrm>
            <a:off x="6299141" y="4190926"/>
            <a:ext cx="22308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management of audit tasks, </a:t>
            </a:r>
            <a:endParaRPr lang="en-US" sz="837" dirty="0"/>
          </a:p>
        </p:txBody>
      </p:sp>
      <p:sp>
        <p:nvSpPr>
          <p:cNvPr id="62" name="Text 46"/>
          <p:cNvSpPr/>
          <p:nvPr/>
        </p:nvSpPr>
        <p:spPr>
          <a:xfrm>
            <a:off x="5036344" y="4339493"/>
            <a:ext cx="14167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schedules, and follow-ups. </a:t>
            </a:r>
            <a:endParaRPr lang="en-US" sz="837" dirty="0"/>
          </a:p>
        </p:txBody>
      </p:sp>
      <p:sp>
        <p:nvSpPr>
          <p:cNvPr id="63" name="Shape 47"/>
          <p:cNvSpPr/>
          <p:nvPr/>
        </p:nvSpPr>
        <p:spPr>
          <a:xfrm>
            <a:off x="4743450" y="4763095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4" name="Text 48"/>
          <p:cNvSpPr/>
          <p:nvPr/>
        </p:nvSpPr>
        <p:spPr>
          <a:xfrm>
            <a:off x="4850606" y="4870252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Challenges</a:t>
            </a:r>
            <a:endParaRPr lang="en-US" sz="1046" dirty="0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0606" y="5159573"/>
            <a:ext cx="114300" cy="11430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5036344" y="5138142"/>
            <a:ext cx="10355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Initial Investment</a:t>
            </a:r>
            <a:endParaRPr lang="en-US" sz="837" dirty="0"/>
          </a:p>
        </p:txBody>
      </p:sp>
      <p:sp>
        <p:nvSpPr>
          <p:cNvPr id="67" name="Text 50"/>
          <p:cNvSpPr/>
          <p:nvPr/>
        </p:nvSpPr>
        <p:spPr>
          <a:xfrm>
            <a:off x="6071908" y="5138142"/>
            <a:ext cx="24619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High upfront costs for automation tools and </a:t>
            </a:r>
            <a:endParaRPr lang="en-US" sz="837" dirty="0"/>
          </a:p>
        </p:txBody>
      </p:sp>
      <p:sp>
        <p:nvSpPr>
          <p:cNvPr id="68" name="Text 51"/>
          <p:cNvSpPr/>
          <p:nvPr/>
        </p:nvSpPr>
        <p:spPr>
          <a:xfrm>
            <a:off x="5036344" y="5286710"/>
            <a:ext cx="88914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implementation. </a:t>
            </a:r>
            <a:endParaRPr lang="en-US" sz="837" dirty="0"/>
          </a:p>
        </p:txBody>
      </p:sp>
      <p:pic>
        <p:nvPicPr>
          <p:cNvPr id="69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50606" y="5513859"/>
            <a:ext cx="114300" cy="114300"/>
          </a:xfrm>
          <a:prstGeom prst="rect">
            <a:avLst/>
          </a:prstGeom>
        </p:spPr>
      </p:pic>
      <p:sp>
        <p:nvSpPr>
          <p:cNvPr id="70" name="Text 52"/>
          <p:cNvSpPr/>
          <p:nvPr/>
        </p:nvSpPr>
        <p:spPr>
          <a:xfrm>
            <a:off x="5036344" y="5492428"/>
            <a:ext cx="13316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Integration Complexity</a:t>
            </a:r>
            <a:endParaRPr lang="en-US" sz="837" dirty="0"/>
          </a:p>
        </p:txBody>
      </p:sp>
      <p:sp>
        <p:nvSpPr>
          <p:cNvPr id="71" name="Text 53"/>
          <p:cNvSpPr/>
          <p:nvPr/>
        </p:nvSpPr>
        <p:spPr>
          <a:xfrm>
            <a:off x="6367955" y="5492428"/>
            <a:ext cx="23260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Challenges in connecting diverse systems </a:t>
            </a:r>
            <a:endParaRPr lang="en-US" sz="837" dirty="0"/>
          </a:p>
        </p:txBody>
      </p:sp>
      <p:sp>
        <p:nvSpPr>
          <p:cNvPr id="72" name="Text 54"/>
          <p:cNvSpPr/>
          <p:nvPr/>
        </p:nvSpPr>
        <p:spPr>
          <a:xfrm>
            <a:off x="5036344" y="5640995"/>
            <a:ext cx="9484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data sources. </a:t>
            </a:r>
            <a:endParaRPr lang="en-US" sz="837" dirty="0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50606" y="5868144"/>
            <a:ext cx="114300" cy="114300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5036344" y="5846713"/>
            <a:ext cx="82881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False Positives</a:t>
            </a:r>
            <a:endParaRPr lang="en-US" sz="837" dirty="0"/>
          </a:p>
        </p:txBody>
      </p:sp>
      <p:sp>
        <p:nvSpPr>
          <p:cNvPr id="75" name="Text 56"/>
          <p:cNvSpPr/>
          <p:nvPr/>
        </p:nvSpPr>
        <p:spPr>
          <a:xfrm>
            <a:off x="5865158" y="5846713"/>
            <a:ext cx="26888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Risk of automated systems generating excessive </a:t>
            </a:r>
            <a:endParaRPr lang="en-US" sz="837" dirty="0"/>
          </a:p>
        </p:txBody>
      </p:sp>
      <p:sp>
        <p:nvSpPr>
          <p:cNvPr id="76" name="Text 57"/>
          <p:cNvSpPr/>
          <p:nvPr/>
        </p:nvSpPr>
        <p:spPr>
          <a:xfrm>
            <a:off x="5036344" y="5995281"/>
            <a:ext cx="9426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alerts or findings. </a:t>
            </a:r>
            <a:endParaRPr lang="en-US" sz="83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28483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Reporting and Dashboards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Effective security reporting and dashboards transform complex security data into actionable insights, supporting decision-making, demonstrating compliance, and communicating security status to stakeholders.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570174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677330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Reporting Principles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966652"/>
            <a:ext cx="14287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219" y="1945221"/>
            <a:ext cx="1030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Audience-Focused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638207" y="1945221"/>
            <a:ext cx="24742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Tailor content, detail level, and format to the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607219" y="2093788"/>
            <a:ext cx="312154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specific audience (executives, technical teams, regulators).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320937"/>
            <a:ext cx="128588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2931" y="2299506"/>
            <a:ext cx="752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Visual Clarity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345732" y="2299506"/>
            <a:ext cx="26163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Use appropriate visualizations to communicate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92931" y="2448074"/>
            <a:ext cx="171966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complex information effectively. </a:t>
            </a:r>
            <a:endParaRPr lang="en-US" sz="837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675223"/>
            <a:ext cx="114300" cy="1143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8644" y="2653792"/>
            <a:ext cx="10962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Risk-Based Context</a:t>
            </a:r>
            <a:endParaRPr lang="en-US" sz="837" dirty="0"/>
          </a:p>
        </p:txBody>
      </p:sp>
      <p:sp>
        <p:nvSpPr>
          <p:cNvPr id="18" name="Text 12"/>
          <p:cNvSpPr/>
          <p:nvPr/>
        </p:nvSpPr>
        <p:spPr>
          <a:xfrm>
            <a:off x="1674902" y="2653792"/>
            <a:ext cx="22888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Present security metrics in the context of 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578644" y="2802359"/>
            <a:ext cx="13540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business risk and impact. </a:t>
            </a:r>
            <a:endParaRPr lang="en-US" sz="837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3029508"/>
            <a:ext cx="114300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78644" y="3008077"/>
            <a:ext cx="8261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Trend Analysis</a:t>
            </a:r>
            <a:endParaRPr lang="en-US" sz="837" dirty="0"/>
          </a:p>
        </p:txBody>
      </p:sp>
      <p:sp>
        <p:nvSpPr>
          <p:cNvPr id="22" name="Text 15"/>
          <p:cNvSpPr/>
          <p:nvPr/>
        </p:nvSpPr>
        <p:spPr>
          <a:xfrm>
            <a:off x="1404807" y="3008077"/>
            <a:ext cx="26955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Show changes over time to identify patterns and </a:t>
            </a:r>
            <a:endParaRPr lang="en-US" sz="837" dirty="0"/>
          </a:p>
        </p:txBody>
      </p:sp>
      <p:sp>
        <p:nvSpPr>
          <p:cNvPr id="23" name="Text 16"/>
          <p:cNvSpPr/>
          <p:nvPr/>
        </p:nvSpPr>
        <p:spPr>
          <a:xfrm>
            <a:off x="578644" y="3156645"/>
            <a:ext cx="5041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progress.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285750" y="3580247"/>
            <a:ext cx="4114800" cy="227171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18"/>
          <p:cNvSpPr/>
          <p:nvPr/>
        </p:nvSpPr>
        <p:spPr>
          <a:xfrm>
            <a:off x="392906" y="368740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 Effectiveness by Audience</a:t>
            </a:r>
            <a:endParaRPr lang="en-US" sz="1046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3958865"/>
            <a:ext cx="3900488" cy="178593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743450" y="742950"/>
            <a:ext cx="4114800" cy="225720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Types of Security Reports</a:t>
            </a:r>
            <a:endParaRPr lang="en-US" sz="1046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0606" y="1139428"/>
            <a:ext cx="85725" cy="1143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007769" y="1117997"/>
            <a:ext cx="11424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Reports</a:t>
            </a:r>
            <a:endParaRPr lang="en-US" sz="837" dirty="0"/>
          </a:p>
        </p:txBody>
      </p:sp>
      <p:sp>
        <p:nvSpPr>
          <p:cNvPr id="31" name="Text 22"/>
          <p:cNvSpPr/>
          <p:nvPr/>
        </p:nvSpPr>
        <p:spPr>
          <a:xfrm>
            <a:off x="6150211" y="1117997"/>
            <a:ext cx="198585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Document adherence to regulatory </a:t>
            </a:r>
            <a:endParaRPr lang="en-US" sz="837" dirty="0"/>
          </a:p>
        </p:txBody>
      </p:sp>
      <p:sp>
        <p:nvSpPr>
          <p:cNvPr id="32" name="Text 23"/>
          <p:cNvSpPr/>
          <p:nvPr/>
        </p:nvSpPr>
        <p:spPr>
          <a:xfrm>
            <a:off x="5007769" y="1266565"/>
            <a:ext cx="18713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requirements and internal policies. </a:t>
            </a:r>
            <a:endParaRPr lang="en-US" sz="837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493713"/>
            <a:ext cx="114300" cy="11430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036344" y="1472282"/>
            <a:ext cx="14108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Posture Reports</a:t>
            </a:r>
            <a:endParaRPr lang="en-US" sz="837" dirty="0"/>
          </a:p>
        </p:txBody>
      </p:sp>
      <p:sp>
        <p:nvSpPr>
          <p:cNvPr id="35" name="Text 25"/>
          <p:cNvSpPr/>
          <p:nvPr/>
        </p:nvSpPr>
        <p:spPr>
          <a:xfrm>
            <a:off x="6447151" y="1472282"/>
            <a:ext cx="22978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Provide an overview of the organization's </a:t>
            </a:r>
            <a:endParaRPr lang="en-US" sz="837" dirty="0"/>
          </a:p>
        </p:txBody>
      </p:sp>
      <p:sp>
        <p:nvSpPr>
          <p:cNvPr id="36" name="Text 26"/>
          <p:cNvSpPr/>
          <p:nvPr/>
        </p:nvSpPr>
        <p:spPr>
          <a:xfrm>
            <a:off x="5036344" y="1620850"/>
            <a:ext cx="1791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status and risk exposure. </a:t>
            </a:r>
            <a:endParaRPr lang="en-US" sz="837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1847999"/>
            <a:ext cx="114300" cy="1143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036344" y="1826568"/>
            <a:ext cx="12101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Vulnerability Reports</a:t>
            </a:r>
            <a:endParaRPr lang="en-US" sz="837" dirty="0"/>
          </a:p>
        </p:txBody>
      </p:sp>
      <p:sp>
        <p:nvSpPr>
          <p:cNvPr id="39" name="Text 28"/>
          <p:cNvSpPr/>
          <p:nvPr/>
        </p:nvSpPr>
        <p:spPr>
          <a:xfrm>
            <a:off x="6246456" y="1826568"/>
            <a:ext cx="20416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Detail identified vulnerabilities, their </a:t>
            </a:r>
            <a:endParaRPr lang="en-US" sz="837" dirty="0"/>
          </a:p>
        </p:txBody>
      </p:sp>
      <p:sp>
        <p:nvSpPr>
          <p:cNvPr id="40" name="Text 29"/>
          <p:cNvSpPr/>
          <p:nvPr/>
        </p:nvSpPr>
        <p:spPr>
          <a:xfrm>
            <a:off x="5036344" y="1975135"/>
            <a:ext cx="17485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severity, and remediation status. </a:t>
            </a:r>
            <a:endParaRPr lang="en-US" sz="837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2202284"/>
            <a:ext cx="114300" cy="11430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036344" y="2180853"/>
            <a:ext cx="951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Incident Reports</a:t>
            </a:r>
            <a:endParaRPr lang="en-US" sz="837" dirty="0"/>
          </a:p>
        </p:txBody>
      </p:sp>
      <p:sp>
        <p:nvSpPr>
          <p:cNvPr id="43" name="Text 31"/>
          <p:cNvSpPr/>
          <p:nvPr/>
        </p:nvSpPr>
        <p:spPr>
          <a:xfrm>
            <a:off x="5988248" y="2180853"/>
            <a:ext cx="2622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Document security incidents, response actions, </a:t>
            </a:r>
            <a:endParaRPr lang="en-US" sz="837" dirty="0"/>
          </a:p>
        </p:txBody>
      </p:sp>
      <p:sp>
        <p:nvSpPr>
          <p:cNvPr id="44" name="Text 32"/>
          <p:cNvSpPr/>
          <p:nvPr/>
        </p:nvSpPr>
        <p:spPr>
          <a:xfrm>
            <a:off x="5036344" y="2329421"/>
            <a:ext cx="11038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lessons learned. </a:t>
            </a:r>
            <a:endParaRPr lang="en-US" sz="837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2556570"/>
            <a:ext cx="114300" cy="11430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36344" y="2535138"/>
            <a:ext cx="11578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Reports</a:t>
            </a:r>
            <a:endParaRPr lang="en-US" sz="837" dirty="0"/>
          </a:p>
        </p:txBody>
      </p:sp>
      <p:sp>
        <p:nvSpPr>
          <p:cNvPr id="47" name="Text 34"/>
          <p:cNvSpPr/>
          <p:nvPr/>
        </p:nvSpPr>
        <p:spPr>
          <a:xfrm>
            <a:off x="6194217" y="2535138"/>
            <a:ext cx="21694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Track security operations activities and </a:t>
            </a:r>
            <a:endParaRPr lang="en-US" sz="837" dirty="0"/>
          </a:p>
        </p:txBody>
      </p:sp>
      <p:sp>
        <p:nvSpPr>
          <p:cNvPr id="48" name="Text 35"/>
          <p:cNvSpPr/>
          <p:nvPr/>
        </p:nvSpPr>
        <p:spPr>
          <a:xfrm>
            <a:off x="5036344" y="2683706"/>
            <a:ext cx="11578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metrics. </a:t>
            </a:r>
            <a:endParaRPr lang="en-US" sz="837" dirty="0"/>
          </a:p>
        </p:txBody>
      </p:sp>
      <p:sp>
        <p:nvSpPr>
          <p:cNvPr id="49" name="Shape 36"/>
          <p:cNvSpPr/>
          <p:nvPr/>
        </p:nvSpPr>
        <p:spPr>
          <a:xfrm>
            <a:off x="4743450" y="3107308"/>
            <a:ext cx="4114800" cy="227171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0" name="Text 37"/>
          <p:cNvSpPr/>
          <p:nvPr/>
        </p:nvSpPr>
        <p:spPr>
          <a:xfrm>
            <a:off x="4850606" y="3214464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Security Metrics by Category</a:t>
            </a:r>
            <a:endParaRPr lang="en-US" sz="1046" dirty="0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485927"/>
            <a:ext cx="3900488" cy="1785938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743450" y="5486177"/>
            <a:ext cx="4114800" cy="15486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3" name="Text 39"/>
          <p:cNvSpPr/>
          <p:nvPr/>
        </p:nvSpPr>
        <p:spPr>
          <a:xfrm>
            <a:off x="4850606" y="559333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Dashboard Design Best Practices</a:t>
            </a:r>
            <a:endParaRPr lang="en-US" sz="1046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50606" y="5882655"/>
            <a:ext cx="114300" cy="11430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5036344" y="5861224"/>
            <a:ext cx="11834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Layered Information</a:t>
            </a:r>
            <a:endParaRPr lang="en-US" sz="837" dirty="0"/>
          </a:p>
        </p:txBody>
      </p:sp>
      <p:sp>
        <p:nvSpPr>
          <p:cNvPr id="56" name="Text 41"/>
          <p:cNvSpPr/>
          <p:nvPr/>
        </p:nvSpPr>
        <p:spPr>
          <a:xfrm>
            <a:off x="6219806" y="5861224"/>
            <a:ext cx="251072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Provide high-level summaries with drill-down </a:t>
            </a:r>
            <a:endParaRPr lang="en-US" sz="837" dirty="0"/>
          </a:p>
        </p:txBody>
      </p:sp>
      <p:sp>
        <p:nvSpPr>
          <p:cNvPr id="57" name="Text 42"/>
          <p:cNvSpPr/>
          <p:nvPr/>
        </p:nvSpPr>
        <p:spPr>
          <a:xfrm>
            <a:off x="5036344" y="6009791"/>
            <a:ext cx="12017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capabilities for details. </a:t>
            </a:r>
            <a:endParaRPr lang="en-US" sz="837" dirty="0"/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0606" y="6236940"/>
            <a:ext cx="114300" cy="11430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5036344" y="6215509"/>
            <a:ext cx="15784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Consistent Visual Language</a:t>
            </a:r>
            <a:endParaRPr lang="en-US" sz="837" dirty="0"/>
          </a:p>
        </p:txBody>
      </p:sp>
      <p:sp>
        <p:nvSpPr>
          <p:cNvPr id="60" name="Text 44"/>
          <p:cNvSpPr/>
          <p:nvPr/>
        </p:nvSpPr>
        <p:spPr>
          <a:xfrm>
            <a:off x="6614833" y="6215509"/>
            <a:ext cx="18389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Use consistent colors, icons, and </a:t>
            </a:r>
            <a:endParaRPr lang="en-US" sz="837" dirty="0"/>
          </a:p>
        </p:txBody>
      </p:sp>
      <p:sp>
        <p:nvSpPr>
          <p:cNvPr id="61" name="Text 45"/>
          <p:cNvSpPr/>
          <p:nvPr/>
        </p:nvSpPr>
        <p:spPr>
          <a:xfrm>
            <a:off x="5036344" y="6364077"/>
            <a:ext cx="191806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layouts to enhance comprehension. </a:t>
            </a:r>
            <a:endParaRPr lang="en-US" sz="837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0606" y="6591226"/>
            <a:ext cx="114300" cy="114300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5036344" y="6569794"/>
            <a:ext cx="10638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Updates</a:t>
            </a:r>
            <a:endParaRPr lang="en-US" sz="837" dirty="0"/>
          </a:p>
        </p:txBody>
      </p:sp>
      <p:sp>
        <p:nvSpPr>
          <p:cNvPr id="64" name="Text 47"/>
          <p:cNvSpPr/>
          <p:nvPr/>
        </p:nvSpPr>
        <p:spPr>
          <a:xfrm>
            <a:off x="6100149" y="6569794"/>
            <a:ext cx="22533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Implement automated data refreshes to </a:t>
            </a:r>
            <a:endParaRPr lang="en-US" sz="837" dirty="0"/>
          </a:p>
        </p:txBody>
      </p:sp>
      <p:sp>
        <p:nvSpPr>
          <p:cNvPr id="65" name="Text 48"/>
          <p:cNvSpPr/>
          <p:nvPr/>
        </p:nvSpPr>
        <p:spPr>
          <a:xfrm>
            <a:off x="5036344" y="6718362"/>
            <a:ext cx="14912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ensure current information. </a:t>
            </a:r>
            <a:endParaRPr lang="en-US" sz="83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Improvement in Monitoring and Auditing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Continuous improvement is essential for maintaining effective security monitoring and auditing programs in the face of evolving threats, technologies, and business requirements.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390157"/>
            <a:ext cx="4114800" cy="1662931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929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Continuous Improvement Cycle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906" y="1786635"/>
            <a:ext cx="114300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1765204"/>
            <a:ext cx="3736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952295" y="1765204"/>
            <a:ext cx="2952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Evaluate current monitoring and auditing capabilities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578644" y="1913772"/>
            <a:ext cx="118220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against requirements. </a:t>
            </a:r>
            <a:endParaRPr lang="en-US" sz="83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06" y="2140920"/>
            <a:ext cx="114300" cy="1143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78644" y="2119489"/>
            <a:ext cx="2507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Plan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829428" y="2119489"/>
            <a:ext cx="31740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Develop improvement strategies based on risk and value. </a:t>
            </a:r>
            <a:endParaRPr lang="en-US" sz="837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906" y="2346638"/>
            <a:ext cx="142875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7219" y="2325207"/>
            <a:ext cx="6359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</a:t>
            </a:r>
            <a:endParaRPr lang="en-US" sz="837" dirty="0"/>
          </a:p>
        </p:txBody>
      </p:sp>
      <p:sp>
        <p:nvSpPr>
          <p:cNvPr id="17" name="Text 11"/>
          <p:cNvSpPr/>
          <p:nvPr/>
        </p:nvSpPr>
        <p:spPr>
          <a:xfrm>
            <a:off x="1243208" y="2325207"/>
            <a:ext cx="255472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Execute improvement initiatives and changes. </a:t>
            </a:r>
            <a:endParaRPr lang="en-US" sz="837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906" y="2552356"/>
            <a:ext cx="114300" cy="1143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78644" y="2530925"/>
            <a:ext cx="4934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</a:t>
            </a:r>
            <a:endParaRPr lang="en-US" sz="837" dirty="0"/>
          </a:p>
        </p:txBody>
      </p:sp>
      <p:sp>
        <p:nvSpPr>
          <p:cNvPr id="20" name="Text 13"/>
          <p:cNvSpPr/>
          <p:nvPr/>
        </p:nvSpPr>
        <p:spPr>
          <a:xfrm>
            <a:off x="1072093" y="2530925"/>
            <a:ext cx="29208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Track performance metrics to evaluate effectiveness. </a:t>
            </a:r>
            <a:endParaRPr lang="en-US" sz="837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906" y="2758074"/>
            <a:ext cx="114300" cy="1143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78644" y="2736642"/>
            <a:ext cx="364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Refine</a:t>
            </a:r>
            <a:endParaRPr lang="en-US" sz="837" dirty="0"/>
          </a:p>
        </p:txBody>
      </p:sp>
      <p:sp>
        <p:nvSpPr>
          <p:cNvPr id="23" name="Text 15"/>
          <p:cNvSpPr/>
          <p:nvPr/>
        </p:nvSpPr>
        <p:spPr>
          <a:xfrm>
            <a:off x="943394" y="2736642"/>
            <a:ext cx="31397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Adjust approaches based on results and lessons learned. </a:t>
            </a:r>
            <a:endParaRPr lang="en-US" sz="837" dirty="0"/>
          </a:p>
        </p:txBody>
      </p:sp>
      <p:sp>
        <p:nvSpPr>
          <p:cNvPr id="24" name="Shape 16"/>
          <p:cNvSpPr/>
          <p:nvPr/>
        </p:nvSpPr>
        <p:spPr>
          <a:xfrm>
            <a:off x="285750" y="3160244"/>
            <a:ext cx="4114800" cy="19145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17"/>
          <p:cNvSpPr/>
          <p:nvPr/>
        </p:nvSpPr>
        <p:spPr>
          <a:xfrm>
            <a:off x="392906" y="326740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Program Maturity Evolution</a:t>
            </a:r>
            <a:endParaRPr lang="en-US" sz="1046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906" y="3538863"/>
            <a:ext cx="3900488" cy="1428750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4743450" y="742950"/>
            <a:ext cx="4114800" cy="19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8" name="Text 19"/>
          <p:cNvSpPr/>
          <p:nvPr/>
        </p:nvSpPr>
        <p:spPr>
          <a:xfrm>
            <a:off x="48506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Improvement Focus Areas</a:t>
            </a:r>
            <a:endParaRPr lang="en-US" sz="1046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0606" y="1139428"/>
            <a:ext cx="100013" cy="1143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22056" y="1117997"/>
            <a:ext cx="1146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Coverage Expansion</a:t>
            </a:r>
            <a:endParaRPr lang="en-US" sz="837" dirty="0"/>
          </a:p>
        </p:txBody>
      </p:sp>
      <p:sp>
        <p:nvSpPr>
          <p:cNvPr id="31" name="Text 21"/>
          <p:cNvSpPr/>
          <p:nvPr/>
        </p:nvSpPr>
        <p:spPr>
          <a:xfrm>
            <a:off x="6168265" y="1117997"/>
            <a:ext cx="23633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Extending monitoring to new systems and </a:t>
            </a:r>
            <a:endParaRPr lang="en-US" sz="837" dirty="0"/>
          </a:p>
        </p:txBody>
      </p:sp>
      <p:sp>
        <p:nvSpPr>
          <p:cNvPr id="32" name="Text 22"/>
          <p:cNvSpPr/>
          <p:nvPr/>
        </p:nvSpPr>
        <p:spPr>
          <a:xfrm>
            <a:off x="5022056" y="1266565"/>
            <a:ext cx="7759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environments. </a:t>
            </a:r>
            <a:endParaRPr lang="en-US" sz="837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0606" y="1493713"/>
            <a:ext cx="128588" cy="1143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050631" y="1472282"/>
            <a:ext cx="13772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Detection Enhancement</a:t>
            </a:r>
            <a:endParaRPr lang="en-US" sz="837" dirty="0"/>
          </a:p>
        </p:txBody>
      </p:sp>
      <p:sp>
        <p:nvSpPr>
          <p:cNvPr id="35" name="Text 24"/>
          <p:cNvSpPr/>
          <p:nvPr/>
        </p:nvSpPr>
        <p:spPr>
          <a:xfrm>
            <a:off x="6427840" y="1472282"/>
            <a:ext cx="19749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Improving identification of security </a:t>
            </a:r>
            <a:endParaRPr lang="en-US" sz="837" dirty="0"/>
          </a:p>
        </p:txBody>
      </p:sp>
      <p:sp>
        <p:nvSpPr>
          <p:cNvPr id="36" name="Text 25"/>
          <p:cNvSpPr/>
          <p:nvPr/>
        </p:nvSpPr>
        <p:spPr>
          <a:xfrm>
            <a:off x="5050631" y="1620850"/>
            <a:ext cx="3819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events. </a:t>
            </a:r>
            <a:endParaRPr lang="en-US" sz="837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50606" y="1847999"/>
            <a:ext cx="85725" cy="11430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007769" y="1826568"/>
            <a:ext cx="14621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Response Time Reduction</a:t>
            </a:r>
            <a:endParaRPr lang="en-US" sz="837" dirty="0"/>
          </a:p>
        </p:txBody>
      </p:sp>
      <p:sp>
        <p:nvSpPr>
          <p:cNvPr id="39" name="Text 27"/>
          <p:cNvSpPr/>
          <p:nvPr/>
        </p:nvSpPr>
        <p:spPr>
          <a:xfrm>
            <a:off x="6469893" y="1826568"/>
            <a:ext cx="2235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Decreasing time between detection and </a:t>
            </a:r>
            <a:endParaRPr lang="en-US" sz="837" dirty="0"/>
          </a:p>
        </p:txBody>
      </p:sp>
      <p:sp>
        <p:nvSpPr>
          <p:cNvPr id="40" name="Text 28"/>
          <p:cNvSpPr/>
          <p:nvPr/>
        </p:nvSpPr>
        <p:spPr>
          <a:xfrm>
            <a:off x="5007769" y="1975135"/>
            <a:ext cx="6858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remediation. </a:t>
            </a:r>
            <a:endParaRPr lang="en-US" sz="837" dirty="0"/>
          </a:p>
        </p:txBody>
      </p:sp>
      <p:pic>
        <p:nvPicPr>
          <p:cNvPr id="41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0606" y="2202284"/>
            <a:ext cx="142875" cy="11430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5064919" y="2180853"/>
            <a:ext cx="12997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 Expansion</a:t>
            </a:r>
            <a:endParaRPr lang="en-US" sz="837" dirty="0"/>
          </a:p>
        </p:txBody>
      </p:sp>
      <p:sp>
        <p:nvSpPr>
          <p:cNvPr id="43" name="Text 30"/>
          <p:cNvSpPr/>
          <p:nvPr/>
        </p:nvSpPr>
        <p:spPr>
          <a:xfrm>
            <a:off x="6364635" y="2180853"/>
            <a:ext cx="20793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Increasing automation in monitoring </a:t>
            </a:r>
            <a:endParaRPr lang="en-US" sz="837" dirty="0"/>
          </a:p>
        </p:txBody>
      </p:sp>
      <p:sp>
        <p:nvSpPr>
          <p:cNvPr id="44" name="Text 31"/>
          <p:cNvSpPr/>
          <p:nvPr/>
        </p:nvSpPr>
        <p:spPr>
          <a:xfrm>
            <a:off x="5064919" y="2329421"/>
            <a:ext cx="563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processes. </a:t>
            </a:r>
            <a:endParaRPr lang="en-US" sz="837" dirty="0"/>
          </a:p>
        </p:txBody>
      </p:sp>
      <p:sp>
        <p:nvSpPr>
          <p:cNvPr id="45" name="Shape 32"/>
          <p:cNvSpPr/>
          <p:nvPr/>
        </p:nvSpPr>
        <p:spPr>
          <a:xfrm>
            <a:off x="4743450" y="2753023"/>
            <a:ext cx="4114800" cy="1914525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6" name="Text 33"/>
          <p:cNvSpPr/>
          <p:nvPr/>
        </p:nvSpPr>
        <p:spPr>
          <a:xfrm>
            <a:off x="4850606" y="286017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Improvement Initiative Success Factors</a:t>
            </a:r>
            <a:endParaRPr lang="en-US" sz="1046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0606" y="3131641"/>
            <a:ext cx="3900488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Study: Effective Security Monitoring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285750" y="707231"/>
            <a:ext cx="4114800" cy="5014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case study examines how a financial services organization implemented a comprehensive security monitoring program to address regulatory requirements.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285750" y="1280127"/>
            <a:ext cx="4114800" cy="10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71475" y="1365852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Organization Background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1640886"/>
            <a:ext cx="85725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8638" y="1619455"/>
            <a:ext cx="21066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Mid-sized financial services company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2635318" y="1619455"/>
            <a:ext cx="11925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2,500 employees </a:t>
            </a:r>
            <a:endParaRPr lang="en-US" sz="83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475" y="1832316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7213" y="1810885"/>
            <a:ext cx="14415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Operations in 5 countries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1998771" y="1810885"/>
            <a:ext cx="17803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distributed IT infrastructure </a:t>
            </a:r>
            <a:endParaRPr lang="en-US" sz="83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2023746"/>
            <a:ext cx="114300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7213" y="2002315"/>
            <a:ext cx="17677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Subject to multiple regulations</a:t>
            </a:r>
            <a:endParaRPr lang="en-US" sz="837" dirty="0"/>
          </a:p>
        </p:txBody>
      </p:sp>
      <p:sp>
        <p:nvSpPr>
          <p:cNvPr id="16" name="Text 10"/>
          <p:cNvSpPr/>
          <p:nvPr/>
        </p:nvSpPr>
        <p:spPr>
          <a:xfrm>
            <a:off x="2324984" y="2002315"/>
            <a:ext cx="18531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including PCI DSS, SOX, and GDPR </a:t>
            </a:r>
            <a:endParaRPr lang="en-US" sz="837" dirty="0"/>
          </a:p>
        </p:txBody>
      </p:sp>
      <p:sp>
        <p:nvSpPr>
          <p:cNvPr id="17" name="Shape 11"/>
          <p:cNvSpPr/>
          <p:nvPr/>
        </p:nvSpPr>
        <p:spPr>
          <a:xfrm>
            <a:off x="285750" y="2368767"/>
            <a:ext cx="4114800" cy="10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371475" y="2454492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Initial Challenges</a:t>
            </a:r>
            <a:endParaRPr lang="en-US" sz="1046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475" y="2729526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57213" y="2708095"/>
            <a:ext cx="151517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Siloed monitoring systems</a:t>
            </a:r>
            <a:endParaRPr lang="en-US" sz="837" dirty="0"/>
          </a:p>
        </p:txBody>
      </p:sp>
      <p:sp>
        <p:nvSpPr>
          <p:cNvPr id="21" name="Text 14"/>
          <p:cNvSpPr/>
          <p:nvPr/>
        </p:nvSpPr>
        <p:spPr>
          <a:xfrm>
            <a:off x="2072385" y="2708095"/>
            <a:ext cx="1507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with no centralized visibility </a:t>
            </a:r>
            <a:endParaRPr lang="en-US" sz="837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" y="2920957"/>
            <a:ext cx="114300" cy="1143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57213" y="2899525"/>
            <a:ext cx="13482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 audit processes</a:t>
            </a:r>
            <a:endParaRPr lang="en-US" sz="837" dirty="0"/>
          </a:p>
        </p:txBody>
      </p:sp>
      <p:sp>
        <p:nvSpPr>
          <p:cNvPr id="24" name="Text 16"/>
          <p:cNvSpPr/>
          <p:nvPr/>
        </p:nvSpPr>
        <p:spPr>
          <a:xfrm>
            <a:off x="1905512" y="2899525"/>
            <a:ext cx="17637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consuming significant resources </a:t>
            </a:r>
            <a:endParaRPr lang="en-US" sz="837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475" y="3112387"/>
            <a:ext cx="114300" cy="1143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7213" y="3090956"/>
            <a:ext cx="10368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Delayed detection</a:t>
            </a:r>
            <a:endParaRPr lang="en-US" sz="837" dirty="0"/>
          </a:p>
        </p:txBody>
      </p:sp>
      <p:sp>
        <p:nvSpPr>
          <p:cNvPr id="27" name="Text 18"/>
          <p:cNvSpPr/>
          <p:nvPr/>
        </p:nvSpPr>
        <p:spPr>
          <a:xfrm>
            <a:off x="1594033" y="3090956"/>
            <a:ext cx="22011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of security incidents (average 72+ hours) </a:t>
            </a:r>
            <a:endParaRPr lang="en-US" sz="837" dirty="0"/>
          </a:p>
        </p:txBody>
      </p:sp>
      <p:sp>
        <p:nvSpPr>
          <p:cNvPr id="28" name="Shape 19"/>
          <p:cNvSpPr/>
          <p:nvPr/>
        </p:nvSpPr>
        <p:spPr>
          <a:xfrm>
            <a:off x="285750" y="3457408"/>
            <a:ext cx="4114800" cy="17145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9" name="Text 20"/>
          <p:cNvSpPr/>
          <p:nvPr/>
        </p:nvSpPr>
        <p:spPr>
          <a:xfrm>
            <a:off x="371475" y="3543133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Incidents Before Implementation</a:t>
            </a:r>
            <a:endParaRPr lang="en-US" sz="1046" dirty="0"/>
          </a:p>
        </p:txBody>
      </p:sp>
      <p:pic>
        <p:nvPicPr>
          <p:cNvPr id="3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475" y="3800308"/>
            <a:ext cx="3943350" cy="1285875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4743450" y="707231"/>
            <a:ext cx="4114800" cy="1194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2" name="Text 22"/>
          <p:cNvSpPr/>
          <p:nvPr/>
        </p:nvSpPr>
        <p:spPr>
          <a:xfrm>
            <a:off x="4829175" y="792956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Implementation Approach</a:t>
            </a:r>
            <a:endParaRPr lang="en-US" sz="1046" dirty="0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29175" y="1067991"/>
            <a:ext cx="114300" cy="1143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014913" y="1046559"/>
            <a:ext cx="18291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1: Assessment &amp; Planning</a:t>
            </a:r>
            <a:endParaRPr lang="en-US" sz="837" dirty="0"/>
          </a:p>
        </p:txBody>
      </p:sp>
      <p:sp>
        <p:nvSpPr>
          <p:cNvPr id="35" name="Text 24"/>
          <p:cNvSpPr/>
          <p:nvPr/>
        </p:nvSpPr>
        <p:spPr>
          <a:xfrm>
            <a:off x="6844075" y="1046559"/>
            <a:ext cx="15195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Review of existing controls </a:t>
            </a:r>
            <a:endParaRPr lang="en-US" sz="837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9175" y="1259421"/>
            <a:ext cx="114300" cy="1143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014913" y="1237990"/>
            <a:ext cx="1741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2: SIEM Implementation</a:t>
            </a:r>
            <a:endParaRPr lang="en-US" sz="837" dirty="0"/>
          </a:p>
        </p:txBody>
      </p:sp>
      <p:sp>
        <p:nvSpPr>
          <p:cNvPr id="38" name="Text 26"/>
          <p:cNvSpPr/>
          <p:nvPr/>
        </p:nvSpPr>
        <p:spPr>
          <a:xfrm>
            <a:off x="6756843" y="1237990"/>
            <a:ext cx="162068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Enterprise SIEM deployment </a:t>
            </a:r>
            <a:endParaRPr lang="en-US" sz="837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29175" y="1450851"/>
            <a:ext cx="114300" cy="11430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014913" y="1429420"/>
            <a:ext cx="1826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3: Continuous Monitoring</a:t>
            </a:r>
            <a:endParaRPr lang="en-US" sz="837" dirty="0"/>
          </a:p>
        </p:txBody>
      </p:sp>
      <p:sp>
        <p:nvSpPr>
          <p:cNvPr id="41" name="Text 28"/>
          <p:cNvSpPr/>
          <p:nvPr/>
        </p:nvSpPr>
        <p:spPr>
          <a:xfrm>
            <a:off x="6841313" y="1429420"/>
            <a:ext cx="114403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alerting </a:t>
            </a:r>
            <a:endParaRPr lang="en-US" sz="837" dirty="0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29175" y="1642281"/>
            <a:ext cx="114300" cy="11430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5014913" y="1620850"/>
            <a:ext cx="15240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 4: Audit Automation</a:t>
            </a:r>
            <a:endParaRPr lang="en-US" sz="837" dirty="0"/>
          </a:p>
        </p:txBody>
      </p:sp>
      <p:sp>
        <p:nvSpPr>
          <p:cNvPr id="44" name="Text 30"/>
          <p:cNvSpPr/>
          <p:nvPr/>
        </p:nvSpPr>
        <p:spPr>
          <a:xfrm>
            <a:off x="6538987" y="1620850"/>
            <a:ext cx="18787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compliance reporting </a:t>
            </a:r>
            <a:endParaRPr lang="en-US" sz="837" dirty="0"/>
          </a:p>
        </p:txBody>
      </p:sp>
      <p:sp>
        <p:nvSpPr>
          <p:cNvPr id="45" name="Shape 31"/>
          <p:cNvSpPr/>
          <p:nvPr/>
        </p:nvSpPr>
        <p:spPr>
          <a:xfrm>
            <a:off x="4743450" y="1987302"/>
            <a:ext cx="4114800" cy="100291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6" name="Text 32"/>
          <p:cNvSpPr/>
          <p:nvPr/>
        </p:nvSpPr>
        <p:spPr>
          <a:xfrm>
            <a:off x="4829175" y="2073027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Outcomes</a:t>
            </a:r>
            <a:endParaRPr lang="en-US" sz="1046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9175" y="2348061"/>
            <a:ext cx="114300" cy="114300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5014913" y="2326630"/>
            <a:ext cx="23245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85% reduction in incident detection time</a:t>
            </a:r>
            <a:endParaRPr lang="en-US" sz="837" dirty="0"/>
          </a:p>
        </p:txBody>
      </p:sp>
      <p:sp>
        <p:nvSpPr>
          <p:cNvPr id="49" name="Text 34"/>
          <p:cNvSpPr/>
          <p:nvPr/>
        </p:nvSpPr>
        <p:spPr>
          <a:xfrm>
            <a:off x="7339450" y="2326630"/>
            <a:ext cx="12925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(from 72+ to &lt;10 hours) </a:t>
            </a:r>
            <a:endParaRPr lang="en-US" sz="837" dirty="0"/>
          </a:p>
        </p:txBody>
      </p:sp>
      <p:pic>
        <p:nvPicPr>
          <p:cNvPr id="50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29175" y="2539492"/>
            <a:ext cx="114300" cy="11430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5014913" y="2518060"/>
            <a:ext cx="231058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65% decrease in audit preparation effort</a:t>
            </a:r>
            <a:endParaRPr lang="en-US" sz="837" dirty="0"/>
          </a:p>
        </p:txBody>
      </p:sp>
      <p:sp>
        <p:nvSpPr>
          <p:cNvPr id="52" name="Text 36"/>
          <p:cNvSpPr/>
          <p:nvPr/>
        </p:nvSpPr>
        <p:spPr>
          <a:xfrm>
            <a:off x="7325497" y="2518060"/>
            <a:ext cx="11236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through automation </a:t>
            </a:r>
            <a:endParaRPr lang="en-US" sz="837" dirty="0"/>
          </a:p>
        </p:txBody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29175" y="2730922"/>
            <a:ext cx="114300" cy="114300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014913" y="2709490"/>
            <a:ext cx="20008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 reduction in security incidents</a:t>
            </a:r>
            <a:endParaRPr lang="en-US" sz="837" dirty="0"/>
          </a:p>
        </p:txBody>
      </p:sp>
      <p:sp>
        <p:nvSpPr>
          <p:cNvPr id="55" name="Text 38"/>
          <p:cNvSpPr/>
          <p:nvPr/>
        </p:nvSpPr>
        <p:spPr>
          <a:xfrm>
            <a:off x="7015749" y="2709490"/>
            <a:ext cx="15438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through improved detection </a:t>
            </a:r>
            <a:endParaRPr lang="en-US" sz="837" dirty="0"/>
          </a:p>
        </p:txBody>
      </p:sp>
      <p:sp>
        <p:nvSpPr>
          <p:cNvPr id="56" name="Shape 39"/>
          <p:cNvSpPr/>
          <p:nvPr/>
        </p:nvSpPr>
        <p:spPr>
          <a:xfrm>
            <a:off x="4743450" y="3075942"/>
            <a:ext cx="4114800" cy="17145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7" name="Text 40"/>
          <p:cNvSpPr/>
          <p:nvPr/>
        </p:nvSpPr>
        <p:spPr>
          <a:xfrm>
            <a:off x="4829175" y="3161667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Effectiveness Improvement</a:t>
            </a:r>
            <a:endParaRPr lang="en-US" sz="1046" dirty="0"/>
          </a:p>
        </p:txBody>
      </p:sp>
      <p:pic>
        <p:nvPicPr>
          <p:cNvPr id="58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29175" y="3418842"/>
            <a:ext cx="3943350" cy="1285875"/>
          </a:xfrm>
          <a:prstGeom prst="rect">
            <a:avLst/>
          </a:prstGeom>
        </p:spPr>
      </p:pic>
      <p:sp>
        <p:nvSpPr>
          <p:cNvPr id="59" name="Shape 41"/>
          <p:cNvSpPr/>
          <p:nvPr/>
        </p:nvSpPr>
        <p:spPr>
          <a:xfrm>
            <a:off x="4743450" y="4876167"/>
            <a:ext cx="4114800" cy="960053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60" name="Text 42"/>
          <p:cNvSpPr/>
          <p:nvPr/>
        </p:nvSpPr>
        <p:spPr>
          <a:xfrm>
            <a:off x="4829175" y="4961892"/>
            <a:ext cx="394335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Lessons Learned</a:t>
            </a:r>
            <a:endParaRPr lang="en-US" sz="1046" dirty="0"/>
          </a:p>
        </p:txBody>
      </p:sp>
      <p:pic>
        <p:nvPicPr>
          <p:cNvPr id="61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29175" y="5236927"/>
            <a:ext cx="85725" cy="114300"/>
          </a:xfrm>
          <a:prstGeom prst="rect">
            <a:avLst/>
          </a:prstGeom>
        </p:spPr>
      </p:pic>
      <p:sp>
        <p:nvSpPr>
          <p:cNvPr id="62" name="Text 43"/>
          <p:cNvSpPr/>
          <p:nvPr/>
        </p:nvSpPr>
        <p:spPr>
          <a:xfrm>
            <a:off x="4986338" y="5215496"/>
            <a:ext cx="12695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Executive sponsorship</a:t>
            </a:r>
            <a:endParaRPr lang="en-US" sz="837" dirty="0"/>
          </a:p>
        </p:txBody>
      </p:sp>
      <p:sp>
        <p:nvSpPr>
          <p:cNvPr id="63" name="Text 44"/>
          <p:cNvSpPr/>
          <p:nvPr/>
        </p:nvSpPr>
        <p:spPr>
          <a:xfrm>
            <a:off x="6255888" y="5215496"/>
            <a:ext cx="18838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was critical for cross-departmental </a:t>
            </a:r>
            <a:endParaRPr lang="en-US" sz="837" dirty="0"/>
          </a:p>
        </p:txBody>
      </p:sp>
      <p:sp>
        <p:nvSpPr>
          <p:cNvPr id="64" name="Text 45"/>
          <p:cNvSpPr/>
          <p:nvPr/>
        </p:nvSpPr>
        <p:spPr>
          <a:xfrm>
            <a:off x="4986338" y="5364063"/>
            <a:ext cx="6475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cooperation </a:t>
            </a:r>
            <a:endParaRPr lang="en-US" sz="837" dirty="0"/>
          </a:p>
        </p:txBody>
      </p:sp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29175" y="5576925"/>
            <a:ext cx="85725" cy="114300"/>
          </a:xfrm>
          <a:prstGeom prst="rect">
            <a:avLst/>
          </a:prstGeom>
        </p:spPr>
      </p:pic>
      <p:sp>
        <p:nvSpPr>
          <p:cNvPr id="66" name="Text 46"/>
          <p:cNvSpPr/>
          <p:nvPr/>
        </p:nvSpPr>
        <p:spPr>
          <a:xfrm>
            <a:off x="4986338" y="5555493"/>
            <a:ext cx="13680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Phased implementation</a:t>
            </a:r>
            <a:endParaRPr lang="en-US" sz="837" dirty="0"/>
          </a:p>
        </p:txBody>
      </p:sp>
      <p:sp>
        <p:nvSpPr>
          <p:cNvPr id="67" name="Text 47"/>
          <p:cNvSpPr/>
          <p:nvPr/>
        </p:nvSpPr>
        <p:spPr>
          <a:xfrm>
            <a:off x="6354394" y="5555493"/>
            <a:ext cx="21342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allowed for adjustment and refinement </a:t>
            </a:r>
            <a:endParaRPr lang="en-US" sz="83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4" name="Text 1"/>
          <p:cNvSpPr/>
          <p:nvPr/>
        </p:nvSpPr>
        <p:spPr>
          <a:xfrm>
            <a:off x="285750" y="107156"/>
            <a:ext cx="85725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0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 and Key Takeaways</a:t>
            </a:r>
            <a:endParaRPr lang="en-US" sz="2025" dirty="0"/>
          </a:p>
        </p:txBody>
      </p:sp>
      <p:sp>
        <p:nvSpPr>
          <p:cNvPr id="5" name="Text 2"/>
          <p:cNvSpPr/>
          <p:nvPr/>
        </p:nvSpPr>
        <p:spPr>
          <a:xfrm>
            <a:off x="400050" y="742950"/>
            <a:ext cx="411480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 week, we explored the critical aspects of monitoring and auditing security controls, which form the foundation of effective security governance and compliance management. </a:t>
            </a:r>
            <a:endParaRPr lang="en-US" sz="942" dirty="0"/>
          </a:p>
        </p:txBody>
      </p:sp>
      <p:sp>
        <p:nvSpPr>
          <p:cNvPr id="6" name="Shape 3"/>
          <p:cNvSpPr/>
          <p:nvPr/>
        </p:nvSpPr>
        <p:spPr>
          <a:xfrm>
            <a:off x="400050" y="1390157"/>
            <a:ext cx="4114800" cy="2257202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07206" y="1497313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Takeaways</a:t>
            </a:r>
            <a:endParaRPr lang="en-US" sz="1046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1786635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7231" y="1765204"/>
            <a:ext cx="19884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Monitoring is Essential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2695705" y="1765204"/>
            <a:ext cx="14568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Security controls must be 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707231" y="1913772"/>
            <a:ext cx="32688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continuously monitored to ensure ongoing effectiveness and 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707231" y="2062339"/>
            <a:ext cx="6448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compliance. </a:t>
            </a:r>
            <a:endParaRPr lang="en-US" sz="837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" y="2303776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7231" y="2282344"/>
            <a:ext cx="14611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Evidence-Based Approach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2168351" y="2282344"/>
            <a:ext cx="210051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Effective auditing requires systematic 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707231" y="2430912"/>
            <a:ext cx="36401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collection and analysis of evidence to verify control implementation. </a:t>
            </a:r>
            <a:endParaRPr lang="en-US" sz="837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" y="2672349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7231" y="2650917"/>
            <a:ext cx="13655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Technology Enablement</a:t>
            </a:r>
            <a:endParaRPr lang="en-US" sz="837" dirty="0"/>
          </a:p>
        </p:txBody>
      </p:sp>
      <p:sp>
        <p:nvSpPr>
          <p:cNvPr id="19" name="Text 13"/>
          <p:cNvSpPr/>
          <p:nvPr/>
        </p:nvSpPr>
        <p:spPr>
          <a:xfrm>
            <a:off x="2072776" y="2650917"/>
            <a:ext cx="20209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SIEM systems and other monitoring </a:t>
            </a:r>
            <a:endParaRPr lang="en-US" sz="837" dirty="0"/>
          </a:p>
        </p:txBody>
      </p:sp>
      <p:sp>
        <p:nvSpPr>
          <p:cNvPr id="20" name="Text 14"/>
          <p:cNvSpPr/>
          <p:nvPr/>
        </p:nvSpPr>
        <p:spPr>
          <a:xfrm>
            <a:off x="707231" y="2799485"/>
            <a:ext cx="30747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technologies provide the foundation for effective security </a:t>
            </a:r>
            <a:endParaRPr lang="en-US" sz="837" dirty="0"/>
          </a:p>
        </p:txBody>
      </p:sp>
      <p:sp>
        <p:nvSpPr>
          <p:cNvPr id="21" name="Text 15"/>
          <p:cNvSpPr/>
          <p:nvPr/>
        </p:nvSpPr>
        <p:spPr>
          <a:xfrm>
            <a:off x="707231" y="2948053"/>
            <a:ext cx="6348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monitoring. </a:t>
            </a:r>
            <a:endParaRPr lang="en-US" sz="837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206" y="3189489"/>
            <a:ext cx="128588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07231" y="3168058"/>
            <a:ext cx="16534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Automation Drives Efficiency</a:t>
            </a:r>
            <a:endParaRPr lang="en-US" sz="837" dirty="0"/>
          </a:p>
        </p:txBody>
      </p:sp>
      <p:sp>
        <p:nvSpPr>
          <p:cNvPr id="24" name="Text 17"/>
          <p:cNvSpPr/>
          <p:nvPr/>
        </p:nvSpPr>
        <p:spPr>
          <a:xfrm>
            <a:off x="2360702" y="3168058"/>
            <a:ext cx="17369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Automated processes increase </a:t>
            </a:r>
            <a:endParaRPr lang="en-US" sz="837" dirty="0"/>
          </a:p>
        </p:txBody>
      </p:sp>
      <p:sp>
        <p:nvSpPr>
          <p:cNvPr id="25" name="Text 18"/>
          <p:cNvSpPr/>
          <p:nvPr/>
        </p:nvSpPr>
        <p:spPr>
          <a:xfrm>
            <a:off x="707231" y="3316625"/>
            <a:ext cx="24499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coverage, consistency, and cost-effectiveness. </a:t>
            </a:r>
            <a:endParaRPr lang="en-US" sz="837" dirty="0"/>
          </a:p>
        </p:txBody>
      </p:sp>
      <p:sp>
        <p:nvSpPr>
          <p:cNvPr id="26" name="Shape 19"/>
          <p:cNvSpPr/>
          <p:nvPr/>
        </p:nvSpPr>
        <p:spPr>
          <a:xfrm>
            <a:off x="400050" y="3754515"/>
            <a:ext cx="4114800" cy="159149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Text 20"/>
          <p:cNvSpPr/>
          <p:nvPr/>
        </p:nvSpPr>
        <p:spPr>
          <a:xfrm>
            <a:off x="507206" y="3861671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Critical Success Factors</a:t>
            </a:r>
            <a:endParaRPr lang="en-US" sz="1046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206" y="4150993"/>
            <a:ext cx="144661" cy="128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3305" y="4129562"/>
            <a:ext cx="11168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Leadership Support</a:t>
            </a:r>
            <a:endParaRPr lang="en-US" sz="837" dirty="0"/>
          </a:p>
        </p:txBody>
      </p:sp>
      <p:sp>
        <p:nvSpPr>
          <p:cNvPr id="30" name="Text 22"/>
          <p:cNvSpPr/>
          <p:nvPr/>
        </p:nvSpPr>
        <p:spPr>
          <a:xfrm>
            <a:off x="1840130" y="4129562"/>
            <a:ext cx="23884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Executive sponsorship and commitment to </a:t>
            </a:r>
            <a:endParaRPr lang="en-US" sz="837" dirty="0"/>
          </a:p>
        </p:txBody>
      </p:sp>
      <p:sp>
        <p:nvSpPr>
          <p:cNvPr id="31" name="Text 23"/>
          <p:cNvSpPr/>
          <p:nvPr/>
        </p:nvSpPr>
        <p:spPr>
          <a:xfrm>
            <a:off x="723305" y="4278130"/>
            <a:ext cx="18425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and auditing activities. </a:t>
            </a:r>
            <a:endParaRPr lang="en-US" sz="837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" y="4519566"/>
            <a:ext cx="144661" cy="128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3305" y="4498135"/>
            <a:ext cx="11938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Risk-Based Approach</a:t>
            </a:r>
            <a:endParaRPr lang="en-US" sz="837" dirty="0"/>
          </a:p>
        </p:txBody>
      </p:sp>
      <p:sp>
        <p:nvSpPr>
          <p:cNvPr id="34" name="Text 25"/>
          <p:cNvSpPr/>
          <p:nvPr/>
        </p:nvSpPr>
        <p:spPr>
          <a:xfrm>
            <a:off x="1917176" y="4498135"/>
            <a:ext cx="24747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Focusing monitoring and auditing efforts on </a:t>
            </a:r>
            <a:endParaRPr lang="en-US" sz="837" dirty="0"/>
          </a:p>
        </p:txBody>
      </p:sp>
      <p:sp>
        <p:nvSpPr>
          <p:cNvPr id="35" name="Text 26"/>
          <p:cNvSpPr/>
          <p:nvPr/>
        </p:nvSpPr>
        <p:spPr>
          <a:xfrm>
            <a:off x="723305" y="4646702"/>
            <a:ext cx="18649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most critical risks and controls. </a:t>
            </a:r>
            <a:endParaRPr lang="en-US" sz="837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" y="4888139"/>
            <a:ext cx="144661" cy="12858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723305" y="4866708"/>
            <a:ext cx="146991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Continuous Improvement</a:t>
            </a:r>
            <a:endParaRPr lang="en-US" sz="837" dirty="0"/>
          </a:p>
        </p:txBody>
      </p:sp>
      <p:sp>
        <p:nvSpPr>
          <p:cNvPr id="38" name="Text 28"/>
          <p:cNvSpPr/>
          <p:nvPr/>
        </p:nvSpPr>
        <p:spPr>
          <a:xfrm>
            <a:off x="2193215" y="4866708"/>
            <a:ext cx="1911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Regular refinement of monitoring </a:t>
            </a:r>
            <a:endParaRPr lang="en-US" sz="837" dirty="0"/>
          </a:p>
        </p:txBody>
      </p:sp>
      <p:sp>
        <p:nvSpPr>
          <p:cNvPr id="39" name="Text 29"/>
          <p:cNvSpPr/>
          <p:nvPr/>
        </p:nvSpPr>
        <p:spPr>
          <a:xfrm>
            <a:off x="723305" y="5015275"/>
            <a:ext cx="26527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processes based on results and changing threats. </a:t>
            </a:r>
            <a:endParaRPr lang="en-US" sz="837" dirty="0"/>
          </a:p>
        </p:txBody>
      </p:sp>
      <p:sp>
        <p:nvSpPr>
          <p:cNvPr id="40" name="Shape 30"/>
          <p:cNvSpPr/>
          <p:nvPr/>
        </p:nvSpPr>
        <p:spPr>
          <a:xfrm>
            <a:off x="4629150" y="742950"/>
            <a:ext cx="4114800" cy="159149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4736306" y="85010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Monitoring Maturity Journey</a:t>
            </a:r>
            <a:endParaRPr lang="en-US" sz="1046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6306" y="1139428"/>
            <a:ext cx="96441" cy="128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04184" y="1117997"/>
            <a:ext cx="8922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Ad-hoc (Level 1)</a:t>
            </a:r>
            <a:endParaRPr lang="en-US" sz="837" dirty="0"/>
          </a:p>
        </p:txBody>
      </p:sp>
      <p:sp>
        <p:nvSpPr>
          <p:cNvPr id="44" name="Text 33"/>
          <p:cNvSpPr/>
          <p:nvPr/>
        </p:nvSpPr>
        <p:spPr>
          <a:xfrm>
            <a:off x="5796428" y="1117997"/>
            <a:ext cx="27968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Reactive monitoring with minimal automation and </a:t>
            </a:r>
            <a:endParaRPr lang="en-US" sz="837" dirty="0"/>
          </a:p>
        </p:txBody>
      </p:sp>
      <p:sp>
        <p:nvSpPr>
          <p:cNvPr id="45" name="Text 34"/>
          <p:cNvSpPr/>
          <p:nvPr/>
        </p:nvSpPr>
        <p:spPr>
          <a:xfrm>
            <a:off x="4904184" y="1266565"/>
            <a:ext cx="9197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limited coverage. </a:t>
            </a:r>
            <a:endParaRPr lang="en-US" sz="837" dirty="0"/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6306" y="1508001"/>
            <a:ext cx="96441" cy="12858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4904184" y="1486570"/>
            <a:ext cx="9458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Defined (Level 3)</a:t>
            </a:r>
            <a:endParaRPr lang="en-US" sz="837" dirty="0"/>
          </a:p>
        </p:txBody>
      </p:sp>
      <p:sp>
        <p:nvSpPr>
          <p:cNvPr id="48" name="Text 36"/>
          <p:cNvSpPr/>
          <p:nvPr/>
        </p:nvSpPr>
        <p:spPr>
          <a:xfrm>
            <a:off x="5850034" y="1486570"/>
            <a:ext cx="22596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Standardized monitoring processes with </a:t>
            </a:r>
            <a:endParaRPr lang="en-US" sz="837" dirty="0"/>
          </a:p>
        </p:txBody>
      </p:sp>
      <p:sp>
        <p:nvSpPr>
          <p:cNvPr id="49" name="Text 37"/>
          <p:cNvSpPr/>
          <p:nvPr/>
        </p:nvSpPr>
        <p:spPr>
          <a:xfrm>
            <a:off x="4904184" y="1635137"/>
            <a:ext cx="24253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moderate automation and broader coverage. </a:t>
            </a:r>
            <a:endParaRPr lang="en-US" sz="837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6306" y="1876574"/>
            <a:ext cx="96441" cy="12858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4904184" y="1855143"/>
            <a:ext cx="10902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Optimized (Level 5)</a:t>
            </a:r>
            <a:endParaRPr lang="en-US" sz="837" dirty="0"/>
          </a:p>
        </p:txBody>
      </p:sp>
      <p:sp>
        <p:nvSpPr>
          <p:cNvPr id="52" name="Text 39"/>
          <p:cNvSpPr/>
          <p:nvPr/>
        </p:nvSpPr>
        <p:spPr>
          <a:xfrm>
            <a:off x="5994388" y="1855143"/>
            <a:ext cx="24451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Comprehensive, risk-based monitoring with </a:t>
            </a:r>
            <a:endParaRPr lang="en-US" sz="837" dirty="0"/>
          </a:p>
        </p:txBody>
      </p:sp>
      <p:sp>
        <p:nvSpPr>
          <p:cNvPr id="53" name="Text 40"/>
          <p:cNvSpPr/>
          <p:nvPr/>
        </p:nvSpPr>
        <p:spPr>
          <a:xfrm>
            <a:off x="4904184" y="2003710"/>
            <a:ext cx="28124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extensive automation and continuous improvement. </a:t>
            </a:r>
            <a:endParaRPr lang="en-US" sz="837" dirty="0"/>
          </a:p>
        </p:txBody>
      </p:sp>
      <p:sp>
        <p:nvSpPr>
          <p:cNvPr id="54" name="Shape 41"/>
          <p:cNvSpPr/>
          <p:nvPr/>
        </p:nvSpPr>
        <p:spPr>
          <a:xfrm>
            <a:off x="4629150" y="2441600"/>
            <a:ext cx="4114800" cy="196006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5" name="Text 42"/>
          <p:cNvSpPr/>
          <p:nvPr/>
        </p:nvSpPr>
        <p:spPr>
          <a:xfrm>
            <a:off x="4736306" y="2548756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Next Steps and Application</a:t>
            </a:r>
            <a:endParaRPr lang="en-US" sz="1046" dirty="0"/>
          </a:p>
        </p:txBody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6306" y="2838078"/>
            <a:ext cx="112514" cy="128588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4920258" y="2816647"/>
            <a:ext cx="14665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 Your Current State</a:t>
            </a:r>
            <a:endParaRPr lang="en-US" sz="837" dirty="0"/>
          </a:p>
        </p:txBody>
      </p:sp>
      <p:sp>
        <p:nvSpPr>
          <p:cNvPr id="58" name="Text 44"/>
          <p:cNvSpPr/>
          <p:nvPr/>
        </p:nvSpPr>
        <p:spPr>
          <a:xfrm>
            <a:off x="6386847" y="2816647"/>
            <a:ext cx="22446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Evaluate your organization's monitoring </a:t>
            </a:r>
            <a:endParaRPr lang="en-US" sz="837" dirty="0"/>
          </a:p>
        </p:txBody>
      </p:sp>
      <p:sp>
        <p:nvSpPr>
          <p:cNvPr id="59" name="Text 45"/>
          <p:cNvSpPr/>
          <p:nvPr/>
        </p:nvSpPr>
        <p:spPr>
          <a:xfrm>
            <a:off x="4920258" y="2965214"/>
            <a:ext cx="134349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auditing capabilities. </a:t>
            </a:r>
            <a:endParaRPr lang="en-US" sz="837" dirty="0"/>
          </a:p>
        </p:txBody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6306" y="3206651"/>
            <a:ext cx="112514" cy="128588"/>
          </a:xfrm>
          <a:prstGeom prst="rect">
            <a:avLst/>
          </a:prstGeom>
        </p:spPr>
      </p:pic>
      <p:sp>
        <p:nvSpPr>
          <p:cNvPr id="61" name="Text 46"/>
          <p:cNvSpPr/>
          <p:nvPr/>
        </p:nvSpPr>
        <p:spPr>
          <a:xfrm>
            <a:off x="4920258" y="3185220"/>
            <a:ext cx="11301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a Roadmap</a:t>
            </a:r>
            <a:endParaRPr lang="en-US" sz="837" dirty="0"/>
          </a:p>
        </p:txBody>
      </p:sp>
      <p:sp>
        <p:nvSpPr>
          <p:cNvPr id="62" name="Text 47"/>
          <p:cNvSpPr/>
          <p:nvPr/>
        </p:nvSpPr>
        <p:spPr>
          <a:xfrm>
            <a:off x="6050366" y="3185220"/>
            <a:ext cx="24210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Create a plan to enhance capabilities based </a:t>
            </a:r>
            <a:endParaRPr lang="en-US" sz="837" dirty="0"/>
          </a:p>
        </p:txBody>
      </p:sp>
      <p:sp>
        <p:nvSpPr>
          <p:cNvPr id="63" name="Text 48"/>
          <p:cNvSpPr/>
          <p:nvPr/>
        </p:nvSpPr>
        <p:spPr>
          <a:xfrm>
            <a:off x="4920258" y="3333787"/>
            <a:ext cx="9985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identified gaps. </a:t>
            </a:r>
            <a:endParaRPr lang="en-US" sz="837" dirty="0"/>
          </a:p>
        </p:txBody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36306" y="3575224"/>
            <a:ext cx="112514" cy="128588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4920258" y="3553792"/>
            <a:ext cx="13032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 Quick Wins</a:t>
            </a:r>
            <a:endParaRPr lang="en-US" sz="837" dirty="0"/>
          </a:p>
        </p:txBody>
      </p:sp>
      <p:sp>
        <p:nvSpPr>
          <p:cNvPr id="66" name="Text 50"/>
          <p:cNvSpPr/>
          <p:nvPr/>
        </p:nvSpPr>
        <p:spPr>
          <a:xfrm>
            <a:off x="6223518" y="3553792"/>
            <a:ext cx="23149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Identify and implement high-impact, low-</a:t>
            </a:r>
            <a:endParaRPr lang="en-US" sz="837" dirty="0"/>
          </a:p>
        </p:txBody>
      </p:sp>
      <p:sp>
        <p:nvSpPr>
          <p:cNvPr id="67" name="Text 51"/>
          <p:cNvSpPr/>
          <p:nvPr/>
        </p:nvSpPr>
        <p:spPr>
          <a:xfrm>
            <a:off x="4920258" y="3702360"/>
            <a:ext cx="11400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effort improvements. </a:t>
            </a:r>
            <a:endParaRPr lang="en-US" sz="837" dirty="0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36306" y="3943796"/>
            <a:ext cx="112514" cy="128588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4920258" y="3922365"/>
            <a:ext cx="12915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Prepare for Next Week</a:t>
            </a:r>
            <a:endParaRPr lang="en-US" sz="837" dirty="0"/>
          </a:p>
        </p:txBody>
      </p:sp>
      <p:sp>
        <p:nvSpPr>
          <p:cNvPr id="70" name="Text 53"/>
          <p:cNvSpPr/>
          <p:nvPr/>
        </p:nvSpPr>
        <p:spPr>
          <a:xfrm>
            <a:off x="6211853" y="3922365"/>
            <a:ext cx="216726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We will explore case studies in security </a:t>
            </a:r>
            <a:endParaRPr lang="en-US" sz="837" dirty="0"/>
          </a:p>
        </p:txBody>
      </p:sp>
      <p:sp>
        <p:nvSpPr>
          <p:cNvPr id="71" name="Text 54"/>
          <p:cNvSpPr/>
          <p:nvPr/>
        </p:nvSpPr>
        <p:spPr>
          <a:xfrm>
            <a:off x="4920258" y="4070933"/>
            <a:ext cx="6622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governance. </a:t>
            </a:r>
            <a:endParaRPr lang="en-US" sz="837" dirty="0"/>
          </a:p>
        </p:txBody>
      </p:sp>
      <p:sp>
        <p:nvSpPr>
          <p:cNvPr id="72" name="Shape 55"/>
          <p:cNvSpPr/>
          <p:nvPr/>
        </p:nvSpPr>
        <p:spPr>
          <a:xfrm>
            <a:off x="4629150" y="4508822"/>
            <a:ext cx="4114800" cy="1591494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3" name="Text 56"/>
          <p:cNvSpPr/>
          <p:nvPr/>
        </p:nvSpPr>
        <p:spPr>
          <a:xfrm>
            <a:off x="4736306" y="4615979"/>
            <a:ext cx="39004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86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Proposition</a:t>
            </a:r>
            <a:endParaRPr lang="en-US" sz="1046" dirty="0"/>
          </a:p>
        </p:txBody>
      </p:sp>
      <p:pic>
        <p:nvPicPr>
          <p:cNvPr id="74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36306" y="4905301"/>
            <a:ext cx="128588" cy="128588"/>
          </a:xfrm>
          <a:prstGeom prst="rect">
            <a:avLst/>
          </a:prstGeom>
        </p:spPr>
      </p:pic>
      <p:sp>
        <p:nvSpPr>
          <p:cNvPr id="75" name="Text 57"/>
          <p:cNvSpPr/>
          <p:nvPr/>
        </p:nvSpPr>
        <p:spPr>
          <a:xfrm>
            <a:off x="4936331" y="4883869"/>
            <a:ext cx="84720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Risk Reduction</a:t>
            </a:r>
            <a:endParaRPr lang="en-US" sz="837" dirty="0"/>
          </a:p>
        </p:txBody>
      </p:sp>
      <p:sp>
        <p:nvSpPr>
          <p:cNvPr id="76" name="Text 58"/>
          <p:cNvSpPr/>
          <p:nvPr/>
        </p:nvSpPr>
        <p:spPr>
          <a:xfrm>
            <a:off x="5783535" y="4883869"/>
            <a:ext cx="2378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Earlier detection of security issues reduces </a:t>
            </a:r>
            <a:endParaRPr lang="en-US" sz="837" dirty="0"/>
          </a:p>
        </p:txBody>
      </p:sp>
      <p:sp>
        <p:nvSpPr>
          <p:cNvPr id="77" name="Text 59"/>
          <p:cNvSpPr/>
          <p:nvPr/>
        </p:nvSpPr>
        <p:spPr>
          <a:xfrm>
            <a:off x="4936331" y="5032437"/>
            <a:ext cx="9074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potential impact. </a:t>
            </a:r>
            <a:endParaRPr lang="en-US" sz="837" dirty="0"/>
          </a:p>
        </p:txBody>
      </p:sp>
      <p:pic>
        <p:nvPicPr>
          <p:cNvPr id="7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36306" y="5273873"/>
            <a:ext cx="160734" cy="128588"/>
          </a:xfrm>
          <a:prstGeom prst="rect">
            <a:avLst/>
          </a:prstGeom>
        </p:spPr>
      </p:pic>
      <p:sp>
        <p:nvSpPr>
          <p:cNvPr id="79" name="Text 60"/>
          <p:cNvSpPr/>
          <p:nvPr/>
        </p:nvSpPr>
        <p:spPr>
          <a:xfrm>
            <a:off x="4968478" y="5252442"/>
            <a:ext cx="12856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Compliance Assurance</a:t>
            </a:r>
            <a:endParaRPr lang="en-US" sz="837" dirty="0"/>
          </a:p>
        </p:txBody>
      </p:sp>
      <p:sp>
        <p:nvSpPr>
          <p:cNvPr id="80" name="Text 61"/>
          <p:cNvSpPr/>
          <p:nvPr/>
        </p:nvSpPr>
        <p:spPr>
          <a:xfrm>
            <a:off x="6254130" y="5252442"/>
            <a:ext cx="191167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Demonstrable evidence of control </a:t>
            </a:r>
            <a:endParaRPr lang="en-US" sz="837" dirty="0"/>
          </a:p>
        </p:txBody>
      </p:sp>
      <p:sp>
        <p:nvSpPr>
          <p:cNvPr id="81" name="Text 62"/>
          <p:cNvSpPr/>
          <p:nvPr/>
        </p:nvSpPr>
        <p:spPr>
          <a:xfrm>
            <a:off x="4968478" y="5401010"/>
            <a:ext cx="150236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effectiveness for regulators. </a:t>
            </a:r>
            <a:endParaRPr lang="en-US" sz="837" dirty="0"/>
          </a:p>
        </p:txBody>
      </p:sp>
      <p:pic>
        <p:nvPicPr>
          <p:cNvPr id="82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36306" y="5642446"/>
            <a:ext cx="144661" cy="128588"/>
          </a:xfrm>
          <a:prstGeom prst="rect">
            <a:avLst/>
          </a:prstGeom>
        </p:spPr>
      </p:pic>
      <p:sp>
        <p:nvSpPr>
          <p:cNvPr id="83" name="Text 63"/>
          <p:cNvSpPr/>
          <p:nvPr/>
        </p:nvSpPr>
        <p:spPr>
          <a:xfrm>
            <a:off x="4952405" y="5621015"/>
            <a:ext cx="1260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Operational Efficiency</a:t>
            </a:r>
            <a:endParaRPr lang="en-US" sz="837" dirty="0"/>
          </a:p>
        </p:txBody>
      </p:sp>
      <p:sp>
        <p:nvSpPr>
          <p:cNvPr id="84" name="Text 64"/>
          <p:cNvSpPr/>
          <p:nvPr/>
        </p:nvSpPr>
        <p:spPr>
          <a:xfrm>
            <a:off x="6213249" y="5621015"/>
            <a:ext cx="21867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- Automation reduces manual effort and </a:t>
            </a:r>
            <a:endParaRPr lang="en-US" sz="837" dirty="0"/>
          </a:p>
        </p:txBody>
      </p:sp>
      <p:sp>
        <p:nvSpPr>
          <p:cNvPr id="85" name="Text 65"/>
          <p:cNvSpPr/>
          <p:nvPr/>
        </p:nvSpPr>
        <p:spPr>
          <a:xfrm>
            <a:off x="4952405" y="5769583"/>
            <a:ext cx="15757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improves resource allocation. </a:t>
            </a:r>
            <a:endParaRPr lang="en-US" sz="83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3396</Words>
  <Application>Microsoft Office PowerPoint</Application>
  <PresentationFormat>On-screen Show (16:9)</PresentationFormat>
  <Paragraphs>656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Montserrat</vt:lpstr>
      <vt:lpstr>Noto Sans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Aminu Idris</cp:lastModifiedBy>
  <cp:revision>4</cp:revision>
  <dcterms:created xsi:type="dcterms:W3CDTF">2025-07-18T12:17:14Z</dcterms:created>
  <dcterms:modified xsi:type="dcterms:W3CDTF">2025-09-07T12:05:44Z</dcterms:modified>
</cp:coreProperties>
</file>