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920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397719" y="1445186"/>
            <a:ext cx="6348533" cy="960109"/>
          </a:xfrm>
          <a:prstGeom prst="rect">
            <a:avLst/>
          </a:prstGeom>
          <a:noFill/>
          <a:ln/>
        </p:spPr>
        <p:txBody>
          <a:bodyPr wrap="square" lIns="0" tIns="0" rIns="0" bIns="0" rtlCol="0" anchor="t">
            <a:spAutoFit/>
          </a:bodyPr>
          <a:lstStyle/>
          <a:p>
            <a:pPr marL="0" indent="0" algn="ctr">
              <a:lnSpc>
                <a:spcPts val="3800"/>
              </a:lnSpc>
              <a:buNone/>
            </a:pPr>
            <a:r>
              <a:rPr lang="en-US" sz="2862" b="1" kern="0" spc="1" dirty="0">
                <a:solidFill>
                  <a:srgbClr val="FFFFFF"/>
                </a:solidFill>
              </a:rPr>
              <a:t>BUSINESS CONTINUITY
AND DISASTER RECOVERY</a:t>
            </a:r>
            <a:endParaRPr lang="en-US" sz="2862" dirty="0"/>
          </a:p>
        </p:txBody>
      </p:sp>
      <p:sp>
        <p:nvSpPr>
          <p:cNvPr id="4" name="Text 1"/>
          <p:cNvSpPr/>
          <p:nvPr/>
        </p:nvSpPr>
        <p:spPr>
          <a:xfrm>
            <a:off x="1397719" y="2619608"/>
            <a:ext cx="6348533" cy="600075"/>
          </a:xfrm>
          <a:prstGeom prst="rect">
            <a:avLst/>
          </a:prstGeom>
          <a:noFill/>
          <a:ln/>
        </p:spPr>
        <p:txBody>
          <a:bodyPr wrap="square" lIns="0" tIns="0" rIns="0" bIns="0" rtlCol="0" anchor="t">
            <a:spAutoFit/>
          </a:bodyPr>
          <a:lstStyle/>
          <a:p>
            <a:pPr marL="0" indent="0" algn="ctr">
              <a:lnSpc>
                <a:spcPts val="2400"/>
              </a:lnSpc>
              <a:buNone/>
            </a:pPr>
            <a:r>
              <a:rPr lang="en-US" sz="1397" b="1" dirty="0">
                <a:solidFill>
                  <a:srgbClr val="00D9FF"/>
                </a:solidFill>
              </a:rPr>
              <a:t>GRC205 - INCIDENT MANAGEMENT AND BUSINESS CONTINUITY
WEEK 21 | DECEMBER 8-14</a:t>
            </a:r>
            <a:endParaRPr lang="en-US" sz="1397" dirty="0"/>
          </a:p>
        </p:txBody>
      </p:sp>
      <p:sp>
        <p:nvSpPr>
          <p:cNvPr id="5" name="Text 2"/>
          <p:cNvSpPr/>
          <p:nvPr/>
        </p:nvSpPr>
        <p:spPr>
          <a:xfrm>
            <a:off x="1397719" y="3505433"/>
            <a:ext cx="6348533" cy="192881"/>
          </a:xfrm>
          <a:prstGeom prst="rect">
            <a:avLst/>
          </a:prstGeom>
          <a:noFill/>
          <a:ln/>
        </p:spPr>
        <p:txBody>
          <a:bodyPr wrap="none" lIns="0" tIns="0" rIns="0" bIns="0" rtlCol="0" anchor="t">
            <a:spAutoFit/>
          </a:bodyPr>
          <a:lstStyle/>
          <a:p>
            <a:pPr marL="0" indent="0" algn="ctr">
              <a:lnSpc>
                <a:spcPts val="1500"/>
              </a:lnSpc>
              <a:buNone/>
            </a:pPr>
            <a:r>
              <a:rPr lang="en-US" sz="942" dirty="0">
                <a:solidFill>
                  <a:srgbClr val="B8C5D6"/>
                </a:solidFill>
              </a:rPr>
              <a:t>INTERNATIONAL CYBERSECURITY AND DIGITAL FORENSICS ACADEMY</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357188"/>
            <a:ext cx="8429625" cy="334305"/>
          </a:xfrm>
          <a:prstGeom prst="rect">
            <a:avLst/>
          </a:prstGeom>
          <a:noFill/>
          <a:ln/>
        </p:spPr>
        <p:txBody>
          <a:bodyPr wrap="none" lIns="170053" tIns="0" rIns="0" bIns="0" rtlCol="0" anchor="t">
            <a:spAutoFit/>
          </a:bodyPr>
          <a:lstStyle/>
          <a:p>
            <a:pPr marL="0" indent="0" algn="l">
              <a:lnSpc>
                <a:spcPts val="2600"/>
              </a:lnSpc>
              <a:buNone/>
            </a:pPr>
            <a:r>
              <a:rPr lang="en-US" sz="1808" b="1" dirty="0">
                <a:solidFill>
                  <a:srgbClr val="FFFFFF"/>
                </a:solidFill>
              </a:rPr>
              <a:t>Building Organizational Resilience Through BC/DR Planning</a:t>
            </a:r>
            <a:endParaRPr lang="en-US" sz="1808" dirty="0"/>
          </a:p>
        </p:txBody>
      </p:sp>
      <p:sp>
        <p:nvSpPr>
          <p:cNvPr id="4" name="Text 1"/>
          <p:cNvSpPr/>
          <p:nvPr/>
        </p:nvSpPr>
        <p:spPr>
          <a:xfrm>
            <a:off x="357188" y="977243"/>
            <a:ext cx="4036219" cy="235744"/>
          </a:xfrm>
          <a:prstGeom prst="rect">
            <a:avLst/>
          </a:prstGeom>
          <a:noFill/>
          <a:ln/>
        </p:spPr>
        <p:txBody>
          <a:bodyPr wrap="none" lIns="0" tIns="0" rIns="0" bIns="0" rtlCol="0" anchor="t">
            <a:spAutoFit/>
          </a:bodyPr>
          <a:lstStyle/>
          <a:p>
            <a:pPr marL="0" indent="0" algn="l">
              <a:lnSpc>
                <a:spcPts val="1900"/>
              </a:lnSpc>
              <a:buNone/>
            </a:pPr>
            <a:r>
              <a:rPr lang="en-US" sz="1090" b="1" kern="0" spc="1" dirty="0">
                <a:solidFill>
                  <a:srgbClr val="00D9FF"/>
                </a:solidFill>
              </a:rPr>
              <a:t>WEEK 21 CONTEXT</a:t>
            </a:r>
            <a:endParaRPr lang="en-US" sz="1090" dirty="0"/>
          </a:p>
        </p:txBody>
      </p:sp>
      <p:sp>
        <p:nvSpPr>
          <p:cNvPr id="5" name="Text 2"/>
          <p:cNvSpPr/>
          <p:nvPr/>
        </p:nvSpPr>
        <p:spPr>
          <a:xfrm>
            <a:off x="357188" y="1355861"/>
            <a:ext cx="4036219" cy="1943044"/>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B8C5D6"/>
                </a:solidFill>
              </a:rPr>
              <a:t>This week transitions from reactive incident response to proactive business continuity and disaster recovery planning. While incident response addresses security events after they occur, BC/DR ensures organizations can maintain critical operations during any disruption and recover quickly when systems fail. 
 The distinction is crucial: incident response focuses on cybersecurity threats, while BC/DR addresses all potential disruptions including natural disasters, technology failures, supply chain interruptions, and human errors.</a:t>
            </a:r>
            <a:endParaRPr lang="en-US" sz="888" dirty="0"/>
          </a:p>
        </p:txBody>
      </p:sp>
      <p:sp>
        <p:nvSpPr>
          <p:cNvPr id="6" name="Text 3"/>
          <p:cNvSpPr/>
          <p:nvPr/>
        </p:nvSpPr>
        <p:spPr>
          <a:xfrm>
            <a:off x="4750594" y="977243"/>
            <a:ext cx="4036219" cy="235744"/>
          </a:xfrm>
          <a:prstGeom prst="rect">
            <a:avLst/>
          </a:prstGeom>
          <a:noFill/>
          <a:ln/>
        </p:spPr>
        <p:txBody>
          <a:bodyPr wrap="none" lIns="0" tIns="0" rIns="0" bIns="0" rtlCol="0" anchor="t">
            <a:spAutoFit/>
          </a:bodyPr>
          <a:lstStyle/>
          <a:p>
            <a:pPr marL="0" indent="0" algn="l">
              <a:lnSpc>
                <a:spcPts val="1900"/>
              </a:lnSpc>
              <a:buNone/>
            </a:pPr>
            <a:r>
              <a:rPr lang="en-US" sz="1090" b="1" kern="0" spc="1" dirty="0">
                <a:solidFill>
                  <a:srgbClr val="00D9FF"/>
                </a:solidFill>
              </a:rPr>
              <a:t>LEARNING OBJECTIVES</a:t>
            </a:r>
            <a:endParaRPr lang="en-US" sz="1090" dirty="0"/>
          </a:p>
        </p:txBody>
      </p:sp>
      <p:sp>
        <p:nvSpPr>
          <p:cNvPr id="7" name="Text 4"/>
          <p:cNvSpPr/>
          <p:nvPr/>
        </p:nvSpPr>
        <p:spPr>
          <a:xfrm>
            <a:off x="4750594" y="1355861"/>
            <a:ext cx="4036219" cy="428625"/>
          </a:xfrm>
          <a:prstGeom prst="rect">
            <a:avLst/>
          </a:prstGeom>
          <a:noFill/>
          <a:ln/>
        </p:spPr>
        <p:txBody>
          <a:bodyPr wrap="square" lIns="127508" tIns="102108" rIns="0" bIns="0" rtlCol="0" anchor="t">
            <a:spAutoFit/>
          </a:bodyPr>
          <a:lstStyle/>
          <a:p>
            <a:pPr marL="0" indent="0" algn="l">
              <a:lnSpc>
                <a:spcPts val="1400"/>
              </a:lnSpc>
              <a:buNone/>
            </a:pPr>
            <a:r>
              <a:rPr lang="en-US" sz="834" dirty="0">
                <a:solidFill>
                  <a:srgbClr val="B8C5D6"/>
                </a:solidFill>
              </a:rPr>
              <a:t>Understand the relationship between business continuity, disaster recovery, and incident response within the broader GRC framework</a:t>
            </a:r>
            <a:endParaRPr lang="en-US" sz="834" dirty="0"/>
          </a:p>
        </p:txBody>
      </p:sp>
      <p:sp>
        <p:nvSpPr>
          <p:cNvPr id="8" name="Text 5"/>
          <p:cNvSpPr/>
          <p:nvPr/>
        </p:nvSpPr>
        <p:spPr>
          <a:xfrm>
            <a:off x="4750594" y="1891643"/>
            <a:ext cx="4036219" cy="428625"/>
          </a:xfrm>
          <a:prstGeom prst="rect">
            <a:avLst/>
          </a:prstGeom>
          <a:noFill/>
          <a:ln/>
        </p:spPr>
        <p:txBody>
          <a:bodyPr wrap="square" lIns="127508" tIns="102108" rIns="0" bIns="0" rtlCol="0" anchor="t">
            <a:spAutoFit/>
          </a:bodyPr>
          <a:lstStyle/>
          <a:p>
            <a:pPr marL="0" indent="0" algn="l">
              <a:lnSpc>
                <a:spcPts val="1400"/>
              </a:lnSpc>
              <a:buNone/>
            </a:pPr>
            <a:r>
              <a:rPr lang="en-US" sz="834" dirty="0">
                <a:solidFill>
                  <a:srgbClr val="B8C5D6"/>
                </a:solidFill>
              </a:rPr>
              <a:t>Master the Business Impact Analysis (BIA) methodology to identify critical business functions and establish recovery priorities</a:t>
            </a:r>
            <a:endParaRPr lang="en-US" sz="834" dirty="0"/>
          </a:p>
        </p:txBody>
      </p:sp>
      <p:sp>
        <p:nvSpPr>
          <p:cNvPr id="9" name="Text 6"/>
          <p:cNvSpPr/>
          <p:nvPr/>
        </p:nvSpPr>
        <p:spPr>
          <a:xfrm>
            <a:off x="4750594" y="2427424"/>
            <a:ext cx="4036219" cy="428625"/>
          </a:xfrm>
          <a:prstGeom prst="rect">
            <a:avLst/>
          </a:prstGeom>
          <a:noFill/>
          <a:ln/>
        </p:spPr>
        <p:txBody>
          <a:bodyPr wrap="square" lIns="127508" tIns="102108" rIns="0" bIns="0" rtlCol="0" anchor="t">
            <a:spAutoFit/>
          </a:bodyPr>
          <a:lstStyle/>
          <a:p>
            <a:pPr marL="0" indent="0" algn="l">
              <a:lnSpc>
                <a:spcPts val="1400"/>
              </a:lnSpc>
              <a:buNone/>
            </a:pPr>
            <a:r>
              <a:rPr lang="en-US" sz="834" dirty="0">
                <a:solidFill>
                  <a:srgbClr val="B8C5D6"/>
                </a:solidFill>
              </a:rPr>
              <a:t>Define and apply Recovery Time Objectives (RTO) and Recovery Point Objectives (RPO) to guide recovery strategy selection</a:t>
            </a:r>
            <a:endParaRPr lang="en-US" sz="834" dirty="0"/>
          </a:p>
        </p:txBody>
      </p:sp>
      <p:sp>
        <p:nvSpPr>
          <p:cNvPr id="10" name="Text 7"/>
          <p:cNvSpPr/>
          <p:nvPr/>
        </p:nvSpPr>
        <p:spPr>
          <a:xfrm>
            <a:off x="4750594" y="2963205"/>
            <a:ext cx="4036219" cy="428625"/>
          </a:xfrm>
          <a:prstGeom prst="rect">
            <a:avLst/>
          </a:prstGeom>
          <a:noFill/>
          <a:ln/>
        </p:spPr>
        <p:txBody>
          <a:bodyPr wrap="square" lIns="127508" tIns="102108" rIns="0" bIns="0" rtlCol="0" anchor="t">
            <a:spAutoFit/>
          </a:bodyPr>
          <a:lstStyle/>
          <a:p>
            <a:pPr marL="0" indent="0" algn="l">
              <a:lnSpc>
                <a:spcPts val="1400"/>
              </a:lnSpc>
              <a:buNone/>
            </a:pPr>
            <a:r>
              <a:rPr lang="en-US" sz="834" dirty="0">
                <a:solidFill>
                  <a:srgbClr val="B8C5D6"/>
                </a:solidFill>
              </a:rPr>
              <a:t>Develop comprehensive BC/DR plans aligned with NIST SP 800-34 and ISO 22301 standards</a:t>
            </a:r>
            <a:endParaRPr lang="en-US" sz="834" dirty="0"/>
          </a:p>
        </p:txBody>
      </p:sp>
      <p:sp>
        <p:nvSpPr>
          <p:cNvPr id="11" name="Text 8"/>
          <p:cNvSpPr/>
          <p:nvPr/>
        </p:nvSpPr>
        <p:spPr>
          <a:xfrm>
            <a:off x="4750594" y="3498986"/>
            <a:ext cx="4036219" cy="428625"/>
          </a:xfrm>
          <a:prstGeom prst="rect">
            <a:avLst/>
          </a:prstGeom>
          <a:noFill/>
          <a:ln/>
        </p:spPr>
        <p:txBody>
          <a:bodyPr wrap="square" lIns="127508" tIns="102108" rIns="0" bIns="0" rtlCol="0" anchor="t">
            <a:spAutoFit/>
          </a:bodyPr>
          <a:lstStyle/>
          <a:p>
            <a:pPr marL="0" indent="0" algn="l">
              <a:lnSpc>
                <a:spcPts val="1400"/>
              </a:lnSpc>
              <a:buNone/>
            </a:pPr>
            <a:r>
              <a:rPr lang="en-US" sz="834" dirty="0">
                <a:solidFill>
                  <a:srgbClr val="B8C5D6"/>
                </a:solidFill>
              </a:rPr>
              <a:t>Implement effective testing and exercise programs to validate BC/DR capabilities</a:t>
            </a:r>
            <a:endParaRPr lang="en-US" sz="834" dirty="0"/>
          </a:p>
        </p:txBody>
      </p:sp>
      <p:sp>
        <p:nvSpPr>
          <p:cNvPr id="12" name="Text 9"/>
          <p:cNvSpPr/>
          <p:nvPr/>
        </p:nvSpPr>
        <p:spPr>
          <a:xfrm>
            <a:off x="357188" y="4441961"/>
            <a:ext cx="8429625" cy="235744"/>
          </a:xfrm>
          <a:prstGeom prst="rect">
            <a:avLst/>
          </a:prstGeom>
          <a:noFill/>
          <a:ln/>
        </p:spPr>
        <p:txBody>
          <a:bodyPr wrap="none" lIns="0" tIns="0" rIns="0" bIns="0" rtlCol="0" anchor="t">
            <a:spAutoFit/>
          </a:bodyPr>
          <a:lstStyle/>
          <a:p>
            <a:pPr marL="0" indent="0" algn="l">
              <a:lnSpc>
                <a:spcPts val="1900"/>
              </a:lnSpc>
              <a:buNone/>
            </a:pPr>
            <a:r>
              <a:rPr lang="en-US" sz="1090" b="1" kern="0" spc="1" dirty="0">
                <a:solidFill>
                  <a:srgbClr val="00D9FF"/>
                </a:solidFill>
              </a:rPr>
              <a:t>KEY FRAMEWORKS</a:t>
            </a:r>
            <a:endParaRPr lang="en-US" sz="1090" dirty="0"/>
          </a:p>
        </p:txBody>
      </p:sp>
      <p:sp>
        <p:nvSpPr>
          <p:cNvPr id="13" name="Shape 10"/>
          <p:cNvSpPr/>
          <p:nvPr/>
        </p:nvSpPr>
        <p:spPr>
          <a:xfrm>
            <a:off x="357188" y="4842011"/>
            <a:ext cx="1009501" cy="289322"/>
          </a:xfrm>
          <a:prstGeom prst="rect">
            <a:avLst/>
          </a:prstGeom>
          <a:solidFill>
            <a:srgbClr val="FFB020">
              <a:alpha val="10000"/>
            </a:srgbClr>
          </a:solidFill>
          <a:ln w="9144">
            <a:solidFill>
              <a:srgbClr val="FFB020"/>
            </a:solidFill>
            <a:prstDash val="solid"/>
          </a:ln>
        </p:spPr>
      </p:sp>
      <p:sp>
        <p:nvSpPr>
          <p:cNvPr id="14" name="Text 11"/>
          <p:cNvSpPr/>
          <p:nvPr/>
        </p:nvSpPr>
        <p:spPr>
          <a:xfrm>
            <a:off x="357188" y="4842011"/>
            <a:ext cx="1009501" cy="289322"/>
          </a:xfrm>
          <a:prstGeom prst="rect">
            <a:avLst/>
          </a:prstGeom>
          <a:noFill/>
          <a:ln/>
        </p:spPr>
        <p:txBody>
          <a:bodyPr wrap="square" lIns="136017" tIns="68072" rIns="136017" bIns="68072" rtlCol="0" anchor="t">
            <a:spAutoFit/>
          </a:bodyPr>
          <a:lstStyle/>
          <a:p>
            <a:pPr marL="0" indent="0" algn="l">
              <a:lnSpc>
                <a:spcPts val="1300"/>
              </a:lnSpc>
              <a:buNone/>
            </a:pPr>
            <a:r>
              <a:rPr lang="en-US" sz="734" b="1" dirty="0">
                <a:solidFill>
                  <a:srgbClr val="FFB020"/>
                </a:solidFill>
              </a:rPr>
              <a:t>NIST SP 800-34</a:t>
            </a:r>
            <a:endParaRPr lang="en-US" sz="734" dirty="0"/>
          </a:p>
        </p:txBody>
      </p:sp>
      <p:sp>
        <p:nvSpPr>
          <p:cNvPr id="15" name="Shape 12"/>
          <p:cNvSpPr/>
          <p:nvPr/>
        </p:nvSpPr>
        <p:spPr>
          <a:xfrm>
            <a:off x="1467845" y="4842011"/>
            <a:ext cx="760475" cy="289322"/>
          </a:xfrm>
          <a:prstGeom prst="rect">
            <a:avLst/>
          </a:prstGeom>
          <a:solidFill>
            <a:srgbClr val="FFB020">
              <a:alpha val="10000"/>
            </a:srgbClr>
          </a:solidFill>
          <a:ln w="9144">
            <a:solidFill>
              <a:srgbClr val="FFB020"/>
            </a:solidFill>
            <a:prstDash val="solid"/>
          </a:ln>
        </p:spPr>
      </p:sp>
      <p:sp>
        <p:nvSpPr>
          <p:cNvPr id="16" name="Text 13"/>
          <p:cNvSpPr/>
          <p:nvPr/>
        </p:nvSpPr>
        <p:spPr>
          <a:xfrm>
            <a:off x="1467845" y="4842011"/>
            <a:ext cx="760475" cy="289322"/>
          </a:xfrm>
          <a:prstGeom prst="rect">
            <a:avLst/>
          </a:prstGeom>
          <a:noFill/>
          <a:ln/>
        </p:spPr>
        <p:txBody>
          <a:bodyPr wrap="square" lIns="136017" tIns="68072" rIns="136017" bIns="68072" rtlCol="0" anchor="t">
            <a:spAutoFit/>
          </a:bodyPr>
          <a:lstStyle/>
          <a:p>
            <a:pPr marL="0" indent="0" algn="l">
              <a:lnSpc>
                <a:spcPts val="1300"/>
              </a:lnSpc>
              <a:buNone/>
            </a:pPr>
            <a:r>
              <a:rPr lang="en-US" sz="734" b="1" dirty="0">
                <a:solidFill>
                  <a:srgbClr val="FFB020"/>
                </a:solidFill>
              </a:rPr>
              <a:t>ISO 22301</a:t>
            </a:r>
            <a:endParaRPr lang="en-US" sz="734" dirty="0"/>
          </a:p>
        </p:txBody>
      </p:sp>
      <p:sp>
        <p:nvSpPr>
          <p:cNvPr id="17" name="Shape 14"/>
          <p:cNvSpPr/>
          <p:nvPr/>
        </p:nvSpPr>
        <p:spPr>
          <a:xfrm>
            <a:off x="2329476" y="4842011"/>
            <a:ext cx="1823554" cy="289322"/>
          </a:xfrm>
          <a:prstGeom prst="rect">
            <a:avLst/>
          </a:prstGeom>
          <a:solidFill>
            <a:srgbClr val="FFB020">
              <a:alpha val="10000"/>
            </a:srgbClr>
          </a:solidFill>
          <a:ln w="9144">
            <a:solidFill>
              <a:srgbClr val="FFB020"/>
            </a:solidFill>
            <a:prstDash val="solid"/>
          </a:ln>
        </p:spPr>
      </p:sp>
      <p:sp>
        <p:nvSpPr>
          <p:cNvPr id="18" name="Text 15"/>
          <p:cNvSpPr/>
          <p:nvPr/>
        </p:nvSpPr>
        <p:spPr>
          <a:xfrm>
            <a:off x="2329476" y="4842011"/>
            <a:ext cx="1823554" cy="289322"/>
          </a:xfrm>
          <a:prstGeom prst="rect">
            <a:avLst/>
          </a:prstGeom>
          <a:noFill/>
          <a:ln/>
        </p:spPr>
        <p:txBody>
          <a:bodyPr wrap="square" lIns="136017" tIns="68072" rIns="136017" bIns="68072" rtlCol="0" anchor="t">
            <a:spAutoFit/>
          </a:bodyPr>
          <a:lstStyle/>
          <a:p>
            <a:pPr marL="0" indent="0" algn="l">
              <a:lnSpc>
                <a:spcPts val="1300"/>
              </a:lnSpc>
              <a:buNone/>
            </a:pPr>
            <a:r>
              <a:rPr lang="en-US" sz="734" b="1" dirty="0">
                <a:solidFill>
                  <a:srgbClr val="FFB020"/>
                </a:solidFill>
              </a:rPr>
              <a:t>FEMA CONTINUITY PLANNING</a:t>
            </a:r>
            <a:endParaRPr lang="en-US" sz="7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321469"/>
            <a:ext cx="8429625" cy="594327"/>
          </a:xfrm>
          <a:prstGeom prst="rect">
            <a:avLst/>
          </a:prstGeom>
          <a:noFill/>
          <a:ln/>
        </p:spPr>
        <p:txBody>
          <a:bodyPr wrap="square" lIns="170053" tIns="0" rIns="0" bIns="0" rtlCol="0" anchor="t">
            <a:spAutoFit/>
          </a:bodyPr>
          <a:lstStyle/>
          <a:p>
            <a:pPr marL="0" indent="0" algn="l">
              <a:lnSpc>
                <a:spcPts val="2300"/>
              </a:lnSpc>
              <a:buNone/>
            </a:pPr>
            <a:r>
              <a:rPr lang="en-US" sz="1602" b="1" dirty="0">
                <a:solidFill>
                  <a:srgbClr val="FFFFFF"/>
                </a:solidFill>
              </a:rPr>
              <a:t>Business Continuity and Disaster Recovery Serve Complementary But Distinct Purposes</a:t>
            </a:r>
            <a:endParaRPr lang="en-US" sz="1602" dirty="0"/>
          </a:p>
        </p:txBody>
      </p:sp>
      <p:sp>
        <p:nvSpPr>
          <p:cNvPr id="4" name="Text 1"/>
          <p:cNvSpPr/>
          <p:nvPr/>
        </p:nvSpPr>
        <p:spPr>
          <a:xfrm>
            <a:off x="471488" y="1172970"/>
            <a:ext cx="3843338" cy="300038"/>
          </a:xfrm>
          <a:prstGeom prst="rect">
            <a:avLst/>
          </a:prstGeom>
          <a:noFill/>
          <a:ln/>
        </p:spPr>
        <p:txBody>
          <a:bodyPr wrap="none" lIns="0" tIns="0" rIns="0" bIns="0" rtlCol="0" anchor="t">
            <a:spAutoFit/>
          </a:bodyPr>
          <a:lstStyle/>
          <a:p>
            <a:pPr marL="0" indent="0" algn="l">
              <a:lnSpc>
                <a:spcPts val="2400"/>
              </a:lnSpc>
              <a:buNone/>
            </a:pPr>
            <a:r>
              <a:rPr lang="en-US" sz="1397" b="1" kern="0" spc="1" dirty="0">
                <a:solidFill>
                  <a:srgbClr val="00D9FF"/>
                </a:solidFill>
              </a:rPr>
              <a:t>BUSINESS CONTINUITY</a:t>
            </a:r>
            <a:endParaRPr lang="en-US" sz="1397" dirty="0"/>
          </a:p>
        </p:txBody>
      </p:sp>
      <p:sp>
        <p:nvSpPr>
          <p:cNvPr id="5" name="Text 2"/>
          <p:cNvSpPr/>
          <p:nvPr/>
        </p:nvSpPr>
        <p:spPr>
          <a:xfrm>
            <a:off x="471488" y="1573020"/>
            <a:ext cx="384333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SCOPE &amp; FOCUS</a:t>
            </a:r>
            <a:endParaRPr lang="en-US" sz="885" dirty="0"/>
          </a:p>
        </p:txBody>
      </p:sp>
      <p:sp>
        <p:nvSpPr>
          <p:cNvPr id="6" name="Text 3"/>
          <p:cNvSpPr/>
          <p:nvPr/>
        </p:nvSpPr>
        <p:spPr>
          <a:xfrm>
            <a:off x="471488" y="1808764"/>
            <a:ext cx="3843338" cy="6858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Ensures the entire organization can continue delivering products and services during and after a disruption. Extends beyond IT to encompass all business functions including operations, supply chain, human resources, facilities, and communications.</a:t>
            </a:r>
            <a:endParaRPr lang="en-US" sz="834" dirty="0"/>
          </a:p>
        </p:txBody>
      </p:sp>
      <p:sp>
        <p:nvSpPr>
          <p:cNvPr id="7" name="Text 4"/>
          <p:cNvSpPr/>
          <p:nvPr/>
        </p:nvSpPr>
        <p:spPr>
          <a:xfrm>
            <a:off x="471488" y="2580289"/>
            <a:ext cx="384333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TIMING</a:t>
            </a:r>
            <a:endParaRPr lang="en-US" sz="885" dirty="0"/>
          </a:p>
        </p:txBody>
      </p:sp>
      <p:sp>
        <p:nvSpPr>
          <p:cNvPr id="8" name="Text 5"/>
          <p:cNvSpPr/>
          <p:nvPr/>
        </p:nvSpPr>
        <p:spPr>
          <a:xfrm>
            <a:off x="471488" y="2816033"/>
            <a:ext cx="38433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Maintains functional level of operations before, during, and after an event through proactive planning and continuous execution throughout the incident lifecycle.</a:t>
            </a:r>
            <a:endParaRPr lang="en-US" sz="834" dirty="0"/>
          </a:p>
        </p:txBody>
      </p:sp>
      <p:sp>
        <p:nvSpPr>
          <p:cNvPr id="9" name="Text 6"/>
          <p:cNvSpPr/>
          <p:nvPr/>
        </p:nvSpPr>
        <p:spPr>
          <a:xfrm>
            <a:off x="471488" y="3416108"/>
            <a:ext cx="384333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PRIMARY GOAL</a:t>
            </a:r>
            <a:endParaRPr lang="en-US" sz="885" dirty="0"/>
          </a:p>
        </p:txBody>
      </p:sp>
      <p:sp>
        <p:nvSpPr>
          <p:cNvPr id="10" name="Text 7"/>
          <p:cNvSpPr/>
          <p:nvPr/>
        </p:nvSpPr>
        <p:spPr>
          <a:xfrm>
            <a:off x="471488" y="3651852"/>
            <a:ext cx="3843338"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Sustaining mission-critical business processes to minimize operational and financial impact across the entire organization.</a:t>
            </a:r>
            <a:endParaRPr lang="en-US" sz="834" dirty="0"/>
          </a:p>
        </p:txBody>
      </p:sp>
      <p:sp>
        <p:nvSpPr>
          <p:cNvPr id="11" name="Text 8"/>
          <p:cNvSpPr/>
          <p:nvPr/>
        </p:nvSpPr>
        <p:spPr>
          <a:xfrm>
            <a:off x="4829175" y="1172970"/>
            <a:ext cx="3843338" cy="300038"/>
          </a:xfrm>
          <a:prstGeom prst="rect">
            <a:avLst/>
          </a:prstGeom>
          <a:noFill/>
          <a:ln/>
        </p:spPr>
        <p:txBody>
          <a:bodyPr wrap="none" lIns="0" tIns="0" rIns="0" bIns="0" rtlCol="0" anchor="t">
            <a:spAutoFit/>
          </a:bodyPr>
          <a:lstStyle/>
          <a:p>
            <a:pPr marL="0" indent="0" algn="l">
              <a:lnSpc>
                <a:spcPts val="2400"/>
              </a:lnSpc>
              <a:buNone/>
            </a:pPr>
            <a:r>
              <a:rPr lang="en-US" sz="1397" b="1" kern="0" spc="1" dirty="0">
                <a:solidFill>
                  <a:srgbClr val="FFB020"/>
                </a:solidFill>
              </a:rPr>
              <a:t>DISASTER RECOVERY</a:t>
            </a:r>
            <a:endParaRPr lang="en-US" sz="1397" dirty="0"/>
          </a:p>
        </p:txBody>
      </p:sp>
      <p:sp>
        <p:nvSpPr>
          <p:cNvPr id="12" name="Text 9"/>
          <p:cNvSpPr/>
          <p:nvPr/>
        </p:nvSpPr>
        <p:spPr>
          <a:xfrm>
            <a:off x="4829175" y="1573020"/>
            <a:ext cx="384333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SCOPE &amp; FOCUS</a:t>
            </a:r>
            <a:endParaRPr lang="en-US" sz="885" dirty="0"/>
          </a:p>
        </p:txBody>
      </p:sp>
      <p:sp>
        <p:nvSpPr>
          <p:cNvPr id="13" name="Text 10"/>
          <p:cNvSpPr/>
          <p:nvPr/>
        </p:nvSpPr>
        <p:spPr>
          <a:xfrm>
            <a:off x="4829175" y="1808764"/>
            <a:ext cx="38433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Focuses specifically on recovering IT systems, data, and infrastructure after a disaster has occurred. Limited to technology components including servers, networks, applications, databases, and data centers.</a:t>
            </a:r>
            <a:endParaRPr lang="en-US" sz="834" dirty="0"/>
          </a:p>
        </p:txBody>
      </p:sp>
      <p:sp>
        <p:nvSpPr>
          <p:cNvPr id="14" name="Text 11"/>
          <p:cNvSpPr/>
          <p:nvPr/>
        </p:nvSpPr>
        <p:spPr>
          <a:xfrm>
            <a:off x="4829175" y="2408839"/>
            <a:ext cx="384333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TIMING</a:t>
            </a:r>
            <a:endParaRPr lang="en-US" sz="885" dirty="0"/>
          </a:p>
        </p:txBody>
      </p:sp>
      <p:sp>
        <p:nvSpPr>
          <p:cNvPr id="15" name="Text 12"/>
          <p:cNvSpPr/>
          <p:nvPr/>
        </p:nvSpPr>
        <p:spPr>
          <a:xfrm>
            <a:off x="4829175" y="2644583"/>
            <a:ext cx="38433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Outlines the process to respond to an event when it occurs and restore normal operations. Timing begins after disruption has occurred and focuses on recovery execution.</a:t>
            </a:r>
            <a:endParaRPr lang="en-US" sz="834" dirty="0"/>
          </a:p>
        </p:txBody>
      </p:sp>
      <p:sp>
        <p:nvSpPr>
          <p:cNvPr id="16" name="Text 13"/>
          <p:cNvSpPr/>
          <p:nvPr/>
        </p:nvSpPr>
        <p:spPr>
          <a:xfrm>
            <a:off x="4829175" y="3244658"/>
            <a:ext cx="384333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PRIMARY GOAL</a:t>
            </a:r>
            <a:endParaRPr lang="en-US" sz="885" dirty="0"/>
          </a:p>
        </p:txBody>
      </p:sp>
      <p:sp>
        <p:nvSpPr>
          <p:cNvPr id="17" name="Text 14"/>
          <p:cNvSpPr/>
          <p:nvPr/>
        </p:nvSpPr>
        <p:spPr>
          <a:xfrm>
            <a:off x="4829175" y="3480402"/>
            <a:ext cx="3843338"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Restoring IT systems and infrastructure to enable business operations to resume with minimal data loss and downtime.</a:t>
            </a:r>
            <a:endParaRPr lang="en-US" sz="834" dirty="0"/>
          </a:p>
        </p:txBody>
      </p:sp>
      <p:sp>
        <p:nvSpPr>
          <p:cNvPr id="18" name="Shape 15"/>
          <p:cNvSpPr/>
          <p:nvPr/>
        </p:nvSpPr>
        <p:spPr>
          <a:xfrm>
            <a:off x="357188" y="4209064"/>
            <a:ext cx="8429625" cy="921544"/>
          </a:xfrm>
          <a:prstGeom prst="rect">
            <a:avLst/>
          </a:prstGeom>
          <a:solidFill>
            <a:srgbClr val="00D9FF">
              <a:alpha val="5000"/>
            </a:srgbClr>
          </a:solidFill>
          <a:ln/>
        </p:spPr>
      </p:sp>
      <p:sp>
        <p:nvSpPr>
          <p:cNvPr id="19" name="Shape 16"/>
          <p:cNvSpPr/>
          <p:nvPr/>
        </p:nvSpPr>
        <p:spPr>
          <a:xfrm>
            <a:off x="357188" y="4209064"/>
            <a:ext cx="28575" cy="921544"/>
          </a:xfrm>
          <a:prstGeom prst="rect">
            <a:avLst/>
          </a:prstGeom>
          <a:solidFill>
            <a:srgbClr val="00D9FF"/>
          </a:solidFill>
          <a:ln/>
        </p:spPr>
      </p:sp>
      <p:sp>
        <p:nvSpPr>
          <p:cNvPr id="20" name="Text 17"/>
          <p:cNvSpPr/>
          <p:nvPr/>
        </p:nvSpPr>
        <p:spPr>
          <a:xfrm>
            <a:off x="442913" y="4294789"/>
            <a:ext cx="825817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FFFF"/>
                </a:solidFill>
              </a:rPr>
              <a:t>KEY RELATIONSHIP</a:t>
            </a:r>
            <a:endParaRPr lang="en-US" sz="885" dirty="0"/>
          </a:p>
        </p:txBody>
      </p:sp>
      <p:sp>
        <p:nvSpPr>
          <p:cNvPr id="21" name="Text 18"/>
          <p:cNvSpPr/>
          <p:nvPr/>
        </p:nvSpPr>
        <p:spPr>
          <a:xfrm>
            <a:off x="442913" y="4530533"/>
            <a:ext cx="8258175"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Disaster recovery is a critical subset of business continuity. Effective business continuity cannot exist without robust disaster recovery capabilities, but disaster recovery alone is insufficient for comprehensive organizational resilience. Modern BC/DR programs integrate both disciplines into a unified framework addressing all potential disruptions.</a:t>
            </a: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23502"/>
          </a:xfrm>
          <a:prstGeom prst="rect">
            <a:avLst/>
          </a:prstGeom>
        </p:spPr>
      </p:pic>
      <p:sp>
        <p:nvSpPr>
          <p:cNvPr id="3" name="Text 0"/>
          <p:cNvSpPr/>
          <p:nvPr/>
        </p:nvSpPr>
        <p:spPr>
          <a:xfrm>
            <a:off x="357188" y="285750"/>
            <a:ext cx="8429625" cy="594327"/>
          </a:xfrm>
          <a:prstGeom prst="rect">
            <a:avLst/>
          </a:prstGeom>
          <a:noFill/>
          <a:ln/>
        </p:spPr>
        <p:txBody>
          <a:bodyPr wrap="square" lIns="170053" tIns="0" rIns="0" bIns="0" rtlCol="0" anchor="t">
            <a:spAutoFit/>
          </a:bodyPr>
          <a:lstStyle/>
          <a:p>
            <a:pPr marL="0" indent="0" algn="l">
              <a:lnSpc>
                <a:spcPts val="2300"/>
              </a:lnSpc>
              <a:buNone/>
            </a:pPr>
            <a:r>
              <a:rPr lang="en-US" sz="1602" b="1" dirty="0">
                <a:solidFill>
                  <a:srgbClr val="FFFFFF"/>
                </a:solidFill>
              </a:rPr>
              <a:t>NIST Provides Seven-Step Methodology for Information System Contingency Planning</a:t>
            </a:r>
            <a:endParaRPr lang="en-US" sz="1602" dirty="0"/>
          </a:p>
        </p:txBody>
      </p:sp>
      <p:sp>
        <p:nvSpPr>
          <p:cNvPr id="4" name="Text 1"/>
          <p:cNvSpPr/>
          <p:nvPr/>
        </p:nvSpPr>
        <p:spPr>
          <a:xfrm>
            <a:off x="357188" y="1058670"/>
            <a:ext cx="3429000" cy="8572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NIST Special Publication 800-34 Revision 1 establishes the authoritative framework for contingency planning in federal information systems, widely adopted across public and private sectors. The framework encompasses the entire lifecycle from policy development through ongoing maintenance.</a:t>
            </a:r>
            <a:endParaRPr lang="en-US" sz="834" dirty="0"/>
          </a:p>
        </p:txBody>
      </p:sp>
      <p:pic>
        <p:nvPicPr>
          <p:cNvPr id="5" name="Image 1" descr="preencoded.png"/>
          <p:cNvPicPr>
            <a:picLocks noChangeAspect="1"/>
          </p:cNvPicPr>
          <p:nvPr/>
        </p:nvPicPr>
        <p:blipFill>
          <a:blip r:embed="rId4"/>
          <a:stretch>
            <a:fillRect/>
          </a:stretch>
        </p:blipFill>
        <p:spPr>
          <a:xfrm>
            <a:off x="357188" y="2044508"/>
            <a:ext cx="3429000" cy="2000250"/>
          </a:xfrm>
          <a:prstGeom prst="rect">
            <a:avLst/>
          </a:prstGeom>
        </p:spPr>
      </p:pic>
      <p:sp>
        <p:nvSpPr>
          <p:cNvPr id="6" name="Text 2"/>
          <p:cNvSpPr/>
          <p:nvPr/>
        </p:nvSpPr>
        <p:spPr>
          <a:xfrm>
            <a:off x="4036219" y="1058670"/>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1</a:t>
            </a:r>
            <a:endParaRPr lang="en-US" sz="987" dirty="0"/>
          </a:p>
        </p:txBody>
      </p:sp>
      <p:sp>
        <p:nvSpPr>
          <p:cNvPr id="7" name="Text 3"/>
          <p:cNvSpPr/>
          <p:nvPr/>
        </p:nvSpPr>
        <p:spPr>
          <a:xfrm>
            <a:off x="4566000" y="1089031"/>
            <a:ext cx="2915264"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Develop Contingency Planning Policy Statement</a:t>
            </a:r>
            <a:endParaRPr lang="en-US" sz="834" dirty="0"/>
          </a:p>
        </p:txBody>
      </p:sp>
      <p:sp>
        <p:nvSpPr>
          <p:cNvPr id="8" name="Text 4"/>
          <p:cNvSpPr/>
          <p:nvPr/>
        </p:nvSpPr>
        <p:spPr>
          <a:xfrm>
            <a:off x="4036219" y="1287270"/>
            <a:ext cx="4750594" cy="300038"/>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Establish formal policy defining contingency objectives, roles, resources, training, testing schedules, and maintenance requirements.</a:t>
            </a:r>
            <a:endParaRPr lang="en-US" sz="780" dirty="0"/>
          </a:p>
        </p:txBody>
      </p:sp>
      <p:sp>
        <p:nvSpPr>
          <p:cNvPr id="9" name="Text 5"/>
          <p:cNvSpPr/>
          <p:nvPr/>
        </p:nvSpPr>
        <p:spPr>
          <a:xfrm>
            <a:off x="4036219" y="1623027"/>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2</a:t>
            </a:r>
            <a:endParaRPr lang="en-US" sz="987" dirty="0"/>
          </a:p>
        </p:txBody>
      </p:sp>
      <p:sp>
        <p:nvSpPr>
          <p:cNvPr id="10" name="Text 6"/>
          <p:cNvSpPr/>
          <p:nvPr/>
        </p:nvSpPr>
        <p:spPr>
          <a:xfrm>
            <a:off x="4566000" y="1653387"/>
            <a:ext cx="2389166"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Conduct Business Impact Analysis (BIA)</a:t>
            </a:r>
            <a:endParaRPr lang="en-US" sz="834" dirty="0"/>
          </a:p>
        </p:txBody>
      </p:sp>
      <p:sp>
        <p:nvSpPr>
          <p:cNvPr id="11" name="Text 7"/>
          <p:cNvSpPr/>
          <p:nvPr/>
        </p:nvSpPr>
        <p:spPr>
          <a:xfrm>
            <a:off x="4036219" y="1851627"/>
            <a:ext cx="4750594" cy="300038"/>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Identify critical IT systems by correlating them to mission/business processes and determine impact of disruptions to establish recovery priorities.</a:t>
            </a:r>
            <a:endParaRPr lang="en-US" sz="780" dirty="0"/>
          </a:p>
        </p:txBody>
      </p:sp>
      <p:sp>
        <p:nvSpPr>
          <p:cNvPr id="12" name="Text 8"/>
          <p:cNvSpPr/>
          <p:nvPr/>
        </p:nvSpPr>
        <p:spPr>
          <a:xfrm>
            <a:off x="4036219" y="2187383"/>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3</a:t>
            </a:r>
            <a:endParaRPr lang="en-US" sz="987" dirty="0"/>
          </a:p>
        </p:txBody>
      </p:sp>
      <p:sp>
        <p:nvSpPr>
          <p:cNvPr id="13" name="Text 9"/>
          <p:cNvSpPr/>
          <p:nvPr/>
        </p:nvSpPr>
        <p:spPr>
          <a:xfrm>
            <a:off x="4566000" y="2217744"/>
            <a:ext cx="1704594"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Identify Preventive Controls</a:t>
            </a:r>
            <a:endParaRPr lang="en-US" sz="834" dirty="0"/>
          </a:p>
        </p:txBody>
      </p:sp>
      <p:sp>
        <p:nvSpPr>
          <p:cNvPr id="14" name="Text 10"/>
          <p:cNvSpPr/>
          <p:nvPr/>
        </p:nvSpPr>
        <p:spPr>
          <a:xfrm>
            <a:off x="4036219" y="2415983"/>
            <a:ext cx="4750594" cy="300038"/>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Implement cost-effective controls to reduce likelihood and impact of disruptions including redundant systems, UPS, backup generators, and security controls.</a:t>
            </a:r>
            <a:endParaRPr lang="en-US" sz="780" dirty="0"/>
          </a:p>
        </p:txBody>
      </p:sp>
      <p:sp>
        <p:nvSpPr>
          <p:cNvPr id="15" name="Text 11"/>
          <p:cNvSpPr/>
          <p:nvPr/>
        </p:nvSpPr>
        <p:spPr>
          <a:xfrm>
            <a:off x="4036219" y="2751739"/>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4</a:t>
            </a:r>
            <a:endParaRPr lang="en-US" sz="987" dirty="0"/>
          </a:p>
        </p:txBody>
      </p:sp>
      <p:sp>
        <p:nvSpPr>
          <p:cNvPr id="16" name="Text 12"/>
          <p:cNvSpPr/>
          <p:nvPr/>
        </p:nvSpPr>
        <p:spPr>
          <a:xfrm>
            <a:off x="4566000" y="2782100"/>
            <a:ext cx="1840855"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Create Contingency Strategies</a:t>
            </a:r>
            <a:endParaRPr lang="en-US" sz="834" dirty="0"/>
          </a:p>
        </p:txBody>
      </p:sp>
      <p:sp>
        <p:nvSpPr>
          <p:cNvPr id="17" name="Text 13"/>
          <p:cNvSpPr/>
          <p:nvPr/>
        </p:nvSpPr>
        <p:spPr>
          <a:xfrm>
            <a:off x="4036219" y="2980339"/>
            <a:ext cx="4750594" cy="450056"/>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Develop strategies to recover IT systems based on BIA findings, balancing cost against recovery speed through alternate sites, backup methods, and recovery approaches.</a:t>
            </a:r>
            <a:endParaRPr lang="en-US" sz="780" dirty="0"/>
          </a:p>
        </p:txBody>
      </p:sp>
      <p:sp>
        <p:nvSpPr>
          <p:cNvPr id="18" name="Text 14"/>
          <p:cNvSpPr/>
          <p:nvPr/>
        </p:nvSpPr>
        <p:spPr>
          <a:xfrm>
            <a:off x="4036219" y="3466114"/>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5</a:t>
            </a:r>
            <a:endParaRPr lang="en-US" sz="987" dirty="0"/>
          </a:p>
        </p:txBody>
      </p:sp>
      <p:sp>
        <p:nvSpPr>
          <p:cNvPr id="19" name="Text 15"/>
          <p:cNvSpPr/>
          <p:nvPr/>
        </p:nvSpPr>
        <p:spPr>
          <a:xfrm>
            <a:off x="4566000" y="3496475"/>
            <a:ext cx="3207237"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Develop Information System Contingency Plan (ISCP)</a:t>
            </a:r>
            <a:endParaRPr lang="en-US" sz="834" dirty="0"/>
          </a:p>
        </p:txBody>
      </p:sp>
      <p:sp>
        <p:nvSpPr>
          <p:cNvPr id="20" name="Text 16"/>
          <p:cNvSpPr/>
          <p:nvPr/>
        </p:nvSpPr>
        <p:spPr>
          <a:xfrm>
            <a:off x="4036219" y="3694714"/>
            <a:ext cx="4750594" cy="450056"/>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Document detailed procedures for recovering information systems including activation, notification, recovery, reconstitution procedures, and supporting appendices.</a:t>
            </a:r>
            <a:endParaRPr lang="en-US" sz="780" dirty="0"/>
          </a:p>
        </p:txBody>
      </p:sp>
      <p:sp>
        <p:nvSpPr>
          <p:cNvPr id="21" name="Text 17"/>
          <p:cNvSpPr/>
          <p:nvPr/>
        </p:nvSpPr>
        <p:spPr>
          <a:xfrm>
            <a:off x="4036219" y="4180489"/>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6</a:t>
            </a:r>
            <a:endParaRPr lang="en-US" sz="987" dirty="0"/>
          </a:p>
        </p:txBody>
      </p:sp>
      <p:sp>
        <p:nvSpPr>
          <p:cNvPr id="22" name="Text 18"/>
          <p:cNvSpPr/>
          <p:nvPr/>
        </p:nvSpPr>
        <p:spPr>
          <a:xfrm>
            <a:off x="4566000" y="4210850"/>
            <a:ext cx="3043042"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Ensure Plan Testing, Training, and Exercises (TT&amp;E)</a:t>
            </a:r>
            <a:endParaRPr lang="en-US" sz="834" dirty="0"/>
          </a:p>
        </p:txBody>
      </p:sp>
      <p:sp>
        <p:nvSpPr>
          <p:cNvPr id="23" name="Text 19"/>
          <p:cNvSpPr/>
          <p:nvPr/>
        </p:nvSpPr>
        <p:spPr>
          <a:xfrm>
            <a:off x="4036219" y="4409089"/>
            <a:ext cx="4750594" cy="300038"/>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Test plans regularly to identify gaps, validate procedures, and ensure personnel know their roles. Testing progresses from tabletop to full-scale exercises.</a:t>
            </a:r>
            <a:endParaRPr lang="en-US" sz="780" dirty="0"/>
          </a:p>
        </p:txBody>
      </p:sp>
      <p:sp>
        <p:nvSpPr>
          <p:cNvPr id="24" name="Text 20"/>
          <p:cNvSpPr/>
          <p:nvPr/>
        </p:nvSpPr>
        <p:spPr>
          <a:xfrm>
            <a:off x="4036219" y="4744845"/>
            <a:ext cx="500063"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STEP 7</a:t>
            </a:r>
            <a:endParaRPr lang="en-US" sz="987" dirty="0"/>
          </a:p>
        </p:txBody>
      </p:sp>
      <p:sp>
        <p:nvSpPr>
          <p:cNvPr id="25" name="Text 21"/>
          <p:cNvSpPr/>
          <p:nvPr/>
        </p:nvSpPr>
        <p:spPr>
          <a:xfrm>
            <a:off x="4566000" y="4775206"/>
            <a:ext cx="1094333" cy="166092"/>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FFFFFF"/>
                </a:solidFill>
              </a:rPr>
              <a:t>Plan Maintenance</a:t>
            </a:r>
            <a:endParaRPr lang="en-US" sz="834" dirty="0"/>
          </a:p>
        </p:txBody>
      </p:sp>
      <p:sp>
        <p:nvSpPr>
          <p:cNvPr id="26" name="Text 22"/>
          <p:cNvSpPr/>
          <p:nvPr/>
        </p:nvSpPr>
        <p:spPr>
          <a:xfrm>
            <a:off x="4036219" y="4973445"/>
            <a:ext cx="4750594" cy="450056"/>
          </a:xfrm>
          <a:prstGeom prst="rect">
            <a:avLst/>
          </a:prstGeom>
          <a:noFill/>
          <a:ln/>
        </p:spPr>
        <p:txBody>
          <a:bodyPr wrap="square" lIns="595376" tIns="0" rIns="0" bIns="0" rtlCol="0" anchor="t">
            <a:spAutoFit/>
          </a:bodyPr>
          <a:lstStyle/>
          <a:p>
            <a:pPr marL="0" indent="0" algn="l">
              <a:lnSpc>
                <a:spcPts val="1200"/>
              </a:lnSpc>
              <a:buNone/>
            </a:pPr>
            <a:r>
              <a:rPr lang="en-US" sz="780" dirty="0">
                <a:solidFill>
                  <a:srgbClr val="B8C5D6"/>
                </a:solidFill>
              </a:rPr>
              <a:t>Review and update plans at least annually to remain current with organizational changes, technology updates, personnel changes, and lessons learned from tests and incidents.</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59208"/>
          </a:xfrm>
          <a:prstGeom prst="rect">
            <a:avLst/>
          </a:prstGeom>
        </p:spPr>
      </p:pic>
      <p:sp>
        <p:nvSpPr>
          <p:cNvPr id="3" name="Text 0"/>
          <p:cNvSpPr/>
          <p:nvPr/>
        </p:nvSpPr>
        <p:spPr>
          <a:xfrm>
            <a:off x="357188" y="285750"/>
            <a:ext cx="8429625" cy="594327"/>
          </a:xfrm>
          <a:prstGeom prst="rect">
            <a:avLst/>
          </a:prstGeom>
          <a:noFill/>
          <a:ln/>
        </p:spPr>
        <p:txBody>
          <a:bodyPr wrap="square" lIns="170053" tIns="0" rIns="0" bIns="0" rtlCol="0" anchor="t">
            <a:spAutoFit/>
          </a:bodyPr>
          <a:lstStyle/>
          <a:p>
            <a:pPr marL="0" indent="0" algn="l">
              <a:lnSpc>
                <a:spcPts val="2300"/>
              </a:lnSpc>
              <a:buNone/>
            </a:pPr>
            <a:r>
              <a:rPr lang="en-US" sz="1602" b="1" dirty="0">
                <a:solidFill>
                  <a:srgbClr val="FFFFFF"/>
                </a:solidFill>
              </a:rPr>
              <a:t>Business Impact Analysis Identifies Critical Functions and Establishes Recovery Priorities</a:t>
            </a:r>
            <a:endParaRPr lang="en-US" sz="1602" dirty="0"/>
          </a:p>
        </p:txBody>
      </p:sp>
      <p:sp>
        <p:nvSpPr>
          <p:cNvPr id="4" name="Text 1"/>
          <p:cNvSpPr/>
          <p:nvPr/>
        </p:nvSpPr>
        <p:spPr>
          <a:xfrm>
            <a:off x="357188" y="1022952"/>
            <a:ext cx="4603059" cy="6858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The Business Impact Analysis (BIA) is the cornerstone of effective BC/DR planning, providing the data-driven foundation for all recovery strategies and resource allocation decisions. A BIA predicts the consequences of disruptions to business operations and gathers information needed to develop recovery strategies.</a:t>
            </a:r>
            <a:endParaRPr lang="en-US" sz="834" dirty="0"/>
          </a:p>
        </p:txBody>
      </p:sp>
      <p:sp>
        <p:nvSpPr>
          <p:cNvPr id="5" name="Text 2"/>
          <p:cNvSpPr/>
          <p:nvPr/>
        </p:nvSpPr>
        <p:spPr>
          <a:xfrm>
            <a:off x="357188" y="1794477"/>
            <a:ext cx="2258653" cy="34290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00D9FF"/>
                </a:solidFill>
              </a:rPr>
              <a:t>PHASE 1: IDENTIFY CRITICAL FUNCTIONS</a:t>
            </a:r>
            <a:endParaRPr lang="en-US" sz="784" dirty="0"/>
          </a:p>
        </p:txBody>
      </p:sp>
      <p:sp>
        <p:nvSpPr>
          <p:cNvPr id="6" name="Text 3"/>
          <p:cNvSpPr/>
          <p:nvPr/>
        </p:nvSpPr>
        <p:spPr>
          <a:xfrm>
            <a:off x="357188" y="2165952"/>
            <a:ext cx="2258653"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Document all business processes, categorize by criticality, map to supporting IT systems, and identify dependencies between functions.</a:t>
            </a:r>
            <a:endParaRPr lang="en-US" sz="780" dirty="0"/>
          </a:p>
        </p:txBody>
      </p:sp>
      <p:sp>
        <p:nvSpPr>
          <p:cNvPr id="7" name="Text 4"/>
          <p:cNvSpPr/>
          <p:nvPr/>
        </p:nvSpPr>
        <p:spPr>
          <a:xfrm>
            <a:off x="2701565" y="1794477"/>
            <a:ext cx="22586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PHASE 2: DETERMINE IMPACTS</a:t>
            </a:r>
            <a:endParaRPr lang="en-US" sz="784" dirty="0"/>
          </a:p>
        </p:txBody>
      </p:sp>
      <p:sp>
        <p:nvSpPr>
          <p:cNvPr id="8" name="Text 5"/>
          <p:cNvSpPr/>
          <p:nvPr/>
        </p:nvSpPr>
        <p:spPr>
          <a:xfrm>
            <a:off x="2701565" y="1994502"/>
            <a:ext cx="2258681"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Quantify operational impacts (lost sales, increased expenses, regulatory fines) and financial impacts (revenue loss, legal costs, long-term implications).</a:t>
            </a:r>
            <a:endParaRPr lang="en-US" sz="780" dirty="0"/>
          </a:p>
        </p:txBody>
      </p:sp>
      <p:sp>
        <p:nvSpPr>
          <p:cNvPr id="9" name="Text 6"/>
          <p:cNvSpPr/>
          <p:nvPr/>
        </p:nvSpPr>
        <p:spPr>
          <a:xfrm>
            <a:off x="357188" y="2851752"/>
            <a:ext cx="2258653"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PHASE 3: ESTABLISH RTO</a:t>
            </a:r>
            <a:endParaRPr lang="en-US" sz="784" dirty="0"/>
          </a:p>
        </p:txBody>
      </p:sp>
      <p:sp>
        <p:nvSpPr>
          <p:cNvPr id="10" name="Text 7"/>
          <p:cNvSpPr/>
          <p:nvPr/>
        </p:nvSpPr>
        <p:spPr>
          <a:xfrm>
            <a:off x="357188" y="3051777"/>
            <a:ext cx="2258653"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Define maximum acceptable downtime for each function considering timing, duration, seasonal patterns, and cumulative effects over time.</a:t>
            </a:r>
            <a:endParaRPr lang="en-US" sz="780" dirty="0"/>
          </a:p>
        </p:txBody>
      </p:sp>
      <p:sp>
        <p:nvSpPr>
          <p:cNvPr id="11" name="Text 8"/>
          <p:cNvSpPr/>
          <p:nvPr/>
        </p:nvSpPr>
        <p:spPr>
          <a:xfrm>
            <a:off x="2701565" y="2851752"/>
            <a:ext cx="22586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PHASE 4: ESTABLISH RPO</a:t>
            </a:r>
            <a:endParaRPr lang="en-US" sz="784" dirty="0"/>
          </a:p>
        </p:txBody>
      </p:sp>
      <p:sp>
        <p:nvSpPr>
          <p:cNvPr id="12" name="Text 9"/>
          <p:cNvSpPr/>
          <p:nvPr/>
        </p:nvSpPr>
        <p:spPr>
          <a:xfrm>
            <a:off x="2701565" y="3051777"/>
            <a:ext cx="2258681"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Define maximum acceptable data loss measured in time, driving backup frequency requirements and data protection strategies.</a:t>
            </a:r>
            <a:endParaRPr lang="en-US" sz="780" dirty="0"/>
          </a:p>
        </p:txBody>
      </p:sp>
      <p:sp>
        <p:nvSpPr>
          <p:cNvPr id="13" name="Text 10"/>
          <p:cNvSpPr/>
          <p:nvPr/>
        </p:nvSpPr>
        <p:spPr>
          <a:xfrm>
            <a:off x="357188" y="3737577"/>
            <a:ext cx="2258653"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PHASE 5: IDENTIFY RESOURCES</a:t>
            </a:r>
            <a:endParaRPr lang="en-US" sz="784" dirty="0"/>
          </a:p>
        </p:txBody>
      </p:sp>
      <p:sp>
        <p:nvSpPr>
          <p:cNvPr id="14" name="Text 11"/>
          <p:cNvSpPr/>
          <p:nvPr/>
        </p:nvSpPr>
        <p:spPr>
          <a:xfrm>
            <a:off x="357188" y="3937602"/>
            <a:ext cx="2258653"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Document personnel, technology, facilities, third-party services, and critical documentation needed to recover each function.</a:t>
            </a:r>
            <a:endParaRPr lang="en-US" sz="780" dirty="0"/>
          </a:p>
        </p:txBody>
      </p:sp>
      <p:sp>
        <p:nvSpPr>
          <p:cNvPr id="15" name="Text 12"/>
          <p:cNvSpPr/>
          <p:nvPr/>
        </p:nvSpPr>
        <p:spPr>
          <a:xfrm>
            <a:off x="2701565" y="3737577"/>
            <a:ext cx="22586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PHASE 6: PRIORITIZE RECOVERY</a:t>
            </a:r>
            <a:endParaRPr lang="en-US" sz="784" dirty="0"/>
          </a:p>
        </p:txBody>
      </p:sp>
      <p:sp>
        <p:nvSpPr>
          <p:cNvPr id="16" name="Text 13"/>
          <p:cNvSpPr/>
          <p:nvPr/>
        </p:nvSpPr>
        <p:spPr>
          <a:xfrm>
            <a:off x="2701565" y="3937602"/>
            <a:ext cx="2258681"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Rank business functions by criticality, establish recovery sequence, identify critical path activities, and balance needs with constraints.</a:t>
            </a:r>
            <a:endParaRPr lang="en-US" sz="780" dirty="0"/>
          </a:p>
        </p:txBody>
      </p:sp>
      <p:sp>
        <p:nvSpPr>
          <p:cNvPr id="17" name="Shape 14"/>
          <p:cNvSpPr/>
          <p:nvPr/>
        </p:nvSpPr>
        <p:spPr>
          <a:xfrm>
            <a:off x="357188" y="4594827"/>
            <a:ext cx="4603059" cy="764381"/>
          </a:xfrm>
          <a:prstGeom prst="rect">
            <a:avLst/>
          </a:prstGeom>
          <a:solidFill>
            <a:srgbClr val="FFB020">
              <a:alpha val="8000"/>
            </a:srgbClr>
          </a:solidFill>
          <a:ln/>
        </p:spPr>
      </p:sp>
      <p:sp>
        <p:nvSpPr>
          <p:cNvPr id="18" name="Shape 15"/>
          <p:cNvSpPr/>
          <p:nvPr/>
        </p:nvSpPr>
        <p:spPr>
          <a:xfrm>
            <a:off x="357188" y="4594827"/>
            <a:ext cx="21431" cy="764381"/>
          </a:xfrm>
          <a:prstGeom prst="rect">
            <a:avLst/>
          </a:prstGeom>
          <a:solidFill>
            <a:srgbClr val="FFB020"/>
          </a:solidFill>
          <a:ln/>
        </p:spPr>
      </p:sp>
      <p:sp>
        <p:nvSpPr>
          <p:cNvPr id="19" name="Text 16"/>
          <p:cNvSpPr/>
          <p:nvPr/>
        </p:nvSpPr>
        <p:spPr>
          <a:xfrm>
            <a:off x="414338" y="4651977"/>
            <a:ext cx="4488759"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TIMING CONSIDERATIONS</a:t>
            </a:r>
            <a:endParaRPr lang="en-US" sz="784" dirty="0"/>
          </a:p>
        </p:txBody>
      </p:sp>
      <p:sp>
        <p:nvSpPr>
          <p:cNvPr id="20" name="Text 17"/>
          <p:cNvSpPr/>
          <p:nvPr/>
        </p:nvSpPr>
        <p:spPr>
          <a:xfrm>
            <a:off x="414338" y="4852002"/>
            <a:ext cx="4488759"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The point in time when disruption occurs significantly affects impact severity. Organizations must consider seasonal variations, business cycles, duration thresholds, and cumulative effects over time.</a:t>
            </a:r>
            <a:endParaRPr lang="en-US" sz="780" dirty="0"/>
          </a:p>
        </p:txBody>
      </p:sp>
      <p:pic>
        <p:nvPicPr>
          <p:cNvPr id="21" name="Image 1" descr="preencoded.png"/>
          <p:cNvPicPr>
            <a:picLocks noChangeAspect="1"/>
          </p:cNvPicPr>
          <p:nvPr/>
        </p:nvPicPr>
        <p:blipFill>
          <a:blip r:embed="rId4"/>
          <a:stretch>
            <a:fillRect/>
          </a:stretch>
        </p:blipFill>
        <p:spPr>
          <a:xfrm>
            <a:off x="5245996" y="1405142"/>
            <a:ext cx="3540816" cy="35718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594327"/>
          </a:xfrm>
          <a:prstGeom prst="rect">
            <a:avLst/>
          </a:prstGeom>
          <a:noFill/>
          <a:ln/>
        </p:spPr>
        <p:txBody>
          <a:bodyPr wrap="square" lIns="170053" tIns="0" rIns="0" bIns="0" rtlCol="0" anchor="t">
            <a:spAutoFit/>
          </a:bodyPr>
          <a:lstStyle/>
          <a:p>
            <a:pPr marL="0" indent="0" algn="l">
              <a:lnSpc>
                <a:spcPts val="2300"/>
              </a:lnSpc>
              <a:buNone/>
            </a:pPr>
            <a:r>
              <a:rPr lang="en-US" sz="1602" b="1" dirty="0">
                <a:solidFill>
                  <a:srgbClr val="FFFFFF"/>
                </a:solidFill>
              </a:rPr>
              <a:t>Recovery Objectives Define Acceptable Downtime and Data Loss Thresholds</a:t>
            </a:r>
            <a:endParaRPr lang="en-US" sz="1602" dirty="0"/>
          </a:p>
        </p:txBody>
      </p:sp>
      <p:sp>
        <p:nvSpPr>
          <p:cNvPr id="4" name="Text 1"/>
          <p:cNvSpPr/>
          <p:nvPr/>
        </p:nvSpPr>
        <p:spPr>
          <a:xfrm>
            <a:off x="442913" y="1108677"/>
            <a:ext cx="2543175" cy="257175"/>
          </a:xfrm>
          <a:prstGeom prst="rect">
            <a:avLst/>
          </a:prstGeom>
          <a:noFill/>
          <a:ln/>
        </p:spPr>
        <p:txBody>
          <a:bodyPr wrap="none" lIns="0" tIns="0" rIns="0" bIns="0" rtlCol="0" anchor="t">
            <a:spAutoFit/>
          </a:bodyPr>
          <a:lstStyle/>
          <a:p>
            <a:pPr marL="0" indent="0" algn="l">
              <a:lnSpc>
                <a:spcPts val="2000"/>
              </a:lnSpc>
              <a:buNone/>
            </a:pPr>
            <a:r>
              <a:rPr lang="en-US" sz="1193" b="1" kern="0" spc="1" dirty="0">
                <a:solidFill>
                  <a:srgbClr val="00D9FF"/>
                </a:solidFill>
              </a:rPr>
              <a:t>RTO</a:t>
            </a:r>
            <a:endParaRPr lang="en-US" sz="1193" dirty="0"/>
          </a:p>
        </p:txBody>
      </p:sp>
      <p:sp>
        <p:nvSpPr>
          <p:cNvPr id="5" name="Text 2"/>
          <p:cNvSpPr/>
          <p:nvPr/>
        </p:nvSpPr>
        <p:spPr>
          <a:xfrm>
            <a:off x="442913" y="1408714"/>
            <a:ext cx="2543175"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Recovery Time Objective</a:t>
            </a:r>
            <a:endParaRPr lang="en-US" sz="734" dirty="0"/>
          </a:p>
        </p:txBody>
      </p:sp>
      <p:sp>
        <p:nvSpPr>
          <p:cNvPr id="6" name="Text 3"/>
          <p:cNvSpPr/>
          <p:nvPr/>
        </p:nvSpPr>
        <p:spPr>
          <a:xfrm>
            <a:off x="442913" y="1612311"/>
            <a:ext cx="2543175"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Maximum acceptable downtime from disruption to full restoration; drives recovery speed and strategy.</a:t>
            </a:r>
            <a:endParaRPr lang="en-US" sz="780" dirty="0"/>
          </a:p>
        </p:txBody>
      </p:sp>
      <p:sp>
        <p:nvSpPr>
          <p:cNvPr id="7" name="Text 4"/>
          <p:cNvSpPr/>
          <p:nvPr/>
        </p:nvSpPr>
        <p:spPr>
          <a:xfrm>
            <a:off x="3300413" y="1108677"/>
            <a:ext cx="2543175" cy="257175"/>
          </a:xfrm>
          <a:prstGeom prst="rect">
            <a:avLst/>
          </a:prstGeom>
          <a:noFill/>
          <a:ln/>
        </p:spPr>
        <p:txBody>
          <a:bodyPr wrap="none" lIns="0" tIns="0" rIns="0" bIns="0" rtlCol="0" anchor="t">
            <a:spAutoFit/>
          </a:bodyPr>
          <a:lstStyle/>
          <a:p>
            <a:pPr marL="0" indent="0" algn="l">
              <a:lnSpc>
                <a:spcPts val="2000"/>
              </a:lnSpc>
              <a:buNone/>
            </a:pPr>
            <a:r>
              <a:rPr lang="en-US" sz="1193" b="1" kern="0" spc="1" dirty="0">
                <a:solidFill>
                  <a:srgbClr val="00D9FF"/>
                </a:solidFill>
              </a:rPr>
              <a:t>RPO</a:t>
            </a:r>
            <a:endParaRPr lang="en-US" sz="1193" dirty="0"/>
          </a:p>
        </p:txBody>
      </p:sp>
      <p:sp>
        <p:nvSpPr>
          <p:cNvPr id="8" name="Text 5"/>
          <p:cNvSpPr/>
          <p:nvPr/>
        </p:nvSpPr>
        <p:spPr>
          <a:xfrm>
            <a:off x="3300413" y="1408714"/>
            <a:ext cx="2543175"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Recovery Point Objective</a:t>
            </a:r>
            <a:endParaRPr lang="en-US" sz="734" dirty="0"/>
          </a:p>
        </p:txBody>
      </p:sp>
      <p:sp>
        <p:nvSpPr>
          <p:cNvPr id="9" name="Text 6"/>
          <p:cNvSpPr/>
          <p:nvPr/>
        </p:nvSpPr>
        <p:spPr>
          <a:xfrm>
            <a:off x="3300413" y="1612311"/>
            <a:ext cx="2543175"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Maximum acceptable data loss in time; defines the recovery point and backup frequency.</a:t>
            </a:r>
            <a:endParaRPr lang="en-US" sz="780" dirty="0"/>
          </a:p>
        </p:txBody>
      </p:sp>
      <p:sp>
        <p:nvSpPr>
          <p:cNvPr id="10" name="Text 7"/>
          <p:cNvSpPr/>
          <p:nvPr/>
        </p:nvSpPr>
        <p:spPr>
          <a:xfrm>
            <a:off x="6157913" y="1108677"/>
            <a:ext cx="2543175" cy="257175"/>
          </a:xfrm>
          <a:prstGeom prst="rect">
            <a:avLst/>
          </a:prstGeom>
          <a:noFill/>
          <a:ln/>
        </p:spPr>
        <p:txBody>
          <a:bodyPr wrap="none" lIns="0" tIns="0" rIns="0" bIns="0" rtlCol="0" anchor="t">
            <a:spAutoFit/>
          </a:bodyPr>
          <a:lstStyle/>
          <a:p>
            <a:pPr marL="0" indent="0" algn="l">
              <a:lnSpc>
                <a:spcPts val="2000"/>
              </a:lnSpc>
              <a:buNone/>
            </a:pPr>
            <a:r>
              <a:rPr lang="en-US" sz="1193" b="1" kern="0" spc="1" dirty="0">
                <a:solidFill>
                  <a:srgbClr val="00D9FF"/>
                </a:solidFill>
              </a:rPr>
              <a:t>MTD</a:t>
            </a:r>
            <a:endParaRPr lang="en-US" sz="1193" dirty="0"/>
          </a:p>
        </p:txBody>
      </p:sp>
      <p:sp>
        <p:nvSpPr>
          <p:cNvPr id="11" name="Text 8"/>
          <p:cNvSpPr/>
          <p:nvPr/>
        </p:nvSpPr>
        <p:spPr>
          <a:xfrm>
            <a:off x="6157913" y="1408714"/>
            <a:ext cx="2543175"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Maximum Tolerable Downtime</a:t>
            </a:r>
            <a:endParaRPr lang="en-US" sz="734" dirty="0"/>
          </a:p>
        </p:txBody>
      </p:sp>
      <p:sp>
        <p:nvSpPr>
          <p:cNvPr id="12" name="Text 9"/>
          <p:cNvSpPr/>
          <p:nvPr/>
        </p:nvSpPr>
        <p:spPr>
          <a:xfrm>
            <a:off x="6157913" y="1612311"/>
            <a:ext cx="2543175"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Absolute maximum outage before irreparable harm; includes RTO plus recovery and validation time.</a:t>
            </a:r>
            <a:endParaRPr lang="en-US" sz="780" dirty="0"/>
          </a:p>
        </p:txBody>
      </p:sp>
      <p:pic>
        <p:nvPicPr>
          <p:cNvPr id="13" name="Image 1" descr="preencoded.png"/>
          <p:cNvPicPr>
            <a:picLocks noChangeAspect="1"/>
          </p:cNvPicPr>
          <p:nvPr/>
        </p:nvPicPr>
        <p:blipFill>
          <a:blip r:embed="rId4"/>
          <a:stretch>
            <a:fillRect/>
          </a:stretch>
        </p:blipFill>
        <p:spPr>
          <a:xfrm>
            <a:off x="357188" y="2294539"/>
            <a:ext cx="4125516" cy="1500188"/>
          </a:xfrm>
          <a:prstGeom prst="rect">
            <a:avLst/>
          </a:prstGeom>
        </p:spPr>
      </p:pic>
      <p:sp>
        <p:nvSpPr>
          <p:cNvPr id="14" name="Text 10"/>
          <p:cNvSpPr/>
          <p:nvPr/>
        </p:nvSpPr>
        <p:spPr>
          <a:xfrm>
            <a:off x="4661297" y="2294539"/>
            <a:ext cx="4125516" cy="214313"/>
          </a:xfrm>
          <a:prstGeom prst="rect">
            <a:avLst/>
          </a:prstGeom>
          <a:noFill/>
          <a:ln/>
        </p:spPr>
        <p:txBody>
          <a:bodyPr wrap="none" lIns="0" tIns="0" rIns="0" bIns="0" rtlCol="0" anchor="t">
            <a:spAutoFit/>
          </a:bodyPr>
          <a:lstStyle/>
          <a:p>
            <a:pPr marL="0" indent="0" algn="l">
              <a:lnSpc>
                <a:spcPts val="1700"/>
              </a:lnSpc>
              <a:buNone/>
            </a:pPr>
            <a:r>
              <a:rPr lang="en-US" sz="987" b="1" kern="0" spc="1" dirty="0">
                <a:solidFill>
                  <a:srgbClr val="FFFFFF"/>
                </a:solidFill>
              </a:rPr>
              <a:t>PRACTICAL EXAMPLES</a:t>
            </a:r>
            <a:endParaRPr lang="en-US" sz="987" dirty="0"/>
          </a:p>
        </p:txBody>
      </p:sp>
      <p:sp>
        <p:nvSpPr>
          <p:cNvPr id="15" name="Shape 11"/>
          <p:cNvSpPr/>
          <p:nvPr/>
        </p:nvSpPr>
        <p:spPr>
          <a:xfrm>
            <a:off x="4661297" y="2566002"/>
            <a:ext cx="4125516" cy="592931"/>
          </a:xfrm>
          <a:prstGeom prst="rect">
            <a:avLst/>
          </a:prstGeom>
          <a:solidFill>
            <a:srgbClr val="00D9FF">
              <a:alpha val="5000"/>
            </a:srgbClr>
          </a:solidFill>
          <a:ln/>
        </p:spPr>
      </p:sp>
      <p:sp>
        <p:nvSpPr>
          <p:cNvPr id="16" name="Shape 12"/>
          <p:cNvSpPr/>
          <p:nvPr/>
        </p:nvSpPr>
        <p:spPr>
          <a:xfrm>
            <a:off x="4661297" y="2566002"/>
            <a:ext cx="21431" cy="592931"/>
          </a:xfrm>
          <a:prstGeom prst="rect">
            <a:avLst/>
          </a:prstGeom>
          <a:solidFill>
            <a:srgbClr val="00D9FF"/>
          </a:solidFill>
          <a:ln/>
        </p:spPr>
      </p:sp>
      <p:sp>
        <p:nvSpPr>
          <p:cNvPr id="17" name="Text 13"/>
          <p:cNvSpPr/>
          <p:nvPr/>
        </p:nvSpPr>
        <p:spPr>
          <a:xfrm>
            <a:off x="4704159" y="2608864"/>
            <a:ext cx="403979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E-COMMERCE PLATFORM</a:t>
            </a:r>
            <a:endParaRPr lang="en-US" sz="784" dirty="0"/>
          </a:p>
        </p:txBody>
      </p:sp>
      <p:sp>
        <p:nvSpPr>
          <p:cNvPr id="18" name="Text 14"/>
          <p:cNvSpPr/>
          <p:nvPr/>
        </p:nvSpPr>
        <p:spPr>
          <a:xfrm>
            <a:off x="4704159" y="2794602"/>
            <a:ext cx="403979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RTO: 1 hour | RPO: 15 min | MTD: 4 hours | Strategy: Hot site with real-time replication</a:t>
            </a:r>
            <a:endParaRPr lang="en-US" sz="780" dirty="0"/>
          </a:p>
        </p:txBody>
      </p:sp>
      <p:sp>
        <p:nvSpPr>
          <p:cNvPr id="19" name="Shape 15"/>
          <p:cNvSpPr/>
          <p:nvPr/>
        </p:nvSpPr>
        <p:spPr>
          <a:xfrm>
            <a:off x="4661297" y="3216083"/>
            <a:ext cx="4125516" cy="592931"/>
          </a:xfrm>
          <a:prstGeom prst="rect">
            <a:avLst/>
          </a:prstGeom>
          <a:solidFill>
            <a:srgbClr val="00D9FF">
              <a:alpha val="5000"/>
            </a:srgbClr>
          </a:solidFill>
          <a:ln/>
        </p:spPr>
      </p:sp>
      <p:sp>
        <p:nvSpPr>
          <p:cNvPr id="20" name="Shape 16"/>
          <p:cNvSpPr/>
          <p:nvPr/>
        </p:nvSpPr>
        <p:spPr>
          <a:xfrm>
            <a:off x="4661297" y="3216083"/>
            <a:ext cx="21431" cy="592931"/>
          </a:xfrm>
          <a:prstGeom prst="rect">
            <a:avLst/>
          </a:prstGeom>
          <a:solidFill>
            <a:srgbClr val="00D9FF"/>
          </a:solidFill>
          <a:ln/>
        </p:spPr>
      </p:sp>
      <p:sp>
        <p:nvSpPr>
          <p:cNvPr id="21" name="Text 17"/>
          <p:cNvSpPr/>
          <p:nvPr/>
        </p:nvSpPr>
        <p:spPr>
          <a:xfrm>
            <a:off x="4704159" y="3258945"/>
            <a:ext cx="403979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EMAIL SYSTEM</a:t>
            </a:r>
            <a:endParaRPr lang="en-US" sz="784" dirty="0"/>
          </a:p>
        </p:txBody>
      </p:sp>
      <p:sp>
        <p:nvSpPr>
          <p:cNvPr id="22" name="Text 18"/>
          <p:cNvSpPr/>
          <p:nvPr/>
        </p:nvSpPr>
        <p:spPr>
          <a:xfrm>
            <a:off x="4704159" y="3444683"/>
            <a:ext cx="403979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RTO: 4 hours | RPO: 1 hour | MTD: 24 hours | Strategy: Warm site with hourly backups</a:t>
            </a:r>
            <a:endParaRPr lang="en-US" sz="780" dirty="0"/>
          </a:p>
        </p:txBody>
      </p:sp>
      <p:sp>
        <p:nvSpPr>
          <p:cNvPr id="23" name="Shape 19"/>
          <p:cNvSpPr/>
          <p:nvPr/>
        </p:nvSpPr>
        <p:spPr>
          <a:xfrm>
            <a:off x="4661297" y="3866164"/>
            <a:ext cx="4125516" cy="592931"/>
          </a:xfrm>
          <a:prstGeom prst="rect">
            <a:avLst/>
          </a:prstGeom>
          <a:solidFill>
            <a:srgbClr val="00D9FF">
              <a:alpha val="5000"/>
            </a:srgbClr>
          </a:solidFill>
          <a:ln/>
        </p:spPr>
      </p:sp>
      <p:sp>
        <p:nvSpPr>
          <p:cNvPr id="24" name="Shape 20"/>
          <p:cNvSpPr/>
          <p:nvPr/>
        </p:nvSpPr>
        <p:spPr>
          <a:xfrm>
            <a:off x="4661297" y="3866164"/>
            <a:ext cx="21431" cy="592931"/>
          </a:xfrm>
          <a:prstGeom prst="rect">
            <a:avLst/>
          </a:prstGeom>
          <a:solidFill>
            <a:srgbClr val="00D9FF"/>
          </a:solidFill>
          <a:ln/>
        </p:spPr>
      </p:sp>
      <p:sp>
        <p:nvSpPr>
          <p:cNvPr id="25" name="Text 21"/>
          <p:cNvSpPr/>
          <p:nvPr/>
        </p:nvSpPr>
        <p:spPr>
          <a:xfrm>
            <a:off x="4704159" y="3909027"/>
            <a:ext cx="403979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DOCUMENT ARCHIVE</a:t>
            </a:r>
            <a:endParaRPr lang="en-US" sz="784" dirty="0"/>
          </a:p>
        </p:txBody>
      </p:sp>
      <p:sp>
        <p:nvSpPr>
          <p:cNvPr id="26" name="Text 22"/>
          <p:cNvSpPr/>
          <p:nvPr/>
        </p:nvSpPr>
        <p:spPr>
          <a:xfrm>
            <a:off x="4704159" y="4094764"/>
            <a:ext cx="403979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RTO: 5 days | RPO: 24 hours | MTD: 30 days | Strategy: Cold site with daily cloud backups</a:t>
            </a:r>
            <a:endParaRPr lang="en-US" sz="780" dirty="0"/>
          </a:p>
        </p:txBody>
      </p:sp>
      <p:sp>
        <p:nvSpPr>
          <p:cNvPr id="27" name="Shape 23"/>
          <p:cNvSpPr/>
          <p:nvPr/>
        </p:nvSpPr>
        <p:spPr>
          <a:xfrm>
            <a:off x="357188" y="4516245"/>
            <a:ext cx="8429625" cy="478631"/>
          </a:xfrm>
          <a:prstGeom prst="rect">
            <a:avLst/>
          </a:prstGeom>
          <a:solidFill>
            <a:srgbClr val="FFB020">
              <a:alpha val="8000"/>
            </a:srgbClr>
          </a:solidFill>
          <a:ln/>
        </p:spPr>
      </p:sp>
      <p:sp>
        <p:nvSpPr>
          <p:cNvPr id="28" name="Shape 24"/>
          <p:cNvSpPr/>
          <p:nvPr/>
        </p:nvSpPr>
        <p:spPr>
          <a:xfrm>
            <a:off x="357188" y="4516245"/>
            <a:ext cx="28575" cy="478631"/>
          </a:xfrm>
          <a:prstGeom prst="rect">
            <a:avLst/>
          </a:prstGeom>
          <a:solidFill>
            <a:srgbClr val="FFB020"/>
          </a:solidFill>
          <a:ln/>
        </p:spPr>
      </p:sp>
      <p:sp>
        <p:nvSpPr>
          <p:cNvPr id="29" name="Text 25"/>
          <p:cNvSpPr/>
          <p:nvPr/>
        </p:nvSpPr>
        <p:spPr>
          <a:xfrm>
            <a:off x="414338" y="4573395"/>
            <a:ext cx="8315325"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Cost-Benefit Balance</a:t>
            </a:r>
            <a:endParaRPr lang="en-US" sz="734" dirty="0"/>
          </a:p>
        </p:txBody>
      </p:sp>
      <p:sp>
        <p:nvSpPr>
          <p:cNvPr id="30" name="Text 26"/>
          <p:cNvSpPr/>
          <p:nvPr/>
        </p:nvSpPr>
        <p:spPr>
          <a:xfrm>
            <a:off x="414338" y="4776992"/>
            <a:ext cx="8315325"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B8C5D6"/>
                </a:solidFill>
              </a:rPr>
              <a:t>Aggressive RTO/RPO can cost 10x+; balance needs vs budget with tiered objectives: T1 mission-critical, T2 important, T3 non-critical.</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5750" y="285750"/>
            <a:ext cx="8572500"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Alternate Site Selection Balances Recovery Speed Against Cost</a:t>
            </a:r>
            <a:endParaRPr lang="en-US" sz="1602" dirty="0"/>
          </a:p>
        </p:txBody>
      </p:sp>
      <p:sp>
        <p:nvSpPr>
          <p:cNvPr id="4" name="Shape 1"/>
          <p:cNvSpPr/>
          <p:nvPr/>
        </p:nvSpPr>
        <p:spPr>
          <a:xfrm>
            <a:off x="285750" y="761507"/>
            <a:ext cx="1634468" cy="2570299"/>
          </a:xfrm>
          <a:prstGeom prst="rect">
            <a:avLst/>
          </a:prstGeom>
          <a:solidFill>
            <a:srgbClr val="00D9FF">
              <a:alpha val="3000"/>
            </a:srgbClr>
          </a:solidFill>
          <a:ln w="18288">
            <a:solidFill>
              <a:srgbClr val="00D9FF"/>
            </a:solidFill>
            <a:prstDash val="solid"/>
          </a:ln>
        </p:spPr>
      </p:sp>
      <p:sp>
        <p:nvSpPr>
          <p:cNvPr id="5" name="Text 2"/>
          <p:cNvSpPr/>
          <p:nvPr/>
        </p:nvSpPr>
        <p:spPr>
          <a:xfrm>
            <a:off x="371475" y="847232"/>
            <a:ext cx="1463018"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HOT SITE</a:t>
            </a:r>
            <a:endParaRPr lang="en-US" sz="987" dirty="0"/>
          </a:p>
        </p:txBody>
      </p:sp>
      <p:sp>
        <p:nvSpPr>
          <p:cNvPr id="6" name="Text 3"/>
          <p:cNvSpPr/>
          <p:nvPr/>
        </p:nvSpPr>
        <p:spPr>
          <a:xfrm>
            <a:off x="371475" y="1147270"/>
            <a:ext cx="1463018"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RTO</a:t>
            </a:r>
            <a:endParaRPr lang="en-US" sz="634" dirty="0"/>
          </a:p>
        </p:txBody>
      </p:sp>
      <p:sp>
        <p:nvSpPr>
          <p:cNvPr id="7" name="Text 4"/>
          <p:cNvSpPr/>
          <p:nvPr/>
        </p:nvSpPr>
        <p:spPr>
          <a:xfrm>
            <a:off x="371475" y="1315148"/>
            <a:ext cx="1463018"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Minutes to 1-2 hours</a:t>
            </a:r>
            <a:endParaRPr lang="en-US" sz="683" dirty="0"/>
          </a:p>
        </p:txBody>
      </p:sp>
      <p:sp>
        <p:nvSpPr>
          <p:cNvPr id="8" name="Text 5"/>
          <p:cNvSpPr/>
          <p:nvPr/>
        </p:nvSpPr>
        <p:spPr>
          <a:xfrm>
            <a:off x="371475" y="1536604"/>
            <a:ext cx="1463018"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RPO</a:t>
            </a:r>
            <a:endParaRPr lang="en-US" sz="634" dirty="0"/>
          </a:p>
        </p:txBody>
      </p:sp>
      <p:sp>
        <p:nvSpPr>
          <p:cNvPr id="9" name="Text 6"/>
          <p:cNvSpPr/>
          <p:nvPr/>
        </p:nvSpPr>
        <p:spPr>
          <a:xfrm>
            <a:off x="371475" y="1704482"/>
            <a:ext cx="1463018"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Near zero</a:t>
            </a:r>
            <a:endParaRPr lang="en-US" sz="683" dirty="0"/>
          </a:p>
        </p:txBody>
      </p:sp>
      <p:sp>
        <p:nvSpPr>
          <p:cNvPr id="10" name="Text 7"/>
          <p:cNvSpPr/>
          <p:nvPr/>
        </p:nvSpPr>
        <p:spPr>
          <a:xfrm>
            <a:off x="371475" y="1925938"/>
            <a:ext cx="1463018"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COST</a:t>
            </a:r>
            <a:endParaRPr lang="en-US" sz="634" dirty="0"/>
          </a:p>
        </p:txBody>
      </p:sp>
      <p:sp>
        <p:nvSpPr>
          <p:cNvPr id="11" name="Text 8"/>
          <p:cNvSpPr/>
          <p:nvPr/>
        </p:nvSpPr>
        <p:spPr>
          <a:xfrm>
            <a:off x="371475" y="2093816"/>
            <a:ext cx="1463018"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Highest</a:t>
            </a:r>
            <a:endParaRPr lang="en-US" sz="683" dirty="0"/>
          </a:p>
        </p:txBody>
      </p:sp>
      <p:sp>
        <p:nvSpPr>
          <p:cNvPr id="12" name="Text 9"/>
          <p:cNvSpPr/>
          <p:nvPr/>
        </p:nvSpPr>
        <p:spPr>
          <a:xfrm>
            <a:off x="371475" y="2315273"/>
            <a:ext cx="1463018"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BEST FOR</a:t>
            </a:r>
            <a:endParaRPr lang="en-US" sz="634" dirty="0"/>
          </a:p>
        </p:txBody>
      </p:sp>
      <p:sp>
        <p:nvSpPr>
          <p:cNvPr id="13" name="Text 10"/>
          <p:cNvSpPr/>
          <p:nvPr/>
        </p:nvSpPr>
        <p:spPr>
          <a:xfrm>
            <a:off x="371475" y="2483151"/>
            <a:ext cx="1463018" cy="520043"/>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B8C5D6"/>
                </a:solidFill>
              </a:rPr>
              <a:t>Mission-critical systems requiring 99.99%+ uptime. Financial trading, emergency services, e-commerce platforms.</a:t>
            </a:r>
            <a:endParaRPr lang="en-US" sz="674" dirty="0"/>
          </a:p>
        </p:txBody>
      </p:sp>
      <p:sp>
        <p:nvSpPr>
          <p:cNvPr id="14" name="Shape 11"/>
          <p:cNvSpPr/>
          <p:nvPr/>
        </p:nvSpPr>
        <p:spPr>
          <a:xfrm>
            <a:off x="2020230" y="761507"/>
            <a:ext cx="1634496" cy="2570299"/>
          </a:xfrm>
          <a:prstGeom prst="rect">
            <a:avLst/>
          </a:prstGeom>
          <a:solidFill>
            <a:srgbClr val="00D9FF">
              <a:alpha val="2000"/>
            </a:srgbClr>
          </a:solidFill>
          <a:ln w="18288">
            <a:solidFill>
              <a:srgbClr val="00D9FF"/>
            </a:solidFill>
            <a:prstDash val="solid"/>
          </a:ln>
        </p:spPr>
      </p:sp>
      <p:sp>
        <p:nvSpPr>
          <p:cNvPr id="15" name="Text 12"/>
          <p:cNvSpPr/>
          <p:nvPr/>
        </p:nvSpPr>
        <p:spPr>
          <a:xfrm>
            <a:off x="2105955" y="847232"/>
            <a:ext cx="1463046"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B8C5D6"/>
                </a:solidFill>
              </a:rPr>
              <a:t>WARM SITE</a:t>
            </a:r>
            <a:endParaRPr lang="en-US" sz="987" dirty="0"/>
          </a:p>
        </p:txBody>
      </p:sp>
      <p:sp>
        <p:nvSpPr>
          <p:cNvPr id="16" name="Text 13"/>
          <p:cNvSpPr/>
          <p:nvPr/>
        </p:nvSpPr>
        <p:spPr>
          <a:xfrm>
            <a:off x="2105955" y="1147270"/>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RTO</a:t>
            </a:r>
            <a:endParaRPr lang="en-US" sz="634" dirty="0"/>
          </a:p>
        </p:txBody>
      </p:sp>
      <p:sp>
        <p:nvSpPr>
          <p:cNvPr id="17" name="Text 14"/>
          <p:cNvSpPr/>
          <p:nvPr/>
        </p:nvSpPr>
        <p:spPr>
          <a:xfrm>
            <a:off x="2105955" y="1315148"/>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Hours to 1-2 days</a:t>
            </a:r>
            <a:endParaRPr lang="en-US" sz="683" dirty="0"/>
          </a:p>
        </p:txBody>
      </p:sp>
      <p:sp>
        <p:nvSpPr>
          <p:cNvPr id="18" name="Text 15"/>
          <p:cNvSpPr/>
          <p:nvPr/>
        </p:nvSpPr>
        <p:spPr>
          <a:xfrm>
            <a:off x="2105955" y="1536604"/>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RPO</a:t>
            </a:r>
            <a:endParaRPr lang="en-US" sz="634" dirty="0"/>
          </a:p>
        </p:txBody>
      </p:sp>
      <p:sp>
        <p:nvSpPr>
          <p:cNvPr id="19" name="Text 16"/>
          <p:cNvSpPr/>
          <p:nvPr/>
        </p:nvSpPr>
        <p:spPr>
          <a:xfrm>
            <a:off x="2105955" y="1704482"/>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Hours to 1 day</a:t>
            </a:r>
            <a:endParaRPr lang="en-US" sz="683" dirty="0"/>
          </a:p>
        </p:txBody>
      </p:sp>
      <p:sp>
        <p:nvSpPr>
          <p:cNvPr id="20" name="Text 17"/>
          <p:cNvSpPr/>
          <p:nvPr/>
        </p:nvSpPr>
        <p:spPr>
          <a:xfrm>
            <a:off x="2105955" y="1925938"/>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COST</a:t>
            </a:r>
            <a:endParaRPr lang="en-US" sz="634" dirty="0"/>
          </a:p>
        </p:txBody>
      </p:sp>
      <p:sp>
        <p:nvSpPr>
          <p:cNvPr id="21" name="Text 18"/>
          <p:cNvSpPr/>
          <p:nvPr/>
        </p:nvSpPr>
        <p:spPr>
          <a:xfrm>
            <a:off x="2105955" y="2093816"/>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Moderate</a:t>
            </a:r>
            <a:endParaRPr lang="en-US" sz="683" dirty="0"/>
          </a:p>
        </p:txBody>
      </p:sp>
      <p:sp>
        <p:nvSpPr>
          <p:cNvPr id="22" name="Text 19"/>
          <p:cNvSpPr/>
          <p:nvPr/>
        </p:nvSpPr>
        <p:spPr>
          <a:xfrm>
            <a:off x="2105955" y="2315273"/>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BEST FOR</a:t>
            </a:r>
            <a:endParaRPr lang="en-US" sz="634" dirty="0"/>
          </a:p>
        </p:txBody>
      </p:sp>
      <p:sp>
        <p:nvSpPr>
          <p:cNvPr id="23" name="Text 20"/>
          <p:cNvSpPr/>
          <p:nvPr/>
        </p:nvSpPr>
        <p:spPr>
          <a:xfrm>
            <a:off x="2105955" y="2483151"/>
            <a:ext cx="1463046" cy="520043"/>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B8C5D6"/>
                </a:solidFill>
              </a:rPr>
              <a:t>Important systems with moderate downtime tolerance. ERP systems, CRM platforms, corporate email.</a:t>
            </a:r>
            <a:endParaRPr lang="en-US" sz="674" dirty="0"/>
          </a:p>
        </p:txBody>
      </p:sp>
      <p:sp>
        <p:nvSpPr>
          <p:cNvPr id="24" name="Shape 21"/>
          <p:cNvSpPr/>
          <p:nvPr/>
        </p:nvSpPr>
        <p:spPr>
          <a:xfrm>
            <a:off x="3754738" y="761507"/>
            <a:ext cx="1634496" cy="2570299"/>
          </a:xfrm>
          <a:prstGeom prst="rect">
            <a:avLst/>
          </a:prstGeom>
          <a:solidFill>
            <a:srgbClr val="B8C5D6">
              <a:alpha val="2000"/>
            </a:srgbClr>
          </a:solidFill>
          <a:ln w="18288">
            <a:solidFill>
              <a:srgbClr val="B8C5D6"/>
            </a:solidFill>
            <a:prstDash val="solid"/>
          </a:ln>
        </p:spPr>
      </p:sp>
      <p:sp>
        <p:nvSpPr>
          <p:cNvPr id="25" name="Text 22"/>
          <p:cNvSpPr/>
          <p:nvPr/>
        </p:nvSpPr>
        <p:spPr>
          <a:xfrm>
            <a:off x="3840463" y="847232"/>
            <a:ext cx="1463046"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B8C5D6"/>
                </a:solidFill>
              </a:rPr>
              <a:t>COLD SITE</a:t>
            </a:r>
            <a:endParaRPr lang="en-US" sz="987" dirty="0"/>
          </a:p>
        </p:txBody>
      </p:sp>
      <p:sp>
        <p:nvSpPr>
          <p:cNvPr id="26" name="Text 23"/>
          <p:cNvSpPr/>
          <p:nvPr/>
        </p:nvSpPr>
        <p:spPr>
          <a:xfrm>
            <a:off x="3840463" y="1147270"/>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RTO</a:t>
            </a:r>
            <a:endParaRPr lang="en-US" sz="634" dirty="0"/>
          </a:p>
        </p:txBody>
      </p:sp>
      <p:sp>
        <p:nvSpPr>
          <p:cNvPr id="27" name="Text 24"/>
          <p:cNvSpPr/>
          <p:nvPr/>
        </p:nvSpPr>
        <p:spPr>
          <a:xfrm>
            <a:off x="3840463" y="1315148"/>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Days to weeks</a:t>
            </a:r>
            <a:endParaRPr lang="en-US" sz="683" dirty="0"/>
          </a:p>
        </p:txBody>
      </p:sp>
      <p:sp>
        <p:nvSpPr>
          <p:cNvPr id="28" name="Text 25"/>
          <p:cNvSpPr/>
          <p:nvPr/>
        </p:nvSpPr>
        <p:spPr>
          <a:xfrm>
            <a:off x="3840463" y="1536604"/>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RPO</a:t>
            </a:r>
            <a:endParaRPr lang="en-US" sz="634" dirty="0"/>
          </a:p>
        </p:txBody>
      </p:sp>
      <p:sp>
        <p:nvSpPr>
          <p:cNvPr id="29" name="Text 26"/>
          <p:cNvSpPr/>
          <p:nvPr/>
        </p:nvSpPr>
        <p:spPr>
          <a:xfrm>
            <a:off x="3840463" y="1704482"/>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Days</a:t>
            </a:r>
            <a:endParaRPr lang="en-US" sz="683" dirty="0"/>
          </a:p>
        </p:txBody>
      </p:sp>
      <p:sp>
        <p:nvSpPr>
          <p:cNvPr id="30" name="Text 27"/>
          <p:cNvSpPr/>
          <p:nvPr/>
        </p:nvSpPr>
        <p:spPr>
          <a:xfrm>
            <a:off x="3840463" y="1925938"/>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COST</a:t>
            </a:r>
            <a:endParaRPr lang="en-US" sz="634" dirty="0"/>
          </a:p>
        </p:txBody>
      </p:sp>
      <p:sp>
        <p:nvSpPr>
          <p:cNvPr id="31" name="Text 28"/>
          <p:cNvSpPr/>
          <p:nvPr/>
        </p:nvSpPr>
        <p:spPr>
          <a:xfrm>
            <a:off x="3840463" y="2093816"/>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Lowest</a:t>
            </a:r>
            <a:endParaRPr lang="en-US" sz="683" dirty="0"/>
          </a:p>
        </p:txBody>
      </p:sp>
      <p:sp>
        <p:nvSpPr>
          <p:cNvPr id="32" name="Text 29"/>
          <p:cNvSpPr/>
          <p:nvPr/>
        </p:nvSpPr>
        <p:spPr>
          <a:xfrm>
            <a:off x="3840463" y="2315273"/>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BEST FOR</a:t>
            </a:r>
            <a:endParaRPr lang="en-US" sz="634" dirty="0"/>
          </a:p>
        </p:txBody>
      </p:sp>
      <p:sp>
        <p:nvSpPr>
          <p:cNvPr id="33" name="Text 30"/>
          <p:cNvSpPr/>
          <p:nvPr/>
        </p:nvSpPr>
        <p:spPr>
          <a:xfrm>
            <a:off x="3840463" y="2483151"/>
            <a:ext cx="1463046" cy="650053"/>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B8C5D6"/>
                </a:solidFill>
              </a:rPr>
              <a:t>Non-critical systems with high downtime tolerance. Development environments, archival systems, administrative apps.</a:t>
            </a:r>
            <a:endParaRPr lang="en-US" sz="674" dirty="0"/>
          </a:p>
        </p:txBody>
      </p:sp>
      <p:sp>
        <p:nvSpPr>
          <p:cNvPr id="34" name="Shape 31"/>
          <p:cNvSpPr/>
          <p:nvPr/>
        </p:nvSpPr>
        <p:spPr>
          <a:xfrm>
            <a:off x="5489246" y="761507"/>
            <a:ext cx="1634496" cy="2570299"/>
          </a:xfrm>
          <a:prstGeom prst="rect">
            <a:avLst/>
          </a:prstGeom>
          <a:solidFill>
            <a:srgbClr val="FFB020">
              <a:alpha val="2000"/>
            </a:srgbClr>
          </a:solidFill>
          <a:ln w="18288">
            <a:solidFill>
              <a:srgbClr val="FFB020"/>
            </a:solidFill>
            <a:prstDash val="solid"/>
          </a:ln>
        </p:spPr>
      </p:sp>
      <p:sp>
        <p:nvSpPr>
          <p:cNvPr id="35" name="Text 32"/>
          <p:cNvSpPr/>
          <p:nvPr/>
        </p:nvSpPr>
        <p:spPr>
          <a:xfrm>
            <a:off x="5574971" y="847232"/>
            <a:ext cx="1463046"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FFB020"/>
                </a:solidFill>
              </a:rPr>
              <a:t>MOBILE SITE</a:t>
            </a:r>
            <a:endParaRPr lang="en-US" sz="987" dirty="0"/>
          </a:p>
        </p:txBody>
      </p:sp>
      <p:sp>
        <p:nvSpPr>
          <p:cNvPr id="36" name="Text 33"/>
          <p:cNvSpPr/>
          <p:nvPr/>
        </p:nvSpPr>
        <p:spPr>
          <a:xfrm>
            <a:off x="5574971" y="1147270"/>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RTO</a:t>
            </a:r>
            <a:endParaRPr lang="en-US" sz="634" dirty="0"/>
          </a:p>
        </p:txBody>
      </p:sp>
      <p:sp>
        <p:nvSpPr>
          <p:cNvPr id="37" name="Text 34"/>
          <p:cNvSpPr/>
          <p:nvPr/>
        </p:nvSpPr>
        <p:spPr>
          <a:xfrm>
            <a:off x="5574971" y="1315148"/>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1-3 days + transport</a:t>
            </a:r>
            <a:endParaRPr lang="en-US" sz="683" dirty="0"/>
          </a:p>
        </p:txBody>
      </p:sp>
      <p:sp>
        <p:nvSpPr>
          <p:cNvPr id="38" name="Text 35"/>
          <p:cNvSpPr/>
          <p:nvPr/>
        </p:nvSpPr>
        <p:spPr>
          <a:xfrm>
            <a:off x="5574971" y="1536604"/>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RPO</a:t>
            </a:r>
            <a:endParaRPr lang="en-US" sz="634" dirty="0"/>
          </a:p>
        </p:txBody>
      </p:sp>
      <p:sp>
        <p:nvSpPr>
          <p:cNvPr id="39" name="Text 36"/>
          <p:cNvSpPr/>
          <p:nvPr/>
        </p:nvSpPr>
        <p:spPr>
          <a:xfrm>
            <a:off x="5574971" y="1704482"/>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Varies</a:t>
            </a:r>
            <a:endParaRPr lang="en-US" sz="683" dirty="0"/>
          </a:p>
        </p:txBody>
      </p:sp>
      <p:sp>
        <p:nvSpPr>
          <p:cNvPr id="40" name="Text 37"/>
          <p:cNvSpPr/>
          <p:nvPr/>
        </p:nvSpPr>
        <p:spPr>
          <a:xfrm>
            <a:off x="5574971" y="1925938"/>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COST</a:t>
            </a:r>
            <a:endParaRPr lang="en-US" sz="634" dirty="0"/>
          </a:p>
        </p:txBody>
      </p:sp>
      <p:sp>
        <p:nvSpPr>
          <p:cNvPr id="41" name="Text 38"/>
          <p:cNvSpPr/>
          <p:nvPr/>
        </p:nvSpPr>
        <p:spPr>
          <a:xfrm>
            <a:off x="5574971" y="2093816"/>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Moderate</a:t>
            </a:r>
            <a:endParaRPr lang="en-US" sz="683" dirty="0"/>
          </a:p>
        </p:txBody>
      </p:sp>
      <p:sp>
        <p:nvSpPr>
          <p:cNvPr id="42" name="Text 39"/>
          <p:cNvSpPr/>
          <p:nvPr/>
        </p:nvSpPr>
        <p:spPr>
          <a:xfrm>
            <a:off x="5574971" y="2315273"/>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BEST FOR</a:t>
            </a:r>
            <a:endParaRPr lang="en-US" sz="634" dirty="0"/>
          </a:p>
        </p:txBody>
      </p:sp>
      <p:sp>
        <p:nvSpPr>
          <p:cNvPr id="43" name="Text 40"/>
          <p:cNvSpPr/>
          <p:nvPr/>
        </p:nvSpPr>
        <p:spPr>
          <a:xfrm>
            <a:off x="5574971" y="2483151"/>
            <a:ext cx="1463046" cy="520043"/>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B8C5D6"/>
                </a:solidFill>
              </a:rPr>
              <a:t>Organizations with multiple locations or unpredictable disaster scenarios. Portable recovery facility.</a:t>
            </a:r>
            <a:endParaRPr lang="en-US" sz="674" dirty="0"/>
          </a:p>
        </p:txBody>
      </p:sp>
      <p:sp>
        <p:nvSpPr>
          <p:cNvPr id="44" name="Shape 41"/>
          <p:cNvSpPr/>
          <p:nvPr/>
        </p:nvSpPr>
        <p:spPr>
          <a:xfrm>
            <a:off x="7223754" y="761507"/>
            <a:ext cx="1634496" cy="2570299"/>
          </a:xfrm>
          <a:prstGeom prst="rect">
            <a:avLst/>
          </a:prstGeom>
          <a:solidFill>
            <a:srgbClr val="00D9FF">
              <a:alpha val="5000"/>
            </a:srgbClr>
          </a:solidFill>
          <a:ln w="18288">
            <a:solidFill>
              <a:srgbClr val="00D9FF"/>
            </a:solidFill>
            <a:prstDash val="solid"/>
          </a:ln>
        </p:spPr>
      </p:sp>
      <p:sp>
        <p:nvSpPr>
          <p:cNvPr id="45" name="Text 42"/>
          <p:cNvSpPr/>
          <p:nvPr/>
        </p:nvSpPr>
        <p:spPr>
          <a:xfrm>
            <a:off x="7309479" y="847232"/>
            <a:ext cx="1463046" cy="428625"/>
          </a:xfrm>
          <a:prstGeom prst="rect">
            <a:avLst/>
          </a:prstGeom>
          <a:noFill/>
          <a:ln/>
        </p:spPr>
        <p:txBody>
          <a:bodyPr wrap="square" lIns="0" tIns="0" rIns="0" bIns="0" rtlCol="0" anchor="t">
            <a:spAutoFit/>
          </a:bodyPr>
          <a:lstStyle/>
          <a:p>
            <a:pPr marL="0" indent="0" algn="l">
              <a:lnSpc>
                <a:spcPts val="1700"/>
              </a:lnSpc>
              <a:buNone/>
            </a:pPr>
            <a:r>
              <a:rPr lang="en-US" sz="987" b="1" dirty="0">
                <a:solidFill>
                  <a:srgbClr val="00D9FF"/>
                </a:solidFill>
              </a:rPr>
              <a:t>MIRRORED
(ACTIVE-ACTIVE)</a:t>
            </a:r>
            <a:endParaRPr lang="en-US" sz="987" dirty="0"/>
          </a:p>
        </p:txBody>
      </p:sp>
      <p:sp>
        <p:nvSpPr>
          <p:cNvPr id="46" name="Text 43"/>
          <p:cNvSpPr/>
          <p:nvPr/>
        </p:nvSpPr>
        <p:spPr>
          <a:xfrm>
            <a:off x="7309479" y="1361582"/>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RTO</a:t>
            </a:r>
            <a:endParaRPr lang="en-US" sz="634" dirty="0"/>
          </a:p>
        </p:txBody>
      </p:sp>
      <p:sp>
        <p:nvSpPr>
          <p:cNvPr id="47" name="Text 44"/>
          <p:cNvSpPr/>
          <p:nvPr/>
        </p:nvSpPr>
        <p:spPr>
          <a:xfrm>
            <a:off x="7309479" y="1529460"/>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Near zero</a:t>
            </a:r>
            <a:endParaRPr lang="en-US" sz="683" dirty="0"/>
          </a:p>
        </p:txBody>
      </p:sp>
      <p:sp>
        <p:nvSpPr>
          <p:cNvPr id="48" name="Text 45"/>
          <p:cNvSpPr/>
          <p:nvPr/>
        </p:nvSpPr>
        <p:spPr>
          <a:xfrm>
            <a:off x="7309479" y="1750916"/>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RPO</a:t>
            </a:r>
            <a:endParaRPr lang="en-US" sz="634" dirty="0"/>
          </a:p>
        </p:txBody>
      </p:sp>
      <p:sp>
        <p:nvSpPr>
          <p:cNvPr id="49" name="Text 46"/>
          <p:cNvSpPr/>
          <p:nvPr/>
        </p:nvSpPr>
        <p:spPr>
          <a:xfrm>
            <a:off x="7309479" y="1918795"/>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FFFF"/>
                </a:solidFill>
              </a:rPr>
              <a:t>Zero</a:t>
            </a:r>
            <a:endParaRPr lang="en-US" sz="683" dirty="0"/>
          </a:p>
        </p:txBody>
      </p:sp>
      <p:sp>
        <p:nvSpPr>
          <p:cNvPr id="50" name="Text 47"/>
          <p:cNvSpPr/>
          <p:nvPr/>
        </p:nvSpPr>
        <p:spPr>
          <a:xfrm>
            <a:off x="7309479" y="2140251"/>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COST</a:t>
            </a:r>
            <a:endParaRPr lang="en-US" sz="634" dirty="0"/>
          </a:p>
        </p:txBody>
      </p:sp>
      <p:sp>
        <p:nvSpPr>
          <p:cNvPr id="51" name="Text 48"/>
          <p:cNvSpPr/>
          <p:nvPr/>
        </p:nvSpPr>
        <p:spPr>
          <a:xfrm>
            <a:off x="7309479" y="2308129"/>
            <a:ext cx="1463046"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Highest</a:t>
            </a:r>
            <a:endParaRPr lang="en-US" sz="683" dirty="0"/>
          </a:p>
        </p:txBody>
      </p:sp>
      <p:sp>
        <p:nvSpPr>
          <p:cNvPr id="52" name="Text 49"/>
          <p:cNvSpPr/>
          <p:nvPr/>
        </p:nvSpPr>
        <p:spPr>
          <a:xfrm>
            <a:off x="7309479" y="2529585"/>
            <a:ext cx="1463046"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BEST FOR</a:t>
            </a:r>
            <a:endParaRPr lang="en-US" sz="634" dirty="0"/>
          </a:p>
        </p:txBody>
      </p:sp>
      <p:sp>
        <p:nvSpPr>
          <p:cNvPr id="53" name="Text 50"/>
          <p:cNvSpPr/>
          <p:nvPr/>
        </p:nvSpPr>
        <p:spPr>
          <a:xfrm>
            <a:off x="7309479" y="2697463"/>
            <a:ext cx="1463046" cy="520043"/>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B8C5D6"/>
                </a:solidFill>
              </a:rPr>
              <a:t>Critical infrastructure requiring continuous availability. Healthcare systems, core banking, telecommunications.</a:t>
            </a:r>
            <a:endParaRPr lang="en-US" sz="674" dirty="0"/>
          </a:p>
        </p:txBody>
      </p:sp>
      <p:sp>
        <p:nvSpPr>
          <p:cNvPr id="54" name="Shape 51"/>
          <p:cNvSpPr/>
          <p:nvPr/>
        </p:nvSpPr>
        <p:spPr>
          <a:xfrm>
            <a:off x="285750" y="3446106"/>
            <a:ext cx="4214813" cy="1039416"/>
          </a:xfrm>
          <a:prstGeom prst="rect">
            <a:avLst/>
          </a:prstGeom>
          <a:solidFill>
            <a:srgbClr val="00D9FF">
              <a:alpha val="5000"/>
            </a:srgbClr>
          </a:solidFill>
          <a:ln/>
        </p:spPr>
      </p:sp>
      <p:sp>
        <p:nvSpPr>
          <p:cNvPr id="55" name="Shape 52"/>
          <p:cNvSpPr/>
          <p:nvPr/>
        </p:nvSpPr>
        <p:spPr>
          <a:xfrm>
            <a:off x="285750" y="3446106"/>
            <a:ext cx="28575" cy="1039416"/>
          </a:xfrm>
          <a:prstGeom prst="rect">
            <a:avLst/>
          </a:prstGeom>
          <a:solidFill>
            <a:srgbClr val="00D9FF"/>
          </a:solidFill>
          <a:ln/>
        </p:spPr>
      </p:sp>
      <p:sp>
        <p:nvSpPr>
          <p:cNvPr id="56" name="Text 53"/>
          <p:cNvSpPr/>
          <p:nvPr/>
        </p:nvSpPr>
        <p:spPr>
          <a:xfrm>
            <a:off x="385763" y="3546118"/>
            <a:ext cx="4014788"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CLOUD-BASED DISASTER RECOVERY (DRaaS)</a:t>
            </a:r>
            <a:endParaRPr lang="en-US" sz="634" dirty="0"/>
          </a:p>
        </p:txBody>
      </p:sp>
      <p:sp>
        <p:nvSpPr>
          <p:cNvPr id="57" name="Text 54"/>
          <p:cNvSpPr/>
          <p:nvPr/>
        </p:nvSpPr>
        <p:spPr>
          <a:xfrm>
            <a:off x="385763" y="3742572"/>
            <a:ext cx="4014788"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Cloud platforms provide scalable recovery without physical sites. Flexible RTO/RPO based on configuration, pay-as-you-go pricing, geographic distribution across regions. Eliminates physical site management while offering warm or hot recovery capabilities.</a:t>
            </a:r>
            <a:endParaRPr lang="en-US" sz="780" dirty="0"/>
          </a:p>
        </p:txBody>
      </p:sp>
      <p:sp>
        <p:nvSpPr>
          <p:cNvPr id="58" name="Shape 55"/>
          <p:cNvSpPr/>
          <p:nvPr/>
        </p:nvSpPr>
        <p:spPr>
          <a:xfrm>
            <a:off x="4643438" y="3446106"/>
            <a:ext cx="4214813" cy="1039416"/>
          </a:xfrm>
          <a:prstGeom prst="rect">
            <a:avLst/>
          </a:prstGeom>
          <a:solidFill>
            <a:srgbClr val="FFB020">
              <a:alpha val="5000"/>
            </a:srgbClr>
          </a:solidFill>
          <a:ln/>
        </p:spPr>
      </p:sp>
      <p:sp>
        <p:nvSpPr>
          <p:cNvPr id="59" name="Shape 56"/>
          <p:cNvSpPr/>
          <p:nvPr/>
        </p:nvSpPr>
        <p:spPr>
          <a:xfrm>
            <a:off x="4643438" y="3446106"/>
            <a:ext cx="28575" cy="1039416"/>
          </a:xfrm>
          <a:prstGeom prst="rect">
            <a:avLst/>
          </a:prstGeom>
          <a:solidFill>
            <a:srgbClr val="FFB020"/>
          </a:solidFill>
          <a:ln/>
        </p:spPr>
      </p:sp>
      <p:sp>
        <p:nvSpPr>
          <p:cNvPr id="60" name="Text 57"/>
          <p:cNvSpPr/>
          <p:nvPr/>
        </p:nvSpPr>
        <p:spPr>
          <a:xfrm>
            <a:off x="4743450" y="3546118"/>
            <a:ext cx="4014788"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SITE SELECTION CRITERIA</a:t>
            </a:r>
            <a:endParaRPr lang="en-US" sz="634" dirty="0"/>
          </a:p>
        </p:txBody>
      </p:sp>
      <p:sp>
        <p:nvSpPr>
          <p:cNvPr id="61" name="Text 58"/>
          <p:cNvSpPr/>
          <p:nvPr/>
        </p:nvSpPr>
        <p:spPr>
          <a:xfrm>
            <a:off x="4743450" y="3742572"/>
            <a:ext cx="4014788"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Evaluate based on: geographic distance from primary site (outside disaster zone), connectivity and bandwidth (sufficient for replication), environmental controls and security, cost and contract terms, testing and access policies.</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321469"/>
            <a:ext cx="8429625"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Effective Backup Strategies Ensure Data Availability for Recovery</a:t>
            </a:r>
            <a:endParaRPr lang="en-US" sz="1602" dirty="0"/>
          </a:p>
        </p:txBody>
      </p:sp>
      <p:sp>
        <p:nvSpPr>
          <p:cNvPr id="4" name="Text 1"/>
          <p:cNvSpPr/>
          <p:nvPr/>
        </p:nvSpPr>
        <p:spPr>
          <a:xfrm>
            <a:off x="457200" y="861520"/>
            <a:ext cx="1800225"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FULL BACKUP</a:t>
            </a:r>
            <a:endParaRPr lang="en-US" sz="987" dirty="0"/>
          </a:p>
        </p:txBody>
      </p:sp>
      <p:sp>
        <p:nvSpPr>
          <p:cNvPr id="5" name="Text 2"/>
          <p:cNvSpPr/>
          <p:nvPr/>
        </p:nvSpPr>
        <p:spPr>
          <a:xfrm>
            <a:off x="457200" y="116155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BACKUP TIME</a:t>
            </a:r>
            <a:endParaRPr lang="en-US" sz="683" dirty="0"/>
          </a:p>
        </p:txBody>
      </p:sp>
      <p:sp>
        <p:nvSpPr>
          <p:cNvPr id="6" name="Text 3"/>
          <p:cNvSpPr/>
          <p:nvPr/>
        </p:nvSpPr>
        <p:spPr>
          <a:xfrm>
            <a:off x="457200" y="131157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Longest (hours for large datasets)</a:t>
            </a:r>
            <a:endParaRPr lang="en-US" sz="780" dirty="0"/>
          </a:p>
        </p:txBody>
      </p:sp>
      <p:sp>
        <p:nvSpPr>
          <p:cNvPr id="7" name="Text 4"/>
          <p:cNvSpPr/>
          <p:nvPr/>
        </p:nvSpPr>
        <p:spPr>
          <a:xfrm>
            <a:off x="457200" y="153303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RESTORE TIME</a:t>
            </a:r>
            <a:endParaRPr lang="en-US" sz="683" dirty="0"/>
          </a:p>
        </p:txBody>
      </p:sp>
      <p:sp>
        <p:nvSpPr>
          <p:cNvPr id="8" name="Text 5"/>
          <p:cNvSpPr/>
          <p:nvPr/>
        </p:nvSpPr>
        <p:spPr>
          <a:xfrm>
            <a:off x="457200" y="168305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Fastest (single operation)</a:t>
            </a:r>
            <a:endParaRPr lang="en-US" sz="780" dirty="0"/>
          </a:p>
        </p:txBody>
      </p:sp>
      <p:sp>
        <p:nvSpPr>
          <p:cNvPr id="9" name="Text 6"/>
          <p:cNvSpPr/>
          <p:nvPr/>
        </p:nvSpPr>
        <p:spPr>
          <a:xfrm>
            <a:off x="457200" y="190450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STORAGE</a:t>
            </a:r>
            <a:endParaRPr lang="en-US" sz="683" dirty="0"/>
          </a:p>
        </p:txBody>
      </p:sp>
      <p:sp>
        <p:nvSpPr>
          <p:cNvPr id="10" name="Text 7"/>
          <p:cNvSpPr/>
          <p:nvPr/>
        </p:nvSpPr>
        <p:spPr>
          <a:xfrm>
            <a:off x="457200" y="205452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Highest (complete copy)</a:t>
            </a:r>
            <a:endParaRPr lang="en-US" sz="780" dirty="0"/>
          </a:p>
        </p:txBody>
      </p:sp>
      <p:sp>
        <p:nvSpPr>
          <p:cNvPr id="11" name="Text 8"/>
          <p:cNvSpPr/>
          <p:nvPr/>
        </p:nvSpPr>
        <p:spPr>
          <a:xfrm>
            <a:off x="457200" y="227598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FREQUENCY</a:t>
            </a:r>
            <a:endParaRPr lang="en-US" sz="683" dirty="0"/>
          </a:p>
        </p:txBody>
      </p:sp>
      <p:sp>
        <p:nvSpPr>
          <p:cNvPr id="12" name="Text 9"/>
          <p:cNvSpPr/>
          <p:nvPr/>
        </p:nvSpPr>
        <p:spPr>
          <a:xfrm>
            <a:off x="457200" y="242600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Weekly or monthly</a:t>
            </a:r>
            <a:endParaRPr lang="en-US" sz="780" dirty="0"/>
          </a:p>
        </p:txBody>
      </p:sp>
      <p:sp>
        <p:nvSpPr>
          <p:cNvPr id="13" name="Text 10"/>
          <p:cNvSpPr/>
          <p:nvPr/>
        </p:nvSpPr>
        <p:spPr>
          <a:xfrm>
            <a:off x="2600325" y="861520"/>
            <a:ext cx="1800225"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INCREMENTAL</a:t>
            </a:r>
            <a:endParaRPr lang="en-US" sz="987" dirty="0"/>
          </a:p>
        </p:txBody>
      </p:sp>
      <p:sp>
        <p:nvSpPr>
          <p:cNvPr id="14" name="Text 11"/>
          <p:cNvSpPr/>
          <p:nvPr/>
        </p:nvSpPr>
        <p:spPr>
          <a:xfrm>
            <a:off x="2600325" y="116155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BACKUP TIME</a:t>
            </a:r>
            <a:endParaRPr lang="en-US" sz="683" dirty="0"/>
          </a:p>
        </p:txBody>
      </p:sp>
      <p:sp>
        <p:nvSpPr>
          <p:cNvPr id="15" name="Text 12"/>
          <p:cNvSpPr/>
          <p:nvPr/>
        </p:nvSpPr>
        <p:spPr>
          <a:xfrm>
            <a:off x="2600325" y="131157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Fastest (minimal data)</a:t>
            </a:r>
            <a:endParaRPr lang="en-US" sz="780" dirty="0"/>
          </a:p>
        </p:txBody>
      </p:sp>
      <p:sp>
        <p:nvSpPr>
          <p:cNvPr id="16" name="Text 13"/>
          <p:cNvSpPr/>
          <p:nvPr/>
        </p:nvSpPr>
        <p:spPr>
          <a:xfrm>
            <a:off x="2600325" y="153303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RESTORE TIME</a:t>
            </a:r>
            <a:endParaRPr lang="en-US" sz="683" dirty="0"/>
          </a:p>
        </p:txBody>
      </p:sp>
      <p:sp>
        <p:nvSpPr>
          <p:cNvPr id="17" name="Text 14"/>
          <p:cNvSpPr/>
          <p:nvPr/>
        </p:nvSpPr>
        <p:spPr>
          <a:xfrm>
            <a:off x="2600325" y="168305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Slower (full + all incrementals)</a:t>
            </a:r>
            <a:endParaRPr lang="en-US" sz="780" dirty="0"/>
          </a:p>
        </p:txBody>
      </p:sp>
      <p:sp>
        <p:nvSpPr>
          <p:cNvPr id="18" name="Text 15"/>
          <p:cNvSpPr/>
          <p:nvPr/>
        </p:nvSpPr>
        <p:spPr>
          <a:xfrm>
            <a:off x="2600325" y="190450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STORAGE</a:t>
            </a:r>
            <a:endParaRPr lang="en-US" sz="683" dirty="0"/>
          </a:p>
        </p:txBody>
      </p:sp>
      <p:sp>
        <p:nvSpPr>
          <p:cNvPr id="19" name="Text 16"/>
          <p:cNvSpPr/>
          <p:nvPr/>
        </p:nvSpPr>
        <p:spPr>
          <a:xfrm>
            <a:off x="2600325" y="205452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Lowest (only changes)</a:t>
            </a:r>
            <a:endParaRPr lang="en-US" sz="780" dirty="0"/>
          </a:p>
        </p:txBody>
      </p:sp>
      <p:sp>
        <p:nvSpPr>
          <p:cNvPr id="20" name="Text 17"/>
          <p:cNvSpPr/>
          <p:nvPr/>
        </p:nvSpPr>
        <p:spPr>
          <a:xfrm>
            <a:off x="2600325" y="227598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FREQUENCY</a:t>
            </a:r>
            <a:endParaRPr lang="en-US" sz="683" dirty="0"/>
          </a:p>
        </p:txBody>
      </p:sp>
      <p:sp>
        <p:nvSpPr>
          <p:cNvPr id="21" name="Text 18"/>
          <p:cNvSpPr/>
          <p:nvPr/>
        </p:nvSpPr>
        <p:spPr>
          <a:xfrm>
            <a:off x="2600325" y="242600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Daily or multiple times per day</a:t>
            </a:r>
            <a:endParaRPr lang="en-US" sz="780" dirty="0"/>
          </a:p>
        </p:txBody>
      </p:sp>
      <p:sp>
        <p:nvSpPr>
          <p:cNvPr id="22" name="Text 19"/>
          <p:cNvSpPr/>
          <p:nvPr/>
        </p:nvSpPr>
        <p:spPr>
          <a:xfrm>
            <a:off x="4743450" y="861520"/>
            <a:ext cx="1800225"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DIFFERENTIAL</a:t>
            </a:r>
            <a:endParaRPr lang="en-US" sz="987" dirty="0"/>
          </a:p>
        </p:txBody>
      </p:sp>
      <p:sp>
        <p:nvSpPr>
          <p:cNvPr id="23" name="Text 20"/>
          <p:cNvSpPr/>
          <p:nvPr/>
        </p:nvSpPr>
        <p:spPr>
          <a:xfrm>
            <a:off x="4743450" y="116155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BACKUP TIME</a:t>
            </a:r>
            <a:endParaRPr lang="en-US" sz="683" dirty="0"/>
          </a:p>
        </p:txBody>
      </p:sp>
      <p:sp>
        <p:nvSpPr>
          <p:cNvPr id="24" name="Text 21"/>
          <p:cNvSpPr/>
          <p:nvPr/>
        </p:nvSpPr>
        <p:spPr>
          <a:xfrm>
            <a:off x="4743450" y="131157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Moderate (increases over time)</a:t>
            </a:r>
            <a:endParaRPr lang="en-US" sz="780" dirty="0"/>
          </a:p>
        </p:txBody>
      </p:sp>
      <p:sp>
        <p:nvSpPr>
          <p:cNvPr id="25" name="Text 22"/>
          <p:cNvSpPr/>
          <p:nvPr/>
        </p:nvSpPr>
        <p:spPr>
          <a:xfrm>
            <a:off x="4743450" y="153303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RESTORE TIME</a:t>
            </a:r>
            <a:endParaRPr lang="en-US" sz="683" dirty="0"/>
          </a:p>
        </p:txBody>
      </p:sp>
      <p:sp>
        <p:nvSpPr>
          <p:cNvPr id="26" name="Text 23"/>
          <p:cNvSpPr/>
          <p:nvPr/>
        </p:nvSpPr>
        <p:spPr>
          <a:xfrm>
            <a:off x="4743450" y="168305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Moderate (full + last differential)</a:t>
            </a:r>
            <a:endParaRPr lang="en-US" sz="780" dirty="0"/>
          </a:p>
        </p:txBody>
      </p:sp>
      <p:sp>
        <p:nvSpPr>
          <p:cNvPr id="27" name="Text 24"/>
          <p:cNvSpPr/>
          <p:nvPr/>
        </p:nvSpPr>
        <p:spPr>
          <a:xfrm>
            <a:off x="4743450" y="190450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STORAGE</a:t>
            </a:r>
            <a:endParaRPr lang="en-US" sz="683" dirty="0"/>
          </a:p>
        </p:txBody>
      </p:sp>
      <p:sp>
        <p:nvSpPr>
          <p:cNvPr id="28" name="Text 25"/>
          <p:cNvSpPr/>
          <p:nvPr/>
        </p:nvSpPr>
        <p:spPr>
          <a:xfrm>
            <a:off x="4743450" y="205452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Moderate (cumulative changes)</a:t>
            </a:r>
            <a:endParaRPr lang="en-US" sz="780" dirty="0"/>
          </a:p>
        </p:txBody>
      </p:sp>
      <p:sp>
        <p:nvSpPr>
          <p:cNvPr id="29" name="Text 26"/>
          <p:cNvSpPr/>
          <p:nvPr/>
        </p:nvSpPr>
        <p:spPr>
          <a:xfrm>
            <a:off x="4743450" y="227598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FREQUENCY</a:t>
            </a:r>
            <a:endParaRPr lang="en-US" sz="683" dirty="0"/>
          </a:p>
        </p:txBody>
      </p:sp>
      <p:sp>
        <p:nvSpPr>
          <p:cNvPr id="30" name="Text 27"/>
          <p:cNvSpPr/>
          <p:nvPr/>
        </p:nvSpPr>
        <p:spPr>
          <a:xfrm>
            <a:off x="4743450" y="242600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Daily between full backups</a:t>
            </a:r>
            <a:endParaRPr lang="en-US" sz="780" dirty="0"/>
          </a:p>
        </p:txBody>
      </p:sp>
      <p:sp>
        <p:nvSpPr>
          <p:cNvPr id="31" name="Text 28"/>
          <p:cNvSpPr/>
          <p:nvPr/>
        </p:nvSpPr>
        <p:spPr>
          <a:xfrm>
            <a:off x="6886575" y="861520"/>
            <a:ext cx="1800225" cy="214313"/>
          </a:xfrm>
          <a:prstGeom prst="rect">
            <a:avLst/>
          </a:prstGeom>
          <a:noFill/>
          <a:ln/>
        </p:spPr>
        <p:txBody>
          <a:bodyPr wrap="none" lIns="0" tIns="0" rIns="0" bIns="0" rtlCol="0" anchor="t">
            <a:spAutoFit/>
          </a:bodyPr>
          <a:lstStyle/>
          <a:p>
            <a:pPr marL="0" indent="0" algn="l">
              <a:lnSpc>
                <a:spcPts val="1700"/>
              </a:lnSpc>
              <a:buNone/>
            </a:pPr>
            <a:r>
              <a:rPr lang="en-US" sz="987" b="1" dirty="0">
                <a:solidFill>
                  <a:srgbClr val="00D9FF"/>
                </a:solidFill>
              </a:rPr>
              <a:t>CDP</a:t>
            </a:r>
            <a:endParaRPr lang="en-US" sz="987" dirty="0"/>
          </a:p>
        </p:txBody>
      </p:sp>
      <p:sp>
        <p:nvSpPr>
          <p:cNvPr id="32" name="Text 29"/>
          <p:cNvSpPr/>
          <p:nvPr/>
        </p:nvSpPr>
        <p:spPr>
          <a:xfrm>
            <a:off x="6886575" y="116155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BACKUP TIME</a:t>
            </a:r>
            <a:endParaRPr lang="en-US" sz="683" dirty="0"/>
          </a:p>
        </p:txBody>
      </p:sp>
      <p:sp>
        <p:nvSpPr>
          <p:cNvPr id="33" name="Text 30"/>
          <p:cNvSpPr/>
          <p:nvPr/>
        </p:nvSpPr>
        <p:spPr>
          <a:xfrm>
            <a:off x="6886575" y="131157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Continuous (real-time)</a:t>
            </a:r>
            <a:endParaRPr lang="en-US" sz="780" dirty="0"/>
          </a:p>
        </p:txBody>
      </p:sp>
      <p:sp>
        <p:nvSpPr>
          <p:cNvPr id="34" name="Text 31"/>
          <p:cNvSpPr/>
          <p:nvPr/>
        </p:nvSpPr>
        <p:spPr>
          <a:xfrm>
            <a:off x="6886575" y="153303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RESTORE TIME</a:t>
            </a:r>
            <a:endParaRPr lang="en-US" sz="683" dirty="0"/>
          </a:p>
        </p:txBody>
      </p:sp>
      <p:sp>
        <p:nvSpPr>
          <p:cNvPr id="35" name="Text 32"/>
          <p:cNvSpPr/>
          <p:nvPr/>
        </p:nvSpPr>
        <p:spPr>
          <a:xfrm>
            <a:off x="6886575" y="168305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Any point in time</a:t>
            </a:r>
            <a:endParaRPr lang="en-US" sz="780" dirty="0"/>
          </a:p>
        </p:txBody>
      </p:sp>
      <p:sp>
        <p:nvSpPr>
          <p:cNvPr id="36" name="Text 33"/>
          <p:cNvSpPr/>
          <p:nvPr/>
        </p:nvSpPr>
        <p:spPr>
          <a:xfrm>
            <a:off x="6886575" y="1904507"/>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STORAGE</a:t>
            </a:r>
            <a:endParaRPr lang="en-US" sz="683" dirty="0"/>
          </a:p>
        </p:txBody>
      </p:sp>
      <p:sp>
        <p:nvSpPr>
          <p:cNvPr id="37" name="Text 34"/>
          <p:cNvSpPr/>
          <p:nvPr/>
        </p:nvSpPr>
        <p:spPr>
          <a:xfrm>
            <a:off x="6886575" y="2054526"/>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Highest (all changes)</a:t>
            </a:r>
            <a:endParaRPr lang="en-US" sz="780" dirty="0"/>
          </a:p>
        </p:txBody>
      </p:sp>
      <p:sp>
        <p:nvSpPr>
          <p:cNvPr id="38" name="Text 35"/>
          <p:cNvSpPr/>
          <p:nvPr/>
        </p:nvSpPr>
        <p:spPr>
          <a:xfrm>
            <a:off x="6886575" y="2275982"/>
            <a:ext cx="180022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FREQUENCY</a:t>
            </a:r>
            <a:endParaRPr lang="en-US" sz="683" dirty="0"/>
          </a:p>
        </p:txBody>
      </p:sp>
      <p:sp>
        <p:nvSpPr>
          <p:cNvPr id="39" name="Text 36"/>
          <p:cNvSpPr/>
          <p:nvPr/>
        </p:nvSpPr>
        <p:spPr>
          <a:xfrm>
            <a:off x="6886575" y="2426001"/>
            <a:ext cx="18002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B8C5D6"/>
                </a:solidFill>
              </a:rPr>
              <a:t>Real-time continuous protection</a:t>
            </a:r>
            <a:endParaRPr lang="en-US" sz="780" dirty="0"/>
          </a:p>
        </p:txBody>
      </p:sp>
      <p:sp>
        <p:nvSpPr>
          <p:cNvPr id="40" name="Shape 37"/>
          <p:cNvSpPr/>
          <p:nvPr/>
        </p:nvSpPr>
        <p:spPr>
          <a:xfrm>
            <a:off x="357188" y="2804620"/>
            <a:ext cx="8429625" cy="1633017"/>
          </a:xfrm>
          <a:prstGeom prst="rect">
            <a:avLst/>
          </a:prstGeom>
          <a:solidFill>
            <a:srgbClr val="00D9FF">
              <a:alpha val="8000"/>
            </a:srgbClr>
          </a:solidFill>
          <a:ln w="18288">
            <a:solidFill>
              <a:srgbClr val="00D9FF"/>
            </a:solidFill>
            <a:prstDash val="solid"/>
          </a:ln>
        </p:spPr>
      </p:sp>
      <p:sp>
        <p:nvSpPr>
          <p:cNvPr id="41" name="Text 38"/>
          <p:cNvSpPr/>
          <p:nvPr/>
        </p:nvSpPr>
        <p:spPr>
          <a:xfrm>
            <a:off x="600075" y="2989631"/>
            <a:ext cx="2447934" cy="342900"/>
          </a:xfrm>
          <a:prstGeom prst="rect">
            <a:avLst/>
          </a:prstGeom>
          <a:noFill/>
          <a:ln/>
        </p:spPr>
        <p:txBody>
          <a:bodyPr wrap="none" lIns="0" tIns="0" rIns="0" bIns="0" rtlCol="0" anchor="t">
            <a:spAutoFit/>
          </a:bodyPr>
          <a:lstStyle/>
          <a:p>
            <a:pPr marL="0" indent="0" algn="ctr">
              <a:lnSpc>
                <a:spcPts val="2700"/>
              </a:lnSpc>
              <a:buNone/>
            </a:pPr>
            <a:r>
              <a:rPr lang="en-US" sz="2436" b="1" dirty="0">
                <a:solidFill>
                  <a:srgbClr val="00D9FF"/>
                </a:solidFill>
              </a:rPr>
              <a:t>3</a:t>
            </a:r>
            <a:endParaRPr lang="en-US" sz="2436" dirty="0"/>
          </a:p>
        </p:txBody>
      </p:sp>
      <p:sp>
        <p:nvSpPr>
          <p:cNvPr id="42" name="Text 39"/>
          <p:cNvSpPr/>
          <p:nvPr/>
        </p:nvSpPr>
        <p:spPr>
          <a:xfrm>
            <a:off x="600075" y="3332531"/>
            <a:ext cx="2447934" cy="169999"/>
          </a:xfrm>
          <a:prstGeom prst="rect">
            <a:avLst/>
          </a:prstGeom>
          <a:noFill/>
          <a:ln/>
        </p:spPr>
        <p:txBody>
          <a:bodyPr wrap="none" lIns="0" tIns="0" rIns="0" bIns="0" rtlCol="0" anchor="t">
            <a:spAutoFit/>
          </a:bodyPr>
          <a:lstStyle/>
          <a:p>
            <a:pPr marL="0" indent="0" algn="ctr">
              <a:lnSpc>
                <a:spcPts val="1300"/>
              </a:lnSpc>
              <a:buNone/>
            </a:pPr>
            <a:r>
              <a:rPr lang="en-US" sz="834" b="1" dirty="0">
                <a:solidFill>
                  <a:srgbClr val="FFFFFF"/>
                </a:solidFill>
              </a:rPr>
              <a:t>Maintain at least THREE copies of data</a:t>
            </a:r>
            <a:endParaRPr lang="en-US" sz="834" dirty="0"/>
          </a:p>
        </p:txBody>
      </p:sp>
      <p:sp>
        <p:nvSpPr>
          <p:cNvPr id="43" name="Text 40"/>
          <p:cNvSpPr/>
          <p:nvPr/>
        </p:nvSpPr>
        <p:spPr>
          <a:xfrm>
            <a:off x="600075" y="3545393"/>
            <a:ext cx="2447934" cy="150019"/>
          </a:xfrm>
          <a:prstGeom prst="rect">
            <a:avLst/>
          </a:prstGeom>
          <a:noFill/>
          <a:ln/>
        </p:spPr>
        <p:txBody>
          <a:bodyPr wrap="none" lIns="0" tIns="0" rIns="0" bIns="0" rtlCol="0" anchor="t">
            <a:spAutoFit/>
          </a:bodyPr>
          <a:lstStyle/>
          <a:p>
            <a:pPr marL="0" indent="0" algn="ctr">
              <a:lnSpc>
                <a:spcPts val="1200"/>
              </a:lnSpc>
              <a:buNone/>
            </a:pPr>
            <a:r>
              <a:rPr lang="en-US" sz="780" dirty="0">
                <a:solidFill>
                  <a:srgbClr val="B8C5D6"/>
                </a:solidFill>
              </a:rPr>
              <a:t>(Production + 2 backups)</a:t>
            </a:r>
            <a:endParaRPr lang="en-US" sz="780" dirty="0"/>
          </a:p>
        </p:txBody>
      </p:sp>
      <p:sp>
        <p:nvSpPr>
          <p:cNvPr id="44" name="Text 41"/>
          <p:cNvSpPr/>
          <p:nvPr/>
        </p:nvSpPr>
        <p:spPr>
          <a:xfrm>
            <a:off x="3348047" y="2904632"/>
            <a:ext cx="2447934" cy="342900"/>
          </a:xfrm>
          <a:prstGeom prst="rect">
            <a:avLst/>
          </a:prstGeom>
          <a:noFill/>
          <a:ln/>
        </p:spPr>
        <p:txBody>
          <a:bodyPr wrap="none" lIns="0" tIns="0" rIns="0" bIns="0" rtlCol="0" anchor="t">
            <a:spAutoFit/>
          </a:bodyPr>
          <a:lstStyle/>
          <a:p>
            <a:pPr marL="0" indent="0" algn="ctr">
              <a:lnSpc>
                <a:spcPts val="2700"/>
              </a:lnSpc>
              <a:buNone/>
            </a:pPr>
            <a:r>
              <a:rPr lang="en-US" sz="2436" b="1" dirty="0">
                <a:solidFill>
                  <a:srgbClr val="00D9FF"/>
                </a:solidFill>
              </a:rPr>
              <a:t>2</a:t>
            </a:r>
            <a:endParaRPr lang="en-US" sz="2436" dirty="0"/>
          </a:p>
        </p:txBody>
      </p:sp>
      <p:sp>
        <p:nvSpPr>
          <p:cNvPr id="45" name="Text 42"/>
          <p:cNvSpPr/>
          <p:nvPr/>
        </p:nvSpPr>
        <p:spPr>
          <a:xfrm>
            <a:off x="3348047" y="3247532"/>
            <a:ext cx="2447934" cy="339998"/>
          </a:xfrm>
          <a:prstGeom prst="rect">
            <a:avLst/>
          </a:prstGeom>
          <a:noFill/>
          <a:ln/>
        </p:spPr>
        <p:txBody>
          <a:bodyPr wrap="square" lIns="0" tIns="0" rIns="0" bIns="0" rtlCol="0" anchor="t">
            <a:spAutoFit/>
          </a:bodyPr>
          <a:lstStyle/>
          <a:p>
            <a:pPr marL="0" indent="0" algn="ctr">
              <a:lnSpc>
                <a:spcPts val="1300"/>
              </a:lnSpc>
              <a:buNone/>
            </a:pPr>
            <a:r>
              <a:rPr lang="en-US" sz="834" b="1" dirty="0">
                <a:solidFill>
                  <a:srgbClr val="FFFFFF"/>
                </a:solidFill>
              </a:rPr>
              <a:t>Store backups on TWO different media types</a:t>
            </a:r>
            <a:endParaRPr lang="en-US" sz="834" dirty="0"/>
          </a:p>
        </p:txBody>
      </p:sp>
      <p:sp>
        <p:nvSpPr>
          <p:cNvPr id="46" name="Text 43"/>
          <p:cNvSpPr/>
          <p:nvPr/>
        </p:nvSpPr>
        <p:spPr>
          <a:xfrm>
            <a:off x="3348047" y="3630392"/>
            <a:ext cx="2447934" cy="150019"/>
          </a:xfrm>
          <a:prstGeom prst="rect">
            <a:avLst/>
          </a:prstGeom>
          <a:noFill/>
          <a:ln/>
        </p:spPr>
        <p:txBody>
          <a:bodyPr wrap="none" lIns="0" tIns="0" rIns="0" bIns="0" rtlCol="0" anchor="t">
            <a:spAutoFit/>
          </a:bodyPr>
          <a:lstStyle/>
          <a:p>
            <a:pPr marL="0" indent="0" algn="ctr">
              <a:lnSpc>
                <a:spcPts val="1200"/>
              </a:lnSpc>
              <a:buNone/>
            </a:pPr>
            <a:r>
              <a:rPr lang="en-US" sz="780" dirty="0">
                <a:solidFill>
                  <a:srgbClr val="B8C5D6"/>
                </a:solidFill>
              </a:rPr>
              <a:t>(Disk and tape, or disk and cloud)</a:t>
            </a:r>
            <a:endParaRPr lang="en-US" sz="780" dirty="0"/>
          </a:p>
        </p:txBody>
      </p:sp>
      <p:sp>
        <p:nvSpPr>
          <p:cNvPr id="47" name="Text 44"/>
          <p:cNvSpPr/>
          <p:nvPr/>
        </p:nvSpPr>
        <p:spPr>
          <a:xfrm>
            <a:off x="6096019" y="2989631"/>
            <a:ext cx="2447934" cy="342900"/>
          </a:xfrm>
          <a:prstGeom prst="rect">
            <a:avLst/>
          </a:prstGeom>
          <a:noFill/>
          <a:ln/>
        </p:spPr>
        <p:txBody>
          <a:bodyPr wrap="none" lIns="0" tIns="0" rIns="0" bIns="0" rtlCol="0" anchor="t">
            <a:spAutoFit/>
          </a:bodyPr>
          <a:lstStyle/>
          <a:p>
            <a:pPr marL="0" indent="0" algn="ctr">
              <a:lnSpc>
                <a:spcPts val="2700"/>
              </a:lnSpc>
              <a:buNone/>
            </a:pPr>
            <a:r>
              <a:rPr lang="en-US" sz="2436" b="1" dirty="0">
                <a:solidFill>
                  <a:srgbClr val="00D9FF"/>
                </a:solidFill>
              </a:rPr>
              <a:t>1</a:t>
            </a:r>
            <a:endParaRPr lang="en-US" sz="2436" dirty="0"/>
          </a:p>
        </p:txBody>
      </p:sp>
      <p:sp>
        <p:nvSpPr>
          <p:cNvPr id="48" name="Text 45"/>
          <p:cNvSpPr/>
          <p:nvPr/>
        </p:nvSpPr>
        <p:spPr>
          <a:xfrm>
            <a:off x="6096019" y="3332531"/>
            <a:ext cx="2447934" cy="169999"/>
          </a:xfrm>
          <a:prstGeom prst="rect">
            <a:avLst/>
          </a:prstGeom>
          <a:noFill/>
          <a:ln/>
        </p:spPr>
        <p:txBody>
          <a:bodyPr wrap="none" lIns="0" tIns="0" rIns="0" bIns="0" rtlCol="0" anchor="t">
            <a:spAutoFit/>
          </a:bodyPr>
          <a:lstStyle/>
          <a:p>
            <a:pPr marL="0" indent="0" algn="ctr">
              <a:lnSpc>
                <a:spcPts val="1300"/>
              </a:lnSpc>
              <a:buNone/>
            </a:pPr>
            <a:r>
              <a:rPr lang="en-US" sz="834" b="1" dirty="0">
                <a:solidFill>
                  <a:srgbClr val="FFFFFF"/>
                </a:solidFill>
              </a:rPr>
              <a:t>Keep ONE backup copy offsite</a:t>
            </a:r>
            <a:endParaRPr lang="en-US" sz="834" dirty="0"/>
          </a:p>
        </p:txBody>
      </p:sp>
      <p:sp>
        <p:nvSpPr>
          <p:cNvPr id="49" name="Text 46"/>
          <p:cNvSpPr/>
          <p:nvPr/>
        </p:nvSpPr>
        <p:spPr>
          <a:xfrm>
            <a:off x="6096019" y="3545393"/>
            <a:ext cx="2447934" cy="150019"/>
          </a:xfrm>
          <a:prstGeom prst="rect">
            <a:avLst/>
          </a:prstGeom>
          <a:noFill/>
          <a:ln/>
        </p:spPr>
        <p:txBody>
          <a:bodyPr wrap="none" lIns="0" tIns="0" rIns="0" bIns="0" rtlCol="0" anchor="t">
            <a:spAutoFit/>
          </a:bodyPr>
          <a:lstStyle/>
          <a:p>
            <a:pPr marL="0" indent="0" algn="ctr">
              <a:lnSpc>
                <a:spcPts val="1200"/>
              </a:lnSpc>
              <a:buNone/>
            </a:pPr>
            <a:r>
              <a:rPr lang="en-US" sz="780" dirty="0">
                <a:solidFill>
                  <a:srgbClr val="B8C5D6"/>
                </a:solidFill>
              </a:rPr>
              <a:t>(Protected from site-specific disasters)</a:t>
            </a:r>
            <a:endParaRPr lang="en-US" sz="780" dirty="0"/>
          </a:p>
        </p:txBody>
      </p:sp>
      <p:sp>
        <p:nvSpPr>
          <p:cNvPr id="50" name="Text 47"/>
          <p:cNvSpPr/>
          <p:nvPr/>
        </p:nvSpPr>
        <p:spPr>
          <a:xfrm>
            <a:off x="457200" y="3937574"/>
            <a:ext cx="8229600" cy="150019"/>
          </a:xfrm>
          <a:prstGeom prst="rect">
            <a:avLst/>
          </a:prstGeom>
          <a:noFill/>
          <a:ln/>
        </p:spPr>
        <p:txBody>
          <a:bodyPr wrap="none" lIns="0" tIns="0" rIns="0" bIns="0" rtlCol="0" anchor="t">
            <a:spAutoFit/>
          </a:bodyPr>
          <a:lstStyle/>
          <a:p>
            <a:pPr marL="0" indent="0" algn="ctr">
              <a:lnSpc>
                <a:spcPts val="1200"/>
              </a:lnSpc>
              <a:buNone/>
            </a:pPr>
            <a:r>
              <a:rPr lang="en-US" sz="683" b="1" dirty="0">
                <a:solidFill>
                  <a:srgbClr val="FFB020"/>
                </a:solidFill>
              </a:rPr>
              <a:t>INDUSTRY BEST PRACTICE: THE 3-2-1 BACKUP RULE</a:t>
            </a:r>
            <a:endParaRPr lang="en-US" sz="683" dirty="0"/>
          </a:p>
        </p:txBody>
      </p:sp>
      <p:sp>
        <p:nvSpPr>
          <p:cNvPr id="51" name="Text 48"/>
          <p:cNvSpPr/>
          <p:nvPr/>
        </p:nvSpPr>
        <p:spPr>
          <a:xfrm>
            <a:off x="457200" y="4144742"/>
            <a:ext cx="8229600" cy="150019"/>
          </a:xfrm>
          <a:prstGeom prst="rect">
            <a:avLst/>
          </a:prstGeom>
          <a:noFill/>
          <a:ln/>
        </p:spPr>
        <p:txBody>
          <a:bodyPr wrap="none" lIns="0" tIns="0" rIns="0" bIns="0" rtlCol="0" anchor="t">
            <a:spAutoFit/>
          </a:bodyPr>
          <a:lstStyle/>
          <a:p>
            <a:pPr marL="0" indent="0" algn="ctr">
              <a:lnSpc>
                <a:spcPts val="1200"/>
              </a:lnSpc>
              <a:buNone/>
            </a:pPr>
            <a:r>
              <a:rPr lang="en-US" sz="780" dirty="0">
                <a:solidFill>
                  <a:srgbClr val="B8C5D6"/>
                </a:solidFill>
              </a:rPr>
              <a:t>Protects against hardware failure, media-specific failures, and site disasters through redundancy and geographic distribution</a:t>
            </a:r>
            <a:endParaRPr lang="en-US" sz="780" dirty="0"/>
          </a:p>
        </p:txBody>
      </p:sp>
      <p:sp>
        <p:nvSpPr>
          <p:cNvPr id="52" name="Shape 49"/>
          <p:cNvSpPr/>
          <p:nvPr/>
        </p:nvSpPr>
        <p:spPr>
          <a:xfrm>
            <a:off x="357188" y="4466211"/>
            <a:ext cx="4143375" cy="592931"/>
          </a:xfrm>
          <a:prstGeom prst="rect">
            <a:avLst/>
          </a:prstGeom>
          <a:solidFill>
            <a:srgbClr val="FFB020">
              <a:alpha val="5000"/>
            </a:srgbClr>
          </a:solidFill>
          <a:ln/>
        </p:spPr>
      </p:sp>
      <p:sp>
        <p:nvSpPr>
          <p:cNvPr id="53" name="Shape 50"/>
          <p:cNvSpPr/>
          <p:nvPr/>
        </p:nvSpPr>
        <p:spPr>
          <a:xfrm>
            <a:off x="357188" y="4466211"/>
            <a:ext cx="28575" cy="592931"/>
          </a:xfrm>
          <a:prstGeom prst="rect">
            <a:avLst/>
          </a:prstGeom>
          <a:solidFill>
            <a:srgbClr val="FFB020"/>
          </a:solidFill>
          <a:ln/>
        </p:spPr>
      </p:sp>
      <p:sp>
        <p:nvSpPr>
          <p:cNvPr id="54" name="Text 51"/>
          <p:cNvSpPr/>
          <p:nvPr/>
        </p:nvSpPr>
        <p:spPr>
          <a:xfrm>
            <a:off x="414338" y="4523361"/>
            <a:ext cx="402907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BACKUP TESTING</a:t>
            </a:r>
            <a:endParaRPr lang="en-US" sz="683" dirty="0"/>
          </a:p>
        </p:txBody>
      </p:sp>
      <p:sp>
        <p:nvSpPr>
          <p:cNvPr id="55" name="Text 52"/>
          <p:cNvSpPr/>
          <p:nvPr/>
        </p:nvSpPr>
        <p:spPr>
          <a:xfrm>
            <a:off x="414338" y="4701955"/>
            <a:ext cx="4029075"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Regular testing validates data integrity, restore procedures, and recovery time. Test quarterly for critical systems, annually for all systems.</a:t>
            </a:r>
            <a:endParaRPr lang="en-US" sz="780" dirty="0"/>
          </a:p>
        </p:txBody>
      </p:sp>
      <p:sp>
        <p:nvSpPr>
          <p:cNvPr id="56" name="Shape 53"/>
          <p:cNvSpPr/>
          <p:nvPr/>
        </p:nvSpPr>
        <p:spPr>
          <a:xfrm>
            <a:off x="4643438" y="4466211"/>
            <a:ext cx="4143375" cy="592931"/>
          </a:xfrm>
          <a:prstGeom prst="rect">
            <a:avLst/>
          </a:prstGeom>
          <a:solidFill>
            <a:srgbClr val="FFB020">
              <a:alpha val="5000"/>
            </a:srgbClr>
          </a:solidFill>
          <a:ln/>
        </p:spPr>
      </p:sp>
      <p:sp>
        <p:nvSpPr>
          <p:cNvPr id="57" name="Shape 54"/>
          <p:cNvSpPr/>
          <p:nvPr/>
        </p:nvSpPr>
        <p:spPr>
          <a:xfrm>
            <a:off x="4643438" y="4466211"/>
            <a:ext cx="28575" cy="592931"/>
          </a:xfrm>
          <a:prstGeom prst="rect">
            <a:avLst/>
          </a:prstGeom>
          <a:solidFill>
            <a:srgbClr val="FFB020"/>
          </a:solidFill>
          <a:ln/>
        </p:spPr>
      </p:sp>
      <p:sp>
        <p:nvSpPr>
          <p:cNvPr id="58" name="Text 55"/>
          <p:cNvSpPr/>
          <p:nvPr/>
        </p:nvSpPr>
        <p:spPr>
          <a:xfrm>
            <a:off x="4700588" y="4523361"/>
            <a:ext cx="4029075"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CLOUD BACKUP</a:t>
            </a:r>
            <a:endParaRPr lang="en-US" sz="683" dirty="0"/>
          </a:p>
        </p:txBody>
      </p:sp>
      <p:sp>
        <p:nvSpPr>
          <p:cNvPr id="59" name="Text 56"/>
          <p:cNvSpPr/>
          <p:nvPr/>
        </p:nvSpPr>
        <p:spPr>
          <a:xfrm>
            <a:off x="4700588" y="4701955"/>
            <a:ext cx="4029075"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Offers geographic redundancy, scalability, automation, and cost efficiency. Consider bandwidth, compliance, encryption, and vendor lock-in.</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594327"/>
          </a:xfrm>
          <a:prstGeom prst="rect">
            <a:avLst/>
          </a:prstGeom>
          <a:noFill/>
          <a:ln/>
        </p:spPr>
        <p:txBody>
          <a:bodyPr wrap="square" lIns="170053" tIns="0" rIns="0" bIns="0" rtlCol="0" anchor="t">
            <a:spAutoFit/>
          </a:bodyPr>
          <a:lstStyle/>
          <a:p>
            <a:pPr marL="0" indent="0" algn="l">
              <a:lnSpc>
                <a:spcPts val="2300"/>
              </a:lnSpc>
              <a:buNone/>
            </a:pPr>
            <a:r>
              <a:rPr lang="en-US" sz="1602" b="1" dirty="0">
                <a:solidFill>
                  <a:srgbClr val="FFFFFF"/>
                </a:solidFill>
              </a:rPr>
              <a:t>ISO 22301 Provides International Framework for Systematic BC Management</a:t>
            </a:r>
            <a:endParaRPr lang="en-US" sz="1602" dirty="0"/>
          </a:p>
        </p:txBody>
      </p:sp>
      <p:sp>
        <p:nvSpPr>
          <p:cNvPr id="4" name="Text 1"/>
          <p:cNvSpPr/>
          <p:nvPr/>
        </p:nvSpPr>
        <p:spPr>
          <a:xfrm>
            <a:off x="357188" y="1022952"/>
            <a:ext cx="4461579" cy="6858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8C5D6"/>
                </a:solidFill>
              </a:rPr>
              <a:t>ISO 22301:2019 is the international standard for Business Continuity Management Systems (BCMS), providing a structured framework for organizations to plan, establish, implement, operate, monitor, review, maintain, and continually improve their business continuity capabilities.</a:t>
            </a:r>
            <a:endParaRPr lang="en-US" sz="834" dirty="0"/>
          </a:p>
        </p:txBody>
      </p:sp>
      <p:sp>
        <p:nvSpPr>
          <p:cNvPr id="5" name="Shape 2"/>
          <p:cNvSpPr/>
          <p:nvPr/>
        </p:nvSpPr>
        <p:spPr>
          <a:xfrm>
            <a:off x="357188" y="1837339"/>
            <a:ext cx="4461579" cy="1793081"/>
          </a:xfrm>
          <a:prstGeom prst="rect">
            <a:avLst/>
          </a:prstGeom>
          <a:solidFill>
            <a:srgbClr val="00D9FF">
              <a:alpha val="5000"/>
            </a:srgbClr>
          </a:solidFill>
          <a:ln w="18288">
            <a:solidFill>
              <a:srgbClr val="00D9FF">
                <a:alpha val="30000"/>
              </a:srgbClr>
            </a:solidFill>
            <a:prstDash val="solid"/>
          </a:ln>
        </p:spPr>
      </p:sp>
      <p:sp>
        <p:nvSpPr>
          <p:cNvPr id="6" name="Text 3"/>
          <p:cNvSpPr/>
          <p:nvPr/>
        </p:nvSpPr>
        <p:spPr>
          <a:xfrm>
            <a:off x="471488" y="1951639"/>
            <a:ext cx="4232979"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ISO 22301 STRUCTURE (10 CLAUSES)</a:t>
            </a:r>
            <a:endParaRPr lang="en-US" sz="885" dirty="0"/>
          </a:p>
        </p:txBody>
      </p:sp>
      <p:sp>
        <p:nvSpPr>
          <p:cNvPr id="7" name="Text 4"/>
          <p:cNvSpPr/>
          <p:nvPr/>
        </p:nvSpPr>
        <p:spPr>
          <a:xfrm>
            <a:off x="471488" y="223024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1-3</a:t>
            </a:r>
            <a:endParaRPr lang="en-US" sz="784" dirty="0"/>
          </a:p>
        </p:txBody>
      </p:sp>
      <p:sp>
        <p:nvSpPr>
          <p:cNvPr id="8" name="Text 5"/>
          <p:cNvSpPr/>
          <p:nvPr/>
        </p:nvSpPr>
        <p:spPr>
          <a:xfrm>
            <a:off x="1144144" y="2253462"/>
            <a:ext cx="1381199"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Scope, references, definitions</a:t>
            </a:r>
            <a:endParaRPr lang="en-US" sz="727" dirty="0"/>
          </a:p>
        </p:txBody>
      </p:sp>
      <p:sp>
        <p:nvSpPr>
          <p:cNvPr id="9" name="Text 6"/>
          <p:cNvSpPr/>
          <p:nvPr/>
        </p:nvSpPr>
        <p:spPr>
          <a:xfrm>
            <a:off x="471488" y="245884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4</a:t>
            </a:r>
            <a:endParaRPr lang="en-US" sz="784" dirty="0"/>
          </a:p>
        </p:txBody>
      </p:sp>
      <p:sp>
        <p:nvSpPr>
          <p:cNvPr id="10" name="Text 7"/>
          <p:cNvSpPr/>
          <p:nvPr/>
        </p:nvSpPr>
        <p:spPr>
          <a:xfrm>
            <a:off x="1144144" y="2482062"/>
            <a:ext cx="1105356"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Context of organization</a:t>
            </a:r>
            <a:endParaRPr lang="en-US" sz="727" dirty="0"/>
          </a:p>
        </p:txBody>
      </p:sp>
      <p:sp>
        <p:nvSpPr>
          <p:cNvPr id="11" name="Text 8"/>
          <p:cNvSpPr/>
          <p:nvPr/>
        </p:nvSpPr>
        <p:spPr>
          <a:xfrm>
            <a:off x="471488" y="268744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5</a:t>
            </a:r>
            <a:endParaRPr lang="en-US" sz="784" dirty="0"/>
          </a:p>
        </p:txBody>
      </p:sp>
      <p:sp>
        <p:nvSpPr>
          <p:cNvPr id="12" name="Text 9"/>
          <p:cNvSpPr/>
          <p:nvPr/>
        </p:nvSpPr>
        <p:spPr>
          <a:xfrm>
            <a:off x="1144144" y="2710662"/>
            <a:ext cx="1357871"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Leadership and commitment</a:t>
            </a:r>
            <a:endParaRPr lang="en-US" sz="727" dirty="0"/>
          </a:p>
        </p:txBody>
      </p:sp>
      <p:sp>
        <p:nvSpPr>
          <p:cNvPr id="13" name="Text 10"/>
          <p:cNvSpPr/>
          <p:nvPr/>
        </p:nvSpPr>
        <p:spPr>
          <a:xfrm>
            <a:off x="471488" y="291604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6</a:t>
            </a:r>
            <a:endParaRPr lang="en-US" sz="784" dirty="0"/>
          </a:p>
        </p:txBody>
      </p:sp>
      <p:sp>
        <p:nvSpPr>
          <p:cNvPr id="14" name="Text 11"/>
          <p:cNvSpPr/>
          <p:nvPr/>
        </p:nvSpPr>
        <p:spPr>
          <a:xfrm>
            <a:off x="1144144" y="2939262"/>
            <a:ext cx="815029"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Planning and risk</a:t>
            </a:r>
            <a:endParaRPr lang="en-US" sz="727" dirty="0"/>
          </a:p>
        </p:txBody>
      </p:sp>
      <p:sp>
        <p:nvSpPr>
          <p:cNvPr id="15" name="Text 12"/>
          <p:cNvSpPr/>
          <p:nvPr/>
        </p:nvSpPr>
        <p:spPr>
          <a:xfrm>
            <a:off x="471488" y="3110712"/>
            <a:ext cx="633282"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management</a:t>
            </a:r>
            <a:endParaRPr lang="en-US" sz="727" dirty="0"/>
          </a:p>
        </p:txBody>
      </p:sp>
      <p:sp>
        <p:nvSpPr>
          <p:cNvPr id="16" name="Text 13"/>
          <p:cNvSpPr/>
          <p:nvPr/>
        </p:nvSpPr>
        <p:spPr>
          <a:xfrm>
            <a:off x="471488" y="331609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7</a:t>
            </a:r>
            <a:endParaRPr lang="en-US" sz="784" dirty="0"/>
          </a:p>
        </p:txBody>
      </p:sp>
      <p:sp>
        <p:nvSpPr>
          <p:cNvPr id="17" name="Text 14"/>
          <p:cNvSpPr/>
          <p:nvPr/>
        </p:nvSpPr>
        <p:spPr>
          <a:xfrm>
            <a:off x="1144144" y="3339312"/>
            <a:ext cx="1066651"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Support and resources</a:t>
            </a:r>
            <a:endParaRPr lang="en-US" sz="727" dirty="0"/>
          </a:p>
        </p:txBody>
      </p:sp>
      <p:sp>
        <p:nvSpPr>
          <p:cNvPr id="18" name="Text 15"/>
          <p:cNvSpPr/>
          <p:nvPr/>
        </p:nvSpPr>
        <p:spPr>
          <a:xfrm>
            <a:off x="2623682" y="223024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8</a:t>
            </a:r>
            <a:endParaRPr lang="en-US" sz="784" dirty="0"/>
          </a:p>
        </p:txBody>
      </p:sp>
      <p:sp>
        <p:nvSpPr>
          <p:cNvPr id="19" name="Text 16"/>
          <p:cNvSpPr/>
          <p:nvPr/>
        </p:nvSpPr>
        <p:spPr>
          <a:xfrm>
            <a:off x="3296338" y="2253462"/>
            <a:ext cx="1293577"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Operation (BIA, strategies,</a:t>
            </a:r>
            <a:endParaRPr lang="en-US" sz="683" dirty="0"/>
          </a:p>
        </p:txBody>
      </p:sp>
      <p:sp>
        <p:nvSpPr>
          <p:cNvPr id="20" name="Text 17"/>
          <p:cNvSpPr/>
          <p:nvPr/>
        </p:nvSpPr>
        <p:spPr>
          <a:xfrm>
            <a:off x="2623682" y="2424912"/>
            <a:ext cx="295740"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plans)</a:t>
            </a:r>
            <a:endParaRPr lang="en-US" sz="683" dirty="0"/>
          </a:p>
        </p:txBody>
      </p:sp>
      <p:sp>
        <p:nvSpPr>
          <p:cNvPr id="21" name="Text 18"/>
          <p:cNvSpPr/>
          <p:nvPr/>
        </p:nvSpPr>
        <p:spPr>
          <a:xfrm>
            <a:off x="2623682" y="263029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9</a:t>
            </a:r>
            <a:endParaRPr lang="en-US" sz="784" dirty="0"/>
          </a:p>
        </p:txBody>
      </p:sp>
      <p:sp>
        <p:nvSpPr>
          <p:cNvPr id="22" name="Text 19"/>
          <p:cNvSpPr/>
          <p:nvPr/>
        </p:nvSpPr>
        <p:spPr>
          <a:xfrm>
            <a:off x="3296338" y="2653512"/>
            <a:ext cx="1125559"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Performance evaluation</a:t>
            </a:r>
            <a:endParaRPr lang="en-US" sz="727" dirty="0"/>
          </a:p>
        </p:txBody>
      </p:sp>
      <p:sp>
        <p:nvSpPr>
          <p:cNvPr id="23" name="Text 20"/>
          <p:cNvSpPr/>
          <p:nvPr/>
        </p:nvSpPr>
        <p:spPr>
          <a:xfrm>
            <a:off x="2623682" y="2858895"/>
            <a:ext cx="642938"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CLAUSE 10</a:t>
            </a:r>
            <a:endParaRPr lang="en-US" sz="784" dirty="0"/>
          </a:p>
        </p:txBody>
      </p:sp>
      <p:sp>
        <p:nvSpPr>
          <p:cNvPr id="24" name="Text 21"/>
          <p:cNvSpPr/>
          <p:nvPr/>
        </p:nvSpPr>
        <p:spPr>
          <a:xfrm>
            <a:off x="3296338" y="2882112"/>
            <a:ext cx="1335881"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Improvement and corrective</a:t>
            </a:r>
            <a:endParaRPr lang="en-US" sz="727" dirty="0"/>
          </a:p>
        </p:txBody>
      </p:sp>
      <p:sp>
        <p:nvSpPr>
          <p:cNvPr id="25" name="Text 22"/>
          <p:cNvSpPr/>
          <p:nvPr/>
        </p:nvSpPr>
        <p:spPr>
          <a:xfrm>
            <a:off x="2623682" y="3053562"/>
            <a:ext cx="288345"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action</a:t>
            </a:r>
            <a:endParaRPr lang="en-US" sz="727" dirty="0"/>
          </a:p>
        </p:txBody>
      </p:sp>
      <p:sp>
        <p:nvSpPr>
          <p:cNvPr id="26" name="Shape 23"/>
          <p:cNvSpPr/>
          <p:nvPr/>
        </p:nvSpPr>
        <p:spPr>
          <a:xfrm>
            <a:off x="357188" y="3716145"/>
            <a:ext cx="4461579" cy="701483"/>
          </a:xfrm>
          <a:prstGeom prst="rect">
            <a:avLst/>
          </a:prstGeom>
          <a:solidFill>
            <a:srgbClr val="FFB020">
              <a:alpha val="5000"/>
            </a:srgbClr>
          </a:solidFill>
          <a:ln/>
        </p:spPr>
      </p:sp>
      <p:sp>
        <p:nvSpPr>
          <p:cNvPr id="27" name="Shape 24"/>
          <p:cNvSpPr/>
          <p:nvPr/>
        </p:nvSpPr>
        <p:spPr>
          <a:xfrm>
            <a:off x="357188" y="3716145"/>
            <a:ext cx="28575" cy="701483"/>
          </a:xfrm>
          <a:prstGeom prst="rect">
            <a:avLst/>
          </a:prstGeom>
          <a:solidFill>
            <a:srgbClr val="FFB020"/>
          </a:solidFill>
          <a:ln/>
        </p:spPr>
      </p:sp>
      <p:sp>
        <p:nvSpPr>
          <p:cNvPr id="28" name="Text 25"/>
          <p:cNvSpPr/>
          <p:nvPr/>
        </p:nvSpPr>
        <p:spPr>
          <a:xfrm>
            <a:off x="442913" y="3801870"/>
            <a:ext cx="4290129"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IMPLEMENTATION APPROACH</a:t>
            </a:r>
            <a:endParaRPr lang="en-US" sz="885" dirty="0"/>
          </a:p>
        </p:txBody>
      </p:sp>
      <p:sp>
        <p:nvSpPr>
          <p:cNvPr id="29" name="Text 26"/>
          <p:cNvSpPr/>
          <p:nvPr/>
        </p:nvSpPr>
        <p:spPr>
          <a:xfrm>
            <a:off x="442913" y="4051902"/>
            <a:ext cx="4290129"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Gap analysis → Planning → BIA and risk assessment → Strategy development → Plan development → Testing and exercises → Certification audit → Continuous improvement</a:t>
            </a:r>
            <a:endParaRPr lang="en-US" sz="727" dirty="0"/>
          </a:p>
        </p:txBody>
      </p:sp>
      <p:sp>
        <p:nvSpPr>
          <p:cNvPr id="30" name="Text 27"/>
          <p:cNvSpPr/>
          <p:nvPr/>
        </p:nvSpPr>
        <p:spPr>
          <a:xfrm>
            <a:off x="5068798" y="1022952"/>
            <a:ext cx="371801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BCMS VS TRADITIONAL BC/DR</a:t>
            </a:r>
            <a:endParaRPr lang="en-US" sz="885" dirty="0"/>
          </a:p>
        </p:txBody>
      </p:sp>
      <p:sp>
        <p:nvSpPr>
          <p:cNvPr id="31" name="Text 28"/>
          <p:cNvSpPr/>
          <p:nvPr/>
        </p:nvSpPr>
        <p:spPr>
          <a:xfrm>
            <a:off x="5068798" y="1301558"/>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Holistic, organization-wide scope (not just IT systems)</a:t>
            </a:r>
            <a:endParaRPr lang="en-US" sz="727" dirty="0"/>
          </a:p>
        </p:txBody>
      </p:sp>
      <p:sp>
        <p:nvSpPr>
          <p:cNvPr id="32" name="Text 29"/>
          <p:cNvSpPr/>
          <p:nvPr/>
        </p:nvSpPr>
        <p:spPr>
          <a:xfrm>
            <a:off x="5068798" y="1512996"/>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Integrated with overall risk management and business strategy</a:t>
            </a:r>
            <a:endParaRPr lang="en-US" sz="727" dirty="0"/>
          </a:p>
        </p:txBody>
      </p:sp>
      <p:sp>
        <p:nvSpPr>
          <p:cNvPr id="33" name="Text 30"/>
          <p:cNvSpPr/>
          <p:nvPr/>
        </p:nvSpPr>
        <p:spPr>
          <a:xfrm>
            <a:off x="5068798" y="1724434"/>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Continuous improvement cycle (Plan-Do-Check-Act methodology)</a:t>
            </a:r>
            <a:endParaRPr lang="en-US" sz="727" dirty="0"/>
          </a:p>
        </p:txBody>
      </p:sp>
      <p:sp>
        <p:nvSpPr>
          <p:cNvPr id="34" name="Text 31"/>
          <p:cNvSpPr/>
          <p:nvPr/>
        </p:nvSpPr>
        <p:spPr>
          <a:xfrm>
            <a:off x="5068798" y="1935873"/>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Addresses all types of disruptions beyond technology failures</a:t>
            </a:r>
            <a:endParaRPr lang="en-US" sz="727" dirty="0"/>
          </a:p>
        </p:txBody>
      </p:sp>
      <p:sp>
        <p:nvSpPr>
          <p:cNvPr id="35" name="Text 32"/>
          <p:cNvSpPr/>
          <p:nvPr/>
        </p:nvSpPr>
        <p:spPr>
          <a:xfrm>
            <a:off x="5068798" y="2147311"/>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Focus on maintaining critical business functions across entire organization</a:t>
            </a:r>
            <a:endParaRPr lang="en-US" sz="727" dirty="0"/>
          </a:p>
        </p:txBody>
      </p:sp>
      <p:sp>
        <p:nvSpPr>
          <p:cNvPr id="36" name="Text 33"/>
          <p:cNvSpPr/>
          <p:nvPr/>
        </p:nvSpPr>
        <p:spPr>
          <a:xfrm>
            <a:off x="5068798" y="2430187"/>
            <a:ext cx="371801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BENEFITS OF CERTIFICATION</a:t>
            </a:r>
            <a:endParaRPr lang="en-US" sz="885" dirty="0"/>
          </a:p>
        </p:txBody>
      </p:sp>
      <p:sp>
        <p:nvSpPr>
          <p:cNvPr id="37" name="Text 34"/>
          <p:cNvSpPr/>
          <p:nvPr/>
        </p:nvSpPr>
        <p:spPr>
          <a:xfrm>
            <a:off x="5068798" y="2708793"/>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Demonstrated commitment to resilience (third-party validated)</a:t>
            </a:r>
            <a:endParaRPr lang="en-US" sz="727" dirty="0"/>
          </a:p>
        </p:txBody>
      </p:sp>
      <p:sp>
        <p:nvSpPr>
          <p:cNvPr id="38" name="Text 35"/>
          <p:cNvSpPr/>
          <p:nvPr/>
        </p:nvSpPr>
        <p:spPr>
          <a:xfrm>
            <a:off x="5068798" y="2920231"/>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Competitive advantage and market differentiation</a:t>
            </a:r>
            <a:endParaRPr lang="en-US" sz="727" dirty="0"/>
          </a:p>
        </p:txBody>
      </p:sp>
      <p:sp>
        <p:nvSpPr>
          <p:cNvPr id="39" name="Text 36"/>
          <p:cNvSpPr/>
          <p:nvPr/>
        </p:nvSpPr>
        <p:spPr>
          <a:xfrm>
            <a:off x="5068798" y="3131669"/>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Improved stakeholder confidence (customers, regulators, investors)</a:t>
            </a:r>
            <a:endParaRPr lang="en-US" sz="727" dirty="0"/>
          </a:p>
        </p:txBody>
      </p:sp>
      <p:sp>
        <p:nvSpPr>
          <p:cNvPr id="40" name="Text 37"/>
          <p:cNvSpPr/>
          <p:nvPr/>
        </p:nvSpPr>
        <p:spPr>
          <a:xfrm>
            <a:off x="5068798" y="3343108"/>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Regulatory compliance (meets many industry requirements)</a:t>
            </a:r>
            <a:endParaRPr lang="en-US" sz="727" dirty="0"/>
          </a:p>
        </p:txBody>
      </p:sp>
      <p:sp>
        <p:nvSpPr>
          <p:cNvPr id="41" name="Text 38"/>
          <p:cNvSpPr/>
          <p:nvPr/>
        </p:nvSpPr>
        <p:spPr>
          <a:xfrm>
            <a:off x="5068798" y="3554546"/>
            <a:ext cx="3718015" cy="140001"/>
          </a:xfrm>
          <a:prstGeom prst="rect">
            <a:avLst/>
          </a:prstGeom>
          <a:noFill/>
          <a:ln/>
        </p:spPr>
        <p:txBody>
          <a:bodyPr wrap="none" lIns="127508" tIns="0" rIns="0" bIns="0" rtlCol="0" anchor="t">
            <a:spAutoFit/>
          </a:bodyPr>
          <a:lstStyle/>
          <a:p>
            <a:pPr marL="0" indent="0" algn="l">
              <a:lnSpc>
                <a:spcPts val="1100"/>
              </a:lnSpc>
              <a:buNone/>
            </a:pPr>
            <a:r>
              <a:rPr lang="en-US" sz="727" dirty="0">
                <a:solidFill>
                  <a:srgbClr val="B8C5D6"/>
                </a:solidFill>
              </a:rPr>
              <a:t>Enhanced organizational resilience through systematic approach</a:t>
            </a:r>
            <a:endParaRPr lang="en-US" sz="727" dirty="0"/>
          </a:p>
        </p:txBody>
      </p:sp>
      <p:sp>
        <p:nvSpPr>
          <p:cNvPr id="42" name="Shape 39"/>
          <p:cNvSpPr/>
          <p:nvPr/>
        </p:nvSpPr>
        <p:spPr>
          <a:xfrm>
            <a:off x="5068798" y="3837422"/>
            <a:ext cx="3718015" cy="898634"/>
          </a:xfrm>
          <a:prstGeom prst="rect">
            <a:avLst/>
          </a:prstGeom>
          <a:solidFill>
            <a:srgbClr val="00D9FF">
              <a:alpha val="8000"/>
            </a:srgbClr>
          </a:solidFill>
          <a:ln w="18288">
            <a:solidFill>
              <a:srgbClr val="00D9FF"/>
            </a:solidFill>
            <a:prstDash val="solid"/>
          </a:ln>
        </p:spPr>
      </p:sp>
      <p:sp>
        <p:nvSpPr>
          <p:cNvPr id="43" name="Text 40"/>
          <p:cNvSpPr/>
          <p:nvPr/>
        </p:nvSpPr>
        <p:spPr>
          <a:xfrm>
            <a:off x="5168810" y="3937434"/>
            <a:ext cx="351799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KEY CLAUSE 8: OPERATION</a:t>
            </a:r>
            <a:endParaRPr lang="en-US" sz="885" dirty="0"/>
          </a:p>
        </p:txBody>
      </p:sp>
      <p:sp>
        <p:nvSpPr>
          <p:cNvPr id="44" name="Text 41"/>
          <p:cNvSpPr/>
          <p:nvPr/>
        </p:nvSpPr>
        <p:spPr>
          <a:xfrm>
            <a:off x="5168810" y="4187465"/>
            <a:ext cx="3517990" cy="420002"/>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FFFFFF"/>
                </a:solidFill>
              </a:rPr>
              <a:t>Core BC activities including Business Impact Analysis, risk assessment, BC strategies and solutions, and BC plans and procedures. Transforms planning into operational capability.</a:t>
            </a:r>
            <a:endParaRPr lang="en-US" sz="68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Comprehensive BC/DR Plans Provide Clear Guidance During Disruptions</a:t>
            </a:r>
            <a:endParaRPr lang="en-US" sz="1602" dirty="0"/>
          </a:p>
        </p:txBody>
      </p:sp>
      <p:sp>
        <p:nvSpPr>
          <p:cNvPr id="4" name="Shape 1"/>
          <p:cNvSpPr/>
          <p:nvPr/>
        </p:nvSpPr>
        <p:spPr>
          <a:xfrm>
            <a:off x="357188" y="761507"/>
            <a:ext cx="4107656" cy="885825"/>
          </a:xfrm>
          <a:prstGeom prst="rect">
            <a:avLst/>
          </a:prstGeom>
          <a:solidFill>
            <a:srgbClr val="00D9FF">
              <a:alpha val="3000"/>
            </a:srgbClr>
          </a:solidFill>
          <a:ln/>
        </p:spPr>
      </p:sp>
      <p:sp>
        <p:nvSpPr>
          <p:cNvPr id="5" name="Shape 2"/>
          <p:cNvSpPr/>
          <p:nvPr/>
        </p:nvSpPr>
        <p:spPr>
          <a:xfrm>
            <a:off x="357188" y="761507"/>
            <a:ext cx="21431" cy="885825"/>
          </a:xfrm>
          <a:prstGeom prst="rect">
            <a:avLst/>
          </a:prstGeom>
          <a:solidFill>
            <a:srgbClr val="00D9FF"/>
          </a:solidFill>
          <a:ln/>
        </p:spPr>
      </p:sp>
      <p:sp>
        <p:nvSpPr>
          <p:cNvPr id="6" name="Text 3"/>
          <p:cNvSpPr/>
          <p:nvPr/>
        </p:nvSpPr>
        <p:spPr>
          <a:xfrm>
            <a:off x="457200" y="861520"/>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EXECUTIVE SUMMARY &amp; PURPOSE</a:t>
            </a:r>
            <a:endParaRPr lang="en-US" sz="885" dirty="0"/>
          </a:p>
        </p:txBody>
      </p:sp>
      <p:sp>
        <p:nvSpPr>
          <p:cNvPr id="7" name="Text 4"/>
          <p:cNvSpPr/>
          <p:nvPr/>
        </p:nvSpPr>
        <p:spPr>
          <a:xfrm>
            <a:off x="457200" y="1097263"/>
            <a:ext cx="3907631"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Plan purpose, scope, and applicability. Defines what the plan covers, which business functions or systems it addresses, and when it should be activated. Enables quick understanding for executives and stakeholders.</a:t>
            </a:r>
            <a:endParaRPr lang="en-US" sz="780" dirty="0"/>
          </a:p>
        </p:txBody>
      </p:sp>
      <p:sp>
        <p:nvSpPr>
          <p:cNvPr id="8" name="Shape 5"/>
          <p:cNvSpPr/>
          <p:nvPr/>
        </p:nvSpPr>
        <p:spPr>
          <a:xfrm>
            <a:off x="357188" y="1733057"/>
            <a:ext cx="4107656" cy="885825"/>
          </a:xfrm>
          <a:prstGeom prst="rect">
            <a:avLst/>
          </a:prstGeom>
          <a:solidFill>
            <a:srgbClr val="00D9FF">
              <a:alpha val="3000"/>
            </a:srgbClr>
          </a:solidFill>
          <a:ln/>
        </p:spPr>
      </p:sp>
      <p:sp>
        <p:nvSpPr>
          <p:cNvPr id="9" name="Shape 6"/>
          <p:cNvSpPr/>
          <p:nvPr/>
        </p:nvSpPr>
        <p:spPr>
          <a:xfrm>
            <a:off x="357188" y="1733057"/>
            <a:ext cx="21431" cy="885825"/>
          </a:xfrm>
          <a:prstGeom prst="rect">
            <a:avLst/>
          </a:prstGeom>
          <a:solidFill>
            <a:srgbClr val="00D9FF"/>
          </a:solidFill>
          <a:ln/>
        </p:spPr>
      </p:sp>
      <p:sp>
        <p:nvSpPr>
          <p:cNvPr id="10" name="Text 7"/>
          <p:cNvSpPr/>
          <p:nvPr/>
        </p:nvSpPr>
        <p:spPr>
          <a:xfrm>
            <a:off x="457200" y="1833070"/>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ROLES &amp; RESPONSIBILITIES</a:t>
            </a:r>
            <a:endParaRPr lang="en-US" sz="885" dirty="0"/>
          </a:p>
        </p:txBody>
      </p:sp>
      <p:sp>
        <p:nvSpPr>
          <p:cNvPr id="11" name="Text 8"/>
          <p:cNvSpPr/>
          <p:nvPr/>
        </p:nvSpPr>
        <p:spPr>
          <a:xfrm>
            <a:off x="457200" y="2068813"/>
            <a:ext cx="3907631"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BC/DR team structure, specific roles (incident commander, communications lead, technical recovery lead), decision-making authority and escalation paths, contact information for all team members including alternates.</a:t>
            </a:r>
            <a:endParaRPr lang="en-US" sz="780" dirty="0"/>
          </a:p>
        </p:txBody>
      </p:sp>
      <p:sp>
        <p:nvSpPr>
          <p:cNvPr id="12" name="Shape 9"/>
          <p:cNvSpPr/>
          <p:nvPr/>
        </p:nvSpPr>
        <p:spPr>
          <a:xfrm>
            <a:off x="357188" y="2704607"/>
            <a:ext cx="4107656" cy="885825"/>
          </a:xfrm>
          <a:prstGeom prst="rect">
            <a:avLst/>
          </a:prstGeom>
          <a:solidFill>
            <a:srgbClr val="00D9FF">
              <a:alpha val="3000"/>
            </a:srgbClr>
          </a:solidFill>
          <a:ln/>
        </p:spPr>
      </p:sp>
      <p:sp>
        <p:nvSpPr>
          <p:cNvPr id="13" name="Shape 10"/>
          <p:cNvSpPr/>
          <p:nvPr/>
        </p:nvSpPr>
        <p:spPr>
          <a:xfrm>
            <a:off x="357188" y="2704607"/>
            <a:ext cx="21431" cy="885825"/>
          </a:xfrm>
          <a:prstGeom prst="rect">
            <a:avLst/>
          </a:prstGeom>
          <a:solidFill>
            <a:srgbClr val="00D9FF"/>
          </a:solidFill>
          <a:ln/>
        </p:spPr>
      </p:sp>
      <p:sp>
        <p:nvSpPr>
          <p:cNvPr id="14" name="Text 11"/>
          <p:cNvSpPr/>
          <p:nvPr/>
        </p:nvSpPr>
        <p:spPr>
          <a:xfrm>
            <a:off x="457200" y="2804620"/>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ACTIVATION &amp; NOTIFICATION</a:t>
            </a:r>
            <a:endParaRPr lang="en-US" sz="885" dirty="0"/>
          </a:p>
        </p:txBody>
      </p:sp>
      <p:sp>
        <p:nvSpPr>
          <p:cNvPr id="15" name="Text 12"/>
          <p:cNvSpPr/>
          <p:nvPr/>
        </p:nvSpPr>
        <p:spPr>
          <a:xfrm>
            <a:off x="457200" y="3040363"/>
            <a:ext cx="3907631"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Activation criteria and decision authority, notification procedures for team members and stakeholders, communication methods (primary and backup channels), initial assessment and situation reporting procedures.</a:t>
            </a:r>
            <a:endParaRPr lang="en-US" sz="780" dirty="0"/>
          </a:p>
        </p:txBody>
      </p:sp>
      <p:sp>
        <p:nvSpPr>
          <p:cNvPr id="16" name="Shape 13"/>
          <p:cNvSpPr/>
          <p:nvPr/>
        </p:nvSpPr>
        <p:spPr>
          <a:xfrm>
            <a:off x="357188" y="3676157"/>
            <a:ext cx="4107656" cy="1035844"/>
          </a:xfrm>
          <a:prstGeom prst="rect">
            <a:avLst/>
          </a:prstGeom>
          <a:solidFill>
            <a:srgbClr val="00D9FF">
              <a:alpha val="3000"/>
            </a:srgbClr>
          </a:solidFill>
          <a:ln/>
        </p:spPr>
      </p:sp>
      <p:sp>
        <p:nvSpPr>
          <p:cNvPr id="17" name="Shape 14"/>
          <p:cNvSpPr/>
          <p:nvPr/>
        </p:nvSpPr>
        <p:spPr>
          <a:xfrm>
            <a:off x="357188" y="3676157"/>
            <a:ext cx="21431" cy="1035844"/>
          </a:xfrm>
          <a:prstGeom prst="rect">
            <a:avLst/>
          </a:prstGeom>
          <a:solidFill>
            <a:srgbClr val="00D9FF"/>
          </a:solidFill>
          <a:ln/>
        </p:spPr>
      </p:sp>
      <p:sp>
        <p:nvSpPr>
          <p:cNvPr id="18" name="Text 15"/>
          <p:cNvSpPr/>
          <p:nvPr/>
        </p:nvSpPr>
        <p:spPr>
          <a:xfrm>
            <a:off x="457200" y="3776170"/>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RECOVERY PROCEDURES</a:t>
            </a:r>
            <a:endParaRPr lang="en-US" sz="885" dirty="0"/>
          </a:p>
        </p:txBody>
      </p:sp>
      <p:sp>
        <p:nvSpPr>
          <p:cNvPr id="19" name="Text 16"/>
          <p:cNvSpPr/>
          <p:nvPr/>
        </p:nvSpPr>
        <p:spPr>
          <a:xfrm>
            <a:off x="457200" y="4011913"/>
            <a:ext cx="3907631"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Detailed step-by-step recovery procedures organized by system or business function. Include prerequisites and dependencies, expected outcomes and validation criteria, estimated time requirements, and rollback procedures if recovery fails.</a:t>
            </a:r>
            <a:endParaRPr lang="en-US" sz="780" dirty="0"/>
          </a:p>
        </p:txBody>
      </p:sp>
      <p:sp>
        <p:nvSpPr>
          <p:cNvPr id="20" name="Shape 17"/>
          <p:cNvSpPr/>
          <p:nvPr/>
        </p:nvSpPr>
        <p:spPr>
          <a:xfrm>
            <a:off x="4679156" y="761507"/>
            <a:ext cx="4107656" cy="1035844"/>
          </a:xfrm>
          <a:prstGeom prst="rect">
            <a:avLst/>
          </a:prstGeom>
          <a:solidFill>
            <a:srgbClr val="00D9FF">
              <a:alpha val="3000"/>
            </a:srgbClr>
          </a:solidFill>
          <a:ln/>
        </p:spPr>
      </p:sp>
      <p:sp>
        <p:nvSpPr>
          <p:cNvPr id="21" name="Shape 18"/>
          <p:cNvSpPr/>
          <p:nvPr/>
        </p:nvSpPr>
        <p:spPr>
          <a:xfrm>
            <a:off x="4679156" y="761507"/>
            <a:ext cx="21431" cy="1035844"/>
          </a:xfrm>
          <a:prstGeom prst="rect">
            <a:avLst/>
          </a:prstGeom>
          <a:solidFill>
            <a:srgbClr val="00D9FF"/>
          </a:solidFill>
          <a:ln/>
        </p:spPr>
      </p:sp>
      <p:sp>
        <p:nvSpPr>
          <p:cNvPr id="22" name="Text 19"/>
          <p:cNvSpPr/>
          <p:nvPr/>
        </p:nvSpPr>
        <p:spPr>
          <a:xfrm>
            <a:off x="4779169" y="861520"/>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COMMUNICATION PLANS</a:t>
            </a:r>
            <a:endParaRPr lang="en-US" sz="885" dirty="0"/>
          </a:p>
        </p:txBody>
      </p:sp>
      <p:sp>
        <p:nvSpPr>
          <p:cNvPr id="23" name="Text 20"/>
          <p:cNvSpPr/>
          <p:nvPr/>
        </p:nvSpPr>
        <p:spPr>
          <a:xfrm>
            <a:off x="4779169" y="1097263"/>
            <a:ext cx="3907631"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Internal and external communication during disruptions. Stakeholder identification and requirements, communication templates for common scenarios, approval workflows for external communications, media management and regulatory notification requirements.</a:t>
            </a:r>
            <a:endParaRPr lang="en-US" sz="780" dirty="0"/>
          </a:p>
        </p:txBody>
      </p:sp>
      <p:sp>
        <p:nvSpPr>
          <p:cNvPr id="24" name="Shape 21"/>
          <p:cNvSpPr/>
          <p:nvPr/>
        </p:nvSpPr>
        <p:spPr>
          <a:xfrm>
            <a:off x="4679156" y="1883076"/>
            <a:ext cx="4107656" cy="1035844"/>
          </a:xfrm>
          <a:prstGeom prst="rect">
            <a:avLst/>
          </a:prstGeom>
          <a:solidFill>
            <a:srgbClr val="00D9FF">
              <a:alpha val="3000"/>
            </a:srgbClr>
          </a:solidFill>
          <a:ln/>
        </p:spPr>
      </p:sp>
      <p:sp>
        <p:nvSpPr>
          <p:cNvPr id="25" name="Shape 22"/>
          <p:cNvSpPr/>
          <p:nvPr/>
        </p:nvSpPr>
        <p:spPr>
          <a:xfrm>
            <a:off x="4679156" y="1883076"/>
            <a:ext cx="21431" cy="1035844"/>
          </a:xfrm>
          <a:prstGeom prst="rect">
            <a:avLst/>
          </a:prstGeom>
          <a:solidFill>
            <a:srgbClr val="00D9FF"/>
          </a:solidFill>
          <a:ln/>
        </p:spPr>
      </p:sp>
      <p:sp>
        <p:nvSpPr>
          <p:cNvPr id="26" name="Text 23"/>
          <p:cNvSpPr/>
          <p:nvPr/>
        </p:nvSpPr>
        <p:spPr>
          <a:xfrm>
            <a:off x="4779169" y="1983088"/>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RESOURCE REQUIREMENTS</a:t>
            </a:r>
            <a:endParaRPr lang="en-US" sz="885" dirty="0"/>
          </a:p>
        </p:txBody>
      </p:sp>
      <p:sp>
        <p:nvSpPr>
          <p:cNvPr id="27" name="Text 24"/>
          <p:cNvSpPr/>
          <p:nvPr/>
        </p:nvSpPr>
        <p:spPr>
          <a:xfrm>
            <a:off x="4779169" y="2218832"/>
            <a:ext cx="3907631"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Personnel (skills, numbers, availability), technology (hardware, software, licenses, credentials), facilities (alternate sites, workspace, utilities), vendors and service providers (contact information, contracts, SLAs), supplies and equipment.</a:t>
            </a:r>
            <a:endParaRPr lang="en-US" sz="780" dirty="0"/>
          </a:p>
        </p:txBody>
      </p:sp>
      <p:sp>
        <p:nvSpPr>
          <p:cNvPr id="28" name="Shape 25"/>
          <p:cNvSpPr/>
          <p:nvPr/>
        </p:nvSpPr>
        <p:spPr>
          <a:xfrm>
            <a:off x="4679156" y="3004645"/>
            <a:ext cx="4107656" cy="885825"/>
          </a:xfrm>
          <a:prstGeom prst="rect">
            <a:avLst/>
          </a:prstGeom>
          <a:solidFill>
            <a:srgbClr val="00D9FF">
              <a:alpha val="3000"/>
            </a:srgbClr>
          </a:solidFill>
          <a:ln/>
        </p:spPr>
      </p:sp>
      <p:sp>
        <p:nvSpPr>
          <p:cNvPr id="29" name="Shape 26"/>
          <p:cNvSpPr/>
          <p:nvPr/>
        </p:nvSpPr>
        <p:spPr>
          <a:xfrm>
            <a:off x="4679156" y="3004645"/>
            <a:ext cx="21431" cy="885825"/>
          </a:xfrm>
          <a:prstGeom prst="rect">
            <a:avLst/>
          </a:prstGeom>
          <a:solidFill>
            <a:srgbClr val="00D9FF"/>
          </a:solidFill>
          <a:ln/>
        </p:spPr>
      </p:sp>
      <p:sp>
        <p:nvSpPr>
          <p:cNvPr id="30" name="Text 27"/>
          <p:cNvSpPr/>
          <p:nvPr/>
        </p:nvSpPr>
        <p:spPr>
          <a:xfrm>
            <a:off x="4779169" y="3104657"/>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TESTING &amp; MAINTENANCE</a:t>
            </a:r>
            <a:endParaRPr lang="en-US" sz="885" dirty="0"/>
          </a:p>
        </p:txBody>
      </p:sp>
      <p:sp>
        <p:nvSpPr>
          <p:cNvPr id="31" name="Text 28"/>
          <p:cNvSpPr/>
          <p:nvPr/>
        </p:nvSpPr>
        <p:spPr>
          <a:xfrm>
            <a:off x="4779169" y="3340401"/>
            <a:ext cx="3907631"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Testing schedule and methodologies, maintenance procedures and update frequency, version control and change management, distribution and access procedures, training requirements for plan users.</a:t>
            </a:r>
            <a:endParaRPr lang="en-US" sz="780" dirty="0"/>
          </a:p>
        </p:txBody>
      </p:sp>
      <p:sp>
        <p:nvSpPr>
          <p:cNvPr id="32" name="Shape 29"/>
          <p:cNvSpPr/>
          <p:nvPr/>
        </p:nvSpPr>
        <p:spPr>
          <a:xfrm>
            <a:off x="4679156" y="3976195"/>
            <a:ext cx="4107656" cy="1035844"/>
          </a:xfrm>
          <a:prstGeom prst="rect">
            <a:avLst/>
          </a:prstGeom>
          <a:solidFill>
            <a:srgbClr val="00D9FF">
              <a:alpha val="3000"/>
            </a:srgbClr>
          </a:solidFill>
          <a:ln/>
        </p:spPr>
      </p:sp>
      <p:sp>
        <p:nvSpPr>
          <p:cNvPr id="33" name="Shape 30"/>
          <p:cNvSpPr/>
          <p:nvPr/>
        </p:nvSpPr>
        <p:spPr>
          <a:xfrm>
            <a:off x="4679156" y="3976195"/>
            <a:ext cx="21431" cy="1035844"/>
          </a:xfrm>
          <a:prstGeom prst="rect">
            <a:avLst/>
          </a:prstGeom>
          <a:solidFill>
            <a:srgbClr val="00D9FF"/>
          </a:solidFill>
          <a:ln/>
        </p:spPr>
      </p:sp>
      <p:sp>
        <p:nvSpPr>
          <p:cNvPr id="34" name="Text 31"/>
          <p:cNvSpPr/>
          <p:nvPr/>
        </p:nvSpPr>
        <p:spPr>
          <a:xfrm>
            <a:off x="4779169" y="4076207"/>
            <a:ext cx="3907631"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APPENDICES &amp; SUPPORTING INFO</a:t>
            </a:r>
            <a:endParaRPr lang="en-US" sz="885" dirty="0"/>
          </a:p>
        </p:txBody>
      </p:sp>
      <p:sp>
        <p:nvSpPr>
          <p:cNvPr id="35" name="Text 32"/>
          <p:cNvSpPr/>
          <p:nvPr/>
        </p:nvSpPr>
        <p:spPr>
          <a:xfrm>
            <a:off x="4779169" y="4311951"/>
            <a:ext cx="3907631" cy="600075"/>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B8C5D6"/>
                </a:solidFill>
              </a:rPr>
              <a:t>System inventories and configurations, network diagrams and architecture documentation, vendor contact information and contracts, regulatory requirements and compliance obligations, forms and templates, glossary of terms.</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97537"/>
          </a:xfrm>
          <a:prstGeom prst="rect">
            <a:avLst/>
          </a:prstGeom>
        </p:spPr>
      </p:pic>
      <p:sp>
        <p:nvSpPr>
          <p:cNvPr id="3" name="Text 0"/>
          <p:cNvSpPr/>
          <p:nvPr/>
        </p:nvSpPr>
        <p:spPr>
          <a:xfrm>
            <a:off x="357188" y="285750"/>
            <a:ext cx="8429625"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Regular Testing Validates Plans and Builds Team Capability</a:t>
            </a:r>
            <a:endParaRPr lang="en-US" sz="1602" dirty="0"/>
          </a:p>
        </p:txBody>
      </p:sp>
      <p:sp>
        <p:nvSpPr>
          <p:cNvPr id="4" name="Shape 1"/>
          <p:cNvSpPr/>
          <p:nvPr/>
        </p:nvSpPr>
        <p:spPr>
          <a:xfrm>
            <a:off x="357188" y="761507"/>
            <a:ext cx="4623234" cy="827196"/>
          </a:xfrm>
          <a:prstGeom prst="rect">
            <a:avLst/>
          </a:prstGeom>
          <a:solidFill>
            <a:srgbClr val="00D9FF">
              <a:alpha val="5000"/>
            </a:srgbClr>
          </a:solidFill>
          <a:ln/>
        </p:spPr>
      </p:sp>
      <p:sp>
        <p:nvSpPr>
          <p:cNvPr id="5" name="Shape 2"/>
          <p:cNvSpPr/>
          <p:nvPr/>
        </p:nvSpPr>
        <p:spPr>
          <a:xfrm>
            <a:off x="357188" y="761507"/>
            <a:ext cx="28575" cy="827196"/>
          </a:xfrm>
          <a:prstGeom prst="rect">
            <a:avLst/>
          </a:prstGeom>
          <a:solidFill>
            <a:srgbClr val="00D9FF"/>
          </a:solidFill>
          <a:ln/>
        </p:spPr>
      </p:sp>
      <p:sp>
        <p:nvSpPr>
          <p:cNvPr id="6" name="Text 3"/>
          <p:cNvSpPr/>
          <p:nvPr/>
        </p:nvSpPr>
        <p:spPr>
          <a:xfrm>
            <a:off x="442913" y="847232"/>
            <a:ext cx="132385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TABLETOP EXERCISE</a:t>
            </a:r>
            <a:endParaRPr lang="en-US" sz="885" dirty="0"/>
          </a:p>
        </p:txBody>
      </p:sp>
      <p:sp>
        <p:nvSpPr>
          <p:cNvPr id="7" name="Shape 4"/>
          <p:cNvSpPr/>
          <p:nvPr/>
        </p:nvSpPr>
        <p:spPr>
          <a:xfrm>
            <a:off x="4309858" y="850804"/>
            <a:ext cx="584839" cy="185738"/>
          </a:xfrm>
          <a:prstGeom prst="rect">
            <a:avLst/>
          </a:prstGeom>
          <a:solidFill>
            <a:srgbClr val="00D9FF">
              <a:alpha val="20000"/>
            </a:srgbClr>
          </a:solidFill>
          <a:ln/>
        </p:spPr>
      </p:sp>
      <p:sp>
        <p:nvSpPr>
          <p:cNvPr id="8" name="Text 5"/>
          <p:cNvSpPr/>
          <p:nvPr/>
        </p:nvSpPr>
        <p:spPr>
          <a:xfrm>
            <a:off x="4309858" y="850804"/>
            <a:ext cx="584839" cy="185738"/>
          </a:xfrm>
          <a:prstGeom prst="rect">
            <a:avLst/>
          </a:prstGeom>
          <a:noFill/>
          <a:ln/>
        </p:spPr>
        <p:txBody>
          <a:bodyPr wrap="none" lIns="85090" tIns="34036" rIns="85090" bIns="34036" rtlCol="0" anchor="t">
            <a:spAutoFit/>
          </a:bodyPr>
          <a:lstStyle/>
          <a:p>
            <a:pPr marL="0" indent="0" algn="l">
              <a:lnSpc>
                <a:spcPts val="1000"/>
              </a:lnSpc>
              <a:buNone/>
            </a:pPr>
            <a:r>
              <a:rPr lang="en-US" sz="584" b="1" dirty="0">
                <a:solidFill>
                  <a:srgbClr val="00D9FF"/>
                </a:solidFill>
              </a:rPr>
              <a:t>LOW RISK</a:t>
            </a:r>
            <a:endParaRPr lang="en-US" sz="584" dirty="0"/>
          </a:p>
        </p:txBody>
      </p:sp>
      <p:sp>
        <p:nvSpPr>
          <p:cNvPr id="9" name="Text 6"/>
          <p:cNvSpPr/>
          <p:nvPr/>
        </p:nvSpPr>
        <p:spPr>
          <a:xfrm>
            <a:off x="442913" y="1082976"/>
            <a:ext cx="4451784"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Discussion-based session where team members talk through responses to scenario. No actual system changes. </a:t>
            </a:r>
            <a:r>
              <a:rPr lang="en-US" sz="683" b="1" dirty="0">
                <a:solidFill>
                  <a:srgbClr val="FFFFFF"/>
                </a:solidFill>
              </a:rPr>
              <a:t>Frequency:</a:t>
            </a:r>
            <a:r>
              <a:rPr lang="en-US" sz="727" dirty="0">
                <a:solidFill>
                  <a:srgbClr val="B8C5D6"/>
                </a:solidFill>
              </a:rPr>
              <a:t> Quarterly. </a:t>
            </a:r>
            <a:r>
              <a:rPr lang="en-US" sz="683" b="1" dirty="0">
                <a:solidFill>
                  <a:srgbClr val="FFFFFF"/>
                </a:solidFill>
              </a:rPr>
              <a:t>Best for:</a:t>
            </a:r>
            <a:r>
              <a:rPr lang="en-US" sz="727" dirty="0">
                <a:solidFill>
                  <a:srgbClr val="B8C5D6"/>
                </a:solidFill>
              </a:rPr>
              <a:t> Plan review, team coordination, identifying gaps.</a:t>
            </a:r>
            <a:endParaRPr lang="en-US" sz="727" dirty="0"/>
          </a:p>
        </p:txBody>
      </p:sp>
      <p:sp>
        <p:nvSpPr>
          <p:cNvPr id="10" name="Shape 7"/>
          <p:cNvSpPr/>
          <p:nvPr/>
        </p:nvSpPr>
        <p:spPr>
          <a:xfrm>
            <a:off x="357188" y="1688716"/>
            <a:ext cx="4623234" cy="827196"/>
          </a:xfrm>
          <a:prstGeom prst="rect">
            <a:avLst/>
          </a:prstGeom>
          <a:solidFill>
            <a:srgbClr val="00D9FF">
              <a:alpha val="3000"/>
            </a:srgbClr>
          </a:solidFill>
          <a:ln/>
        </p:spPr>
      </p:sp>
      <p:sp>
        <p:nvSpPr>
          <p:cNvPr id="11" name="Shape 8"/>
          <p:cNvSpPr/>
          <p:nvPr/>
        </p:nvSpPr>
        <p:spPr>
          <a:xfrm>
            <a:off x="357188" y="1688716"/>
            <a:ext cx="28575" cy="827196"/>
          </a:xfrm>
          <a:prstGeom prst="rect">
            <a:avLst/>
          </a:prstGeom>
          <a:solidFill>
            <a:srgbClr val="B8C5D6"/>
          </a:solidFill>
          <a:ln/>
        </p:spPr>
      </p:sp>
      <p:sp>
        <p:nvSpPr>
          <p:cNvPr id="12" name="Text 9"/>
          <p:cNvSpPr/>
          <p:nvPr/>
        </p:nvSpPr>
        <p:spPr>
          <a:xfrm>
            <a:off x="442913" y="1774441"/>
            <a:ext cx="139705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B8C5D6"/>
                </a:solidFill>
              </a:rPr>
              <a:t>WALKTHROUGH TEST</a:t>
            </a:r>
            <a:endParaRPr lang="en-US" sz="885" dirty="0"/>
          </a:p>
        </p:txBody>
      </p:sp>
      <p:sp>
        <p:nvSpPr>
          <p:cNvPr id="13" name="Shape 10"/>
          <p:cNvSpPr/>
          <p:nvPr/>
        </p:nvSpPr>
        <p:spPr>
          <a:xfrm>
            <a:off x="4016462" y="1778012"/>
            <a:ext cx="878235" cy="185738"/>
          </a:xfrm>
          <a:prstGeom prst="rect">
            <a:avLst/>
          </a:prstGeom>
          <a:solidFill>
            <a:srgbClr val="B8C5D6">
              <a:alpha val="20000"/>
            </a:srgbClr>
          </a:solidFill>
          <a:ln/>
        </p:spPr>
      </p:sp>
      <p:sp>
        <p:nvSpPr>
          <p:cNvPr id="14" name="Text 11"/>
          <p:cNvSpPr/>
          <p:nvPr/>
        </p:nvSpPr>
        <p:spPr>
          <a:xfrm>
            <a:off x="4016462" y="1778012"/>
            <a:ext cx="878235" cy="185738"/>
          </a:xfrm>
          <a:prstGeom prst="rect">
            <a:avLst/>
          </a:prstGeom>
          <a:noFill/>
          <a:ln/>
        </p:spPr>
        <p:txBody>
          <a:bodyPr wrap="none" lIns="85090" tIns="34036" rIns="85090" bIns="34036" rtlCol="0" anchor="t">
            <a:spAutoFit/>
          </a:bodyPr>
          <a:lstStyle/>
          <a:p>
            <a:pPr marL="0" indent="0" algn="l">
              <a:lnSpc>
                <a:spcPts val="1000"/>
              </a:lnSpc>
              <a:buNone/>
            </a:pPr>
            <a:r>
              <a:rPr lang="en-US" sz="584" b="1" dirty="0">
                <a:solidFill>
                  <a:srgbClr val="B8C5D6"/>
                </a:solidFill>
              </a:rPr>
              <a:t>LOW-MODERATE</a:t>
            </a:r>
            <a:endParaRPr lang="en-US" sz="584" dirty="0"/>
          </a:p>
        </p:txBody>
      </p:sp>
      <p:sp>
        <p:nvSpPr>
          <p:cNvPr id="15" name="Text 12"/>
          <p:cNvSpPr/>
          <p:nvPr/>
        </p:nvSpPr>
        <p:spPr>
          <a:xfrm>
            <a:off x="442913" y="2010184"/>
            <a:ext cx="4451784"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Step-by-step review of plan procedures with team members simulating actions verbally. May review documentation and verify resources. </a:t>
            </a:r>
            <a:r>
              <a:rPr lang="en-US" sz="683" b="1" dirty="0">
                <a:solidFill>
                  <a:srgbClr val="FFFFFF"/>
                </a:solidFill>
              </a:rPr>
              <a:t>Frequency:</a:t>
            </a:r>
            <a:r>
              <a:rPr lang="en-US" sz="727" dirty="0">
                <a:solidFill>
                  <a:srgbClr val="B8C5D6"/>
                </a:solidFill>
              </a:rPr>
              <a:t> Semi-annually. </a:t>
            </a:r>
            <a:r>
              <a:rPr lang="en-US" sz="683" b="1" dirty="0">
                <a:solidFill>
                  <a:srgbClr val="FFFFFF"/>
                </a:solidFill>
              </a:rPr>
              <a:t>Best for:</a:t>
            </a:r>
            <a:r>
              <a:rPr lang="en-US" sz="727" dirty="0">
                <a:solidFill>
                  <a:srgbClr val="B8C5D6"/>
                </a:solidFill>
              </a:rPr>
              <a:t> Procedure validation, role clarification.</a:t>
            </a:r>
            <a:endParaRPr lang="en-US" sz="727" dirty="0"/>
          </a:p>
        </p:txBody>
      </p:sp>
      <p:sp>
        <p:nvSpPr>
          <p:cNvPr id="16" name="Shape 13"/>
          <p:cNvSpPr/>
          <p:nvPr/>
        </p:nvSpPr>
        <p:spPr>
          <a:xfrm>
            <a:off x="357188" y="2615924"/>
            <a:ext cx="4623234" cy="827196"/>
          </a:xfrm>
          <a:prstGeom prst="rect">
            <a:avLst/>
          </a:prstGeom>
          <a:solidFill>
            <a:srgbClr val="FFB020">
              <a:alpha val="3000"/>
            </a:srgbClr>
          </a:solidFill>
          <a:ln/>
        </p:spPr>
      </p:sp>
      <p:sp>
        <p:nvSpPr>
          <p:cNvPr id="17" name="Shape 14"/>
          <p:cNvSpPr/>
          <p:nvPr/>
        </p:nvSpPr>
        <p:spPr>
          <a:xfrm>
            <a:off x="357188" y="2615924"/>
            <a:ext cx="28575" cy="827196"/>
          </a:xfrm>
          <a:prstGeom prst="rect">
            <a:avLst/>
          </a:prstGeom>
          <a:solidFill>
            <a:srgbClr val="FFB020"/>
          </a:solidFill>
          <a:ln/>
        </p:spPr>
      </p:sp>
      <p:sp>
        <p:nvSpPr>
          <p:cNvPr id="18" name="Text 15"/>
          <p:cNvSpPr/>
          <p:nvPr/>
        </p:nvSpPr>
        <p:spPr>
          <a:xfrm>
            <a:off x="442913" y="2701649"/>
            <a:ext cx="151383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SIMULATION EXERCISE</a:t>
            </a:r>
            <a:endParaRPr lang="en-US" sz="885" dirty="0"/>
          </a:p>
        </p:txBody>
      </p:sp>
      <p:sp>
        <p:nvSpPr>
          <p:cNvPr id="19" name="Shape 16"/>
          <p:cNvSpPr/>
          <p:nvPr/>
        </p:nvSpPr>
        <p:spPr>
          <a:xfrm>
            <a:off x="4255331" y="2705221"/>
            <a:ext cx="639366" cy="185738"/>
          </a:xfrm>
          <a:prstGeom prst="rect">
            <a:avLst/>
          </a:prstGeom>
          <a:solidFill>
            <a:srgbClr val="FFB020">
              <a:alpha val="20000"/>
            </a:srgbClr>
          </a:solidFill>
          <a:ln/>
        </p:spPr>
      </p:sp>
      <p:sp>
        <p:nvSpPr>
          <p:cNvPr id="20" name="Text 17"/>
          <p:cNvSpPr/>
          <p:nvPr/>
        </p:nvSpPr>
        <p:spPr>
          <a:xfrm>
            <a:off x="4255331" y="2705221"/>
            <a:ext cx="639366" cy="185738"/>
          </a:xfrm>
          <a:prstGeom prst="rect">
            <a:avLst/>
          </a:prstGeom>
          <a:noFill/>
          <a:ln/>
        </p:spPr>
        <p:txBody>
          <a:bodyPr wrap="none" lIns="85090" tIns="34036" rIns="85090" bIns="34036" rtlCol="0" anchor="t">
            <a:spAutoFit/>
          </a:bodyPr>
          <a:lstStyle/>
          <a:p>
            <a:pPr marL="0" indent="0" algn="l">
              <a:lnSpc>
                <a:spcPts val="1000"/>
              </a:lnSpc>
              <a:buNone/>
            </a:pPr>
            <a:r>
              <a:rPr lang="en-US" sz="584" b="1" dirty="0">
                <a:solidFill>
                  <a:srgbClr val="FFB020"/>
                </a:solidFill>
              </a:rPr>
              <a:t>MODERATE</a:t>
            </a:r>
            <a:endParaRPr lang="en-US" sz="584" dirty="0"/>
          </a:p>
        </p:txBody>
      </p:sp>
      <p:sp>
        <p:nvSpPr>
          <p:cNvPr id="21" name="Text 18"/>
          <p:cNvSpPr/>
          <p:nvPr/>
        </p:nvSpPr>
        <p:spPr>
          <a:xfrm>
            <a:off x="442913" y="2937393"/>
            <a:ext cx="4451784"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Realistic scenario with time pressure requiring team to respond as if real incident. Some system testing in isolated environments. </a:t>
            </a:r>
            <a:r>
              <a:rPr lang="en-US" sz="683" b="1" dirty="0">
                <a:solidFill>
                  <a:srgbClr val="FFFFFF"/>
                </a:solidFill>
              </a:rPr>
              <a:t>Frequency:</a:t>
            </a:r>
            <a:r>
              <a:rPr lang="en-US" sz="727" dirty="0">
                <a:solidFill>
                  <a:srgbClr val="B8C5D6"/>
                </a:solidFill>
              </a:rPr>
              <a:t> Annually. </a:t>
            </a:r>
            <a:r>
              <a:rPr lang="en-US" sz="683" b="1" dirty="0">
                <a:solidFill>
                  <a:srgbClr val="FFFFFF"/>
                </a:solidFill>
              </a:rPr>
              <a:t>Best for:</a:t>
            </a:r>
            <a:r>
              <a:rPr lang="en-US" sz="727" dirty="0">
                <a:solidFill>
                  <a:srgbClr val="B8C5D6"/>
                </a:solidFill>
              </a:rPr>
              <a:t> Decision-making practice, stress testing procedures.</a:t>
            </a:r>
            <a:endParaRPr lang="en-US" sz="727" dirty="0"/>
          </a:p>
        </p:txBody>
      </p:sp>
      <p:sp>
        <p:nvSpPr>
          <p:cNvPr id="22" name="Shape 19"/>
          <p:cNvSpPr/>
          <p:nvPr/>
        </p:nvSpPr>
        <p:spPr>
          <a:xfrm>
            <a:off x="357188" y="3543133"/>
            <a:ext cx="4623234" cy="827196"/>
          </a:xfrm>
          <a:prstGeom prst="rect">
            <a:avLst/>
          </a:prstGeom>
          <a:solidFill>
            <a:srgbClr val="FFB020">
              <a:alpha val="5000"/>
            </a:srgbClr>
          </a:solidFill>
          <a:ln/>
        </p:spPr>
      </p:sp>
      <p:sp>
        <p:nvSpPr>
          <p:cNvPr id="23" name="Shape 20"/>
          <p:cNvSpPr/>
          <p:nvPr/>
        </p:nvSpPr>
        <p:spPr>
          <a:xfrm>
            <a:off x="357188" y="3543133"/>
            <a:ext cx="28575" cy="827196"/>
          </a:xfrm>
          <a:prstGeom prst="rect">
            <a:avLst/>
          </a:prstGeom>
          <a:solidFill>
            <a:srgbClr val="FFB020"/>
          </a:solidFill>
          <a:ln/>
        </p:spPr>
      </p:sp>
      <p:sp>
        <p:nvSpPr>
          <p:cNvPr id="24" name="Text 21"/>
          <p:cNvSpPr/>
          <p:nvPr/>
        </p:nvSpPr>
        <p:spPr>
          <a:xfrm>
            <a:off x="442913" y="3628858"/>
            <a:ext cx="99825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PARALLEL TEST</a:t>
            </a:r>
            <a:endParaRPr lang="en-US" sz="885" dirty="0"/>
          </a:p>
        </p:txBody>
      </p:sp>
      <p:sp>
        <p:nvSpPr>
          <p:cNvPr id="25" name="Shape 22"/>
          <p:cNvSpPr/>
          <p:nvPr/>
        </p:nvSpPr>
        <p:spPr>
          <a:xfrm>
            <a:off x="3983310" y="3632429"/>
            <a:ext cx="911386" cy="185738"/>
          </a:xfrm>
          <a:prstGeom prst="rect">
            <a:avLst/>
          </a:prstGeom>
          <a:solidFill>
            <a:srgbClr val="FFB020">
              <a:alpha val="30000"/>
            </a:srgbClr>
          </a:solidFill>
          <a:ln/>
        </p:spPr>
      </p:sp>
      <p:sp>
        <p:nvSpPr>
          <p:cNvPr id="26" name="Text 23"/>
          <p:cNvSpPr/>
          <p:nvPr/>
        </p:nvSpPr>
        <p:spPr>
          <a:xfrm>
            <a:off x="3983310" y="3632429"/>
            <a:ext cx="911386" cy="185738"/>
          </a:xfrm>
          <a:prstGeom prst="rect">
            <a:avLst/>
          </a:prstGeom>
          <a:noFill/>
          <a:ln/>
        </p:spPr>
        <p:txBody>
          <a:bodyPr wrap="none" lIns="85090" tIns="34036" rIns="85090" bIns="34036" rtlCol="0" anchor="t">
            <a:spAutoFit/>
          </a:bodyPr>
          <a:lstStyle/>
          <a:p>
            <a:pPr marL="0" indent="0" algn="l">
              <a:lnSpc>
                <a:spcPts val="1000"/>
              </a:lnSpc>
              <a:buNone/>
            </a:pPr>
            <a:r>
              <a:rPr lang="en-US" sz="584" b="1" dirty="0">
                <a:solidFill>
                  <a:srgbClr val="FFB020"/>
                </a:solidFill>
              </a:rPr>
              <a:t>MODERATE-HIGH</a:t>
            </a:r>
            <a:endParaRPr lang="en-US" sz="584" dirty="0"/>
          </a:p>
        </p:txBody>
      </p:sp>
      <p:sp>
        <p:nvSpPr>
          <p:cNvPr id="27" name="Text 24"/>
          <p:cNvSpPr/>
          <p:nvPr/>
        </p:nvSpPr>
        <p:spPr>
          <a:xfrm>
            <a:off x="442913" y="3864601"/>
            <a:ext cx="4451784"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Recovery systems activated alongside production systems. Validates recovery capability without risking production. </a:t>
            </a:r>
            <a:r>
              <a:rPr lang="en-US" sz="683" b="1" dirty="0">
                <a:solidFill>
                  <a:srgbClr val="FFFFFF"/>
                </a:solidFill>
              </a:rPr>
              <a:t>Frequency:</a:t>
            </a:r>
            <a:r>
              <a:rPr lang="en-US" sz="727" dirty="0">
                <a:solidFill>
                  <a:srgbClr val="B8C5D6"/>
                </a:solidFill>
              </a:rPr>
              <a:t> Annually. </a:t>
            </a:r>
            <a:r>
              <a:rPr lang="en-US" sz="683" b="1" dirty="0">
                <a:solidFill>
                  <a:srgbClr val="FFFFFF"/>
                </a:solidFill>
              </a:rPr>
              <a:t>Best for:</a:t>
            </a:r>
            <a:r>
              <a:rPr lang="en-US" sz="727" dirty="0">
                <a:solidFill>
                  <a:srgbClr val="B8C5D6"/>
                </a:solidFill>
              </a:rPr>
              <a:t> Technology validation, performance testing.</a:t>
            </a:r>
            <a:endParaRPr lang="en-US" sz="727" dirty="0"/>
          </a:p>
        </p:txBody>
      </p:sp>
      <p:sp>
        <p:nvSpPr>
          <p:cNvPr id="28" name="Shape 25"/>
          <p:cNvSpPr/>
          <p:nvPr/>
        </p:nvSpPr>
        <p:spPr>
          <a:xfrm>
            <a:off x="357188" y="4470341"/>
            <a:ext cx="4623234" cy="827196"/>
          </a:xfrm>
          <a:prstGeom prst="rect">
            <a:avLst/>
          </a:prstGeom>
          <a:solidFill>
            <a:srgbClr val="FF3C3C">
              <a:alpha val="8000"/>
            </a:srgbClr>
          </a:solidFill>
          <a:ln/>
        </p:spPr>
      </p:sp>
      <p:sp>
        <p:nvSpPr>
          <p:cNvPr id="29" name="Shape 26"/>
          <p:cNvSpPr/>
          <p:nvPr/>
        </p:nvSpPr>
        <p:spPr>
          <a:xfrm>
            <a:off x="357188" y="4470341"/>
            <a:ext cx="28575" cy="827196"/>
          </a:xfrm>
          <a:prstGeom prst="rect">
            <a:avLst/>
          </a:prstGeom>
          <a:solidFill>
            <a:srgbClr val="FF3C3C"/>
          </a:solidFill>
          <a:ln/>
        </p:spPr>
      </p:sp>
      <p:sp>
        <p:nvSpPr>
          <p:cNvPr id="30" name="Text 27"/>
          <p:cNvSpPr/>
          <p:nvPr/>
        </p:nvSpPr>
        <p:spPr>
          <a:xfrm>
            <a:off x="442913" y="4556066"/>
            <a:ext cx="173043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3C3C"/>
                </a:solidFill>
              </a:rPr>
              <a:t>FULL INTERRUPTION TEST</a:t>
            </a:r>
            <a:endParaRPr lang="en-US" sz="885" dirty="0"/>
          </a:p>
        </p:txBody>
      </p:sp>
      <p:sp>
        <p:nvSpPr>
          <p:cNvPr id="31" name="Shape 28"/>
          <p:cNvSpPr/>
          <p:nvPr/>
        </p:nvSpPr>
        <p:spPr>
          <a:xfrm>
            <a:off x="4276706" y="4559638"/>
            <a:ext cx="617990" cy="185738"/>
          </a:xfrm>
          <a:prstGeom prst="rect">
            <a:avLst/>
          </a:prstGeom>
          <a:solidFill>
            <a:srgbClr val="FF3C3C">
              <a:alpha val="30000"/>
            </a:srgbClr>
          </a:solidFill>
          <a:ln/>
        </p:spPr>
      </p:sp>
      <p:sp>
        <p:nvSpPr>
          <p:cNvPr id="32" name="Text 29"/>
          <p:cNvSpPr/>
          <p:nvPr/>
        </p:nvSpPr>
        <p:spPr>
          <a:xfrm>
            <a:off x="4276706" y="4559638"/>
            <a:ext cx="617990" cy="185738"/>
          </a:xfrm>
          <a:prstGeom prst="rect">
            <a:avLst/>
          </a:prstGeom>
          <a:noFill/>
          <a:ln/>
        </p:spPr>
        <p:txBody>
          <a:bodyPr wrap="none" lIns="85090" tIns="34036" rIns="85090" bIns="34036" rtlCol="0" anchor="t">
            <a:spAutoFit/>
          </a:bodyPr>
          <a:lstStyle/>
          <a:p>
            <a:pPr marL="0" indent="0" algn="l">
              <a:lnSpc>
                <a:spcPts val="1000"/>
              </a:lnSpc>
              <a:buNone/>
            </a:pPr>
            <a:r>
              <a:rPr lang="en-US" sz="584" b="1" dirty="0">
                <a:solidFill>
                  <a:srgbClr val="FF3C3C"/>
                </a:solidFill>
              </a:rPr>
              <a:t>HIGH RISK</a:t>
            </a:r>
            <a:endParaRPr lang="en-US" sz="584" dirty="0"/>
          </a:p>
        </p:txBody>
      </p:sp>
      <p:sp>
        <p:nvSpPr>
          <p:cNvPr id="33" name="Text 30"/>
          <p:cNvSpPr/>
          <p:nvPr/>
        </p:nvSpPr>
        <p:spPr>
          <a:xfrm>
            <a:off x="442913" y="4791810"/>
            <a:ext cx="4451784"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Production systems actually shut down with complete failover to recovery systems. Rarely performed due to business impact. </a:t>
            </a:r>
            <a:r>
              <a:rPr lang="en-US" sz="683" b="1" dirty="0">
                <a:solidFill>
                  <a:srgbClr val="FFFFFF"/>
                </a:solidFill>
              </a:rPr>
              <a:t>Frequency:</a:t>
            </a:r>
            <a:r>
              <a:rPr lang="en-US" sz="727" dirty="0">
                <a:solidFill>
                  <a:srgbClr val="B8C5D6"/>
                </a:solidFill>
              </a:rPr>
              <a:t> Every 2-3 years (if at all). </a:t>
            </a:r>
            <a:r>
              <a:rPr lang="en-US" sz="683" b="1" dirty="0">
                <a:solidFill>
                  <a:srgbClr val="FFFFFF"/>
                </a:solidFill>
              </a:rPr>
              <a:t>Best for:</a:t>
            </a:r>
            <a:r>
              <a:rPr lang="en-US" sz="727" dirty="0">
                <a:solidFill>
                  <a:srgbClr val="B8C5D6"/>
                </a:solidFill>
              </a:rPr>
              <a:t> Complete validation, regulatory compliance.</a:t>
            </a:r>
            <a:endParaRPr lang="en-US" sz="727" dirty="0"/>
          </a:p>
        </p:txBody>
      </p:sp>
      <p:sp>
        <p:nvSpPr>
          <p:cNvPr id="34" name="Text 31"/>
          <p:cNvSpPr/>
          <p:nvPr/>
        </p:nvSpPr>
        <p:spPr>
          <a:xfrm>
            <a:off x="5230453" y="761507"/>
            <a:ext cx="355636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TESTING BEST PRACTICES</a:t>
            </a:r>
            <a:endParaRPr lang="en-US" sz="885" dirty="0"/>
          </a:p>
        </p:txBody>
      </p:sp>
      <p:sp>
        <p:nvSpPr>
          <p:cNvPr id="35" name="Text 32"/>
          <p:cNvSpPr/>
          <p:nvPr/>
        </p:nvSpPr>
        <p:spPr>
          <a:xfrm>
            <a:off x="5230453" y="1040113"/>
            <a:ext cx="3556360" cy="300038"/>
          </a:xfrm>
          <a:prstGeom prst="rect">
            <a:avLst/>
          </a:prstGeom>
          <a:noFill/>
          <a:ln/>
        </p:spPr>
        <p:txBody>
          <a:bodyPr wrap="square" lIns="127508" tIns="0" rIns="0" bIns="0" rtlCol="0" anchor="t">
            <a:spAutoFit/>
          </a:bodyPr>
          <a:lstStyle/>
          <a:p>
            <a:pPr marL="0" indent="0" algn="l">
              <a:lnSpc>
                <a:spcPts val="1200"/>
              </a:lnSpc>
              <a:buNone/>
            </a:pPr>
            <a:r>
              <a:rPr lang="en-US" sz="734" b="1" dirty="0">
                <a:solidFill>
                  <a:srgbClr val="FFFFFF"/>
                </a:solidFill>
              </a:rPr>
              <a:t>Test Many Scenarios:</a:t>
            </a:r>
            <a:r>
              <a:rPr lang="en-US" sz="780" dirty="0">
                <a:solidFill>
                  <a:srgbClr val="B8C5D6"/>
                </a:solidFill>
              </a:rPr>
              <a:t> Vary failure types, times, and scopes. Don't test same scenario repeatedly.</a:t>
            </a:r>
            <a:endParaRPr lang="en-US" sz="734" dirty="0"/>
          </a:p>
        </p:txBody>
      </p:sp>
      <p:sp>
        <p:nvSpPr>
          <p:cNvPr id="36" name="Text 33"/>
          <p:cNvSpPr/>
          <p:nvPr/>
        </p:nvSpPr>
        <p:spPr>
          <a:xfrm>
            <a:off x="5230453" y="1411588"/>
            <a:ext cx="3556360" cy="300038"/>
          </a:xfrm>
          <a:prstGeom prst="rect">
            <a:avLst/>
          </a:prstGeom>
          <a:noFill/>
          <a:ln/>
        </p:spPr>
        <p:txBody>
          <a:bodyPr wrap="square" lIns="127508" tIns="0" rIns="0" bIns="0" rtlCol="0" anchor="t">
            <a:spAutoFit/>
          </a:bodyPr>
          <a:lstStyle/>
          <a:p>
            <a:pPr marL="0" indent="0" algn="l">
              <a:lnSpc>
                <a:spcPts val="1200"/>
              </a:lnSpc>
              <a:buNone/>
            </a:pPr>
            <a:r>
              <a:rPr lang="en-US" sz="734" b="1" dirty="0">
                <a:solidFill>
                  <a:srgbClr val="FFFFFF"/>
                </a:solidFill>
              </a:rPr>
              <a:t>Test Regularly:</a:t>
            </a:r>
            <a:r>
              <a:rPr lang="en-US" sz="780" dirty="0">
                <a:solidFill>
                  <a:srgbClr val="B8C5D6"/>
                </a:solidFill>
              </a:rPr>
              <a:t> Establish schedule and adhere to it. Test after significant environment changes.</a:t>
            </a:r>
            <a:endParaRPr lang="en-US" sz="734" dirty="0"/>
          </a:p>
        </p:txBody>
      </p:sp>
      <p:sp>
        <p:nvSpPr>
          <p:cNvPr id="37" name="Text 34"/>
          <p:cNvSpPr/>
          <p:nvPr/>
        </p:nvSpPr>
        <p:spPr>
          <a:xfrm>
            <a:off x="5230453" y="1783063"/>
            <a:ext cx="3556360" cy="300038"/>
          </a:xfrm>
          <a:prstGeom prst="rect">
            <a:avLst/>
          </a:prstGeom>
          <a:noFill/>
          <a:ln/>
        </p:spPr>
        <p:txBody>
          <a:bodyPr wrap="square" lIns="127508" tIns="0" rIns="0" bIns="0" rtlCol="0" anchor="t">
            <a:spAutoFit/>
          </a:bodyPr>
          <a:lstStyle/>
          <a:p>
            <a:pPr marL="0" indent="0" algn="l">
              <a:lnSpc>
                <a:spcPts val="1200"/>
              </a:lnSpc>
              <a:buNone/>
            </a:pPr>
            <a:r>
              <a:rPr lang="en-US" sz="734" b="1" dirty="0">
                <a:solidFill>
                  <a:srgbClr val="FFFFFF"/>
                </a:solidFill>
              </a:rPr>
              <a:t>Document Everything:</a:t>
            </a:r>
            <a:r>
              <a:rPr lang="en-US" sz="780" dirty="0">
                <a:solidFill>
                  <a:srgbClr val="B8C5D6"/>
                </a:solidFill>
              </a:rPr>
              <a:t> Record procedures, results, issues, corrective actions, and performance metrics.</a:t>
            </a:r>
            <a:endParaRPr lang="en-US" sz="734" dirty="0"/>
          </a:p>
        </p:txBody>
      </p:sp>
      <p:sp>
        <p:nvSpPr>
          <p:cNvPr id="38" name="Text 35"/>
          <p:cNvSpPr/>
          <p:nvPr/>
        </p:nvSpPr>
        <p:spPr>
          <a:xfrm>
            <a:off x="5230453" y="2154538"/>
            <a:ext cx="3556360" cy="300038"/>
          </a:xfrm>
          <a:prstGeom prst="rect">
            <a:avLst/>
          </a:prstGeom>
          <a:noFill/>
          <a:ln/>
        </p:spPr>
        <p:txBody>
          <a:bodyPr wrap="square" lIns="127508" tIns="0" rIns="0" bIns="0" rtlCol="0" anchor="t">
            <a:spAutoFit/>
          </a:bodyPr>
          <a:lstStyle/>
          <a:p>
            <a:pPr marL="0" indent="0" algn="l">
              <a:lnSpc>
                <a:spcPts val="1200"/>
              </a:lnSpc>
              <a:buNone/>
            </a:pPr>
            <a:r>
              <a:rPr lang="en-US" sz="734" b="1" dirty="0">
                <a:solidFill>
                  <a:srgbClr val="FFFFFF"/>
                </a:solidFill>
              </a:rPr>
              <a:t>Keep Everyone Updated:</a:t>
            </a:r>
            <a:r>
              <a:rPr lang="en-US" sz="780" dirty="0">
                <a:solidFill>
                  <a:srgbClr val="B8C5D6"/>
                </a:solidFill>
              </a:rPr>
              <a:t> Communicate schedule in advance, provide status updates, share results with stakeholders.</a:t>
            </a:r>
            <a:endParaRPr lang="en-US" sz="734" dirty="0"/>
          </a:p>
        </p:txBody>
      </p:sp>
      <p:sp>
        <p:nvSpPr>
          <p:cNvPr id="39" name="Text 36"/>
          <p:cNvSpPr/>
          <p:nvPr/>
        </p:nvSpPr>
        <p:spPr>
          <a:xfrm>
            <a:off x="5230453" y="2526013"/>
            <a:ext cx="3556360" cy="300038"/>
          </a:xfrm>
          <a:prstGeom prst="rect">
            <a:avLst/>
          </a:prstGeom>
          <a:noFill/>
          <a:ln/>
        </p:spPr>
        <p:txBody>
          <a:bodyPr wrap="square" lIns="127508" tIns="0" rIns="0" bIns="0" rtlCol="0" anchor="t">
            <a:spAutoFit/>
          </a:bodyPr>
          <a:lstStyle/>
          <a:p>
            <a:pPr marL="0" indent="0" algn="l">
              <a:lnSpc>
                <a:spcPts val="1200"/>
              </a:lnSpc>
              <a:buNone/>
            </a:pPr>
            <a:r>
              <a:rPr lang="en-US" sz="734" b="1" dirty="0">
                <a:solidFill>
                  <a:srgbClr val="FFFFFF"/>
                </a:solidFill>
              </a:rPr>
              <a:t>Measure Performance:</a:t>
            </a:r>
            <a:r>
              <a:rPr lang="en-US" sz="780" dirty="0">
                <a:solidFill>
                  <a:srgbClr val="B8C5D6"/>
                </a:solidFill>
              </a:rPr>
              <a:t> Track actual vs. target RTO/RPO, test success rate, issues identified, resolution time.</a:t>
            </a:r>
            <a:endParaRPr lang="en-US" sz="734" dirty="0"/>
          </a:p>
        </p:txBody>
      </p:sp>
      <p:sp>
        <p:nvSpPr>
          <p:cNvPr id="40" name="Text 37"/>
          <p:cNvSpPr/>
          <p:nvPr/>
        </p:nvSpPr>
        <p:spPr>
          <a:xfrm>
            <a:off x="5230453" y="2897488"/>
            <a:ext cx="3556360" cy="300038"/>
          </a:xfrm>
          <a:prstGeom prst="rect">
            <a:avLst/>
          </a:prstGeom>
          <a:noFill/>
          <a:ln/>
        </p:spPr>
        <p:txBody>
          <a:bodyPr wrap="square" lIns="127508" tIns="0" rIns="0" bIns="0" rtlCol="0" anchor="t">
            <a:spAutoFit/>
          </a:bodyPr>
          <a:lstStyle/>
          <a:p>
            <a:pPr marL="0" indent="0" algn="l">
              <a:lnSpc>
                <a:spcPts val="1200"/>
              </a:lnSpc>
              <a:buNone/>
            </a:pPr>
            <a:r>
              <a:rPr lang="en-US" sz="734" b="1" dirty="0">
                <a:solidFill>
                  <a:srgbClr val="FFFFFF"/>
                </a:solidFill>
              </a:rPr>
              <a:t>Learn and Improve:</a:t>
            </a:r>
            <a:r>
              <a:rPr lang="en-US" sz="780" dirty="0">
                <a:solidFill>
                  <a:srgbClr val="B8C5D6"/>
                </a:solidFill>
              </a:rPr>
              <a:t> Update plans based on findings, remediate issues, enhance procedures, track improvement trends.</a:t>
            </a:r>
            <a:endParaRPr lang="en-US" sz="734" dirty="0"/>
          </a:p>
        </p:txBody>
      </p:sp>
      <p:sp>
        <p:nvSpPr>
          <p:cNvPr id="41" name="Shape 38"/>
          <p:cNvSpPr/>
          <p:nvPr/>
        </p:nvSpPr>
        <p:spPr>
          <a:xfrm>
            <a:off x="5230453" y="3226101"/>
            <a:ext cx="3556360" cy="1027221"/>
          </a:xfrm>
          <a:prstGeom prst="rect">
            <a:avLst/>
          </a:prstGeom>
          <a:solidFill>
            <a:srgbClr val="00D9FF">
              <a:alpha val="8000"/>
            </a:srgbClr>
          </a:solidFill>
          <a:ln w="18288">
            <a:solidFill>
              <a:srgbClr val="00D9FF"/>
            </a:solidFill>
            <a:prstDash val="solid"/>
          </a:ln>
        </p:spPr>
      </p:sp>
      <p:sp>
        <p:nvSpPr>
          <p:cNvPr id="42" name="Text 39"/>
          <p:cNvSpPr/>
          <p:nvPr/>
        </p:nvSpPr>
        <p:spPr>
          <a:xfrm>
            <a:off x="5330465" y="3326113"/>
            <a:ext cx="335633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KEY TESTING METRICS</a:t>
            </a:r>
            <a:endParaRPr lang="en-US" sz="885" dirty="0"/>
          </a:p>
        </p:txBody>
      </p:sp>
      <p:sp>
        <p:nvSpPr>
          <p:cNvPr id="43" name="Text 40"/>
          <p:cNvSpPr/>
          <p:nvPr/>
        </p:nvSpPr>
        <p:spPr>
          <a:xfrm>
            <a:off x="5330465" y="3590432"/>
            <a:ext cx="3356335"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Coverage:</a:t>
            </a:r>
            <a:r>
              <a:rPr lang="en-US" sz="727" dirty="0">
                <a:solidFill>
                  <a:srgbClr val="B8C5D6"/>
                </a:solidFill>
              </a:rPr>
              <a:t> % of critical systems tested, % of procedures tested</a:t>
            </a:r>
            <a:endParaRPr lang="en-US" sz="683" dirty="0"/>
          </a:p>
        </p:txBody>
      </p:sp>
      <p:sp>
        <p:nvSpPr>
          <p:cNvPr id="44" name="Text 41"/>
          <p:cNvSpPr/>
          <p:nvPr/>
        </p:nvSpPr>
        <p:spPr>
          <a:xfrm>
            <a:off x="5330465" y="3787583"/>
            <a:ext cx="3356335"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Performance:</a:t>
            </a:r>
            <a:r>
              <a:rPr lang="en-US" sz="727" dirty="0">
                <a:solidFill>
                  <a:srgbClr val="B8C5D6"/>
                </a:solidFill>
              </a:rPr>
              <a:t> Actual vs. target RTO/RPO, test success rate</a:t>
            </a:r>
            <a:endParaRPr lang="en-US" sz="683" dirty="0"/>
          </a:p>
        </p:txBody>
      </p:sp>
      <p:sp>
        <p:nvSpPr>
          <p:cNvPr id="45" name="Text 42"/>
          <p:cNvSpPr/>
          <p:nvPr/>
        </p:nvSpPr>
        <p:spPr>
          <a:xfrm>
            <a:off x="5330465" y="3984734"/>
            <a:ext cx="3356335"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Compliance:</a:t>
            </a:r>
            <a:r>
              <a:rPr lang="en-US" sz="727" dirty="0">
                <a:solidFill>
                  <a:srgbClr val="B8C5D6"/>
                </a:solidFill>
              </a:rPr>
              <a:t> Tests completed vs. scheduled, audit findings</a:t>
            </a:r>
            <a:endParaRPr lang="en-US" sz="683" dirty="0"/>
          </a:p>
        </p:txBody>
      </p:sp>
      <p:sp>
        <p:nvSpPr>
          <p:cNvPr id="46" name="Shape 43"/>
          <p:cNvSpPr/>
          <p:nvPr/>
        </p:nvSpPr>
        <p:spPr>
          <a:xfrm>
            <a:off x="5230453" y="4253322"/>
            <a:ext cx="3556360" cy="841484"/>
          </a:xfrm>
          <a:prstGeom prst="rect">
            <a:avLst/>
          </a:prstGeom>
          <a:solidFill>
            <a:srgbClr val="FFB020">
              <a:alpha val="5000"/>
            </a:srgbClr>
          </a:solidFill>
          <a:ln/>
        </p:spPr>
      </p:sp>
      <p:sp>
        <p:nvSpPr>
          <p:cNvPr id="47" name="Shape 44"/>
          <p:cNvSpPr/>
          <p:nvPr/>
        </p:nvSpPr>
        <p:spPr>
          <a:xfrm>
            <a:off x="5230453" y="4253322"/>
            <a:ext cx="28575" cy="841484"/>
          </a:xfrm>
          <a:prstGeom prst="rect">
            <a:avLst/>
          </a:prstGeom>
          <a:solidFill>
            <a:srgbClr val="FFB020"/>
          </a:solidFill>
          <a:ln/>
        </p:spPr>
      </p:sp>
      <p:sp>
        <p:nvSpPr>
          <p:cNvPr id="48" name="Text 45"/>
          <p:cNvSpPr/>
          <p:nvPr/>
        </p:nvSpPr>
        <p:spPr>
          <a:xfrm>
            <a:off x="5316178" y="4339047"/>
            <a:ext cx="338491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COMMON CHALLENGES</a:t>
            </a:r>
            <a:endParaRPr lang="en-US" sz="885" dirty="0"/>
          </a:p>
        </p:txBody>
      </p:sp>
      <p:sp>
        <p:nvSpPr>
          <p:cNvPr id="49" name="Text 46"/>
          <p:cNvSpPr/>
          <p:nvPr/>
        </p:nvSpPr>
        <p:spPr>
          <a:xfrm>
            <a:off x="5316178" y="4589078"/>
            <a:ext cx="3384910" cy="420002"/>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FFFFFF"/>
                </a:solidFill>
              </a:rPr>
              <a:t>Business Resistance:</a:t>
            </a:r>
            <a:r>
              <a:rPr lang="en-US" sz="727" dirty="0">
                <a:solidFill>
                  <a:srgbClr val="B8C5D6"/>
                </a:solidFill>
              </a:rPr>
              <a:t> Demonstrate value, minimize disruption. </a:t>
            </a:r>
            <a:r>
              <a:rPr lang="en-US" sz="683" b="1" dirty="0">
                <a:solidFill>
                  <a:srgbClr val="FFFFFF"/>
                </a:solidFill>
              </a:rPr>
              <a:t>Resource Constraints:</a:t>
            </a:r>
            <a:r>
              <a:rPr lang="en-US" sz="727" dirty="0">
                <a:solidFill>
                  <a:srgbClr val="B8C5D6"/>
                </a:solidFill>
              </a:rPr>
              <a:t> Prioritize critical systems, leverage tabletops. </a:t>
            </a:r>
            <a:r>
              <a:rPr lang="en-US" sz="683" b="1" dirty="0">
                <a:solidFill>
                  <a:srgbClr val="FFFFFF"/>
                </a:solidFill>
              </a:rPr>
              <a:t>Complex Dependencies:</a:t>
            </a:r>
            <a:r>
              <a:rPr lang="en-US" sz="727" dirty="0">
                <a:solidFill>
                  <a:srgbClr val="B8C5D6"/>
                </a:solidFill>
              </a:rPr>
              <a:t> Map dependencies, test incrementally.</a:t>
            </a:r>
            <a:endParaRPr lang="en-US" sz="68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34639"/>
          </a:xfrm>
          <a:prstGeom prst="rect">
            <a:avLst/>
          </a:prstGeom>
        </p:spPr>
      </p:pic>
      <p:sp>
        <p:nvSpPr>
          <p:cNvPr id="3" name="Text 0"/>
          <p:cNvSpPr/>
          <p:nvPr/>
        </p:nvSpPr>
        <p:spPr>
          <a:xfrm>
            <a:off x="357188" y="285750"/>
            <a:ext cx="8429625"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Effective BC/DR Requires Clear Governance and Defined Roles</a:t>
            </a:r>
            <a:endParaRPr lang="en-US" sz="1602" dirty="0"/>
          </a:p>
        </p:txBody>
      </p:sp>
      <p:sp>
        <p:nvSpPr>
          <p:cNvPr id="4" name="Text 1"/>
          <p:cNvSpPr/>
          <p:nvPr/>
        </p:nvSpPr>
        <p:spPr>
          <a:xfrm>
            <a:off x="357188" y="711501"/>
            <a:ext cx="428454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BC/DR GOVERNANCE STRUCTURE</a:t>
            </a:r>
            <a:endParaRPr lang="en-US" sz="885" dirty="0"/>
          </a:p>
        </p:txBody>
      </p:sp>
      <p:sp>
        <p:nvSpPr>
          <p:cNvPr id="5" name="Shape 2"/>
          <p:cNvSpPr/>
          <p:nvPr/>
        </p:nvSpPr>
        <p:spPr>
          <a:xfrm>
            <a:off x="357188" y="990107"/>
            <a:ext cx="4284548" cy="741471"/>
          </a:xfrm>
          <a:prstGeom prst="rect">
            <a:avLst/>
          </a:prstGeom>
          <a:solidFill>
            <a:srgbClr val="00D9FF">
              <a:alpha val="5000"/>
            </a:srgbClr>
          </a:solidFill>
          <a:ln/>
        </p:spPr>
      </p:sp>
      <p:sp>
        <p:nvSpPr>
          <p:cNvPr id="6" name="Shape 3"/>
          <p:cNvSpPr/>
          <p:nvPr/>
        </p:nvSpPr>
        <p:spPr>
          <a:xfrm>
            <a:off x="357188" y="990107"/>
            <a:ext cx="21431" cy="741471"/>
          </a:xfrm>
          <a:prstGeom prst="rect">
            <a:avLst/>
          </a:prstGeom>
          <a:solidFill>
            <a:srgbClr val="00D9FF"/>
          </a:solidFill>
          <a:ln/>
        </p:spPr>
      </p:sp>
      <p:sp>
        <p:nvSpPr>
          <p:cNvPr id="7" name="Text 4"/>
          <p:cNvSpPr/>
          <p:nvPr/>
        </p:nvSpPr>
        <p:spPr>
          <a:xfrm>
            <a:off x="442913" y="1040113"/>
            <a:ext cx="411309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EXECUTIVE STEERING COMMITTEE</a:t>
            </a:r>
            <a:endParaRPr lang="en-US" sz="885" dirty="0"/>
          </a:p>
        </p:txBody>
      </p:sp>
      <p:sp>
        <p:nvSpPr>
          <p:cNvPr id="8" name="Text 5"/>
          <p:cNvSpPr/>
          <p:nvPr/>
        </p:nvSpPr>
        <p:spPr>
          <a:xfrm>
            <a:off x="442913" y="1261570"/>
            <a:ext cx="4113098"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Senior leadership provides strategic direction, approves BC/DR strategies and budgets, ensures alignment with business objectives, reviews program performance. Includes CEO, CFO, CIO/CISO, COO, General Counsel. Meets quarterly.</a:t>
            </a:r>
            <a:endParaRPr lang="en-US" sz="727" dirty="0"/>
          </a:p>
        </p:txBody>
      </p:sp>
      <p:sp>
        <p:nvSpPr>
          <p:cNvPr id="9" name="Shape 6"/>
          <p:cNvSpPr/>
          <p:nvPr/>
        </p:nvSpPr>
        <p:spPr>
          <a:xfrm>
            <a:off x="357188" y="1795872"/>
            <a:ext cx="4284548" cy="741471"/>
          </a:xfrm>
          <a:prstGeom prst="rect">
            <a:avLst/>
          </a:prstGeom>
          <a:solidFill>
            <a:srgbClr val="00D9FF">
              <a:alpha val="5000"/>
            </a:srgbClr>
          </a:solidFill>
          <a:ln/>
        </p:spPr>
      </p:sp>
      <p:sp>
        <p:nvSpPr>
          <p:cNvPr id="10" name="Shape 7"/>
          <p:cNvSpPr/>
          <p:nvPr/>
        </p:nvSpPr>
        <p:spPr>
          <a:xfrm>
            <a:off x="357188" y="1795872"/>
            <a:ext cx="21431" cy="741471"/>
          </a:xfrm>
          <a:prstGeom prst="rect">
            <a:avLst/>
          </a:prstGeom>
          <a:solidFill>
            <a:srgbClr val="00D9FF"/>
          </a:solidFill>
          <a:ln/>
        </p:spPr>
      </p:sp>
      <p:sp>
        <p:nvSpPr>
          <p:cNvPr id="11" name="Text 8"/>
          <p:cNvSpPr/>
          <p:nvPr/>
        </p:nvSpPr>
        <p:spPr>
          <a:xfrm>
            <a:off x="442913" y="1845878"/>
            <a:ext cx="411309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BC/DR PROGRAM MANAGER</a:t>
            </a:r>
            <a:endParaRPr lang="en-US" sz="885" dirty="0"/>
          </a:p>
        </p:txBody>
      </p:sp>
      <p:sp>
        <p:nvSpPr>
          <p:cNvPr id="12" name="Text 9"/>
          <p:cNvSpPr/>
          <p:nvPr/>
        </p:nvSpPr>
        <p:spPr>
          <a:xfrm>
            <a:off x="442913" y="2067334"/>
            <a:ext cx="4113098"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Day-to-day leadership and coordination, develops and maintains BC/DR program, coordinates BIA and risk assessment, oversees plan development and maintenance, manages testing and exercise program, reports to steering committee.</a:t>
            </a:r>
            <a:endParaRPr lang="en-US" sz="727" dirty="0"/>
          </a:p>
        </p:txBody>
      </p:sp>
      <p:sp>
        <p:nvSpPr>
          <p:cNvPr id="13" name="Shape 10"/>
          <p:cNvSpPr/>
          <p:nvPr/>
        </p:nvSpPr>
        <p:spPr>
          <a:xfrm>
            <a:off x="357188" y="2601637"/>
            <a:ext cx="4284548" cy="741471"/>
          </a:xfrm>
          <a:prstGeom prst="rect">
            <a:avLst/>
          </a:prstGeom>
          <a:solidFill>
            <a:srgbClr val="00D9FF">
              <a:alpha val="5000"/>
            </a:srgbClr>
          </a:solidFill>
          <a:ln/>
        </p:spPr>
      </p:sp>
      <p:sp>
        <p:nvSpPr>
          <p:cNvPr id="14" name="Shape 11"/>
          <p:cNvSpPr/>
          <p:nvPr/>
        </p:nvSpPr>
        <p:spPr>
          <a:xfrm>
            <a:off x="357188" y="2601637"/>
            <a:ext cx="21431" cy="741471"/>
          </a:xfrm>
          <a:prstGeom prst="rect">
            <a:avLst/>
          </a:prstGeom>
          <a:solidFill>
            <a:srgbClr val="00D9FF"/>
          </a:solidFill>
          <a:ln/>
        </p:spPr>
      </p:sp>
      <p:sp>
        <p:nvSpPr>
          <p:cNvPr id="15" name="Text 12"/>
          <p:cNvSpPr/>
          <p:nvPr/>
        </p:nvSpPr>
        <p:spPr>
          <a:xfrm>
            <a:off x="442913" y="2651643"/>
            <a:ext cx="411309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BUSINESS CONTINUITY COORDINATORS</a:t>
            </a:r>
            <a:endParaRPr lang="en-US" sz="885" dirty="0"/>
          </a:p>
        </p:txBody>
      </p:sp>
      <p:sp>
        <p:nvSpPr>
          <p:cNvPr id="16" name="Text 13"/>
          <p:cNvSpPr/>
          <p:nvPr/>
        </p:nvSpPr>
        <p:spPr>
          <a:xfrm>
            <a:off x="442913" y="2873099"/>
            <a:ext cx="4113098"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Each business unit designates BC coordinator responsible for unit-specific BC planning, conducting BIA for their area, developing and maintaining unit BC plans, coordinating testing, serving as liaison to program manager.</a:t>
            </a:r>
            <a:endParaRPr lang="en-US" sz="727" dirty="0"/>
          </a:p>
        </p:txBody>
      </p:sp>
      <p:sp>
        <p:nvSpPr>
          <p:cNvPr id="17" name="Shape 14"/>
          <p:cNvSpPr/>
          <p:nvPr/>
        </p:nvSpPr>
        <p:spPr>
          <a:xfrm>
            <a:off x="357188" y="3407401"/>
            <a:ext cx="4284548" cy="881472"/>
          </a:xfrm>
          <a:prstGeom prst="rect">
            <a:avLst/>
          </a:prstGeom>
          <a:solidFill>
            <a:srgbClr val="00D9FF">
              <a:alpha val="5000"/>
            </a:srgbClr>
          </a:solidFill>
          <a:ln/>
        </p:spPr>
      </p:sp>
      <p:sp>
        <p:nvSpPr>
          <p:cNvPr id="18" name="Shape 15"/>
          <p:cNvSpPr/>
          <p:nvPr/>
        </p:nvSpPr>
        <p:spPr>
          <a:xfrm>
            <a:off x="357188" y="3407401"/>
            <a:ext cx="21431" cy="881472"/>
          </a:xfrm>
          <a:prstGeom prst="rect">
            <a:avLst/>
          </a:prstGeom>
          <a:solidFill>
            <a:srgbClr val="00D9FF"/>
          </a:solidFill>
          <a:ln/>
        </p:spPr>
      </p:sp>
      <p:sp>
        <p:nvSpPr>
          <p:cNvPr id="19" name="Text 16"/>
          <p:cNvSpPr/>
          <p:nvPr/>
        </p:nvSpPr>
        <p:spPr>
          <a:xfrm>
            <a:off x="442913" y="3457408"/>
            <a:ext cx="411309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DISASTER RECOVERY TEAM</a:t>
            </a:r>
            <a:endParaRPr lang="en-US" sz="885" dirty="0"/>
          </a:p>
        </p:txBody>
      </p:sp>
      <p:sp>
        <p:nvSpPr>
          <p:cNvPr id="20" name="Text 17"/>
          <p:cNvSpPr/>
          <p:nvPr/>
        </p:nvSpPr>
        <p:spPr>
          <a:xfrm>
            <a:off x="442913" y="3678864"/>
            <a:ext cx="4113098" cy="560003"/>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DR Team Lead coordinates all DR activities. System administrators restore specific systems. Network engineers restore connectivity. Database administrators restore and validate databases. Application specialists restore and test applications. Security specialists ensure security during recovery.</a:t>
            </a:r>
            <a:endParaRPr lang="en-US" sz="727" dirty="0"/>
          </a:p>
        </p:txBody>
      </p:sp>
      <p:sp>
        <p:nvSpPr>
          <p:cNvPr id="21" name="Shape 18"/>
          <p:cNvSpPr/>
          <p:nvPr/>
        </p:nvSpPr>
        <p:spPr>
          <a:xfrm>
            <a:off x="357188" y="4353167"/>
            <a:ext cx="4284548" cy="881472"/>
          </a:xfrm>
          <a:prstGeom prst="rect">
            <a:avLst/>
          </a:prstGeom>
          <a:solidFill>
            <a:srgbClr val="00D9FF">
              <a:alpha val="5000"/>
            </a:srgbClr>
          </a:solidFill>
          <a:ln/>
        </p:spPr>
      </p:sp>
      <p:sp>
        <p:nvSpPr>
          <p:cNvPr id="22" name="Shape 19"/>
          <p:cNvSpPr/>
          <p:nvPr/>
        </p:nvSpPr>
        <p:spPr>
          <a:xfrm>
            <a:off x="357188" y="4353167"/>
            <a:ext cx="21431" cy="881472"/>
          </a:xfrm>
          <a:prstGeom prst="rect">
            <a:avLst/>
          </a:prstGeom>
          <a:solidFill>
            <a:srgbClr val="00D9FF"/>
          </a:solidFill>
          <a:ln/>
        </p:spPr>
      </p:sp>
      <p:sp>
        <p:nvSpPr>
          <p:cNvPr id="23" name="Text 20"/>
          <p:cNvSpPr/>
          <p:nvPr/>
        </p:nvSpPr>
        <p:spPr>
          <a:xfrm>
            <a:off x="442913" y="4403173"/>
            <a:ext cx="4113098"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CRISIS MANAGEMENT TEAM</a:t>
            </a:r>
            <a:endParaRPr lang="en-US" sz="885" dirty="0"/>
          </a:p>
        </p:txBody>
      </p:sp>
      <p:sp>
        <p:nvSpPr>
          <p:cNvPr id="24" name="Text 21"/>
          <p:cNvSpPr/>
          <p:nvPr/>
        </p:nvSpPr>
        <p:spPr>
          <a:xfrm>
            <a:off x="442913" y="4624629"/>
            <a:ext cx="4113098" cy="560003"/>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Handles overall incident management and strategic decisions. Incident Commander (overall authority), Communications Lead (internal/external), Legal Counsel (regulatory/legal), HR Representative (personnel/safety), Facilities Manager (physical site/logistics).</a:t>
            </a:r>
            <a:endParaRPr lang="en-US" sz="727" dirty="0"/>
          </a:p>
        </p:txBody>
      </p:sp>
      <p:sp>
        <p:nvSpPr>
          <p:cNvPr id="25" name="Text 22"/>
          <p:cNvSpPr/>
          <p:nvPr/>
        </p:nvSpPr>
        <p:spPr>
          <a:xfrm>
            <a:off x="4891767" y="711501"/>
            <a:ext cx="389504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RACI MATRIX FOR BC/DR</a:t>
            </a:r>
            <a:endParaRPr lang="en-US" sz="885" dirty="0"/>
          </a:p>
        </p:txBody>
      </p:sp>
      <p:sp>
        <p:nvSpPr>
          <p:cNvPr id="26" name="Shape 23"/>
          <p:cNvSpPr/>
          <p:nvPr/>
        </p:nvSpPr>
        <p:spPr>
          <a:xfrm>
            <a:off x="4891767" y="975820"/>
            <a:ext cx="3895046" cy="1557338"/>
          </a:xfrm>
          <a:prstGeom prst="rect">
            <a:avLst/>
          </a:prstGeom>
          <a:solidFill>
            <a:srgbClr val="00D9FF">
              <a:alpha val="8000"/>
            </a:srgbClr>
          </a:solidFill>
          <a:ln w="9144">
            <a:solidFill>
              <a:srgbClr val="00D9FF">
                <a:alpha val="30000"/>
              </a:srgbClr>
            </a:solidFill>
            <a:prstDash val="solid"/>
          </a:ln>
        </p:spPr>
      </p:sp>
      <p:sp>
        <p:nvSpPr>
          <p:cNvPr id="27" name="Text 24"/>
          <p:cNvSpPr/>
          <p:nvPr/>
        </p:nvSpPr>
        <p:spPr>
          <a:xfrm>
            <a:off x="4977492" y="1091905"/>
            <a:ext cx="419500" cy="126802"/>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00D9FF"/>
                </a:solidFill>
              </a:rPr>
              <a:t>ACTIVITY</a:t>
            </a:r>
            <a:endParaRPr lang="en-US" sz="634" dirty="0"/>
          </a:p>
        </p:txBody>
      </p:sp>
      <p:sp>
        <p:nvSpPr>
          <p:cNvPr id="28" name="Text 25"/>
          <p:cNvSpPr/>
          <p:nvPr/>
        </p:nvSpPr>
        <p:spPr>
          <a:xfrm>
            <a:off x="6482395" y="1091905"/>
            <a:ext cx="61308" cy="126802"/>
          </a:xfrm>
          <a:prstGeom prst="rect">
            <a:avLst/>
          </a:prstGeom>
          <a:noFill/>
          <a:ln/>
        </p:spPr>
        <p:txBody>
          <a:bodyPr wrap="none" lIns="0" tIns="0" rIns="0" bIns="0" rtlCol="0" anchor="t">
            <a:spAutoFit/>
          </a:bodyPr>
          <a:lstStyle/>
          <a:p>
            <a:pPr marL="0" indent="0" algn="ctr">
              <a:lnSpc>
                <a:spcPts val="1100"/>
              </a:lnSpc>
              <a:buNone/>
            </a:pPr>
            <a:r>
              <a:rPr lang="en-US" sz="634" b="1" dirty="0">
                <a:solidFill>
                  <a:srgbClr val="00D9FF"/>
                </a:solidFill>
              </a:rPr>
              <a:t>R</a:t>
            </a:r>
            <a:endParaRPr lang="en-US" sz="634" dirty="0"/>
          </a:p>
        </p:txBody>
      </p:sp>
      <p:sp>
        <p:nvSpPr>
          <p:cNvPr id="29" name="Text 26"/>
          <p:cNvSpPr/>
          <p:nvPr/>
        </p:nvSpPr>
        <p:spPr>
          <a:xfrm>
            <a:off x="7154884" y="1091905"/>
            <a:ext cx="64098" cy="126802"/>
          </a:xfrm>
          <a:prstGeom prst="rect">
            <a:avLst/>
          </a:prstGeom>
          <a:noFill/>
          <a:ln/>
        </p:spPr>
        <p:txBody>
          <a:bodyPr wrap="none" lIns="0" tIns="0" rIns="0" bIns="0" rtlCol="0" anchor="t">
            <a:spAutoFit/>
          </a:bodyPr>
          <a:lstStyle/>
          <a:p>
            <a:pPr marL="0" indent="0" algn="ctr">
              <a:lnSpc>
                <a:spcPts val="1100"/>
              </a:lnSpc>
              <a:buNone/>
            </a:pPr>
            <a:r>
              <a:rPr lang="en-US" sz="634" b="1" dirty="0">
                <a:solidFill>
                  <a:srgbClr val="00D9FF"/>
                </a:solidFill>
              </a:rPr>
              <a:t>A</a:t>
            </a:r>
            <a:endParaRPr lang="en-US" sz="634" dirty="0"/>
          </a:p>
        </p:txBody>
      </p:sp>
      <p:sp>
        <p:nvSpPr>
          <p:cNvPr id="30" name="Text 27"/>
          <p:cNvSpPr/>
          <p:nvPr/>
        </p:nvSpPr>
        <p:spPr>
          <a:xfrm>
            <a:off x="7831224" y="1091905"/>
            <a:ext cx="59159" cy="126802"/>
          </a:xfrm>
          <a:prstGeom prst="rect">
            <a:avLst/>
          </a:prstGeom>
          <a:noFill/>
          <a:ln/>
        </p:spPr>
        <p:txBody>
          <a:bodyPr wrap="none" lIns="0" tIns="0" rIns="0" bIns="0" rtlCol="0" anchor="t">
            <a:spAutoFit/>
          </a:bodyPr>
          <a:lstStyle/>
          <a:p>
            <a:pPr marL="0" indent="0" algn="ctr">
              <a:lnSpc>
                <a:spcPts val="1100"/>
              </a:lnSpc>
              <a:buNone/>
            </a:pPr>
            <a:r>
              <a:rPr lang="en-US" sz="634" b="1" dirty="0">
                <a:solidFill>
                  <a:srgbClr val="00D9FF"/>
                </a:solidFill>
              </a:rPr>
              <a:t>C</a:t>
            </a:r>
            <a:endParaRPr lang="en-US" sz="634" dirty="0"/>
          </a:p>
        </p:txBody>
      </p:sp>
      <p:sp>
        <p:nvSpPr>
          <p:cNvPr id="31" name="Text 28"/>
          <p:cNvSpPr/>
          <p:nvPr/>
        </p:nvSpPr>
        <p:spPr>
          <a:xfrm>
            <a:off x="8440062" y="1091905"/>
            <a:ext cx="36137" cy="126802"/>
          </a:xfrm>
          <a:prstGeom prst="rect">
            <a:avLst/>
          </a:prstGeom>
          <a:noFill/>
          <a:ln/>
        </p:spPr>
        <p:txBody>
          <a:bodyPr wrap="none" lIns="0" tIns="0" rIns="0" bIns="0" rtlCol="0" anchor="t">
            <a:spAutoFit/>
          </a:bodyPr>
          <a:lstStyle/>
          <a:p>
            <a:pPr marL="0" indent="0" algn="ctr">
              <a:lnSpc>
                <a:spcPts val="1100"/>
              </a:lnSpc>
              <a:buNone/>
            </a:pPr>
            <a:r>
              <a:rPr lang="en-US" sz="634" b="1" dirty="0">
                <a:solidFill>
                  <a:srgbClr val="00D9FF"/>
                </a:solidFill>
              </a:rPr>
              <a:t>I</a:t>
            </a:r>
            <a:endParaRPr lang="en-US" sz="634" dirty="0"/>
          </a:p>
        </p:txBody>
      </p:sp>
      <p:sp>
        <p:nvSpPr>
          <p:cNvPr id="32" name="Text 29"/>
          <p:cNvSpPr/>
          <p:nvPr/>
        </p:nvSpPr>
        <p:spPr>
          <a:xfrm>
            <a:off x="4977492" y="1334793"/>
            <a:ext cx="830266" cy="126802"/>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B8C5D6"/>
                </a:solidFill>
              </a:rPr>
              <a:t>Plan Development</a:t>
            </a:r>
            <a:endParaRPr lang="en-US" sz="634" dirty="0"/>
          </a:p>
        </p:txBody>
      </p:sp>
      <p:sp>
        <p:nvSpPr>
          <p:cNvPr id="33" name="Text 30"/>
          <p:cNvSpPr/>
          <p:nvPr/>
        </p:nvSpPr>
        <p:spPr>
          <a:xfrm>
            <a:off x="6309103" y="1334793"/>
            <a:ext cx="407891"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BC Coord</a:t>
            </a:r>
            <a:endParaRPr lang="en-US" sz="674" dirty="0"/>
          </a:p>
        </p:txBody>
      </p:sp>
      <p:sp>
        <p:nvSpPr>
          <p:cNvPr id="34" name="Text 31"/>
          <p:cNvSpPr/>
          <p:nvPr/>
        </p:nvSpPr>
        <p:spPr>
          <a:xfrm>
            <a:off x="6982011" y="1334793"/>
            <a:ext cx="409845"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Prog Mgr</a:t>
            </a:r>
            <a:endParaRPr lang="en-US" sz="674" dirty="0"/>
          </a:p>
        </p:txBody>
      </p:sp>
      <p:sp>
        <p:nvSpPr>
          <p:cNvPr id="35" name="Text 32"/>
          <p:cNvSpPr/>
          <p:nvPr/>
        </p:nvSpPr>
        <p:spPr>
          <a:xfrm>
            <a:off x="7796678" y="1334793"/>
            <a:ext cx="128253"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BU</a:t>
            </a:r>
            <a:endParaRPr lang="en-US" sz="674" dirty="0"/>
          </a:p>
        </p:txBody>
      </p:sp>
      <p:sp>
        <p:nvSpPr>
          <p:cNvPr id="36" name="Text 33"/>
          <p:cNvSpPr/>
          <p:nvPr/>
        </p:nvSpPr>
        <p:spPr>
          <a:xfrm>
            <a:off x="8360197" y="1334793"/>
            <a:ext cx="195867"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Exec</a:t>
            </a:r>
            <a:endParaRPr lang="en-US" sz="674" dirty="0"/>
          </a:p>
        </p:txBody>
      </p:sp>
      <p:sp>
        <p:nvSpPr>
          <p:cNvPr id="37" name="Text 34"/>
          <p:cNvSpPr/>
          <p:nvPr/>
        </p:nvSpPr>
        <p:spPr>
          <a:xfrm>
            <a:off x="4977492" y="1570537"/>
            <a:ext cx="560115" cy="126802"/>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B8C5D6"/>
                </a:solidFill>
              </a:rPr>
              <a:t>BIA Conduct</a:t>
            </a:r>
            <a:endParaRPr lang="en-US" sz="634" dirty="0"/>
          </a:p>
        </p:txBody>
      </p:sp>
      <p:sp>
        <p:nvSpPr>
          <p:cNvPr id="38" name="Text 35"/>
          <p:cNvSpPr/>
          <p:nvPr/>
        </p:nvSpPr>
        <p:spPr>
          <a:xfrm>
            <a:off x="6308127" y="1570537"/>
            <a:ext cx="409845"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Prog Mgr</a:t>
            </a:r>
            <a:endParaRPr lang="en-US" sz="674" dirty="0"/>
          </a:p>
        </p:txBody>
      </p:sp>
      <p:sp>
        <p:nvSpPr>
          <p:cNvPr id="39" name="Text 36"/>
          <p:cNvSpPr/>
          <p:nvPr/>
        </p:nvSpPr>
        <p:spPr>
          <a:xfrm>
            <a:off x="7005591" y="1570537"/>
            <a:ext cx="362657"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BU Lead</a:t>
            </a:r>
            <a:endParaRPr lang="en-US" sz="674" dirty="0"/>
          </a:p>
        </p:txBody>
      </p:sp>
      <p:sp>
        <p:nvSpPr>
          <p:cNvPr id="40" name="Text 37"/>
          <p:cNvSpPr/>
          <p:nvPr/>
        </p:nvSpPr>
        <p:spPr>
          <a:xfrm>
            <a:off x="7693400" y="1570537"/>
            <a:ext cx="334807"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Process</a:t>
            </a:r>
            <a:endParaRPr lang="en-US" sz="674" dirty="0"/>
          </a:p>
        </p:txBody>
      </p:sp>
      <p:sp>
        <p:nvSpPr>
          <p:cNvPr id="41" name="Text 38"/>
          <p:cNvSpPr/>
          <p:nvPr/>
        </p:nvSpPr>
        <p:spPr>
          <a:xfrm>
            <a:off x="8360197" y="1570537"/>
            <a:ext cx="195867"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Exec</a:t>
            </a:r>
            <a:endParaRPr lang="en-US" sz="674" dirty="0"/>
          </a:p>
        </p:txBody>
      </p:sp>
      <p:sp>
        <p:nvSpPr>
          <p:cNvPr id="42" name="Text 39"/>
          <p:cNvSpPr/>
          <p:nvPr/>
        </p:nvSpPr>
        <p:spPr>
          <a:xfrm>
            <a:off x="4977492" y="1806280"/>
            <a:ext cx="795244" cy="126802"/>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B8C5D6"/>
                </a:solidFill>
              </a:rPr>
              <a:t>Testing Execution</a:t>
            </a:r>
            <a:endParaRPr lang="en-US" sz="634" dirty="0"/>
          </a:p>
        </p:txBody>
      </p:sp>
      <p:sp>
        <p:nvSpPr>
          <p:cNvPr id="43" name="Text 40"/>
          <p:cNvSpPr/>
          <p:nvPr/>
        </p:nvSpPr>
        <p:spPr>
          <a:xfrm>
            <a:off x="6319986" y="1806280"/>
            <a:ext cx="386153"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DR Team</a:t>
            </a:r>
            <a:endParaRPr lang="en-US" sz="674" dirty="0"/>
          </a:p>
        </p:txBody>
      </p:sp>
      <p:sp>
        <p:nvSpPr>
          <p:cNvPr id="44" name="Text 41"/>
          <p:cNvSpPr/>
          <p:nvPr/>
        </p:nvSpPr>
        <p:spPr>
          <a:xfrm>
            <a:off x="6982011" y="1806280"/>
            <a:ext cx="409845"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Prog Mgr</a:t>
            </a:r>
            <a:endParaRPr lang="en-US" sz="674" dirty="0"/>
          </a:p>
        </p:txBody>
      </p:sp>
      <p:sp>
        <p:nvSpPr>
          <p:cNvPr id="45" name="Text 42"/>
          <p:cNvSpPr/>
          <p:nvPr/>
        </p:nvSpPr>
        <p:spPr>
          <a:xfrm>
            <a:off x="7796678" y="1806280"/>
            <a:ext cx="128253"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BU</a:t>
            </a:r>
            <a:endParaRPr lang="en-US" sz="674" dirty="0"/>
          </a:p>
        </p:txBody>
      </p:sp>
      <p:sp>
        <p:nvSpPr>
          <p:cNvPr id="46" name="Text 43"/>
          <p:cNvSpPr/>
          <p:nvPr/>
        </p:nvSpPr>
        <p:spPr>
          <a:xfrm>
            <a:off x="8360197" y="1806280"/>
            <a:ext cx="195867"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Exec</a:t>
            </a:r>
            <a:endParaRPr lang="en-US" sz="674" dirty="0"/>
          </a:p>
        </p:txBody>
      </p:sp>
      <p:sp>
        <p:nvSpPr>
          <p:cNvPr id="47" name="Text 44"/>
          <p:cNvSpPr/>
          <p:nvPr/>
        </p:nvSpPr>
        <p:spPr>
          <a:xfrm>
            <a:off x="4977492" y="2042024"/>
            <a:ext cx="682033" cy="126802"/>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B8C5D6"/>
                </a:solidFill>
              </a:rPr>
              <a:t>Plan Activation</a:t>
            </a:r>
            <a:endParaRPr lang="en-US" sz="634" dirty="0"/>
          </a:p>
        </p:txBody>
      </p:sp>
      <p:sp>
        <p:nvSpPr>
          <p:cNvPr id="48" name="Text 45"/>
          <p:cNvSpPr/>
          <p:nvPr/>
        </p:nvSpPr>
        <p:spPr>
          <a:xfrm>
            <a:off x="6332934" y="2042024"/>
            <a:ext cx="360257"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Inc Cmd</a:t>
            </a:r>
            <a:endParaRPr lang="en-US" sz="674" dirty="0"/>
          </a:p>
        </p:txBody>
      </p:sp>
      <p:sp>
        <p:nvSpPr>
          <p:cNvPr id="49" name="Text 46"/>
          <p:cNvSpPr/>
          <p:nvPr/>
        </p:nvSpPr>
        <p:spPr>
          <a:xfrm>
            <a:off x="6966077" y="2042024"/>
            <a:ext cx="441685"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Exec Spon</a:t>
            </a:r>
            <a:endParaRPr lang="en-US" sz="674" dirty="0"/>
          </a:p>
        </p:txBody>
      </p:sp>
      <p:sp>
        <p:nvSpPr>
          <p:cNvPr id="50" name="Text 47"/>
          <p:cNvSpPr/>
          <p:nvPr/>
        </p:nvSpPr>
        <p:spPr>
          <a:xfrm>
            <a:off x="7655868" y="2042024"/>
            <a:ext cx="409845"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Prog Mgr</a:t>
            </a:r>
            <a:endParaRPr lang="en-US" sz="674" dirty="0"/>
          </a:p>
        </p:txBody>
      </p:sp>
      <p:sp>
        <p:nvSpPr>
          <p:cNvPr id="51" name="Text 48"/>
          <p:cNvSpPr/>
          <p:nvPr/>
        </p:nvSpPr>
        <p:spPr>
          <a:xfrm>
            <a:off x="8292164" y="2042024"/>
            <a:ext cx="331933" cy="126802"/>
          </a:xfrm>
          <a:prstGeom prst="rect">
            <a:avLst/>
          </a:prstGeom>
          <a:noFill/>
          <a:ln/>
        </p:spPr>
        <p:txBody>
          <a:bodyPr wrap="none" lIns="0" tIns="0" rIns="0" bIns="0" rtlCol="0" anchor="t">
            <a:spAutoFit/>
          </a:bodyPr>
          <a:lstStyle/>
          <a:p>
            <a:pPr marL="0" indent="0" algn="ctr">
              <a:lnSpc>
                <a:spcPts val="1100"/>
              </a:lnSpc>
              <a:buNone/>
            </a:pPr>
            <a:r>
              <a:rPr lang="en-US" sz="674" dirty="0">
                <a:solidFill>
                  <a:srgbClr val="B8C5D6"/>
                </a:solidFill>
              </a:rPr>
              <a:t>All Staff</a:t>
            </a:r>
            <a:endParaRPr lang="en-US" sz="674" dirty="0"/>
          </a:p>
        </p:txBody>
      </p:sp>
      <p:sp>
        <p:nvSpPr>
          <p:cNvPr id="52" name="Text 49"/>
          <p:cNvSpPr/>
          <p:nvPr/>
        </p:nvSpPr>
        <p:spPr>
          <a:xfrm>
            <a:off x="4948917" y="2329560"/>
            <a:ext cx="56592" cy="116086"/>
          </a:xfrm>
          <a:prstGeom prst="rect">
            <a:avLst/>
          </a:prstGeom>
          <a:noFill/>
          <a:ln/>
        </p:spPr>
        <p:txBody>
          <a:bodyPr wrap="none" lIns="0" tIns="0" rIns="0" bIns="0" rtlCol="0" anchor="t">
            <a:spAutoFit/>
          </a:bodyPr>
          <a:lstStyle/>
          <a:p>
            <a:pPr marL="0" indent="0" algn="l">
              <a:lnSpc>
                <a:spcPts val="1000"/>
              </a:lnSpc>
              <a:buNone/>
            </a:pPr>
            <a:r>
              <a:rPr lang="en-US" sz="584" b="1" dirty="0">
                <a:solidFill>
                  <a:srgbClr val="B8C5D6"/>
                </a:solidFill>
              </a:rPr>
              <a:t>R</a:t>
            </a:r>
            <a:endParaRPr lang="en-US" sz="584" dirty="0"/>
          </a:p>
        </p:txBody>
      </p:sp>
      <p:sp>
        <p:nvSpPr>
          <p:cNvPr id="53" name="Text 50"/>
          <p:cNvSpPr/>
          <p:nvPr/>
        </p:nvSpPr>
        <p:spPr>
          <a:xfrm>
            <a:off x="5005508" y="2329560"/>
            <a:ext cx="627534" cy="116086"/>
          </a:xfrm>
          <a:prstGeom prst="rect">
            <a:avLst/>
          </a:prstGeom>
          <a:noFill/>
          <a:ln/>
        </p:spPr>
        <p:txBody>
          <a:bodyPr wrap="none" lIns="0" tIns="0" rIns="0" bIns="0" rtlCol="0" anchor="t">
            <a:spAutoFit/>
          </a:bodyPr>
          <a:lstStyle/>
          <a:p>
            <a:pPr marL="0" indent="0" algn="l">
              <a:lnSpc>
                <a:spcPts val="1000"/>
              </a:lnSpc>
              <a:buNone/>
            </a:pPr>
            <a:r>
              <a:rPr lang="en-US" sz="621" dirty="0">
                <a:solidFill>
                  <a:srgbClr val="B8C5D6"/>
                </a:solidFill>
              </a:rPr>
              <a:t>=Responsible |</a:t>
            </a:r>
            <a:endParaRPr lang="en-US" sz="621" dirty="0"/>
          </a:p>
        </p:txBody>
      </p:sp>
      <p:sp>
        <p:nvSpPr>
          <p:cNvPr id="54" name="Text 51"/>
          <p:cNvSpPr/>
          <p:nvPr/>
        </p:nvSpPr>
        <p:spPr>
          <a:xfrm>
            <a:off x="5633042" y="2329560"/>
            <a:ext cx="59159" cy="116086"/>
          </a:xfrm>
          <a:prstGeom prst="rect">
            <a:avLst/>
          </a:prstGeom>
          <a:noFill/>
          <a:ln/>
        </p:spPr>
        <p:txBody>
          <a:bodyPr wrap="none" lIns="0" tIns="0" rIns="0" bIns="0" rtlCol="0" anchor="t">
            <a:spAutoFit/>
          </a:bodyPr>
          <a:lstStyle/>
          <a:p>
            <a:pPr marL="0" indent="0" algn="l">
              <a:lnSpc>
                <a:spcPts val="1000"/>
              </a:lnSpc>
              <a:buNone/>
            </a:pPr>
            <a:r>
              <a:rPr lang="en-US" sz="584" b="1" dirty="0">
                <a:solidFill>
                  <a:srgbClr val="B8C5D6"/>
                </a:solidFill>
              </a:rPr>
              <a:t>A</a:t>
            </a:r>
            <a:endParaRPr lang="en-US" sz="584" dirty="0"/>
          </a:p>
        </p:txBody>
      </p:sp>
      <p:sp>
        <p:nvSpPr>
          <p:cNvPr id="55" name="Text 52"/>
          <p:cNvSpPr/>
          <p:nvPr/>
        </p:nvSpPr>
        <p:spPr>
          <a:xfrm>
            <a:off x="5692201" y="2329560"/>
            <a:ext cx="637970" cy="116086"/>
          </a:xfrm>
          <a:prstGeom prst="rect">
            <a:avLst/>
          </a:prstGeom>
          <a:noFill/>
          <a:ln/>
        </p:spPr>
        <p:txBody>
          <a:bodyPr wrap="none" lIns="0" tIns="0" rIns="0" bIns="0" rtlCol="0" anchor="t">
            <a:spAutoFit/>
          </a:bodyPr>
          <a:lstStyle/>
          <a:p>
            <a:pPr marL="0" indent="0" algn="l">
              <a:lnSpc>
                <a:spcPts val="1000"/>
              </a:lnSpc>
              <a:buNone/>
            </a:pPr>
            <a:r>
              <a:rPr lang="en-US" sz="621" dirty="0">
                <a:solidFill>
                  <a:srgbClr val="B8C5D6"/>
                </a:solidFill>
              </a:rPr>
              <a:t>=Accountable |</a:t>
            </a:r>
            <a:endParaRPr lang="en-US" sz="621" dirty="0"/>
          </a:p>
        </p:txBody>
      </p:sp>
      <p:sp>
        <p:nvSpPr>
          <p:cNvPr id="56" name="Text 53"/>
          <p:cNvSpPr/>
          <p:nvPr/>
        </p:nvSpPr>
        <p:spPr>
          <a:xfrm>
            <a:off x="6330172" y="2329560"/>
            <a:ext cx="54611" cy="116086"/>
          </a:xfrm>
          <a:prstGeom prst="rect">
            <a:avLst/>
          </a:prstGeom>
          <a:noFill/>
          <a:ln/>
        </p:spPr>
        <p:txBody>
          <a:bodyPr wrap="none" lIns="0" tIns="0" rIns="0" bIns="0" rtlCol="0" anchor="t">
            <a:spAutoFit/>
          </a:bodyPr>
          <a:lstStyle/>
          <a:p>
            <a:pPr marL="0" indent="0" algn="l">
              <a:lnSpc>
                <a:spcPts val="1000"/>
              </a:lnSpc>
              <a:buNone/>
            </a:pPr>
            <a:r>
              <a:rPr lang="en-US" sz="584" b="1" dirty="0">
                <a:solidFill>
                  <a:srgbClr val="B8C5D6"/>
                </a:solidFill>
              </a:rPr>
              <a:t>C</a:t>
            </a:r>
            <a:endParaRPr lang="en-US" sz="584" dirty="0"/>
          </a:p>
        </p:txBody>
      </p:sp>
      <p:sp>
        <p:nvSpPr>
          <p:cNvPr id="57" name="Text 54"/>
          <p:cNvSpPr/>
          <p:nvPr/>
        </p:nvSpPr>
        <p:spPr>
          <a:xfrm>
            <a:off x="6384782" y="2329560"/>
            <a:ext cx="548060" cy="116086"/>
          </a:xfrm>
          <a:prstGeom prst="rect">
            <a:avLst/>
          </a:prstGeom>
          <a:noFill/>
          <a:ln/>
        </p:spPr>
        <p:txBody>
          <a:bodyPr wrap="none" lIns="0" tIns="0" rIns="0" bIns="0" rtlCol="0" anchor="t">
            <a:spAutoFit/>
          </a:bodyPr>
          <a:lstStyle/>
          <a:p>
            <a:pPr marL="0" indent="0" algn="l">
              <a:lnSpc>
                <a:spcPts val="1000"/>
              </a:lnSpc>
              <a:buNone/>
            </a:pPr>
            <a:r>
              <a:rPr lang="en-US" sz="621" dirty="0">
                <a:solidFill>
                  <a:srgbClr val="B8C5D6"/>
                </a:solidFill>
              </a:rPr>
              <a:t>=Consulted |</a:t>
            </a:r>
            <a:endParaRPr lang="en-US" sz="621" dirty="0"/>
          </a:p>
        </p:txBody>
      </p:sp>
      <p:sp>
        <p:nvSpPr>
          <p:cNvPr id="58" name="Text 55"/>
          <p:cNvSpPr/>
          <p:nvPr/>
        </p:nvSpPr>
        <p:spPr>
          <a:xfrm>
            <a:off x="6932842" y="2329560"/>
            <a:ext cx="33375" cy="116086"/>
          </a:xfrm>
          <a:prstGeom prst="rect">
            <a:avLst/>
          </a:prstGeom>
          <a:noFill/>
          <a:ln/>
        </p:spPr>
        <p:txBody>
          <a:bodyPr wrap="none" lIns="0" tIns="0" rIns="0" bIns="0" rtlCol="0" anchor="t">
            <a:spAutoFit/>
          </a:bodyPr>
          <a:lstStyle/>
          <a:p>
            <a:pPr marL="0" indent="0" algn="l">
              <a:lnSpc>
                <a:spcPts val="1000"/>
              </a:lnSpc>
              <a:buNone/>
            </a:pPr>
            <a:r>
              <a:rPr lang="en-US" sz="584" b="1" dirty="0">
                <a:solidFill>
                  <a:srgbClr val="B8C5D6"/>
                </a:solidFill>
              </a:rPr>
              <a:t>I</a:t>
            </a:r>
            <a:endParaRPr lang="en-US" sz="584" dirty="0"/>
          </a:p>
        </p:txBody>
      </p:sp>
      <p:sp>
        <p:nvSpPr>
          <p:cNvPr id="59" name="Text 56"/>
          <p:cNvSpPr/>
          <p:nvPr/>
        </p:nvSpPr>
        <p:spPr>
          <a:xfrm>
            <a:off x="6966217" y="2329560"/>
            <a:ext cx="429071" cy="116086"/>
          </a:xfrm>
          <a:prstGeom prst="rect">
            <a:avLst/>
          </a:prstGeom>
          <a:noFill/>
          <a:ln/>
        </p:spPr>
        <p:txBody>
          <a:bodyPr wrap="none" lIns="0" tIns="0" rIns="0" bIns="0" rtlCol="0" anchor="t">
            <a:spAutoFit/>
          </a:bodyPr>
          <a:lstStyle/>
          <a:p>
            <a:pPr marL="0" indent="0" algn="l">
              <a:lnSpc>
                <a:spcPts val="1000"/>
              </a:lnSpc>
              <a:buNone/>
            </a:pPr>
            <a:r>
              <a:rPr lang="en-US" sz="621" dirty="0">
                <a:solidFill>
                  <a:srgbClr val="B8C5D6"/>
                </a:solidFill>
              </a:rPr>
              <a:t>=Informed</a:t>
            </a:r>
            <a:endParaRPr lang="en-US" sz="621" dirty="0"/>
          </a:p>
        </p:txBody>
      </p:sp>
      <p:sp>
        <p:nvSpPr>
          <p:cNvPr id="60" name="Text 57"/>
          <p:cNvSpPr/>
          <p:nvPr/>
        </p:nvSpPr>
        <p:spPr>
          <a:xfrm>
            <a:off x="4891767" y="2604595"/>
            <a:ext cx="389504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GOVERNANCE PROCESSES</a:t>
            </a:r>
            <a:endParaRPr lang="en-US" sz="885" dirty="0"/>
          </a:p>
        </p:txBody>
      </p:sp>
      <p:sp>
        <p:nvSpPr>
          <p:cNvPr id="61" name="Shape 58"/>
          <p:cNvSpPr/>
          <p:nvPr/>
        </p:nvSpPr>
        <p:spPr>
          <a:xfrm>
            <a:off x="4891767" y="2854626"/>
            <a:ext cx="1904647" cy="1157204"/>
          </a:xfrm>
          <a:prstGeom prst="rect">
            <a:avLst/>
          </a:prstGeom>
          <a:solidFill>
            <a:srgbClr val="FFB020">
              <a:alpha val="5000"/>
            </a:srgbClr>
          </a:solidFill>
          <a:ln/>
        </p:spPr>
      </p:sp>
      <p:sp>
        <p:nvSpPr>
          <p:cNvPr id="62" name="Shape 59"/>
          <p:cNvSpPr/>
          <p:nvPr/>
        </p:nvSpPr>
        <p:spPr>
          <a:xfrm>
            <a:off x="4891767" y="2854626"/>
            <a:ext cx="21431" cy="1157204"/>
          </a:xfrm>
          <a:prstGeom prst="rect">
            <a:avLst/>
          </a:prstGeom>
          <a:solidFill>
            <a:srgbClr val="FFB020"/>
          </a:solidFill>
          <a:ln/>
        </p:spPr>
      </p:sp>
      <p:sp>
        <p:nvSpPr>
          <p:cNvPr id="63" name="Text 60"/>
          <p:cNvSpPr/>
          <p:nvPr/>
        </p:nvSpPr>
        <p:spPr>
          <a:xfrm>
            <a:off x="4948917" y="2911776"/>
            <a:ext cx="1790347" cy="321469"/>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B020"/>
                </a:solidFill>
              </a:rPr>
              <a:t>PROGRAM PLANNING &amp; BUDGETING</a:t>
            </a:r>
            <a:endParaRPr lang="en-US" sz="734" dirty="0"/>
          </a:p>
        </p:txBody>
      </p:sp>
      <p:sp>
        <p:nvSpPr>
          <p:cNvPr id="64" name="Text 61"/>
          <p:cNvSpPr/>
          <p:nvPr/>
        </p:nvSpPr>
        <p:spPr>
          <a:xfrm>
            <a:off x="4948917" y="3254676"/>
            <a:ext cx="1790347" cy="700004"/>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Annual planning establishes objectives, priorities, resources. Program manager develops plan, steering committee approves, budget allocated, progress tracked.</a:t>
            </a:r>
            <a:endParaRPr lang="en-US" sz="727" dirty="0"/>
          </a:p>
        </p:txBody>
      </p:sp>
      <p:sp>
        <p:nvSpPr>
          <p:cNvPr id="65" name="Shape 62"/>
          <p:cNvSpPr/>
          <p:nvPr/>
        </p:nvSpPr>
        <p:spPr>
          <a:xfrm>
            <a:off x="6882138" y="2854626"/>
            <a:ext cx="1904674" cy="1157204"/>
          </a:xfrm>
          <a:prstGeom prst="rect">
            <a:avLst/>
          </a:prstGeom>
          <a:solidFill>
            <a:srgbClr val="FFB020">
              <a:alpha val="5000"/>
            </a:srgbClr>
          </a:solidFill>
          <a:ln/>
        </p:spPr>
      </p:sp>
      <p:sp>
        <p:nvSpPr>
          <p:cNvPr id="66" name="Shape 63"/>
          <p:cNvSpPr/>
          <p:nvPr/>
        </p:nvSpPr>
        <p:spPr>
          <a:xfrm>
            <a:off x="6882138" y="2854626"/>
            <a:ext cx="21431" cy="1157204"/>
          </a:xfrm>
          <a:prstGeom prst="rect">
            <a:avLst/>
          </a:prstGeom>
          <a:solidFill>
            <a:srgbClr val="FFB020"/>
          </a:solidFill>
          <a:ln/>
        </p:spPr>
      </p:sp>
      <p:sp>
        <p:nvSpPr>
          <p:cNvPr id="67" name="Text 64"/>
          <p:cNvSpPr/>
          <p:nvPr/>
        </p:nvSpPr>
        <p:spPr>
          <a:xfrm>
            <a:off x="6939288" y="2911776"/>
            <a:ext cx="1790374" cy="321469"/>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B020"/>
                </a:solidFill>
              </a:rPr>
              <a:t>RISK &amp; PERFORMANCE MONITORING</a:t>
            </a:r>
            <a:endParaRPr lang="en-US" sz="734" dirty="0"/>
          </a:p>
        </p:txBody>
      </p:sp>
      <p:sp>
        <p:nvSpPr>
          <p:cNvPr id="68" name="Text 65"/>
          <p:cNvSpPr/>
          <p:nvPr/>
        </p:nvSpPr>
        <p:spPr>
          <a:xfrm>
            <a:off x="6939288" y="3254676"/>
            <a:ext cx="1790374" cy="560003"/>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Ongoing monitoring through KPIs, risk assessments, audit findings, incident and test results analysis ensures program effectiveness.</a:t>
            </a:r>
            <a:endParaRPr lang="en-US" sz="727" dirty="0"/>
          </a:p>
        </p:txBody>
      </p:sp>
      <p:sp>
        <p:nvSpPr>
          <p:cNvPr id="69" name="Shape 66"/>
          <p:cNvSpPr/>
          <p:nvPr/>
        </p:nvSpPr>
        <p:spPr>
          <a:xfrm>
            <a:off x="4891767" y="4097555"/>
            <a:ext cx="1904647" cy="1017203"/>
          </a:xfrm>
          <a:prstGeom prst="rect">
            <a:avLst/>
          </a:prstGeom>
          <a:solidFill>
            <a:srgbClr val="FFB020">
              <a:alpha val="5000"/>
            </a:srgbClr>
          </a:solidFill>
          <a:ln/>
        </p:spPr>
      </p:sp>
      <p:sp>
        <p:nvSpPr>
          <p:cNvPr id="70" name="Shape 67"/>
          <p:cNvSpPr/>
          <p:nvPr/>
        </p:nvSpPr>
        <p:spPr>
          <a:xfrm>
            <a:off x="4891767" y="4097555"/>
            <a:ext cx="21431" cy="1017203"/>
          </a:xfrm>
          <a:prstGeom prst="rect">
            <a:avLst/>
          </a:prstGeom>
          <a:solidFill>
            <a:srgbClr val="FFB020"/>
          </a:solidFill>
          <a:ln/>
        </p:spPr>
      </p:sp>
      <p:sp>
        <p:nvSpPr>
          <p:cNvPr id="71" name="Text 68"/>
          <p:cNvSpPr/>
          <p:nvPr/>
        </p:nvSpPr>
        <p:spPr>
          <a:xfrm>
            <a:off x="4948917" y="4154705"/>
            <a:ext cx="1790347"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B020"/>
                </a:solidFill>
              </a:rPr>
              <a:t>CONTINUOUS IMPROVEMENT</a:t>
            </a:r>
            <a:endParaRPr lang="en-US" sz="734" dirty="0"/>
          </a:p>
        </p:txBody>
      </p:sp>
      <p:sp>
        <p:nvSpPr>
          <p:cNvPr id="72" name="Text 69"/>
          <p:cNvSpPr/>
          <p:nvPr/>
        </p:nvSpPr>
        <p:spPr>
          <a:xfrm>
            <a:off x="4948917" y="4336870"/>
            <a:ext cx="1790347" cy="560003"/>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Lessons learned from tests and incidents, benchmarking, maturity assessments, program enhancements drive continuous improvement.</a:t>
            </a:r>
            <a:endParaRPr lang="en-US" sz="727" dirty="0"/>
          </a:p>
        </p:txBody>
      </p:sp>
      <p:sp>
        <p:nvSpPr>
          <p:cNvPr id="73" name="Shape 70"/>
          <p:cNvSpPr/>
          <p:nvPr/>
        </p:nvSpPr>
        <p:spPr>
          <a:xfrm>
            <a:off x="6882138" y="4097555"/>
            <a:ext cx="1904674" cy="1017203"/>
          </a:xfrm>
          <a:prstGeom prst="rect">
            <a:avLst/>
          </a:prstGeom>
          <a:solidFill>
            <a:srgbClr val="FFB020">
              <a:alpha val="5000"/>
            </a:srgbClr>
          </a:solidFill>
          <a:ln/>
        </p:spPr>
      </p:sp>
      <p:sp>
        <p:nvSpPr>
          <p:cNvPr id="74" name="Shape 71"/>
          <p:cNvSpPr/>
          <p:nvPr/>
        </p:nvSpPr>
        <p:spPr>
          <a:xfrm>
            <a:off x="6882138" y="4097555"/>
            <a:ext cx="21431" cy="1017203"/>
          </a:xfrm>
          <a:prstGeom prst="rect">
            <a:avLst/>
          </a:prstGeom>
          <a:solidFill>
            <a:srgbClr val="FFB020"/>
          </a:solidFill>
          <a:ln/>
        </p:spPr>
      </p:sp>
      <p:sp>
        <p:nvSpPr>
          <p:cNvPr id="75" name="Text 72"/>
          <p:cNvSpPr/>
          <p:nvPr/>
        </p:nvSpPr>
        <p:spPr>
          <a:xfrm>
            <a:off x="6939288" y="4154705"/>
            <a:ext cx="1790374" cy="321469"/>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B020"/>
                </a:solidFill>
              </a:rPr>
              <a:t>COMMUNICATION &amp; REPORTING</a:t>
            </a:r>
            <a:endParaRPr lang="en-US" sz="734" dirty="0"/>
          </a:p>
        </p:txBody>
      </p:sp>
      <p:sp>
        <p:nvSpPr>
          <p:cNvPr id="76" name="Text 73"/>
          <p:cNvSpPr/>
          <p:nvPr/>
        </p:nvSpPr>
        <p:spPr>
          <a:xfrm>
            <a:off x="6939288" y="4497605"/>
            <a:ext cx="1790374" cy="560003"/>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Quarterly steering committee meetings, monthly program status reports, annual board review, ad-hoc updates for significant events.</a:t>
            </a:r>
            <a:endParaRPr lang="en-US" sz="72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Metrics Drive BC/DR Program Maturity and Effectiveness</a:t>
            </a:r>
            <a:endParaRPr lang="en-US" sz="1602" dirty="0"/>
          </a:p>
        </p:txBody>
      </p:sp>
      <p:sp>
        <p:nvSpPr>
          <p:cNvPr id="4" name="Shape 1"/>
          <p:cNvSpPr/>
          <p:nvPr/>
        </p:nvSpPr>
        <p:spPr>
          <a:xfrm>
            <a:off x="357188" y="725788"/>
            <a:ext cx="4107656" cy="3035926"/>
          </a:xfrm>
          <a:prstGeom prst="rect">
            <a:avLst/>
          </a:prstGeom>
          <a:solidFill>
            <a:srgbClr val="00D9FF">
              <a:alpha val="5000"/>
            </a:srgbClr>
          </a:solidFill>
          <a:ln w="18288">
            <a:solidFill>
              <a:srgbClr val="00D9FF">
                <a:alpha val="30000"/>
              </a:srgbClr>
            </a:solidFill>
            <a:prstDash val="solid"/>
          </a:ln>
        </p:spPr>
      </p:sp>
      <p:sp>
        <p:nvSpPr>
          <p:cNvPr id="5" name="Text 2"/>
          <p:cNvSpPr/>
          <p:nvPr/>
        </p:nvSpPr>
        <p:spPr>
          <a:xfrm>
            <a:off x="457200" y="825801"/>
            <a:ext cx="390763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KEY PERFORMANCE INDICATORS</a:t>
            </a:r>
            <a:endParaRPr lang="en-US" sz="784" dirty="0"/>
          </a:p>
        </p:txBody>
      </p:sp>
      <p:sp>
        <p:nvSpPr>
          <p:cNvPr id="6" name="Text 3"/>
          <p:cNvSpPr/>
          <p:nvPr/>
        </p:nvSpPr>
        <p:spPr>
          <a:xfrm>
            <a:off x="457200" y="1054401"/>
            <a:ext cx="3907631"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AVAILABILITY &amp; RELIABILITY</a:t>
            </a:r>
            <a:endParaRPr lang="en-US" sz="683" dirty="0"/>
          </a:p>
        </p:txBody>
      </p:sp>
      <p:sp>
        <p:nvSpPr>
          <p:cNvPr id="7" name="Text 4"/>
          <p:cNvSpPr/>
          <p:nvPr/>
        </p:nvSpPr>
        <p:spPr>
          <a:xfrm>
            <a:off x="457200" y="1232995"/>
            <a:ext cx="39076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System uptime % (99.9%, 99.99%, 99.999%) • Mean time between failures (MTBF) • Mean time to repair (MTTR)</a:t>
            </a:r>
            <a:endParaRPr lang="en-US" sz="727" dirty="0"/>
          </a:p>
        </p:txBody>
      </p:sp>
      <p:sp>
        <p:nvSpPr>
          <p:cNvPr id="8" name="Text 5"/>
          <p:cNvSpPr/>
          <p:nvPr/>
        </p:nvSpPr>
        <p:spPr>
          <a:xfrm>
            <a:off x="457200" y="1584434"/>
            <a:ext cx="3907631"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RECOVERY PERFORMANCE</a:t>
            </a:r>
            <a:endParaRPr lang="en-US" sz="683" dirty="0"/>
          </a:p>
        </p:txBody>
      </p:sp>
      <p:sp>
        <p:nvSpPr>
          <p:cNvPr id="9" name="Text 6"/>
          <p:cNvSpPr/>
          <p:nvPr/>
        </p:nvSpPr>
        <p:spPr>
          <a:xfrm>
            <a:off x="457200" y="1763027"/>
            <a:ext cx="39076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Actual RTO vs. target RTO • Actual RPO vs. target RPO • Recovery success rate • Data loss incidents</a:t>
            </a:r>
            <a:endParaRPr lang="en-US" sz="727" dirty="0"/>
          </a:p>
        </p:txBody>
      </p:sp>
      <p:sp>
        <p:nvSpPr>
          <p:cNvPr id="10" name="Text 7"/>
          <p:cNvSpPr/>
          <p:nvPr/>
        </p:nvSpPr>
        <p:spPr>
          <a:xfrm>
            <a:off x="457200" y="2114466"/>
            <a:ext cx="3907631"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TESTING &amp; EXERCISES</a:t>
            </a:r>
            <a:endParaRPr lang="en-US" sz="683" dirty="0"/>
          </a:p>
        </p:txBody>
      </p:sp>
      <p:sp>
        <p:nvSpPr>
          <p:cNvPr id="11" name="Text 8"/>
          <p:cNvSpPr/>
          <p:nvPr/>
        </p:nvSpPr>
        <p:spPr>
          <a:xfrm>
            <a:off x="457200" y="2293060"/>
            <a:ext cx="39076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Number of tests per year • Test success rate • Issues identified during testing • Time to resolve findings</a:t>
            </a:r>
            <a:endParaRPr lang="en-US" sz="727" dirty="0"/>
          </a:p>
        </p:txBody>
      </p:sp>
      <p:sp>
        <p:nvSpPr>
          <p:cNvPr id="12" name="Text 9"/>
          <p:cNvSpPr/>
          <p:nvPr/>
        </p:nvSpPr>
        <p:spPr>
          <a:xfrm>
            <a:off x="457200" y="2644499"/>
            <a:ext cx="3907631"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COMPLIANCE &amp; GOVERNANCE</a:t>
            </a:r>
            <a:endParaRPr lang="en-US" sz="683" dirty="0"/>
          </a:p>
        </p:txBody>
      </p:sp>
      <p:sp>
        <p:nvSpPr>
          <p:cNvPr id="13" name="Text 10"/>
          <p:cNvSpPr/>
          <p:nvPr/>
        </p:nvSpPr>
        <p:spPr>
          <a:xfrm>
            <a:off x="457200" y="2823093"/>
            <a:ext cx="39076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Plan update frequency • Training completion rate • Audit findings • Regulatory compliance status</a:t>
            </a:r>
            <a:endParaRPr lang="en-US" sz="727" dirty="0"/>
          </a:p>
        </p:txBody>
      </p:sp>
      <p:sp>
        <p:nvSpPr>
          <p:cNvPr id="14" name="Text 11"/>
          <p:cNvSpPr/>
          <p:nvPr/>
        </p:nvSpPr>
        <p:spPr>
          <a:xfrm>
            <a:off x="457200" y="3174532"/>
            <a:ext cx="3907631"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FFB020"/>
                </a:solidFill>
              </a:rPr>
              <a:t>FINANCIAL METRICS</a:t>
            </a:r>
            <a:endParaRPr lang="en-US" sz="683" dirty="0"/>
          </a:p>
        </p:txBody>
      </p:sp>
      <p:sp>
        <p:nvSpPr>
          <p:cNvPr id="15" name="Text 12"/>
          <p:cNvSpPr/>
          <p:nvPr/>
        </p:nvSpPr>
        <p:spPr>
          <a:xfrm>
            <a:off x="457200" y="3353126"/>
            <a:ext cx="39076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BC/DR costs as % of IT budget • Cost per protected system • Cost of downtime avoided • ROI of investments</a:t>
            </a:r>
            <a:endParaRPr lang="en-US" sz="727" dirty="0"/>
          </a:p>
        </p:txBody>
      </p:sp>
      <p:sp>
        <p:nvSpPr>
          <p:cNvPr id="16" name="Shape 13"/>
          <p:cNvSpPr/>
          <p:nvPr/>
        </p:nvSpPr>
        <p:spPr>
          <a:xfrm>
            <a:off x="357188" y="3818865"/>
            <a:ext cx="4107656" cy="665764"/>
          </a:xfrm>
          <a:prstGeom prst="rect">
            <a:avLst/>
          </a:prstGeom>
          <a:solidFill>
            <a:srgbClr val="FFB020">
              <a:alpha val="5000"/>
            </a:srgbClr>
          </a:solidFill>
          <a:ln/>
        </p:spPr>
      </p:sp>
      <p:sp>
        <p:nvSpPr>
          <p:cNvPr id="17" name="Shape 14"/>
          <p:cNvSpPr/>
          <p:nvPr/>
        </p:nvSpPr>
        <p:spPr>
          <a:xfrm>
            <a:off x="357188" y="3818865"/>
            <a:ext cx="28575" cy="665764"/>
          </a:xfrm>
          <a:prstGeom prst="rect">
            <a:avLst/>
          </a:prstGeom>
          <a:solidFill>
            <a:srgbClr val="FFB020"/>
          </a:solidFill>
          <a:ln/>
        </p:spPr>
      </p:sp>
      <p:sp>
        <p:nvSpPr>
          <p:cNvPr id="18" name="Text 15"/>
          <p:cNvSpPr/>
          <p:nvPr/>
        </p:nvSpPr>
        <p:spPr>
          <a:xfrm>
            <a:off x="442913" y="3904590"/>
            <a:ext cx="39362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CONTINUOUS IMPROVEMENT PROCESS</a:t>
            </a:r>
            <a:endParaRPr lang="en-US" sz="784" dirty="0"/>
          </a:p>
        </p:txBody>
      </p:sp>
      <p:sp>
        <p:nvSpPr>
          <p:cNvPr id="19" name="Text 16"/>
          <p:cNvSpPr/>
          <p:nvPr/>
        </p:nvSpPr>
        <p:spPr>
          <a:xfrm>
            <a:off x="442913" y="4118902"/>
            <a:ext cx="393620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Quarterly program reviews • Annual maturity assessment • Lessons learned integration • Benchmarking against industry peers</a:t>
            </a:r>
            <a:endParaRPr lang="en-US" sz="727" dirty="0"/>
          </a:p>
        </p:txBody>
      </p:sp>
      <p:sp>
        <p:nvSpPr>
          <p:cNvPr id="20" name="Shape 17"/>
          <p:cNvSpPr/>
          <p:nvPr/>
        </p:nvSpPr>
        <p:spPr>
          <a:xfrm>
            <a:off x="4679156" y="725788"/>
            <a:ext cx="4107656" cy="3385970"/>
          </a:xfrm>
          <a:prstGeom prst="rect">
            <a:avLst/>
          </a:prstGeom>
          <a:solidFill>
            <a:srgbClr val="00D9FF">
              <a:alpha val="5000"/>
            </a:srgbClr>
          </a:solidFill>
          <a:ln w="18288">
            <a:solidFill>
              <a:srgbClr val="00D9FF">
                <a:alpha val="30000"/>
              </a:srgbClr>
            </a:solidFill>
            <a:prstDash val="solid"/>
          </a:ln>
        </p:spPr>
      </p:sp>
      <p:sp>
        <p:nvSpPr>
          <p:cNvPr id="21" name="Text 18"/>
          <p:cNvSpPr/>
          <p:nvPr/>
        </p:nvSpPr>
        <p:spPr>
          <a:xfrm>
            <a:off x="4779169" y="825801"/>
            <a:ext cx="390763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BC/DR MATURITY ASSESSMENT MODEL</a:t>
            </a:r>
            <a:endParaRPr lang="en-US" sz="784" dirty="0"/>
          </a:p>
        </p:txBody>
      </p:sp>
      <p:sp>
        <p:nvSpPr>
          <p:cNvPr id="22" name="Shape 19"/>
          <p:cNvSpPr/>
          <p:nvPr/>
        </p:nvSpPr>
        <p:spPr>
          <a:xfrm>
            <a:off x="4779169" y="1054401"/>
            <a:ext cx="3907631" cy="551464"/>
          </a:xfrm>
          <a:prstGeom prst="rect">
            <a:avLst/>
          </a:prstGeom>
          <a:solidFill>
            <a:srgbClr val="FFFFFF">
              <a:alpha val="2000"/>
            </a:srgbClr>
          </a:solidFill>
          <a:ln/>
        </p:spPr>
      </p:sp>
      <p:sp>
        <p:nvSpPr>
          <p:cNvPr id="23" name="Shape 20"/>
          <p:cNvSpPr/>
          <p:nvPr/>
        </p:nvSpPr>
        <p:spPr>
          <a:xfrm>
            <a:off x="4779169" y="1054401"/>
            <a:ext cx="21431" cy="551464"/>
          </a:xfrm>
          <a:prstGeom prst="rect">
            <a:avLst/>
          </a:prstGeom>
          <a:solidFill>
            <a:srgbClr val="B8C5D6"/>
          </a:solidFill>
          <a:ln/>
        </p:spPr>
      </p:sp>
      <p:sp>
        <p:nvSpPr>
          <p:cNvPr id="24" name="Text 21"/>
          <p:cNvSpPr/>
          <p:nvPr/>
        </p:nvSpPr>
        <p:spPr>
          <a:xfrm>
            <a:off x="4822031" y="1097263"/>
            <a:ext cx="38219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B8C5D6"/>
                </a:solidFill>
              </a:rPr>
              <a:t>LEVEL 1: INITIAL (AD HOC)</a:t>
            </a:r>
            <a:endParaRPr lang="en-US" sz="784" dirty="0"/>
          </a:p>
        </p:txBody>
      </p:sp>
      <p:sp>
        <p:nvSpPr>
          <p:cNvPr id="25" name="Text 22"/>
          <p:cNvSpPr/>
          <p:nvPr/>
        </p:nvSpPr>
        <p:spPr>
          <a:xfrm>
            <a:off x="4822031" y="1283001"/>
            <a:ext cx="382190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BC/DR activities reactive and informal. No formal plans. Recovery relies on individual heroics. Success unpredictable. High risk.</a:t>
            </a:r>
            <a:endParaRPr lang="en-US" sz="727" dirty="0"/>
          </a:p>
        </p:txBody>
      </p:sp>
      <p:sp>
        <p:nvSpPr>
          <p:cNvPr id="26" name="Shape 23"/>
          <p:cNvSpPr/>
          <p:nvPr/>
        </p:nvSpPr>
        <p:spPr>
          <a:xfrm>
            <a:off x="4779169" y="1648727"/>
            <a:ext cx="3907631" cy="551464"/>
          </a:xfrm>
          <a:prstGeom prst="rect">
            <a:avLst/>
          </a:prstGeom>
          <a:solidFill>
            <a:srgbClr val="FFB020">
              <a:alpha val="5000"/>
            </a:srgbClr>
          </a:solidFill>
          <a:ln/>
        </p:spPr>
      </p:sp>
      <p:sp>
        <p:nvSpPr>
          <p:cNvPr id="27" name="Shape 24"/>
          <p:cNvSpPr/>
          <p:nvPr/>
        </p:nvSpPr>
        <p:spPr>
          <a:xfrm>
            <a:off x="4779169" y="1648727"/>
            <a:ext cx="21431" cy="551464"/>
          </a:xfrm>
          <a:prstGeom prst="rect">
            <a:avLst/>
          </a:prstGeom>
          <a:solidFill>
            <a:srgbClr val="FFB020"/>
          </a:solidFill>
          <a:ln/>
        </p:spPr>
      </p:sp>
      <p:sp>
        <p:nvSpPr>
          <p:cNvPr id="28" name="Text 25"/>
          <p:cNvSpPr/>
          <p:nvPr/>
        </p:nvSpPr>
        <p:spPr>
          <a:xfrm>
            <a:off x="4822031" y="1691590"/>
            <a:ext cx="38219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LEVEL 2: DEVELOPING (REPEATABLE)</a:t>
            </a:r>
            <a:endParaRPr lang="en-US" sz="784" dirty="0"/>
          </a:p>
        </p:txBody>
      </p:sp>
      <p:sp>
        <p:nvSpPr>
          <p:cNvPr id="29" name="Text 26"/>
          <p:cNvSpPr/>
          <p:nvPr/>
        </p:nvSpPr>
        <p:spPr>
          <a:xfrm>
            <a:off x="4822031" y="1877327"/>
            <a:ext cx="382190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Basic BC/DR plans exist for critical systems. Some testing but not regular. Roles defined but not always followed. Variable success.</a:t>
            </a:r>
            <a:endParaRPr lang="en-US" sz="727" dirty="0"/>
          </a:p>
        </p:txBody>
      </p:sp>
      <p:sp>
        <p:nvSpPr>
          <p:cNvPr id="30" name="Shape 27"/>
          <p:cNvSpPr/>
          <p:nvPr/>
        </p:nvSpPr>
        <p:spPr>
          <a:xfrm>
            <a:off x="4779169" y="2243054"/>
            <a:ext cx="3907631" cy="551464"/>
          </a:xfrm>
          <a:prstGeom prst="rect">
            <a:avLst/>
          </a:prstGeom>
          <a:solidFill>
            <a:srgbClr val="00D9FF">
              <a:alpha val="5000"/>
            </a:srgbClr>
          </a:solidFill>
          <a:ln/>
        </p:spPr>
      </p:sp>
      <p:sp>
        <p:nvSpPr>
          <p:cNvPr id="31" name="Shape 28"/>
          <p:cNvSpPr/>
          <p:nvPr/>
        </p:nvSpPr>
        <p:spPr>
          <a:xfrm>
            <a:off x="4779169" y="2243054"/>
            <a:ext cx="21431" cy="551464"/>
          </a:xfrm>
          <a:prstGeom prst="rect">
            <a:avLst/>
          </a:prstGeom>
          <a:solidFill>
            <a:srgbClr val="00D9FF"/>
          </a:solidFill>
          <a:ln/>
        </p:spPr>
      </p:sp>
      <p:sp>
        <p:nvSpPr>
          <p:cNvPr id="32" name="Text 29"/>
          <p:cNvSpPr/>
          <p:nvPr/>
        </p:nvSpPr>
        <p:spPr>
          <a:xfrm>
            <a:off x="4822031" y="2285916"/>
            <a:ext cx="38219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LEVEL 3: DEFINED (STANDARDIZED)</a:t>
            </a:r>
            <a:endParaRPr lang="en-US" sz="784" dirty="0"/>
          </a:p>
        </p:txBody>
      </p:sp>
      <p:sp>
        <p:nvSpPr>
          <p:cNvPr id="33" name="Text 30"/>
          <p:cNvSpPr/>
          <p:nvPr/>
        </p:nvSpPr>
        <p:spPr>
          <a:xfrm>
            <a:off x="4822031" y="2471654"/>
            <a:ext cx="382190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Comprehensive BC/DR program with documented processes. Regular testing across critical systems. Clear governance. Consistent recovery success.</a:t>
            </a:r>
            <a:endParaRPr lang="en-US" sz="727" dirty="0"/>
          </a:p>
        </p:txBody>
      </p:sp>
      <p:sp>
        <p:nvSpPr>
          <p:cNvPr id="34" name="Shape 31"/>
          <p:cNvSpPr/>
          <p:nvPr/>
        </p:nvSpPr>
        <p:spPr>
          <a:xfrm>
            <a:off x="4779169" y="2837380"/>
            <a:ext cx="3907631" cy="551464"/>
          </a:xfrm>
          <a:prstGeom prst="rect">
            <a:avLst/>
          </a:prstGeom>
          <a:solidFill>
            <a:srgbClr val="00D9FF">
              <a:alpha val="8000"/>
            </a:srgbClr>
          </a:solidFill>
          <a:ln/>
        </p:spPr>
      </p:sp>
      <p:sp>
        <p:nvSpPr>
          <p:cNvPr id="35" name="Shape 32"/>
          <p:cNvSpPr/>
          <p:nvPr/>
        </p:nvSpPr>
        <p:spPr>
          <a:xfrm>
            <a:off x="4779169" y="2837380"/>
            <a:ext cx="21431" cy="551464"/>
          </a:xfrm>
          <a:prstGeom prst="rect">
            <a:avLst/>
          </a:prstGeom>
          <a:solidFill>
            <a:srgbClr val="00D9FF"/>
          </a:solidFill>
          <a:ln/>
        </p:spPr>
      </p:sp>
      <p:sp>
        <p:nvSpPr>
          <p:cNvPr id="36" name="Text 33"/>
          <p:cNvSpPr/>
          <p:nvPr/>
        </p:nvSpPr>
        <p:spPr>
          <a:xfrm>
            <a:off x="4822031" y="2880243"/>
            <a:ext cx="38219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LEVEL 4: MANAGED (MEASURED)</a:t>
            </a:r>
            <a:endParaRPr lang="en-US" sz="784" dirty="0"/>
          </a:p>
        </p:txBody>
      </p:sp>
      <p:sp>
        <p:nvSpPr>
          <p:cNvPr id="37" name="Text 34"/>
          <p:cNvSpPr/>
          <p:nvPr/>
        </p:nvSpPr>
        <p:spPr>
          <a:xfrm>
            <a:off x="4822031" y="3065980"/>
            <a:ext cx="382190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BC/DR driven by metrics and data. Proactive gap identification and remediation. Integration with enterprise risk management. Continuous improvement.</a:t>
            </a:r>
            <a:endParaRPr lang="en-US" sz="727" dirty="0"/>
          </a:p>
        </p:txBody>
      </p:sp>
      <p:sp>
        <p:nvSpPr>
          <p:cNvPr id="38" name="Shape 35"/>
          <p:cNvSpPr/>
          <p:nvPr/>
        </p:nvSpPr>
        <p:spPr>
          <a:xfrm>
            <a:off x="4779169" y="3431707"/>
            <a:ext cx="3907631" cy="551464"/>
          </a:xfrm>
          <a:prstGeom prst="rect">
            <a:avLst/>
          </a:prstGeom>
          <a:solidFill>
            <a:srgbClr val="00D9FF">
              <a:alpha val="10000"/>
            </a:srgbClr>
          </a:solidFill>
          <a:ln/>
        </p:spPr>
      </p:sp>
      <p:sp>
        <p:nvSpPr>
          <p:cNvPr id="39" name="Shape 36"/>
          <p:cNvSpPr/>
          <p:nvPr/>
        </p:nvSpPr>
        <p:spPr>
          <a:xfrm>
            <a:off x="4779169" y="3431707"/>
            <a:ext cx="21431" cy="551464"/>
          </a:xfrm>
          <a:prstGeom prst="rect">
            <a:avLst/>
          </a:prstGeom>
          <a:solidFill>
            <a:srgbClr val="00D9FF"/>
          </a:solidFill>
          <a:ln/>
        </p:spPr>
      </p:sp>
      <p:sp>
        <p:nvSpPr>
          <p:cNvPr id="40" name="Text 37"/>
          <p:cNvSpPr/>
          <p:nvPr/>
        </p:nvSpPr>
        <p:spPr>
          <a:xfrm>
            <a:off x="4822031" y="3474569"/>
            <a:ext cx="38219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FFFF"/>
                </a:solidFill>
              </a:rPr>
              <a:t>LEVEL 5: OPTIMIZING (CONTINUOUS IMPROVEMENT)</a:t>
            </a:r>
            <a:endParaRPr lang="en-US" sz="784" dirty="0"/>
          </a:p>
        </p:txBody>
      </p:sp>
      <p:sp>
        <p:nvSpPr>
          <p:cNvPr id="41" name="Text 38"/>
          <p:cNvSpPr/>
          <p:nvPr/>
        </p:nvSpPr>
        <p:spPr>
          <a:xfrm>
            <a:off x="4822031" y="3660307"/>
            <a:ext cx="382190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BC/DR is core organizational competency. Innovation in recovery approaches. Industry leadership and best practices. Resilience embedded in culture.</a:t>
            </a:r>
            <a:endParaRPr lang="en-US" sz="727" dirty="0"/>
          </a:p>
        </p:txBody>
      </p:sp>
      <p:sp>
        <p:nvSpPr>
          <p:cNvPr id="42" name="Shape 39"/>
          <p:cNvSpPr/>
          <p:nvPr/>
        </p:nvSpPr>
        <p:spPr>
          <a:xfrm>
            <a:off x="4679156" y="4140333"/>
            <a:ext cx="4107656" cy="762902"/>
          </a:xfrm>
          <a:prstGeom prst="rect">
            <a:avLst/>
          </a:prstGeom>
          <a:solidFill>
            <a:srgbClr val="FFB020">
              <a:alpha val="5000"/>
            </a:srgbClr>
          </a:solidFill>
          <a:ln/>
        </p:spPr>
      </p:sp>
      <p:sp>
        <p:nvSpPr>
          <p:cNvPr id="43" name="Shape 40"/>
          <p:cNvSpPr/>
          <p:nvPr/>
        </p:nvSpPr>
        <p:spPr>
          <a:xfrm>
            <a:off x="4679156" y="4140333"/>
            <a:ext cx="28575" cy="762902"/>
          </a:xfrm>
          <a:prstGeom prst="rect">
            <a:avLst/>
          </a:prstGeom>
          <a:solidFill>
            <a:srgbClr val="FFB020"/>
          </a:solidFill>
          <a:ln/>
        </p:spPr>
      </p:sp>
      <p:sp>
        <p:nvSpPr>
          <p:cNvPr id="44" name="Text 41"/>
          <p:cNvSpPr/>
          <p:nvPr/>
        </p:nvSpPr>
        <p:spPr>
          <a:xfrm>
            <a:off x="4750594" y="4211771"/>
            <a:ext cx="3964781"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B020"/>
                </a:solidFill>
              </a:rPr>
              <a:t>MATURITY ADVANCEMENT</a:t>
            </a:r>
            <a:endParaRPr lang="en-US" sz="784" dirty="0"/>
          </a:p>
        </p:txBody>
      </p:sp>
      <p:sp>
        <p:nvSpPr>
          <p:cNvPr id="45" name="Text 42"/>
          <p:cNvSpPr/>
          <p:nvPr/>
        </p:nvSpPr>
        <p:spPr>
          <a:xfrm>
            <a:off x="4750594" y="4411796"/>
            <a:ext cx="3964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8C5D6"/>
                </a:solidFill>
              </a:rPr>
              <a:t>Organizations should assess current maturity level, identify gaps to next level, develop roadmap for advancement, and track progress through metrics and benchmarking.</a:t>
            </a:r>
            <a:endParaRPr lang="en-US" sz="72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30645"/>
          </a:xfrm>
          <a:prstGeom prst="rect">
            <a:avLst/>
          </a:prstGeom>
        </p:spPr>
      </p:pic>
      <p:sp>
        <p:nvSpPr>
          <p:cNvPr id="3" name="Text 0"/>
          <p:cNvSpPr/>
          <p:nvPr/>
        </p:nvSpPr>
        <p:spPr>
          <a:xfrm>
            <a:off x="357188" y="285750"/>
            <a:ext cx="8429625" cy="594327"/>
          </a:xfrm>
          <a:prstGeom prst="rect">
            <a:avLst/>
          </a:prstGeom>
          <a:noFill/>
          <a:ln/>
        </p:spPr>
        <p:txBody>
          <a:bodyPr wrap="square" lIns="170053" tIns="0" rIns="0" bIns="0" rtlCol="0" anchor="t">
            <a:spAutoFit/>
          </a:bodyPr>
          <a:lstStyle/>
          <a:p>
            <a:pPr marL="0" indent="0" algn="l">
              <a:lnSpc>
                <a:spcPts val="2300"/>
              </a:lnSpc>
              <a:buNone/>
            </a:pPr>
            <a:r>
              <a:rPr lang="en-US" sz="1602" b="1" dirty="0">
                <a:solidFill>
                  <a:srgbClr val="FFFFFF"/>
                </a:solidFill>
              </a:rPr>
              <a:t>Incident Response and BC/DR Form Complementary Resilience Framework</a:t>
            </a:r>
            <a:endParaRPr lang="en-US" sz="1602" dirty="0"/>
          </a:p>
        </p:txBody>
      </p:sp>
      <p:sp>
        <p:nvSpPr>
          <p:cNvPr id="4" name="Shape 1"/>
          <p:cNvSpPr/>
          <p:nvPr/>
        </p:nvSpPr>
        <p:spPr>
          <a:xfrm>
            <a:off x="357188" y="980089"/>
            <a:ext cx="4125516" cy="1225153"/>
          </a:xfrm>
          <a:prstGeom prst="rect">
            <a:avLst/>
          </a:prstGeom>
          <a:solidFill>
            <a:srgbClr val="00D9FF">
              <a:alpha val="3000"/>
            </a:srgbClr>
          </a:solidFill>
          <a:ln w="18288">
            <a:solidFill>
              <a:srgbClr val="00D9FF"/>
            </a:solidFill>
            <a:prstDash val="solid"/>
          </a:ln>
        </p:spPr>
      </p:sp>
      <p:sp>
        <p:nvSpPr>
          <p:cNvPr id="5" name="Text 2"/>
          <p:cNvSpPr/>
          <p:nvPr/>
        </p:nvSpPr>
        <p:spPr>
          <a:xfrm>
            <a:off x="414338" y="1037239"/>
            <a:ext cx="401121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INCIDENT RESPONSE SCOPE</a:t>
            </a:r>
            <a:endParaRPr lang="en-US" sz="885" dirty="0"/>
          </a:p>
        </p:txBody>
      </p:sp>
      <p:sp>
        <p:nvSpPr>
          <p:cNvPr id="6" name="Text 3"/>
          <p:cNvSpPr/>
          <p:nvPr/>
        </p:nvSpPr>
        <p:spPr>
          <a:xfrm>
            <a:off x="414338" y="1272983"/>
            <a:ext cx="4011216"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Focus: Cybersecurity Incidents</a:t>
            </a:r>
            <a:endParaRPr lang="en-US" sz="734" dirty="0"/>
          </a:p>
        </p:txBody>
      </p:sp>
      <p:sp>
        <p:nvSpPr>
          <p:cNvPr id="7" name="Text 4"/>
          <p:cNvSpPr/>
          <p:nvPr/>
        </p:nvSpPr>
        <p:spPr>
          <a:xfrm>
            <a:off x="414338" y="1476580"/>
            <a:ext cx="4011216"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Addresses malware infections, unauthorized access, data breaches, denial of service attacks, and insider threats. Primary goal: minimize security impact and restore secure operations through detection, analysis, containment, eradication, and recovery.</a:t>
            </a:r>
            <a:endParaRPr lang="en-US" sz="780" dirty="0"/>
          </a:p>
        </p:txBody>
      </p:sp>
      <p:sp>
        <p:nvSpPr>
          <p:cNvPr id="8" name="Shape 5"/>
          <p:cNvSpPr/>
          <p:nvPr/>
        </p:nvSpPr>
        <p:spPr>
          <a:xfrm>
            <a:off x="4661297" y="980089"/>
            <a:ext cx="4125516" cy="1225153"/>
          </a:xfrm>
          <a:prstGeom prst="rect">
            <a:avLst/>
          </a:prstGeom>
          <a:solidFill>
            <a:srgbClr val="FFB020">
              <a:alpha val="3000"/>
            </a:srgbClr>
          </a:solidFill>
          <a:ln w="18288">
            <a:solidFill>
              <a:srgbClr val="FFB020"/>
            </a:solidFill>
            <a:prstDash val="solid"/>
          </a:ln>
        </p:spPr>
      </p:sp>
      <p:sp>
        <p:nvSpPr>
          <p:cNvPr id="9" name="Text 6"/>
          <p:cNvSpPr/>
          <p:nvPr/>
        </p:nvSpPr>
        <p:spPr>
          <a:xfrm>
            <a:off x="4718447" y="1037239"/>
            <a:ext cx="401121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BC/DR SCOPE</a:t>
            </a:r>
            <a:endParaRPr lang="en-US" sz="885" dirty="0"/>
          </a:p>
        </p:txBody>
      </p:sp>
      <p:sp>
        <p:nvSpPr>
          <p:cNvPr id="10" name="Text 7"/>
          <p:cNvSpPr/>
          <p:nvPr/>
        </p:nvSpPr>
        <p:spPr>
          <a:xfrm>
            <a:off x="4718447" y="1272983"/>
            <a:ext cx="4011216"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Focus: All Disruptions</a:t>
            </a:r>
            <a:endParaRPr lang="en-US" sz="734" dirty="0"/>
          </a:p>
        </p:txBody>
      </p:sp>
      <p:sp>
        <p:nvSpPr>
          <p:cNvPr id="11" name="Text 8"/>
          <p:cNvSpPr/>
          <p:nvPr/>
        </p:nvSpPr>
        <p:spPr>
          <a:xfrm>
            <a:off x="4718447" y="1476580"/>
            <a:ext cx="4011216"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Addresses natural disasters, technology failures, supply chain interruptions, facility access issues, and cybersecurity incidents. Primary goal: minimize business impact and restore normal operations while maintaining critical business functions.</a:t>
            </a:r>
            <a:endParaRPr lang="en-US" sz="780" dirty="0"/>
          </a:p>
        </p:txBody>
      </p:sp>
      <p:sp>
        <p:nvSpPr>
          <p:cNvPr id="12" name="Shape 9"/>
          <p:cNvSpPr/>
          <p:nvPr/>
        </p:nvSpPr>
        <p:spPr>
          <a:xfrm>
            <a:off x="357188" y="2305255"/>
            <a:ext cx="8429625" cy="1218009"/>
          </a:xfrm>
          <a:prstGeom prst="rect">
            <a:avLst/>
          </a:prstGeom>
          <a:solidFill>
            <a:srgbClr val="00D9FF">
              <a:alpha val="5000"/>
            </a:srgbClr>
          </a:solidFill>
          <a:ln w="18288">
            <a:solidFill>
              <a:srgbClr val="00D9FF">
                <a:alpha val="30000"/>
              </a:srgbClr>
            </a:solidFill>
            <a:prstDash val="solid"/>
          </a:ln>
        </p:spPr>
      </p:sp>
      <p:sp>
        <p:nvSpPr>
          <p:cNvPr id="13" name="Text 10"/>
          <p:cNvSpPr/>
          <p:nvPr/>
        </p:nvSpPr>
        <p:spPr>
          <a:xfrm>
            <a:off x="414338" y="2362405"/>
            <a:ext cx="831532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FFFF"/>
                </a:solidFill>
              </a:rPr>
              <a:t>INTEGRATION POINTS</a:t>
            </a:r>
            <a:endParaRPr lang="en-US" sz="885" dirty="0"/>
          </a:p>
        </p:txBody>
      </p:sp>
      <p:sp>
        <p:nvSpPr>
          <p:cNvPr id="14" name="Text 11"/>
          <p:cNvSpPr/>
          <p:nvPr/>
        </p:nvSpPr>
        <p:spPr>
          <a:xfrm>
            <a:off x="414338" y="2612436"/>
            <a:ext cx="2695566"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SHARED ACTIVATION</a:t>
            </a:r>
            <a:endParaRPr lang="en-US" sz="734" dirty="0"/>
          </a:p>
        </p:txBody>
      </p:sp>
      <p:sp>
        <p:nvSpPr>
          <p:cNvPr id="15" name="Text 12"/>
          <p:cNvSpPr/>
          <p:nvPr/>
        </p:nvSpPr>
        <p:spPr>
          <a:xfrm>
            <a:off x="414338" y="2794602"/>
            <a:ext cx="2695566"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Major cybersecurity incidents trigger both IR and BC/DR. Ransomware requires IR (threat containment) and DR (system recovery). DDoS requires IR (attack mitigation) and BC (alternate service delivery).</a:t>
            </a:r>
            <a:endParaRPr lang="en-US" sz="780" dirty="0"/>
          </a:p>
        </p:txBody>
      </p:sp>
      <p:sp>
        <p:nvSpPr>
          <p:cNvPr id="16" name="Text 13"/>
          <p:cNvSpPr/>
          <p:nvPr/>
        </p:nvSpPr>
        <p:spPr>
          <a:xfrm>
            <a:off x="3224203" y="2612436"/>
            <a:ext cx="2695566"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COORDINATED TEAMS</a:t>
            </a:r>
            <a:endParaRPr lang="en-US" sz="734" dirty="0"/>
          </a:p>
        </p:txBody>
      </p:sp>
      <p:sp>
        <p:nvSpPr>
          <p:cNvPr id="17" name="Text 14"/>
          <p:cNvSpPr/>
          <p:nvPr/>
        </p:nvSpPr>
        <p:spPr>
          <a:xfrm>
            <a:off x="3224203" y="2794602"/>
            <a:ext cx="2695566"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Unified command structure with clear decision authority, shared communication and coordination procedures, joint exercises and training, and maintained shared situation awareness.</a:t>
            </a:r>
            <a:endParaRPr lang="en-US" sz="780" dirty="0"/>
          </a:p>
        </p:txBody>
      </p:sp>
      <p:sp>
        <p:nvSpPr>
          <p:cNvPr id="18" name="Text 15"/>
          <p:cNvSpPr/>
          <p:nvPr/>
        </p:nvSpPr>
        <p:spPr>
          <a:xfrm>
            <a:off x="6034069" y="2612436"/>
            <a:ext cx="2695594"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UNIFIED GOVERNANCE</a:t>
            </a:r>
            <a:endParaRPr lang="en-US" sz="734" dirty="0"/>
          </a:p>
        </p:txBody>
      </p:sp>
      <p:sp>
        <p:nvSpPr>
          <p:cNvPr id="19" name="Text 16"/>
          <p:cNvSpPr/>
          <p:nvPr/>
        </p:nvSpPr>
        <p:spPr>
          <a:xfrm>
            <a:off x="6034069" y="2794602"/>
            <a:ext cx="2695594"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Common governance ensuring alignment, shared resources and budget, consistent policies and standards, and integrated risk management across both disciplines.</a:t>
            </a:r>
            <a:endParaRPr lang="en-US" sz="780" dirty="0"/>
          </a:p>
        </p:txBody>
      </p:sp>
      <p:sp>
        <p:nvSpPr>
          <p:cNvPr id="20" name="Shape 17"/>
          <p:cNvSpPr/>
          <p:nvPr/>
        </p:nvSpPr>
        <p:spPr>
          <a:xfrm>
            <a:off x="357188" y="3623277"/>
            <a:ext cx="8429625" cy="1750219"/>
          </a:xfrm>
          <a:prstGeom prst="rect">
            <a:avLst/>
          </a:prstGeom>
          <a:solidFill>
            <a:srgbClr val="FFB020">
              <a:alpha val="5000"/>
            </a:srgbClr>
          </a:solidFill>
          <a:ln/>
        </p:spPr>
      </p:sp>
      <p:sp>
        <p:nvSpPr>
          <p:cNvPr id="21" name="Shape 18"/>
          <p:cNvSpPr/>
          <p:nvPr/>
        </p:nvSpPr>
        <p:spPr>
          <a:xfrm>
            <a:off x="357188" y="3623277"/>
            <a:ext cx="28575" cy="1750219"/>
          </a:xfrm>
          <a:prstGeom prst="rect">
            <a:avLst/>
          </a:prstGeom>
          <a:solidFill>
            <a:srgbClr val="FFB020"/>
          </a:solidFill>
          <a:ln/>
        </p:spPr>
      </p:sp>
      <p:sp>
        <p:nvSpPr>
          <p:cNvPr id="22" name="Text 19"/>
          <p:cNvSpPr/>
          <p:nvPr/>
        </p:nvSpPr>
        <p:spPr>
          <a:xfrm>
            <a:off x="414338" y="3680427"/>
            <a:ext cx="831532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CASE EXAMPLE: RANSOMWARE ATTACK COORDINATED RESPONSE</a:t>
            </a:r>
            <a:endParaRPr lang="en-US" sz="885" dirty="0"/>
          </a:p>
        </p:txBody>
      </p:sp>
      <p:sp>
        <p:nvSpPr>
          <p:cNvPr id="23" name="Text 20"/>
          <p:cNvSpPr/>
          <p:nvPr/>
        </p:nvSpPr>
        <p:spPr>
          <a:xfrm>
            <a:off x="414338" y="3930458"/>
            <a:ext cx="269556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HOUR 0-4: DETECTION &amp; INITIAL RESPONSE</a:t>
            </a:r>
            <a:endParaRPr lang="en-US" sz="784" dirty="0"/>
          </a:p>
        </p:txBody>
      </p:sp>
      <p:sp>
        <p:nvSpPr>
          <p:cNvPr id="24" name="Text 21"/>
          <p:cNvSpPr/>
          <p:nvPr/>
        </p:nvSpPr>
        <p:spPr>
          <a:xfrm>
            <a:off x="414338" y="4123339"/>
            <a:ext cx="2695566" cy="300038"/>
          </a:xfrm>
          <a:prstGeom prst="rect">
            <a:avLst/>
          </a:prstGeom>
          <a:noFill/>
          <a:ln/>
        </p:spPr>
        <p:txBody>
          <a:bodyPr wrap="square" lIns="0" tIns="0" rIns="0" bIns="0" rtlCol="0" anchor="t">
            <a:spAutoFit/>
          </a:bodyPr>
          <a:lstStyle/>
          <a:p>
            <a:pPr marL="0" indent="0" algn="l">
              <a:lnSpc>
                <a:spcPts val="1200"/>
              </a:lnSpc>
              <a:buNone/>
            </a:pPr>
            <a:r>
              <a:rPr lang="en-US" sz="683" b="1" dirty="0">
                <a:solidFill>
                  <a:srgbClr val="00D9FF"/>
                </a:solidFill>
              </a:rPr>
              <a:t>IR Team:</a:t>
            </a:r>
            <a:r>
              <a:rPr lang="en-US" sz="727" dirty="0">
                <a:solidFill>
                  <a:srgbClr val="B8C5D6"/>
                </a:solidFill>
              </a:rPr>
              <a:t> Detects ransomware, initiates incident response, contains affected systems, preserves evidence.</a:t>
            </a:r>
            <a:endParaRPr lang="en-US" sz="683" dirty="0"/>
          </a:p>
        </p:txBody>
      </p:sp>
      <p:sp>
        <p:nvSpPr>
          <p:cNvPr id="25" name="Text 22"/>
          <p:cNvSpPr/>
          <p:nvPr/>
        </p:nvSpPr>
        <p:spPr>
          <a:xfrm>
            <a:off x="414338" y="4444808"/>
            <a:ext cx="2695566" cy="450056"/>
          </a:xfrm>
          <a:prstGeom prst="rect">
            <a:avLst/>
          </a:prstGeom>
          <a:noFill/>
          <a:ln/>
        </p:spPr>
        <p:txBody>
          <a:bodyPr wrap="square" lIns="0" tIns="0" rIns="0" bIns="0" rtlCol="0" anchor="t">
            <a:spAutoFit/>
          </a:bodyPr>
          <a:lstStyle/>
          <a:p>
            <a:pPr marL="0" indent="0" algn="l">
              <a:lnSpc>
                <a:spcPts val="1200"/>
              </a:lnSpc>
              <a:buNone/>
            </a:pPr>
            <a:r>
              <a:rPr lang="en-US" sz="683" b="1" dirty="0">
                <a:solidFill>
                  <a:srgbClr val="FFB020"/>
                </a:solidFill>
              </a:rPr>
              <a:t>BC/DR Team:</a:t>
            </a:r>
            <a:r>
              <a:rPr lang="en-US" sz="727" dirty="0">
                <a:solidFill>
                  <a:srgbClr val="B8C5D6"/>
                </a:solidFill>
              </a:rPr>
              <a:t> Assesses business impact, activates business continuity procedures, communicates with stakeholders.</a:t>
            </a:r>
            <a:endParaRPr lang="en-US" sz="683" dirty="0"/>
          </a:p>
        </p:txBody>
      </p:sp>
      <p:sp>
        <p:nvSpPr>
          <p:cNvPr id="26" name="Text 23"/>
          <p:cNvSpPr/>
          <p:nvPr/>
        </p:nvSpPr>
        <p:spPr>
          <a:xfrm>
            <a:off x="3224203" y="3930458"/>
            <a:ext cx="269556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HOUR 4-24: CONTAINMENT &amp; INVESTIGATION</a:t>
            </a:r>
            <a:endParaRPr lang="en-US" sz="784" dirty="0"/>
          </a:p>
        </p:txBody>
      </p:sp>
      <p:sp>
        <p:nvSpPr>
          <p:cNvPr id="27" name="Text 24"/>
          <p:cNvSpPr/>
          <p:nvPr/>
        </p:nvSpPr>
        <p:spPr>
          <a:xfrm>
            <a:off x="3224203" y="4123339"/>
            <a:ext cx="2695566" cy="300038"/>
          </a:xfrm>
          <a:prstGeom prst="rect">
            <a:avLst/>
          </a:prstGeom>
          <a:noFill/>
          <a:ln/>
        </p:spPr>
        <p:txBody>
          <a:bodyPr wrap="square" lIns="0" tIns="0" rIns="0" bIns="0" rtlCol="0" anchor="t">
            <a:spAutoFit/>
          </a:bodyPr>
          <a:lstStyle/>
          <a:p>
            <a:pPr marL="0" indent="0" algn="l">
              <a:lnSpc>
                <a:spcPts val="1200"/>
              </a:lnSpc>
              <a:buNone/>
            </a:pPr>
            <a:r>
              <a:rPr lang="en-US" sz="683" b="1" dirty="0">
                <a:solidFill>
                  <a:srgbClr val="00D9FF"/>
                </a:solidFill>
              </a:rPr>
              <a:t>IR Team:</a:t>
            </a:r>
            <a:r>
              <a:rPr lang="en-US" sz="727" dirty="0">
                <a:solidFill>
                  <a:srgbClr val="B8C5D6"/>
                </a:solidFill>
              </a:rPr>
              <a:t> Investigates attack vector, identifies scope of compromise, eradicates attacker access.</a:t>
            </a:r>
            <a:endParaRPr lang="en-US" sz="683" dirty="0"/>
          </a:p>
        </p:txBody>
      </p:sp>
      <p:sp>
        <p:nvSpPr>
          <p:cNvPr id="28" name="Text 25"/>
          <p:cNvSpPr/>
          <p:nvPr/>
        </p:nvSpPr>
        <p:spPr>
          <a:xfrm>
            <a:off x="3224203" y="4444808"/>
            <a:ext cx="2695566" cy="450056"/>
          </a:xfrm>
          <a:prstGeom prst="rect">
            <a:avLst/>
          </a:prstGeom>
          <a:noFill/>
          <a:ln/>
        </p:spPr>
        <p:txBody>
          <a:bodyPr wrap="square" lIns="0" tIns="0" rIns="0" bIns="0" rtlCol="0" anchor="t">
            <a:spAutoFit/>
          </a:bodyPr>
          <a:lstStyle/>
          <a:p>
            <a:pPr marL="0" indent="0" algn="l">
              <a:lnSpc>
                <a:spcPts val="1200"/>
              </a:lnSpc>
              <a:buNone/>
            </a:pPr>
            <a:r>
              <a:rPr lang="en-US" sz="683" b="1" dirty="0">
                <a:solidFill>
                  <a:srgbClr val="FFB020"/>
                </a:solidFill>
              </a:rPr>
              <a:t>BC/DR Team:</a:t>
            </a:r>
            <a:r>
              <a:rPr lang="en-US" sz="727" dirty="0">
                <a:solidFill>
                  <a:srgbClr val="B8C5D6"/>
                </a:solidFill>
              </a:rPr>
              <a:t> Activates alternate processing, maintains critical operations, coordinates customer communication.</a:t>
            </a:r>
            <a:endParaRPr lang="en-US" sz="683" dirty="0"/>
          </a:p>
        </p:txBody>
      </p:sp>
      <p:sp>
        <p:nvSpPr>
          <p:cNvPr id="29" name="Text 26"/>
          <p:cNvSpPr/>
          <p:nvPr/>
        </p:nvSpPr>
        <p:spPr>
          <a:xfrm>
            <a:off x="6034069" y="3930458"/>
            <a:ext cx="269559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HOUR 24-72: RECOVERY &amp; RESTORATION</a:t>
            </a:r>
            <a:endParaRPr lang="en-US" sz="784" dirty="0"/>
          </a:p>
        </p:txBody>
      </p:sp>
      <p:sp>
        <p:nvSpPr>
          <p:cNvPr id="30" name="Text 27"/>
          <p:cNvSpPr/>
          <p:nvPr/>
        </p:nvSpPr>
        <p:spPr>
          <a:xfrm>
            <a:off x="6034069" y="4123339"/>
            <a:ext cx="2695594" cy="300038"/>
          </a:xfrm>
          <a:prstGeom prst="rect">
            <a:avLst/>
          </a:prstGeom>
          <a:noFill/>
          <a:ln/>
        </p:spPr>
        <p:txBody>
          <a:bodyPr wrap="square" lIns="0" tIns="0" rIns="0" bIns="0" rtlCol="0" anchor="t">
            <a:spAutoFit/>
          </a:bodyPr>
          <a:lstStyle/>
          <a:p>
            <a:pPr marL="0" indent="0" algn="l">
              <a:lnSpc>
                <a:spcPts val="1200"/>
              </a:lnSpc>
              <a:buNone/>
            </a:pPr>
            <a:r>
              <a:rPr lang="en-US" sz="683" b="1" dirty="0">
                <a:solidFill>
                  <a:srgbClr val="00D9FF"/>
                </a:solidFill>
              </a:rPr>
              <a:t>IR Team:</a:t>
            </a:r>
            <a:r>
              <a:rPr lang="en-US" sz="727" dirty="0">
                <a:solidFill>
                  <a:srgbClr val="B8C5D6"/>
                </a:solidFill>
              </a:rPr>
              <a:t> Validates environment is clean and secure, monitors for re-infection.</a:t>
            </a:r>
            <a:endParaRPr lang="en-US" sz="683" dirty="0"/>
          </a:p>
        </p:txBody>
      </p:sp>
      <p:sp>
        <p:nvSpPr>
          <p:cNvPr id="31" name="Text 28"/>
          <p:cNvSpPr/>
          <p:nvPr/>
        </p:nvSpPr>
        <p:spPr>
          <a:xfrm>
            <a:off x="6034069" y="4444808"/>
            <a:ext cx="2695594" cy="300038"/>
          </a:xfrm>
          <a:prstGeom prst="rect">
            <a:avLst/>
          </a:prstGeom>
          <a:noFill/>
          <a:ln/>
        </p:spPr>
        <p:txBody>
          <a:bodyPr wrap="square" lIns="0" tIns="0" rIns="0" bIns="0" rtlCol="0" anchor="t">
            <a:spAutoFit/>
          </a:bodyPr>
          <a:lstStyle/>
          <a:p>
            <a:pPr marL="0" indent="0" algn="l">
              <a:lnSpc>
                <a:spcPts val="1200"/>
              </a:lnSpc>
              <a:buNone/>
            </a:pPr>
            <a:r>
              <a:rPr lang="en-US" sz="683" b="1" dirty="0">
                <a:solidFill>
                  <a:srgbClr val="FFB020"/>
                </a:solidFill>
              </a:rPr>
              <a:t>BC/DR Team:</a:t>
            </a:r>
            <a:r>
              <a:rPr lang="en-US" sz="727" dirty="0">
                <a:solidFill>
                  <a:srgbClr val="B8C5D6"/>
                </a:solidFill>
              </a:rPr>
              <a:t> Restores systems from clean backups, validates data integrity, returns to normal operations.</a:t>
            </a:r>
            <a:endParaRPr lang="en-US" sz="683" dirty="0"/>
          </a:p>
        </p:txBody>
      </p:sp>
      <p:sp>
        <p:nvSpPr>
          <p:cNvPr id="32" name="Text 29"/>
          <p:cNvSpPr/>
          <p:nvPr/>
        </p:nvSpPr>
        <p:spPr>
          <a:xfrm>
            <a:off x="414338" y="4994877"/>
            <a:ext cx="8315325" cy="321469"/>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FFFF"/>
                </a:solidFill>
              </a:rPr>
              <a:t>Post-Incident: Joint IR and BC/DR lessons learned session identifies improvements to both capabilities, updates plans and procedures, implements preventive measures.</a:t>
            </a:r>
            <a:endParaRPr lang="en-US" sz="73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97163"/>
          </a:xfrm>
          <a:prstGeom prst="rect">
            <a:avLst/>
          </a:prstGeom>
          <a:noFill/>
          <a:ln/>
        </p:spPr>
        <p:txBody>
          <a:bodyPr wrap="none" lIns="170053" tIns="0" rIns="0" bIns="0" rtlCol="0" anchor="t">
            <a:spAutoFit/>
          </a:bodyPr>
          <a:lstStyle/>
          <a:p>
            <a:pPr marL="0" indent="0" algn="l">
              <a:lnSpc>
                <a:spcPts val="2300"/>
              </a:lnSpc>
              <a:buNone/>
            </a:pPr>
            <a:r>
              <a:rPr lang="en-US" sz="1602" b="1" dirty="0">
                <a:solidFill>
                  <a:srgbClr val="FFFFFF"/>
                </a:solidFill>
              </a:rPr>
              <a:t>BC/DR Enables Organizations to Survive and Thrive Through Disruptions</a:t>
            </a:r>
            <a:endParaRPr lang="en-US" sz="1602" dirty="0"/>
          </a:p>
        </p:txBody>
      </p:sp>
      <p:sp>
        <p:nvSpPr>
          <p:cNvPr id="4" name="Shape 1"/>
          <p:cNvSpPr/>
          <p:nvPr/>
        </p:nvSpPr>
        <p:spPr>
          <a:xfrm>
            <a:off x="357188" y="668638"/>
            <a:ext cx="8429625" cy="1971675"/>
          </a:xfrm>
          <a:prstGeom prst="rect">
            <a:avLst/>
          </a:prstGeom>
          <a:solidFill>
            <a:srgbClr val="00D9FF">
              <a:alpha val="5000"/>
            </a:srgbClr>
          </a:solidFill>
          <a:ln w="18288">
            <a:solidFill>
              <a:srgbClr val="00D9FF">
                <a:alpha val="30000"/>
              </a:srgbClr>
            </a:solidFill>
            <a:prstDash val="solid"/>
          </a:ln>
        </p:spPr>
      </p:sp>
      <p:sp>
        <p:nvSpPr>
          <p:cNvPr id="5" name="Text 2"/>
          <p:cNvSpPr/>
          <p:nvPr/>
        </p:nvSpPr>
        <p:spPr>
          <a:xfrm>
            <a:off x="457200" y="768651"/>
            <a:ext cx="822960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CORE PRINCIPLES OF EFFECTIVE BC/DR</a:t>
            </a:r>
            <a:endParaRPr lang="en-US" sz="885" dirty="0"/>
          </a:p>
        </p:txBody>
      </p:sp>
      <p:sp>
        <p:nvSpPr>
          <p:cNvPr id="6" name="Text 3"/>
          <p:cNvSpPr/>
          <p:nvPr/>
        </p:nvSpPr>
        <p:spPr>
          <a:xfrm>
            <a:off x="457200" y="1047257"/>
            <a:ext cx="26765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BUSINESS-DRIVEN</a:t>
            </a:r>
            <a:endParaRPr lang="en-US" sz="784" dirty="0"/>
          </a:p>
        </p:txBody>
      </p:sp>
      <p:sp>
        <p:nvSpPr>
          <p:cNvPr id="7" name="Text 4"/>
          <p:cNvSpPr/>
          <p:nvPr/>
        </p:nvSpPr>
        <p:spPr>
          <a:xfrm>
            <a:off x="457200" y="1247282"/>
            <a:ext cx="2676506"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BC/DR aligns with business objectives and priorities. BIA identifies critical processes. Recovery strategies balance needs and cost.</a:t>
            </a:r>
            <a:endParaRPr lang="en-US" sz="780" dirty="0"/>
          </a:p>
        </p:txBody>
      </p:sp>
      <p:sp>
        <p:nvSpPr>
          <p:cNvPr id="8" name="Text 5"/>
          <p:cNvSpPr/>
          <p:nvPr/>
        </p:nvSpPr>
        <p:spPr>
          <a:xfrm>
            <a:off x="3233719" y="1047257"/>
            <a:ext cx="267653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RISK-BASED</a:t>
            </a:r>
            <a:endParaRPr lang="en-US" sz="784" dirty="0"/>
          </a:p>
        </p:txBody>
      </p:sp>
      <p:sp>
        <p:nvSpPr>
          <p:cNvPr id="9" name="Text 6"/>
          <p:cNvSpPr/>
          <p:nvPr/>
        </p:nvSpPr>
        <p:spPr>
          <a:xfrm>
            <a:off x="3233719" y="1247282"/>
            <a:ext cx="2676534"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Prioritize high-impact scenarios. Not all systems need the same protection. Use tiers based on criticality and risk.</a:t>
            </a:r>
            <a:endParaRPr lang="en-US" sz="780" dirty="0"/>
          </a:p>
        </p:txBody>
      </p:sp>
      <p:sp>
        <p:nvSpPr>
          <p:cNvPr id="10" name="Text 7"/>
          <p:cNvSpPr/>
          <p:nvPr/>
        </p:nvSpPr>
        <p:spPr>
          <a:xfrm>
            <a:off x="6010266" y="1047257"/>
            <a:ext cx="26765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TESTED &amp; VALIDATED</a:t>
            </a:r>
            <a:endParaRPr lang="en-US" sz="784" dirty="0"/>
          </a:p>
        </p:txBody>
      </p:sp>
      <p:sp>
        <p:nvSpPr>
          <p:cNvPr id="11" name="Text 8"/>
          <p:cNvSpPr/>
          <p:nvPr/>
        </p:nvSpPr>
        <p:spPr>
          <a:xfrm>
            <a:off x="6010266" y="1247282"/>
            <a:ext cx="267650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Plans must be tested regularly. Exercises reveal gaps and build capability, from tabletop to full-scale.</a:t>
            </a:r>
            <a:endParaRPr lang="en-US" sz="780" dirty="0"/>
          </a:p>
        </p:txBody>
      </p:sp>
      <p:sp>
        <p:nvSpPr>
          <p:cNvPr id="12" name="Text 9"/>
          <p:cNvSpPr/>
          <p:nvPr/>
        </p:nvSpPr>
        <p:spPr>
          <a:xfrm>
            <a:off x="457200" y="1829498"/>
            <a:ext cx="26765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CONTINUOUSLY IMPROVED</a:t>
            </a:r>
            <a:endParaRPr lang="en-US" sz="784" dirty="0"/>
          </a:p>
        </p:txBody>
      </p:sp>
      <p:sp>
        <p:nvSpPr>
          <p:cNvPr id="13" name="Text 10"/>
          <p:cNvSpPr/>
          <p:nvPr/>
        </p:nvSpPr>
        <p:spPr>
          <a:xfrm>
            <a:off x="457200" y="2029523"/>
            <a:ext cx="2676506"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Learn from tests, incidents, and change. Update plans routinely. Advance maturity through metrics and benchmarking.</a:t>
            </a:r>
            <a:endParaRPr lang="en-US" sz="780" dirty="0"/>
          </a:p>
        </p:txBody>
      </p:sp>
      <p:sp>
        <p:nvSpPr>
          <p:cNvPr id="14" name="Text 11"/>
          <p:cNvSpPr/>
          <p:nvPr/>
        </p:nvSpPr>
        <p:spPr>
          <a:xfrm>
            <a:off x="3233719" y="1829498"/>
            <a:ext cx="267653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INTEGRATED</a:t>
            </a:r>
            <a:endParaRPr lang="en-US" sz="784" dirty="0"/>
          </a:p>
        </p:txBody>
      </p:sp>
      <p:sp>
        <p:nvSpPr>
          <p:cNvPr id="15" name="Text 12"/>
          <p:cNvSpPr/>
          <p:nvPr/>
        </p:nvSpPr>
        <p:spPr>
          <a:xfrm>
            <a:off x="3233719" y="2029523"/>
            <a:ext cx="2676534"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Integrate BC/DR with incident response, risk management, and architecture. Unified governance maximizes effectiveness.</a:t>
            </a:r>
            <a:endParaRPr lang="en-US" sz="780" dirty="0"/>
          </a:p>
        </p:txBody>
      </p:sp>
      <p:sp>
        <p:nvSpPr>
          <p:cNvPr id="16" name="Text 13"/>
          <p:cNvSpPr/>
          <p:nvPr/>
        </p:nvSpPr>
        <p:spPr>
          <a:xfrm>
            <a:off x="6010266" y="1829498"/>
            <a:ext cx="267650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PEOPLE-FOCUSED</a:t>
            </a:r>
            <a:endParaRPr lang="en-US" sz="784" dirty="0"/>
          </a:p>
        </p:txBody>
      </p:sp>
      <p:sp>
        <p:nvSpPr>
          <p:cNvPr id="17" name="Text 14"/>
          <p:cNvSpPr/>
          <p:nvPr/>
        </p:nvSpPr>
        <p:spPr>
          <a:xfrm>
            <a:off x="6010266" y="2029523"/>
            <a:ext cx="2676506"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B8C5D6"/>
                </a:solidFill>
              </a:rPr>
              <a:t>Technology enables recovery, people execute it. Define roles, train teams, and foster a resilience culture.</a:t>
            </a:r>
            <a:endParaRPr lang="en-US" sz="780" dirty="0"/>
          </a:p>
        </p:txBody>
      </p:sp>
      <p:sp>
        <p:nvSpPr>
          <p:cNvPr id="18" name="Shape 15"/>
          <p:cNvSpPr/>
          <p:nvPr/>
        </p:nvSpPr>
        <p:spPr>
          <a:xfrm>
            <a:off x="357188" y="2668888"/>
            <a:ext cx="4143375" cy="1812950"/>
          </a:xfrm>
          <a:prstGeom prst="rect">
            <a:avLst/>
          </a:prstGeom>
          <a:solidFill>
            <a:srgbClr val="00D9FF">
              <a:alpha val="3000"/>
            </a:srgbClr>
          </a:solidFill>
          <a:ln/>
        </p:spPr>
      </p:sp>
      <p:sp>
        <p:nvSpPr>
          <p:cNvPr id="19" name="Text 16"/>
          <p:cNvSpPr/>
          <p:nvPr/>
        </p:nvSpPr>
        <p:spPr>
          <a:xfrm>
            <a:off x="442913" y="2754613"/>
            <a:ext cx="397192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KEY SUCCESS FACTORS</a:t>
            </a:r>
            <a:endParaRPr lang="en-US" sz="885" dirty="0"/>
          </a:p>
        </p:txBody>
      </p:sp>
      <p:sp>
        <p:nvSpPr>
          <p:cNvPr id="20" name="Text 17"/>
          <p:cNvSpPr/>
          <p:nvPr/>
        </p:nvSpPr>
        <p:spPr>
          <a:xfrm>
            <a:off x="442913" y="3020718"/>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21" name="Text 18"/>
          <p:cNvSpPr/>
          <p:nvPr/>
        </p:nvSpPr>
        <p:spPr>
          <a:xfrm>
            <a:off x="537232" y="3020718"/>
            <a:ext cx="1144758"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Executive Sponsorship:</a:t>
            </a:r>
            <a:endParaRPr lang="en-US" sz="683" dirty="0"/>
          </a:p>
        </p:txBody>
      </p:sp>
      <p:sp>
        <p:nvSpPr>
          <p:cNvPr id="22" name="Text 19"/>
          <p:cNvSpPr/>
          <p:nvPr/>
        </p:nvSpPr>
        <p:spPr>
          <a:xfrm>
            <a:off x="1681990" y="3020718"/>
            <a:ext cx="231851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Visible leadership support and adequate funding</a:t>
            </a:r>
            <a:endParaRPr lang="en-US" sz="727" dirty="0"/>
          </a:p>
        </p:txBody>
      </p:sp>
      <p:sp>
        <p:nvSpPr>
          <p:cNvPr id="23" name="Text 20"/>
          <p:cNvSpPr/>
          <p:nvPr/>
        </p:nvSpPr>
        <p:spPr>
          <a:xfrm>
            <a:off x="442913" y="3203581"/>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26" name="Text 23"/>
          <p:cNvSpPr/>
          <p:nvPr/>
        </p:nvSpPr>
        <p:spPr>
          <a:xfrm>
            <a:off x="442913" y="3526445"/>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27" name="Text 24"/>
          <p:cNvSpPr/>
          <p:nvPr/>
        </p:nvSpPr>
        <p:spPr>
          <a:xfrm>
            <a:off x="537232" y="3526445"/>
            <a:ext cx="1165073"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Appropriate Strategies:</a:t>
            </a:r>
            <a:endParaRPr lang="en-US" sz="683" dirty="0"/>
          </a:p>
        </p:txBody>
      </p:sp>
      <p:sp>
        <p:nvSpPr>
          <p:cNvPr id="28" name="Text 25"/>
          <p:cNvSpPr/>
          <p:nvPr/>
        </p:nvSpPr>
        <p:spPr>
          <a:xfrm>
            <a:off x="1702305" y="3526445"/>
            <a:ext cx="2708151"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Recovery approaches matched to RTO/RPO requirements</a:t>
            </a:r>
            <a:endParaRPr lang="en-US" sz="727" dirty="0"/>
          </a:p>
        </p:txBody>
      </p:sp>
      <p:sp>
        <p:nvSpPr>
          <p:cNvPr id="29" name="Text 26"/>
          <p:cNvSpPr/>
          <p:nvPr/>
        </p:nvSpPr>
        <p:spPr>
          <a:xfrm>
            <a:off x="442913" y="3709308"/>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30" name="Text 27"/>
          <p:cNvSpPr/>
          <p:nvPr/>
        </p:nvSpPr>
        <p:spPr>
          <a:xfrm>
            <a:off x="537232" y="3709308"/>
            <a:ext cx="1095059"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Clear Documentation:</a:t>
            </a:r>
            <a:endParaRPr lang="en-US" sz="683" dirty="0"/>
          </a:p>
        </p:txBody>
      </p:sp>
      <p:sp>
        <p:nvSpPr>
          <p:cNvPr id="31" name="Text 28"/>
          <p:cNvSpPr/>
          <p:nvPr/>
        </p:nvSpPr>
        <p:spPr>
          <a:xfrm>
            <a:off x="1632291" y="3709308"/>
            <a:ext cx="2719564"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Accessible, actionable plans with step-by-step procedures</a:t>
            </a:r>
            <a:endParaRPr lang="en-US" sz="727" dirty="0"/>
          </a:p>
        </p:txBody>
      </p:sp>
      <p:sp>
        <p:nvSpPr>
          <p:cNvPr id="32" name="Text 29"/>
          <p:cNvSpPr/>
          <p:nvPr/>
        </p:nvSpPr>
        <p:spPr>
          <a:xfrm>
            <a:off x="442913" y="3892172"/>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33" name="Text 30"/>
          <p:cNvSpPr/>
          <p:nvPr/>
        </p:nvSpPr>
        <p:spPr>
          <a:xfrm>
            <a:off x="537232" y="3892172"/>
            <a:ext cx="807607"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Regular Testing:</a:t>
            </a:r>
            <a:endParaRPr lang="en-US" sz="683" dirty="0"/>
          </a:p>
        </p:txBody>
      </p:sp>
      <p:sp>
        <p:nvSpPr>
          <p:cNvPr id="34" name="Text 31"/>
          <p:cNvSpPr/>
          <p:nvPr/>
        </p:nvSpPr>
        <p:spPr>
          <a:xfrm>
            <a:off x="1344839" y="3892172"/>
            <a:ext cx="2705053"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Frequent validation builds confidence and identifies gaps</a:t>
            </a:r>
            <a:endParaRPr lang="en-US" sz="727" dirty="0"/>
          </a:p>
        </p:txBody>
      </p:sp>
      <p:sp>
        <p:nvSpPr>
          <p:cNvPr id="35" name="Text 32"/>
          <p:cNvSpPr/>
          <p:nvPr/>
        </p:nvSpPr>
        <p:spPr>
          <a:xfrm>
            <a:off x="442913" y="4075035"/>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36" name="Text 33"/>
          <p:cNvSpPr/>
          <p:nvPr/>
        </p:nvSpPr>
        <p:spPr>
          <a:xfrm>
            <a:off x="537232" y="4075035"/>
            <a:ext cx="654183"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Skilled Team:</a:t>
            </a:r>
            <a:endParaRPr lang="en-US" sz="683" dirty="0"/>
          </a:p>
        </p:txBody>
      </p:sp>
      <p:sp>
        <p:nvSpPr>
          <p:cNvPr id="37" name="Text 34"/>
          <p:cNvSpPr/>
          <p:nvPr/>
        </p:nvSpPr>
        <p:spPr>
          <a:xfrm>
            <a:off x="1191416" y="4075035"/>
            <a:ext cx="2823372"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Trained personnel who know their roles and responsibilities</a:t>
            </a:r>
            <a:endParaRPr lang="en-US" sz="727" dirty="0"/>
          </a:p>
        </p:txBody>
      </p:sp>
      <p:sp>
        <p:nvSpPr>
          <p:cNvPr id="38" name="Text 35"/>
          <p:cNvSpPr/>
          <p:nvPr/>
        </p:nvSpPr>
        <p:spPr>
          <a:xfrm>
            <a:off x="442913" y="4257898"/>
            <a:ext cx="9432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39" name="Text 36"/>
          <p:cNvSpPr/>
          <p:nvPr/>
        </p:nvSpPr>
        <p:spPr>
          <a:xfrm>
            <a:off x="537232" y="4257898"/>
            <a:ext cx="1253477"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Metrics &amp; Accountability:</a:t>
            </a:r>
            <a:endParaRPr lang="en-US" sz="683" dirty="0"/>
          </a:p>
        </p:txBody>
      </p:sp>
      <p:sp>
        <p:nvSpPr>
          <p:cNvPr id="40" name="Text 37"/>
          <p:cNvSpPr/>
          <p:nvPr/>
        </p:nvSpPr>
        <p:spPr>
          <a:xfrm>
            <a:off x="1790709" y="4257898"/>
            <a:ext cx="2546524"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KPIs drive performance and continuous improvement</a:t>
            </a:r>
            <a:endParaRPr lang="en-US" sz="727" dirty="0"/>
          </a:p>
        </p:txBody>
      </p:sp>
      <p:sp>
        <p:nvSpPr>
          <p:cNvPr id="41" name="Shape 38"/>
          <p:cNvSpPr/>
          <p:nvPr/>
        </p:nvSpPr>
        <p:spPr>
          <a:xfrm>
            <a:off x="4643438" y="2668888"/>
            <a:ext cx="4143375" cy="1812950"/>
          </a:xfrm>
          <a:prstGeom prst="rect">
            <a:avLst/>
          </a:prstGeom>
          <a:solidFill>
            <a:srgbClr val="FFB020">
              <a:alpha val="5000"/>
            </a:srgbClr>
          </a:solidFill>
          <a:ln/>
        </p:spPr>
      </p:sp>
      <p:sp>
        <p:nvSpPr>
          <p:cNvPr id="42" name="Text 39"/>
          <p:cNvSpPr/>
          <p:nvPr/>
        </p:nvSpPr>
        <p:spPr>
          <a:xfrm>
            <a:off x="4729163" y="2754613"/>
            <a:ext cx="3971925"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B020"/>
                </a:solidFill>
              </a:rPr>
              <a:t>COMMON PITFALLS TO AVOID</a:t>
            </a:r>
            <a:endParaRPr lang="en-US" sz="885" dirty="0"/>
          </a:p>
        </p:txBody>
      </p:sp>
      <p:sp>
        <p:nvSpPr>
          <p:cNvPr id="43" name="Text 40"/>
          <p:cNvSpPr/>
          <p:nvPr/>
        </p:nvSpPr>
        <p:spPr>
          <a:xfrm>
            <a:off x="4729163" y="3020718"/>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44" name="Text 41"/>
          <p:cNvSpPr/>
          <p:nvPr/>
        </p:nvSpPr>
        <p:spPr>
          <a:xfrm>
            <a:off x="4839109" y="3020718"/>
            <a:ext cx="695902"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IT-Only Focus:</a:t>
            </a:r>
            <a:endParaRPr lang="en-US" sz="683" dirty="0"/>
          </a:p>
        </p:txBody>
      </p:sp>
      <p:sp>
        <p:nvSpPr>
          <p:cNvPr id="45" name="Text 42"/>
          <p:cNvSpPr/>
          <p:nvPr/>
        </p:nvSpPr>
        <p:spPr>
          <a:xfrm>
            <a:off x="5535011" y="3020718"/>
            <a:ext cx="2193885"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BC/DR is business program, not just IT backup</a:t>
            </a:r>
            <a:endParaRPr lang="en-US" sz="727" dirty="0"/>
          </a:p>
        </p:txBody>
      </p:sp>
      <p:sp>
        <p:nvSpPr>
          <p:cNvPr id="46" name="Text 43"/>
          <p:cNvSpPr/>
          <p:nvPr/>
        </p:nvSpPr>
        <p:spPr>
          <a:xfrm>
            <a:off x="4729163" y="3203581"/>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47" name="Text 44"/>
          <p:cNvSpPr/>
          <p:nvPr/>
        </p:nvSpPr>
        <p:spPr>
          <a:xfrm>
            <a:off x="4839109" y="3203581"/>
            <a:ext cx="572198"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Stale Plans:</a:t>
            </a:r>
            <a:endParaRPr lang="en-US" sz="683" dirty="0"/>
          </a:p>
        </p:txBody>
      </p:sp>
      <p:sp>
        <p:nvSpPr>
          <p:cNvPr id="48" name="Text 45"/>
          <p:cNvSpPr/>
          <p:nvPr/>
        </p:nvSpPr>
        <p:spPr>
          <a:xfrm>
            <a:off x="5411307" y="3203581"/>
            <a:ext cx="2766250"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Outdated documentation is worse than no documentation</a:t>
            </a:r>
            <a:endParaRPr lang="en-US" sz="727" dirty="0"/>
          </a:p>
        </p:txBody>
      </p:sp>
      <p:sp>
        <p:nvSpPr>
          <p:cNvPr id="49" name="Text 46"/>
          <p:cNvSpPr/>
          <p:nvPr/>
        </p:nvSpPr>
        <p:spPr>
          <a:xfrm>
            <a:off x="4729163" y="3386444"/>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50" name="Text 47"/>
          <p:cNvSpPr/>
          <p:nvPr/>
        </p:nvSpPr>
        <p:spPr>
          <a:xfrm>
            <a:off x="4839109" y="3386444"/>
            <a:ext cx="995242"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Insufficient Testing:</a:t>
            </a:r>
            <a:endParaRPr lang="en-US" sz="683" dirty="0"/>
          </a:p>
        </p:txBody>
      </p:sp>
      <p:sp>
        <p:nvSpPr>
          <p:cNvPr id="51" name="Text 48"/>
          <p:cNvSpPr/>
          <p:nvPr/>
        </p:nvSpPr>
        <p:spPr>
          <a:xfrm>
            <a:off x="5834351" y="3386444"/>
            <a:ext cx="2594744"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Annual testing is minimum; critical systems need more</a:t>
            </a:r>
            <a:endParaRPr lang="en-US" sz="727" dirty="0"/>
          </a:p>
        </p:txBody>
      </p:sp>
      <p:sp>
        <p:nvSpPr>
          <p:cNvPr id="52" name="Text 49"/>
          <p:cNvSpPr/>
          <p:nvPr/>
        </p:nvSpPr>
        <p:spPr>
          <a:xfrm>
            <a:off x="4729163" y="3569308"/>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53" name="Text 50"/>
          <p:cNvSpPr/>
          <p:nvPr/>
        </p:nvSpPr>
        <p:spPr>
          <a:xfrm>
            <a:off x="4839109" y="3569308"/>
            <a:ext cx="846032"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Unrealistic RTOs:</a:t>
            </a:r>
            <a:endParaRPr lang="en-US" sz="683" dirty="0"/>
          </a:p>
        </p:txBody>
      </p:sp>
      <p:sp>
        <p:nvSpPr>
          <p:cNvPr id="54" name="Text 51"/>
          <p:cNvSpPr/>
          <p:nvPr/>
        </p:nvSpPr>
        <p:spPr>
          <a:xfrm>
            <a:off x="5685141" y="3569308"/>
            <a:ext cx="2403816"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Recovery objectives must be achievable and tested</a:t>
            </a:r>
            <a:endParaRPr lang="en-US" sz="727" dirty="0"/>
          </a:p>
        </p:txBody>
      </p:sp>
      <p:sp>
        <p:nvSpPr>
          <p:cNvPr id="55" name="Text 52"/>
          <p:cNvSpPr/>
          <p:nvPr/>
        </p:nvSpPr>
        <p:spPr>
          <a:xfrm>
            <a:off x="4729163" y="3752171"/>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56" name="Text 53"/>
          <p:cNvSpPr/>
          <p:nvPr/>
        </p:nvSpPr>
        <p:spPr>
          <a:xfrm>
            <a:off x="4839109" y="3752171"/>
            <a:ext cx="1169956"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Single Points of Failure:</a:t>
            </a:r>
            <a:endParaRPr lang="en-US" sz="683" dirty="0"/>
          </a:p>
        </p:txBody>
      </p:sp>
      <p:sp>
        <p:nvSpPr>
          <p:cNvPr id="57" name="Text 54"/>
          <p:cNvSpPr/>
          <p:nvPr/>
        </p:nvSpPr>
        <p:spPr>
          <a:xfrm>
            <a:off x="6009066" y="3752171"/>
            <a:ext cx="2584224"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Dependencies and key personnel create vulnerabilities</a:t>
            </a:r>
            <a:endParaRPr lang="en-US" sz="727" dirty="0"/>
          </a:p>
        </p:txBody>
      </p:sp>
      <p:sp>
        <p:nvSpPr>
          <p:cNvPr id="58" name="Text 55"/>
          <p:cNvSpPr/>
          <p:nvPr/>
        </p:nvSpPr>
        <p:spPr>
          <a:xfrm>
            <a:off x="4729163" y="3935034"/>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59" name="Text 56"/>
          <p:cNvSpPr/>
          <p:nvPr/>
        </p:nvSpPr>
        <p:spPr>
          <a:xfrm>
            <a:off x="4839109" y="3935034"/>
            <a:ext cx="1310264"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Compliance-Only Mindset:</a:t>
            </a:r>
            <a:endParaRPr lang="en-US" sz="683" dirty="0"/>
          </a:p>
        </p:txBody>
      </p:sp>
      <p:sp>
        <p:nvSpPr>
          <p:cNvPr id="60" name="Text 57"/>
          <p:cNvSpPr/>
          <p:nvPr/>
        </p:nvSpPr>
        <p:spPr>
          <a:xfrm>
            <a:off x="6149373" y="3935034"/>
            <a:ext cx="1997655"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Checkbox approach misses resilience goal</a:t>
            </a:r>
            <a:endParaRPr lang="en-US" sz="727" dirty="0"/>
          </a:p>
        </p:txBody>
      </p:sp>
      <p:sp>
        <p:nvSpPr>
          <p:cNvPr id="61" name="Text 58"/>
          <p:cNvSpPr/>
          <p:nvPr/>
        </p:nvSpPr>
        <p:spPr>
          <a:xfrm>
            <a:off x="4729163" y="4117897"/>
            <a:ext cx="109947"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a:t>
            </a:r>
            <a:endParaRPr lang="en-US" sz="727" dirty="0"/>
          </a:p>
        </p:txBody>
      </p:sp>
      <p:sp>
        <p:nvSpPr>
          <p:cNvPr id="62" name="Text 59"/>
          <p:cNvSpPr/>
          <p:nvPr/>
        </p:nvSpPr>
        <p:spPr>
          <a:xfrm>
            <a:off x="4839109" y="4117897"/>
            <a:ext cx="1189351"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Ignoring Dependencies:</a:t>
            </a:r>
            <a:endParaRPr lang="en-US" sz="683" dirty="0"/>
          </a:p>
        </p:txBody>
      </p:sp>
      <p:sp>
        <p:nvSpPr>
          <p:cNvPr id="63" name="Text 60"/>
          <p:cNvSpPr/>
          <p:nvPr/>
        </p:nvSpPr>
        <p:spPr>
          <a:xfrm>
            <a:off x="6028460" y="4117897"/>
            <a:ext cx="2437526" cy="13573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B8C5D6"/>
                </a:solidFill>
              </a:rPr>
              <a:t>Third-party and supply chain risks often overlooked</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3922</Words>
  <Application>Microsoft Office PowerPoint</Application>
  <PresentationFormat>On-screen Show (16:9)</PresentationFormat>
  <Paragraphs>455</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Aminu Idris</cp:lastModifiedBy>
  <cp:revision>3</cp:revision>
  <dcterms:created xsi:type="dcterms:W3CDTF">2025-11-19T15:09:39Z</dcterms:created>
  <dcterms:modified xsi:type="dcterms:W3CDTF">2025-12-07T12:46:56Z</dcterms:modified>
</cp:coreProperties>
</file>