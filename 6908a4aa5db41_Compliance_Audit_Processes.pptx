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20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3.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28.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notesSlide" Target="../notesSlides/notesSlide3.xml"/><Relationship Id="rId16" Type="http://schemas.openxmlformats.org/officeDocument/2006/relationships/image" Target="../media/image40.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16.png"/><Relationship Id="rId9" Type="http://schemas.openxmlformats.org/officeDocument/2006/relationships/image" Target="../media/image33.png"/><Relationship Id="rId14" Type="http://schemas.openxmlformats.org/officeDocument/2006/relationships/image" Target="../media/image38.png"/></Relationships>
</file>

<file path=ppt/slides/_rels/slide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15.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27.png"/><Relationship Id="rId10" Type="http://schemas.openxmlformats.org/officeDocument/2006/relationships/image" Target="../media/image49.png"/><Relationship Id="rId4" Type="http://schemas.openxmlformats.org/officeDocument/2006/relationships/image" Target="../media/image16.png"/><Relationship Id="rId9" Type="http://schemas.openxmlformats.org/officeDocument/2006/relationships/image" Target="../media/image48.png"/><Relationship Id="rId14" Type="http://schemas.openxmlformats.org/officeDocument/2006/relationships/image" Target="../media/image53.png"/></Relationships>
</file>

<file path=ppt/slides/_rels/slide5.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16.png"/><Relationship Id="rId9" Type="http://schemas.openxmlformats.org/officeDocument/2006/relationships/image" Target="../media/image58.png"/></Relationships>
</file>

<file path=ppt/slides/_rels/slide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2.png"/><Relationship Id="rId21" Type="http://schemas.openxmlformats.org/officeDocument/2006/relationships/image" Target="../media/image27.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6.xml"/><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16.png"/><Relationship Id="rId9" Type="http://schemas.openxmlformats.org/officeDocument/2006/relationships/image" Target="../media/image67.png"/><Relationship Id="rId14" Type="http://schemas.openxmlformats.org/officeDocument/2006/relationships/image" Target="../media/image72.png"/></Relationships>
</file>

<file path=ppt/slides/_rels/slide7.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15.png"/><Relationship Id="rId7" Type="http://schemas.openxmlformats.org/officeDocument/2006/relationships/image" Target="../media/image81.png"/><Relationship Id="rId12"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16.png"/><Relationship Id="rId9" Type="http://schemas.openxmlformats.org/officeDocument/2006/relationships/image" Target="../media/image83.png"/></Relationships>
</file>

<file path=ppt/slides/_rels/slide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3" Type="http://schemas.openxmlformats.org/officeDocument/2006/relationships/image" Target="../media/image15.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 Type="http://schemas.openxmlformats.org/officeDocument/2006/relationships/notesSlide" Target="../notesSlides/notesSlide8.xml"/><Relationship Id="rId16" Type="http://schemas.openxmlformats.org/officeDocument/2006/relationships/image" Target="../media/image96.png"/><Relationship Id="rId20"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79.png"/><Relationship Id="rId15" Type="http://schemas.openxmlformats.org/officeDocument/2006/relationships/image" Target="../media/image95.png"/><Relationship Id="rId23" Type="http://schemas.openxmlformats.org/officeDocument/2006/relationships/image" Target="../media/image27.png"/><Relationship Id="rId10" Type="http://schemas.openxmlformats.org/officeDocument/2006/relationships/image" Target="../media/image90.png"/><Relationship Id="rId19" Type="http://schemas.openxmlformats.org/officeDocument/2006/relationships/image" Target="../media/image99.png"/><Relationship Id="rId4" Type="http://schemas.openxmlformats.org/officeDocument/2006/relationships/image" Target="../media/image16.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s>
</file>

<file path=ppt/slides/_rels/slide9.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3" Type="http://schemas.openxmlformats.org/officeDocument/2006/relationships/image" Target="../media/image103.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 Type="http://schemas.openxmlformats.org/officeDocument/2006/relationships/notesSlide" Target="../notesSlides/notesSlide9.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1.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27.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6.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s>
</file>

<file path=ppt/slides/_rels/slide10.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3" Type="http://schemas.openxmlformats.org/officeDocument/2006/relationships/image" Target="../media/image123.png"/><Relationship Id="rId7" Type="http://schemas.openxmlformats.org/officeDocument/2006/relationships/image" Target="../media/image106.png"/><Relationship Id="rId12" Type="http://schemas.openxmlformats.org/officeDocument/2006/relationships/image" Target="../media/image130.png"/><Relationship Id="rId17" Type="http://schemas.openxmlformats.org/officeDocument/2006/relationships/image" Target="../media/image135.png"/><Relationship Id="rId2" Type="http://schemas.openxmlformats.org/officeDocument/2006/relationships/notesSlide" Target="../notesSlides/notesSlide10.xml"/><Relationship Id="rId16" Type="http://schemas.openxmlformats.org/officeDocument/2006/relationships/image" Target="../media/image134.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29.png"/><Relationship Id="rId5" Type="http://schemas.openxmlformats.org/officeDocument/2006/relationships/image" Target="../media/image124.png"/><Relationship Id="rId15" Type="http://schemas.openxmlformats.org/officeDocument/2006/relationships/image" Target="../media/image133.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6.png"/><Relationship Id="rId9" Type="http://schemas.openxmlformats.org/officeDocument/2006/relationships/image" Target="../media/image127.png"/><Relationship Id="rId14" Type="http://schemas.openxmlformats.org/officeDocument/2006/relationships/image" Target="../media/image132.png"/></Relationships>
</file>

<file path=ppt/slides/_rels/slide11.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18" Type="http://schemas.openxmlformats.org/officeDocument/2006/relationships/image" Target="../media/image151.png"/><Relationship Id="rId3" Type="http://schemas.openxmlformats.org/officeDocument/2006/relationships/image" Target="../media/image15.png"/><Relationship Id="rId21" Type="http://schemas.openxmlformats.org/officeDocument/2006/relationships/image" Target="../media/image154.png"/><Relationship Id="rId7" Type="http://schemas.openxmlformats.org/officeDocument/2006/relationships/image" Target="../media/image140.png"/><Relationship Id="rId12" Type="http://schemas.openxmlformats.org/officeDocument/2006/relationships/image" Target="../media/image145.png"/><Relationship Id="rId17" Type="http://schemas.openxmlformats.org/officeDocument/2006/relationships/image" Target="../media/image150.png"/><Relationship Id="rId2" Type="http://schemas.openxmlformats.org/officeDocument/2006/relationships/notesSlide" Target="../notesSlides/notesSlide11.xml"/><Relationship Id="rId16" Type="http://schemas.openxmlformats.org/officeDocument/2006/relationships/image" Target="../media/image149.png"/><Relationship Id="rId20" Type="http://schemas.openxmlformats.org/officeDocument/2006/relationships/image" Target="../media/image153.png"/><Relationship Id="rId1" Type="http://schemas.openxmlformats.org/officeDocument/2006/relationships/slideLayout" Target="../slideLayouts/slideLayout1.xml"/><Relationship Id="rId6" Type="http://schemas.openxmlformats.org/officeDocument/2006/relationships/image" Target="../media/image139.png"/><Relationship Id="rId11" Type="http://schemas.openxmlformats.org/officeDocument/2006/relationships/image" Target="../media/image144.png"/><Relationship Id="rId5" Type="http://schemas.openxmlformats.org/officeDocument/2006/relationships/image" Target="../media/image138.png"/><Relationship Id="rId15" Type="http://schemas.openxmlformats.org/officeDocument/2006/relationships/image" Target="../media/image148.png"/><Relationship Id="rId23" Type="http://schemas.openxmlformats.org/officeDocument/2006/relationships/image" Target="../media/image27.png"/><Relationship Id="rId10" Type="http://schemas.openxmlformats.org/officeDocument/2006/relationships/image" Target="../media/image143.png"/><Relationship Id="rId19" Type="http://schemas.openxmlformats.org/officeDocument/2006/relationships/image" Target="../media/image152.png"/><Relationship Id="rId4" Type="http://schemas.openxmlformats.org/officeDocument/2006/relationships/image" Target="../media/image16.png"/><Relationship Id="rId9" Type="http://schemas.openxmlformats.org/officeDocument/2006/relationships/image" Target="../media/image142.png"/><Relationship Id="rId14" Type="http://schemas.openxmlformats.org/officeDocument/2006/relationships/image" Target="../media/image147.png"/><Relationship Id="rId22" Type="http://schemas.openxmlformats.org/officeDocument/2006/relationships/image" Target="../media/image155.png"/></Relationships>
</file>

<file path=ppt/slides/_rels/slide12.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27.png"/><Relationship Id="rId3" Type="http://schemas.openxmlformats.org/officeDocument/2006/relationships/image" Target="../media/image156.png"/><Relationship Id="rId7" Type="http://schemas.openxmlformats.org/officeDocument/2006/relationships/image" Target="../media/image106.png"/><Relationship Id="rId12" Type="http://schemas.openxmlformats.org/officeDocument/2006/relationships/image" Target="../media/image16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8.png"/><Relationship Id="rId11" Type="http://schemas.openxmlformats.org/officeDocument/2006/relationships/image" Target="../media/image162.png"/><Relationship Id="rId5" Type="http://schemas.openxmlformats.org/officeDocument/2006/relationships/image" Target="../media/image157.png"/><Relationship Id="rId10" Type="http://schemas.openxmlformats.org/officeDocument/2006/relationships/image" Target="../media/image161.png"/><Relationship Id="rId4" Type="http://schemas.openxmlformats.org/officeDocument/2006/relationships/image" Target="../media/image16.png"/><Relationship Id="rId9" Type="http://schemas.openxmlformats.org/officeDocument/2006/relationships/image" Target="../media/image160.png"/></Relationships>
</file>

<file path=ppt/slides/_rels/slide1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5.png"/><Relationship Id="rId7" Type="http://schemas.openxmlformats.org/officeDocument/2006/relationships/image" Target="../media/image165.png"/><Relationship Id="rId12"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64.png"/><Relationship Id="rId11" Type="http://schemas.openxmlformats.org/officeDocument/2006/relationships/image" Target="../media/image52.png"/><Relationship Id="rId5" Type="http://schemas.openxmlformats.org/officeDocument/2006/relationships/image" Target="../media/image79.png"/><Relationship Id="rId10" Type="http://schemas.openxmlformats.org/officeDocument/2006/relationships/image" Target="../media/image167.png"/><Relationship Id="rId4" Type="http://schemas.openxmlformats.org/officeDocument/2006/relationships/image" Target="../media/image16.png"/><Relationship Id="rId9" Type="http://schemas.openxmlformats.org/officeDocument/2006/relationships/image" Target="../media/image166.png"/></Relationships>
</file>

<file path=ppt/slides/_rels/slide14.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5.png"/><Relationship Id="rId3" Type="http://schemas.openxmlformats.org/officeDocument/2006/relationships/image" Target="../media/image15.png"/><Relationship Id="rId7" Type="http://schemas.openxmlformats.org/officeDocument/2006/relationships/image" Target="../media/image170.png"/><Relationship Id="rId12" Type="http://schemas.openxmlformats.org/officeDocument/2006/relationships/image" Target="../media/image17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173.png"/><Relationship Id="rId5" Type="http://schemas.openxmlformats.org/officeDocument/2006/relationships/image" Target="../media/image168.png"/><Relationship Id="rId15" Type="http://schemas.openxmlformats.org/officeDocument/2006/relationships/image" Target="../media/image27.png"/><Relationship Id="rId10" Type="http://schemas.openxmlformats.org/officeDocument/2006/relationships/image" Target="../media/image172.png"/><Relationship Id="rId4" Type="http://schemas.openxmlformats.org/officeDocument/2006/relationships/image" Target="../media/image16.png"/><Relationship Id="rId9" Type="http://schemas.openxmlformats.org/officeDocument/2006/relationships/image" Target="../media/image51.png"/><Relationship Id="rId14" Type="http://schemas.openxmlformats.org/officeDocument/2006/relationships/image" Target="../media/image176.png"/></Relationships>
</file>

<file path=ppt/slides/_rels/slide15.xml.rels><?xml version="1.0" encoding="UTF-8" standalone="yes"?>
<Relationships xmlns="http://schemas.openxmlformats.org/package/2006/relationships"><Relationship Id="rId13" Type="http://schemas.openxmlformats.org/officeDocument/2006/relationships/image" Target="../media/image186.png"/><Relationship Id="rId18" Type="http://schemas.openxmlformats.org/officeDocument/2006/relationships/image" Target="../media/image116.png"/><Relationship Id="rId26" Type="http://schemas.openxmlformats.org/officeDocument/2006/relationships/image" Target="../media/image198.png"/><Relationship Id="rId39" Type="http://schemas.openxmlformats.org/officeDocument/2006/relationships/image" Target="../media/image211.png"/><Relationship Id="rId21" Type="http://schemas.openxmlformats.org/officeDocument/2006/relationships/image" Target="../media/image193.png"/><Relationship Id="rId34" Type="http://schemas.openxmlformats.org/officeDocument/2006/relationships/image" Target="../media/image206.png"/><Relationship Id="rId42" Type="http://schemas.openxmlformats.org/officeDocument/2006/relationships/image" Target="../media/image27.png"/><Relationship Id="rId7" Type="http://schemas.openxmlformats.org/officeDocument/2006/relationships/image" Target="../media/image180.png"/><Relationship Id="rId2" Type="http://schemas.openxmlformats.org/officeDocument/2006/relationships/notesSlide" Target="../notesSlides/notesSlide15.xml"/><Relationship Id="rId16" Type="http://schemas.openxmlformats.org/officeDocument/2006/relationships/image" Target="../media/image189.png"/><Relationship Id="rId20" Type="http://schemas.openxmlformats.org/officeDocument/2006/relationships/image" Target="../media/image192.png"/><Relationship Id="rId29" Type="http://schemas.openxmlformats.org/officeDocument/2006/relationships/image" Target="../media/image201.png"/><Relationship Id="rId41"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179.png"/><Relationship Id="rId11" Type="http://schemas.openxmlformats.org/officeDocument/2006/relationships/image" Target="../media/image184.png"/><Relationship Id="rId24" Type="http://schemas.openxmlformats.org/officeDocument/2006/relationships/image" Target="../media/image196.png"/><Relationship Id="rId32" Type="http://schemas.openxmlformats.org/officeDocument/2006/relationships/image" Target="../media/image204.png"/><Relationship Id="rId37" Type="http://schemas.openxmlformats.org/officeDocument/2006/relationships/image" Target="../media/image209.png"/><Relationship Id="rId40" Type="http://schemas.openxmlformats.org/officeDocument/2006/relationships/image" Target="../media/image212.png"/><Relationship Id="rId5" Type="http://schemas.openxmlformats.org/officeDocument/2006/relationships/image" Target="../media/image178.png"/><Relationship Id="rId15" Type="http://schemas.openxmlformats.org/officeDocument/2006/relationships/image" Target="../media/image188.png"/><Relationship Id="rId23" Type="http://schemas.openxmlformats.org/officeDocument/2006/relationships/image" Target="../media/image195.png"/><Relationship Id="rId28" Type="http://schemas.openxmlformats.org/officeDocument/2006/relationships/image" Target="../media/image200.png"/><Relationship Id="rId36" Type="http://schemas.openxmlformats.org/officeDocument/2006/relationships/image" Target="../media/image208.png"/><Relationship Id="rId10" Type="http://schemas.openxmlformats.org/officeDocument/2006/relationships/image" Target="../media/image183.png"/><Relationship Id="rId19" Type="http://schemas.openxmlformats.org/officeDocument/2006/relationships/image" Target="../media/image191.png"/><Relationship Id="rId31" Type="http://schemas.openxmlformats.org/officeDocument/2006/relationships/image" Target="../media/image203.png"/><Relationship Id="rId4" Type="http://schemas.openxmlformats.org/officeDocument/2006/relationships/image" Target="../media/image16.png"/><Relationship Id="rId9" Type="http://schemas.openxmlformats.org/officeDocument/2006/relationships/image" Target="../media/image182.png"/><Relationship Id="rId14" Type="http://schemas.openxmlformats.org/officeDocument/2006/relationships/image" Target="../media/image187.png"/><Relationship Id="rId22" Type="http://schemas.openxmlformats.org/officeDocument/2006/relationships/image" Target="../media/image194.png"/><Relationship Id="rId27" Type="http://schemas.openxmlformats.org/officeDocument/2006/relationships/image" Target="../media/image199.png"/><Relationship Id="rId30" Type="http://schemas.openxmlformats.org/officeDocument/2006/relationships/image" Target="../media/image202.png"/><Relationship Id="rId35" Type="http://schemas.openxmlformats.org/officeDocument/2006/relationships/image" Target="../media/image207.png"/><Relationship Id="rId8" Type="http://schemas.openxmlformats.org/officeDocument/2006/relationships/image" Target="../media/image181.png"/><Relationship Id="rId3" Type="http://schemas.openxmlformats.org/officeDocument/2006/relationships/image" Target="../media/image177.png"/><Relationship Id="rId12" Type="http://schemas.openxmlformats.org/officeDocument/2006/relationships/image" Target="../media/image185.png"/><Relationship Id="rId17" Type="http://schemas.openxmlformats.org/officeDocument/2006/relationships/image" Target="../media/image190.png"/><Relationship Id="rId25" Type="http://schemas.openxmlformats.org/officeDocument/2006/relationships/image" Target="../media/image197.png"/><Relationship Id="rId33" Type="http://schemas.openxmlformats.org/officeDocument/2006/relationships/image" Target="../media/image205.png"/><Relationship Id="rId38" Type="http://schemas.openxmlformats.org/officeDocument/2006/relationships/image" Target="../media/image210.png"/></Relationships>
</file>

<file path=ppt/slides/_rels/slide16.xml.rels><?xml version="1.0" encoding="UTF-8" standalone="yes"?>
<Relationships xmlns="http://schemas.openxmlformats.org/package/2006/relationships"><Relationship Id="rId8" Type="http://schemas.openxmlformats.org/officeDocument/2006/relationships/image" Target="../media/image216.png"/><Relationship Id="rId13" Type="http://schemas.openxmlformats.org/officeDocument/2006/relationships/image" Target="../media/image221.png"/><Relationship Id="rId18" Type="http://schemas.openxmlformats.org/officeDocument/2006/relationships/image" Target="../media/image226.png"/><Relationship Id="rId3" Type="http://schemas.openxmlformats.org/officeDocument/2006/relationships/image" Target="../media/image15.png"/><Relationship Id="rId21" Type="http://schemas.openxmlformats.org/officeDocument/2006/relationships/image" Target="../media/image27.png"/><Relationship Id="rId7" Type="http://schemas.openxmlformats.org/officeDocument/2006/relationships/image" Target="../media/image215.png"/><Relationship Id="rId12" Type="http://schemas.openxmlformats.org/officeDocument/2006/relationships/image" Target="../media/image220.png"/><Relationship Id="rId17" Type="http://schemas.openxmlformats.org/officeDocument/2006/relationships/image" Target="../media/image225.png"/><Relationship Id="rId2" Type="http://schemas.openxmlformats.org/officeDocument/2006/relationships/notesSlide" Target="../notesSlides/notesSlide16.xml"/><Relationship Id="rId16" Type="http://schemas.openxmlformats.org/officeDocument/2006/relationships/image" Target="../media/image224.png"/><Relationship Id="rId20" Type="http://schemas.openxmlformats.org/officeDocument/2006/relationships/image" Target="../media/image228.png"/><Relationship Id="rId1" Type="http://schemas.openxmlformats.org/officeDocument/2006/relationships/slideLayout" Target="../slideLayouts/slideLayout1.xml"/><Relationship Id="rId6" Type="http://schemas.openxmlformats.org/officeDocument/2006/relationships/image" Target="../media/image214.png"/><Relationship Id="rId11" Type="http://schemas.openxmlformats.org/officeDocument/2006/relationships/image" Target="../media/image219.png"/><Relationship Id="rId5" Type="http://schemas.openxmlformats.org/officeDocument/2006/relationships/image" Target="../media/image213.png"/><Relationship Id="rId15" Type="http://schemas.openxmlformats.org/officeDocument/2006/relationships/image" Target="../media/image223.png"/><Relationship Id="rId10" Type="http://schemas.openxmlformats.org/officeDocument/2006/relationships/image" Target="../media/image218.png"/><Relationship Id="rId19" Type="http://schemas.openxmlformats.org/officeDocument/2006/relationships/image" Target="../media/image227.png"/><Relationship Id="rId4" Type="http://schemas.openxmlformats.org/officeDocument/2006/relationships/image" Target="../media/image16.png"/><Relationship Id="rId9" Type="http://schemas.openxmlformats.org/officeDocument/2006/relationships/image" Target="../media/image217.png"/><Relationship Id="rId14" Type="http://schemas.openxmlformats.org/officeDocument/2006/relationships/image" Target="../media/image222.png"/></Relationships>
</file>

<file path=ppt/slides/_rels/slide17.xml.rels><?xml version="1.0" encoding="UTF-8" standalone="yes"?>
<Relationships xmlns="http://schemas.openxmlformats.org/package/2006/relationships"><Relationship Id="rId8" Type="http://schemas.openxmlformats.org/officeDocument/2006/relationships/image" Target="../media/image233.png"/><Relationship Id="rId13" Type="http://schemas.openxmlformats.org/officeDocument/2006/relationships/image" Target="../media/image238.png"/><Relationship Id="rId18" Type="http://schemas.openxmlformats.org/officeDocument/2006/relationships/image" Target="../media/image243.png"/><Relationship Id="rId3" Type="http://schemas.openxmlformats.org/officeDocument/2006/relationships/image" Target="../media/image229.png"/><Relationship Id="rId21" Type="http://schemas.openxmlformats.org/officeDocument/2006/relationships/image" Target="../media/image246.png"/><Relationship Id="rId7" Type="http://schemas.openxmlformats.org/officeDocument/2006/relationships/image" Target="../media/image232.png"/><Relationship Id="rId12" Type="http://schemas.openxmlformats.org/officeDocument/2006/relationships/image" Target="../media/image237.png"/><Relationship Id="rId17" Type="http://schemas.openxmlformats.org/officeDocument/2006/relationships/image" Target="../media/image242.png"/><Relationship Id="rId25" Type="http://schemas.openxmlformats.org/officeDocument/2006/relationships/image" Target="../media/image27.png"/><Relationship Id="rId2" Type="http://schemas.openxmlformats.org/officeDocument/2006/relationships/notesSlide" Target="../notesSlides/notesSlide17.xml"/><Relationship Id="rId16" Type="http://schemas.openxmlformats.org/officeDocument/2006/relationships/image" Target="../media/image241.png"/><Relationship Id="rId20" Type="http://schemas.openxmlformats.org/officeDocument/2006/relationships/image" Target="../media/image245.png"/><Relationship Id="rId1" Type="http://schemas.openxmlformats.org/officeDocument/2006/relationships/slideLayout" Target="../slideLayouts/slideLayout1.xml"/><Relationship Id="rId6" Type="http://schemas.openxmlformats.org/officeDocument/2006/relationships/image" Target="../media/image231.png"/><Relationship Id="rId11" Type="http://schemas.openxmlformats.org/officeDocument/2006/relationships/image" Target="../media/image236.png"/><Relationship Id="rId24" Type="http://schemas.openxmlformats.org/officeDocument/2006/relationships/image" Target="../media/image248.png"/><Relationship Id="rId5" Type="http://schemas.openxmlformats.org/officeDocument/2006/relationships/image" Target="../media/image230.png"/><Relationship Id="rId15" Type="http://schemas.openxmlformats.org/officeDocument/2006/relationships/image" Target="../media/image240.png"/><Relationship Id="rId23" Type="http://schemas.openxmlformats.org/officeDocument/2006/relationships/image" Target="../media/image247.png"/><Relationship Id="rId10" Type="http://schemas.openxmlformats.org/officeDocument/2006/relationships/image" Target="../media/image235.png"/><Relationship Id="rId19" Type="http://schemas.openxmlformats.org/officeDocument/2006/relationships/image" Target="../media/image244.png"/><Relationship Id="rId4" Type="http://schemas.openxmlformats.org/officeDocument/2006/relationships/image" Target="../media/image16.png"/><Relationship Id="rId9" Type="http://schemas.openxmlformats.org/officeDocument/2006/relationships/image" Target="../media/image234.png"/><Relationship Id="rId14" Type="http://schemas.openxmlformats.org/officeDocument/2006/relationships/image" Target="../media/image239.png"/><Relationship Id="rId22"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252.png"/><Relationship Id="rId13" Type="http://schemas.openxmlformats.org/officeDocument/2006/relationships/image" Target="../media/image257.png"/><Relationship Id="rId18" Type="http://schemas.openxmlformats.org/officeDocument/2006/relationships/image" Target="../media/image262.png"/><Relationship Id="rId3" Type="http://schemas.openxmlformats.org/officeDocument/2006/relationships/image" Target="../media/image28.png"/><Relationship Id="rId21" Type="http://schemas.openxmlformats.org/officeDocument/2006/relationships/image" Target="../media/image18.png"/><Relationship Id="rId7" Type="http://schemas.openxmlformats.org/officeDocument/2006/relationships/image" Target="../media/image251.png"/><Relationship Id="rId12" Type="http://schemas.openxmlformats.org/officeDocument/2006/relationships/image" Target="../media/image256.png"/><Relationship Id="rId17" Type="http://schemas.openxmlformats.org/officeDocument/2006/relationships/image" Target="../media/image261.png"/><Relationship Id="rId2" Type="http://schemas.openxmlformats.org/officeDocument/2006/relationships/notesSlide" Target="../notesSlides/notesSlide18.xml"/><Relationship Id="rId16" Type="http://schemas.openxmlformats.org/officeDocument/2006/relationships/image" Target="../media/image260.png"/><Relationship Id="rId20" Type="http://schemas.openxmlformats.org/officeDocument/2006/relationships/image" Target="../media/image264.png"/><Relationship Id="rId1" Type="http://schemas.openxmlformats.org/officeDocument/2006/relationships/slideLayout" Target="../slideLayouts/slideLayout1.xml"/><Relationship Id="rId6" Type="http://schemas.openxmlformats.org/officeDocument/2006/relationships/image" Target="../media/image250.png"/><Relationship Id="rId11" Type="http://schemas.openxmlformats.org/officeDocument/2006/relationships/image" Target="../media/image255.png"/><Relationship Id="rId24" Type="http://schemas.openxmlformats.org/officeDocument/2006/relationships/image" Target="../media/image27.png"/><Relationship Id="rId5" Type="http://schemas.openxmlformats.org/officeDocument/2006/relationships/image" Target="../media/image249.png"/><Relationship Id="rId15" Type="http://schemas.openxmlformats.org/officeDocument/2006/relationships/image" Target="../media/image259.png"/><Relationship Id="rId23" Type="http://schemas.openxmlformats.org/officeDocument/2006/relationships/image" Target="../media/image265.png"/><Relationship Id="rId10" Type="http://schemas.openxmlformats.org/officeDocument/2006/relationships/image" Target="../media/image254.png"/><Relationship Id="rId19" Type="http://schemas.openxmlformats.org/officeDocument/2006/relationships/image" Target="../media/image263.png"/><Relationship Id="rId4" Type="http://schemas.openxmlformats.org/officeDocument/2006/relationships/image" Target="../media/image16.png"/><Relationship Id="rId9" Type="http://schemas.openxmlformats.org/officeDocument/2006/relationships/image" Target="../media/image253.png"/><Relationship Id="rId14" Type="http://schemas.openxmlformats.org/officeDocument/2006/relationships/image" Target="../media/image258.png"/><Relationship Id="rId22" Type="http://schemas.openxmlformats.org/officeDocument/2006/relationships/image" Target="../media/image248.png"/></Relationships>
</file>

<file path=ppt/slides/_rels/slide19.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3.png"/><Relationship Id="rId18" Type="http://schemas.openxmlformats.org/officeDocument/2006/relationships/image" Target="../media/image278.png"/><Relationship Id="rId3" Type="http://schemas.openxmlformats.org/officeDocument/2006/relationships/image" Target="../media/image15.png"/><Relationship Id="rId21" Type="http://schemas.openxmlformats.org/officeDocument/2006/relationships/image" Target="../media/image281.png"/><Relationship Id="rId7" Type="http://schemas.openxmlformats.org/officeDocument/2006/relationships/image" Target="../media/image267.png"/><Relationship Id="rId12" Type="http://schemas.openxmlformats.org/officeDocument/2006/relationships/image" Target="../media/image272.png"/><Relationship Id="rId17" Type="http://schemas.openxmlformats.org/officeDocument/2006/relationships/image" Target="../media/image277.png"/><Relationship Id="rId2" Type="http://schemas.openxmlformats.org/officeDocument/2006/relationships/notesSlide" Target="../notesSlides/notesSlide19.xml"/><Relationship Id="rId16" Type="http://schemas.openxmlformats.org/officeDocument/2006/relationships/image" Target="../media/image276.png"/><Relationship Id="rId20" Type="http://schemas.openxmlformats.org/officeDocument/2006/relationships/image" Target="../media/image280.png"/><Relationship Id="rId1" Type="http://schemas.openxmlformats.org/officeDocument/2006/relationships/slideLayout" Target="../slideLayouts/slideLayout1.xml"/><Relationship Id="rId6" Type="http://schemas.openxmlformats.org/officeDocument/2006/relationships/image" Target="../media/image266.png"/><Relationship Id="rId11" Type="http://schemas.openxmlformats.org/officeDocument/2006/relationships/image" Target="../media/image271.png"/><Relationship Id="rId5" Type="http://schemas.openxmlformats.org/officeDocument/2006/relationships/image" Target="../media/image79.png"/><Relationship Id="rId15" Type="http://schemas.openxmlformats.org/officeDocument/2006/relationships/image" Target="../media/image275.png"/><Relationship Id="rId10" Type="http://schemas.openxmlformats.org/officeDocument/2006/relationships/image" Target="../media/image270.png"/><Relationship Id="rId19" Type="http://schemas.openxmlformats.org/officeDocument/2006/relationships/image" Target="../media/image279.png"/><Relationship Id="rId4" Type="http://schemas.openxmlformats.org/officeDocument/2006/relationships/image" Target="../media/image16.png"/><Relationship Id="rId9" Type="http://schemas.openxmlformats.org/officeDocument/2006/relationships/image" Target="../media/image269.png"/><Relationship Id="rId14" Type="http://schemas.openxmlformats.org/officeDocument/2006/relationships/image" Target="../media/image274.png"/><Relationship Id="rId22"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openxmlformats.org/officeDocument/2006/relationships/image" Target="../media/image285.png"/><Relationship Id="rId13" Type="http://schemas.openxmlformats.org/officeDocument/2006/relationships/image" Target="../media/image289.png"/><Relationship Id="rId18"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84.png"/><Relationship Id="rId12" Type="http://schemas.openxmlformats.org/officeDocument/2006/relationships/image" Target="../media/image288.png"/><Relationship Id="rId17" Type="http://schemas.openxmlformats.org/officeDocument/2006/relationships/image" Target="../media/image75.png"/><Relationship Id="rId2" Type="http://schemas.openxmlformats.org/officeDocument/2006/relationships/notesSlide" Target="../notesSlides/notesSlide20.xml"/><Relationship Id="rId16" Type="http://schemas.openxmlformats.org/officeDocument/2006/relationships/image" Target="../media/image292.png"/><Relationship Id="rId1" Type="http://schemas.openxmlformats.org/officeDocument/2006/relationships/slideLayout" Target="../slideLayouts/slideLayout1.xml"/><Relationship Id="rId6" Type="http://schemas.openxmlformats.org/officeDocument/2006/relationships/image" Target="../media/image283.png"/><Relationship Id="rId11" Type="http://schemas.openxmlformats.org/officeDocument/2006/relationships/image" Target="../media/image71.png"/><Relationship Id="rId5" Type="http://schemas.openxmlformats.org/officeDocument/2006/relationships/image" Target="../media/image282.png"/><Relationship Id="rId15" Type="http://schemas.openxmlformats.org/officeDocument/2006/relationships/image" Target="../media/image291.png"/><Relationship Id="rId10" Type="http://schemas.openxmlformats.org/officeDocument/2006/relationships/image" Target="../media/image287.png"/><Relationship Id="rId4" Type="http://schemas.openxmlformats.org/officeDocument/2006/relationships/image" Target="../media/image16.png"/><Relationship Id="rId9" Type="http://schemas.openxmlformats.org/officeDocument/2006/relationships/image" Target="../media/image286.png"/><Relationship Id="rId14" Type="http://schemas.openxmlformats.org/officeDocument/2006/relationships/image" Target="../media/image290.png"/></Relationships>
</file>

<file path=ppt/slides/_rels/slide21.xml.rels><?xml version="1.0" encoding="UTF-8" standalone="yes"?>
<Relationships xmlns="http://schemas.openxmlformats.org/package/2006/relationships"><Relationship Id="rId8" Type="http://schemas.openxmlformats.org/officeDocument/2006/relationships/image" Target="../media/image295.png"/><Relationship Id="rId13" Type="http://schemas.openxmlformats.org/officeDocument/2006/relationships/image" Target="../media/image299.png"/><Relationship Id="rId3" Type="http://schemas.openxmlformats.org/officeDocument/2006/relationships/image" Target="../media/image15.png"/><Relationship Id="rId7" Type="http://schemas.openxmlformats.org/officeDocument/2006/relationships/image" Target="../media/image106.png"/><Relationship Id="rId12" Type="http://schemas.openxmlformats.org/officeDocument/2006/relationships/image" Target="../media/image298.png"/><Relationship Id="rId17" Type="http://schemas.openxmlformats.org/officeDocument/2006/relationships/image" Target="../media/image27.png"/><Relationship Id="rId2" Type="http://schemas.openxmlformats.org/officeDocument/2006/relationships/notesSlide" Target="../notesSlides/notesSlide21.xml"/><Relationship Id="rId16" Type="http://schemas.openxmlformats.org/officeDocument/2006/relationships/image" Target="../media/image302.png"/><Relationship Id="rId1" Type="http://schemas.openxmlformats.org/officeDocument/2006/relationships/slideLayout" Target="../slideLayouts/slideLayout1.xml"/><Relationship Id="rId6" Type="http://schemas.openxmlformats.org/officeDocument/2006/relationships/image" Target="../media/image294.png"/><Relationship Id="rId11" Type="http://schemas.openxmlformats.org/officeDocument/2006/relationships/image" Target="../media/image297.png"/><Relationship Id="rId5" Type="http://schemas.openxmlformats.org/officeDocument/2006/relationships/image" Target="../media/image293.png"/><Relationship Id="rId15" Type="http://schemas.openxmlformats.org/officeDocument/2006/relationships/image" Target="../media/image301.png"/><Relationship Id="rId10" Type="http://schemas.openxmlformats.org/officeDocument/2006/relationships/image" Target="../media/image52.png"/><Relationship Id="rId4" Type="http://schemas.openxmlformats.org/officeDocument/2006/relationships/image" Target="../media/image16.png"/><Relationship Id="rId9" Type="http://schemas.openxmlformats.org/officeDocument/2006/relationships/image" Target="../media/image296.png"/><Relationship Id="rId14" Type="http://schemas.openxmlformats.org/officeDocument/2006/relationships/image" Target="../media/image300.png"/></Relationships>
</file>

<file path=ppt/slides/_rels/slide22.xml.rels><?xml version="1.0" encoding="UTF-8" standalone="yes"?>
<Relationships xmlns="http://schemas.openxmlformats.org/package/2006/relationships"><Relationship Id="rId8" Type="http://schemas.openxmlformats.org/officeDocument/2006/relationships/image" Target="../media/image306.png"/><Relationship Id="rId13" Type="http://schemas.openxmlformats.org/officeDocument/2006/relationships/image" Target="../media/image311.png"/><Relationship Id="rId18" Type="http://schemas.openxmlformats.org/officeDocument/2006/relationships/image" Target="../media/image27.png"/><Relationship Id="rId3" Type="http://schemas.openxmlformats.org/officeDocument/2006/relationships/image" Target="../media/image303.png"/><Relationship Id="rId7" Type="http://schemas.openxmlformats.org/officeDocument/2006/relationships/image" Target="../media/image302.png"/><Relationship Id="rId12" Type="http://schemas.openxmlformats.org/officeDocument/2006/relationships/image" Target="../media/image310.png"/><Relationship Id="rId17" Type="http://schemas.openxmlformats.org/officeDocument/2006/relationships/image" Target="../media/image315.png"/><Relationship Id="rId2" Type="http://schemas.openxmlformats.org/officeDocument/2006/relationships/notesSlide" Target="../notesSlides/notesSlide22.xml"/><Relationship Id="rId16" Type="http://schemas.openxmlformats.org/officeDocument/2006/relationships/image" Target="../media/image314.png"/><Relationship Id="rId1" Type="http://schemas.openxmlformats.org/officeDocument/2006/relationships/slideLayout" Target="../slideLayouts/slideLayout1.xml"/><Relationship Id="rId6" Type="http://schemas.openxmlformats.org/officeDocument/2006/relationships/image" Target="../media/image305.png"/><Relationship Id="rId11" Type="http://schemas.openxmlformats.org/officeDocument/2006/relationships/image" Target="../media/image309.png"/><Relationship Id="rId5" Type="http://schemas.openxmlformats.org/officeDocument/2006/relationships/image" Target="../media/image304.png"/><Relationship Id="rId15" Type="http://schemas.openxmlformats.org/officeDocument/2006/relationships/image" Target="../media/image313.png"/><Relationship Id="rId10" Type="http://schemas.openxmlformats.org/officeDocument/2006/relationships/image" Target="../media/image308.png"/><Relationship Id="rId4" Type="http://schemas.openxmlformats.org/officeDocument/2006/relationships/image" Target="../media/image16.png"/><Relationship Id="rId9" Type="http://schemas.openxmlformats.org/officeDocument/2006/relationships/image" Target="../media/image307.png"/><Relationship Id="rId14" Type="http://schemas.openxmlformats.org/officeDocument/2006/relationships/image" Target="../media/image312.png"/></Relationships>
</file>

<file path=ppt/slides/_rels/slide23.xml.rels><?xml version="1.0" encoding="UTF-8" standalone="yes"?>
<Relationships xmlns="http://schemas.openxmlformats.org/package/2006/relationships"><Relationship Id="rId8" Type="http://schemas.openxmlformats.org/officeDocument/2006/relationships/image" Target="../media/image318.png"/><Relationship Id="rId13" Type="http://schemas.openxmlformats.org/officeDocument/2006/relationships/image" Target="../media/image321.png"/><Relationship Id="rId3" Type="http://schemas.openxmlformats.org/officeDocument/2006/relationships/image" Target="../media/image15.png"/><Relationship Id="rId7" Type="http://schemas.openxmlformats.org/officeDocument/2006/relationships/image" Target="../media/image317.png"/><Relationship Id="rId12" Type="http://schemas.openxmlformats.org/officeDocument/2006/relationships/image" Target="../media/image30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06.png"/><Relationship Id="rId11" Type="http://schemas.openxmlformats.org/officeDocument/2006/relationships/image" Target="../media/image320.png"/><Relationship Id="rId5" Type="http://schemas.openxmlformats.org/officeDocument/2006/relationships/image" Target="../media/image316.png"/><Relationship Id="rId15" Type="http://schemas.openxmlformats.org/officeDocument/2006/relationships/image" Target="../media/image27.png"/><Relationship Id="rId10" Type="http://schemas.openxmlformats.org/officeDocument/2006/relationships/image" Target="../media/image319.png"/><Relationship Id="rId4" Type="http://schemas.openxmlformats.org/officeDocument/2006/relationships/image" Target="../media/image16.png"/><Relationship Id="rId9" Type="http://schemas.openxmlformats.org/officeDocument/2006/relationships/image" Target="../media/image52.png"/><Relationship Id="rId14" Type="http://schemas.openxmlformats.org/officeDocument/2006/relationships/image" Target="../media/image322.png"/></Relationships>
</file>

<file path=ppt/slides/_rels/slide24.xml.rels><?xml version="1.0" encoding="UTF-8" standalone="yes"?>
<Relationships xmlns="http://schemas.openxmlformats.org/package/2006/relationships"><Relationship Id="rId8" Type="http://schemas.openxmlformats.org/officeDocument/2006/relationships/image" Target="../media/image326.png"/><Relationship Id="rId13" Type="http://schemas.openxmlformats.org/officeDocument/2006/relationships/image" Target="../media/image331.png"/><Relationship Id="rId3" Type="http://schemas.openxmlformats.org/officeDocument/2006/relationships/image" Target="../media/image15.png"/><Relationship Id="rId7" Type="http://schemas.openxmlformats.org/officeDocument/2006/relationships/image" Target="../media/image325.png"/><Relationship Id="rId12" Type="http://schemas.openxmlformats.org/officeDocument/2006/relationships/image" Target="../media/image330.png"/><Relationship Id="rId17" Type="http://schemas.openxmlformats.org/officeDocument/2006/relationships/image" Target="../media/image27.png"/><Relationship Id="rId2" Type="http://schemas.openxmlformats.org/officeDocument/2006/relationships/notesSlide" Target="../notesSlides/notesSlide24.xml"/><Relationship Id="rId16" Type="http://schemas.openxmlformats.org/officeDocument/2006/relationships/image" Target="../media/image334.png"/><Relationship Id="rId1" Type="http://schemas.openxmlformats.org/officeDocument/2006/relationships/slideLayout" Target="../slideLayouts/slideLayout1.xml"/><Relationship Id="rId6" Type="http://schemas.openxmlformats.org/officeDocument/2006/relationships/image" Target="../media/image324.png"/><Relationship Id="rId11" Type="http://schemas.openxmlformats.org/officeDocument/2006/relationships/image" Target="../media/image329.png"/><Relationship Id="rId5" Type="http://schemas.openxmlformats.org/officeDocument/2006/relationships/image" Target="../media/image323.png"/><Relationship Id="rId15" Type="http://schemas.openxmlformats.org/officeDocument/2006/relationships/image" Target="../media/image333.png"/><Relationship Id="rId10" Type="http://schemas.openxmlformats.org/officeDocument/2006/relationships/image" Target="../media/image328.png"/><Relationship Id="rId4" Type="http://schemas.openxmlformats.org/officeDocument/2006/relationships/image" Target="../media/image16.png"/><Relationship Id="rId9" Type="http://schemas.openxmlformats.org/officeDocument/2006/relationships/image" Target="../media/image327.png"/><Relationship Id="rId14" Type="http://schemas.openxmlformats.org/officeDocument/2006/relationships/image" Target="../media/image332.png"/></Relationships>
</file>

<file path=ppt/slides/_rels/slide25.xml.rels><?xml version="1.0" encoding="UTF-8" standalone="yes"?>
<Relationships xmlns="http://schemas.openxmlformats.org/package/2006/relationships"><Relationship Id="rId8" Type="http://schemas.openxmlformats.org/officeDocument/2006/relationships/image" Target="../media/image337.png"/><Relationship Id="rId13" Type="http://schemas.openxmlformats.org/officeDocument/2006/relationships/image" Target="../media/image302.png"/><Relationship Id="rId1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06.png"/><Relationship Id="rId12" Type="http://schemas.openxmlformats.org/officeDocument/2006/relationships/image" Target="../media/image341.png"/><Relationship Id="rId17" Type="http://schemas.openxmlformats.org/officeDocument/2006/relationships/image" Target="../media/image265.png"/><Relationship Id="rId2" Type="http://schemas.openxmlformats.org/officeDocument/2006/relationships/notesSlide" Target="../notesSlides/notesSlide25.xml"/><Relationship Id="rId16" Type="http://schemas.openxmlformats.org/officeDocument/2006/relationships/image" Target="../media/image344.png"/><Relationship Id="rId20"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36.png"/><Relationship Id="rId11" Type="http://schemas.openxmlformats.org/officeDocument/2006/relationships/image" Target="../media/image340.png"/><Relationship Id="rId5" Type="http://schemas.openxmlformats.org/officeDocument/2006/relationships/image" Target="../media/image335.png"/><Relationship Id="rId15" Type="http://schemas.openxmlformats.org/officeDocument/2006/relationships/image" Target="../media/image343.png"/><Relationship Id="rId10" Type="http://schemas.openxmlformats.org/officeDocument/2006/relationships/image" Target="../media/image339.png"/><Relationship Id="rId19"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338.png"/><Relationship Id="rId14" Type="http://schemas.openxmlformats.org/officeDocument/2006/relationships/image" Target="../media/image342.png"/></Relationships>
</file>

<file path=ppt/slides/_rels/slide26.xml.rels><?xml version="1.0" encoding="UTF-8" standalone="yes"?>
<Relationships xmlns="http://schemas.openxmlformats.org/package/2006/relationships"><Relationship Id="rId8" Type="http://schemas.openxmlformats.org/officeDocument/2006/relationships/image" Target="../media/image348.png"/><Relationship Id="rId13" Type="http://schemas.openxmlformats.org/officeDocument/2006/relationships/image" Target="../media/image353.png"/><Relationship Id="rId3" Type="http://schemas.openxmlformats.org/officeDocument/2006/relationships/image" Target="../media/image15.png"/><Relationship Id="rId7" Type="http://schemas.openxmlformats.org/officeDocument/2006/relationships/image" Target="../media/image347.png"/><Relationship Id="rId12" Type="http://schemas.openxmlformats.org/officeDocument/2006/relationships/image" Target="../media/image352.png"/><Relationship Id="rId2" Type="http://schemas.openxmlformats.org/officeDocument/2006/relationships/notesSlide" Target="../notesSlides/notesSlide26.xml"/><Relationship Id="rId16"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46.png"/><Relationship Id="rId11" Type="http://schemas.openxmlformats.org/officeDocument/2006/relationships/image" Target="../media/image351.png"/><Relationship Id="rId5" Type="http://schemas.openxmlformats.org/officeDocument/2006/relationships/image" Target="../media/image345.png"/><Relationship Id="rId15" Type="http://schemas.openxmlformats.org/officeDocument/2006/relationships/image" Target="../media/image355.png"/><Relationship Id="rId10" Type="http://schemas.openxmlformats.org/officeDocument/2006/relationships/image" Target="../media/image350.png"/><Relationship Id="rId4" Type="http://schemas.openxmlformats.org/officeDocument/2006/relationships/image" Target="../media/image16.png"/><Relationship Id="rId9" Type="http://schemas.openxmlformats.org/officeDocument/2006/relationships/image" Target="../media/image349.png"/><Relationship Id="rId14" Type="http://schemas.openxmlformats.org/officeDocument/2006/relationships/image" Target="../media/image35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1077003" y="588240"/>
            <a:ext cx="1198795" cy="1414321"/>
          </a:xfrm>
          <a:prstGeom prst="rect">
            <a:avLst/>
          </a:prstGeom>
        </p:spPr>
      </p:pic>
      <p:pic>
        <p:nvPicPr>
          <p:cNvPr id="4" name="Image 2" descr="preencoded.png"/>
          <p:cNvPicPr>
            <a:picLocks noChangeAspect="1"/>
          </p:cNvPicPr>
          <p:nvPr/>
        </p:nvPicPr>
        <p:blipFill>
          <a:blip r:embed="rId5"/>
          <a:stretch>
            <a:fillRect/>
          </a:stretch>
        </p:blipFill>
        <p:spPr>
          <a:xfrm>
            <a:off x="9621788" y="3938351"/>
            <a:ext cx="1787623" cy="1572097"/>
          </a:xfrm>
          <a:prstGeom prst="rect">
            <a:avLst/>
          </a:prstGeom>
        </p:spPr>
      </p:pic>
      <p:pic>
        <p:nvPicPr>
          <p:cNvPr id="5" name="Image 3" descr="preencoded.png"/>
          <p:cNvPicPr>
            <a:picLocks noChangeAspect="1"/>
          </p:cNvPicPr>
          <p:nvPr/>
        </p:nvPicPr>
        <p:blipFill>
          <a:blip r:embed="rId6"/>
          <a:stretch>
            <a:fillRect/>
          </a:stretch>
        </p:blipFill>
        <p:spPr>
          <a:xfrm>
            <a:off x="2301396" y="4663596"/>
            <a:ext cx="1493209" cy="1493209"/>
          </a:xfrm>
          <a:prstGeom prst="rect">
            <a:avLst/>
          </a:prstGeom>
        </p:spPr>
      </p:pic>
      <p:pic>
        <p:nvPicPr>
          <p:cNvPr id="6" name="Image 4" descr="preencoded.png"/>
          <p:cNvPicPr>
            <a:picLocks noChangeAspect="1"/>
          </p:cNvPicPr>
          <p:nvPr/>
        </p:nvPicPr>
        <p:blipFill>
          <a:blip r:embed="rId7"/>
          <a:stretch>
            <a:fillRect/>
          </a:stretch>
        </p:blipFill>
        <p:spPr>
          <a:xfrm>
            <a:off x="9006996" y="1234596"/>
            <a:ext cx="1493209" cy="1493209"/>
          </a:xfrm>
          <a:prstGeom prst="rect">
            <a:avLst/>
          </a:prstGeom>
        </p:spPr>
      </p:pic>
      <p:pic>
        <p:nvPicPr>
          <p:cNvPr id="7" name="Image 5" descr="preencoded.png"/>
          <p:cNvPicPr>
            <a:picLocks noChangeAspect="1"/>
          </p:cNvPicPr>
          <p:nvPr/>
        </p:nvPicPr>
        <p:blipFill>
          <a:blip r:embed="rId8"/>
          <a:stretch>
            <a:fillRect/>
          </a:stretch>
        </p:blipFill>
        <p:spPr>
          <a:xfrm>
            <a:off x="914400" y="914400"/>
            <a:ext cx="10363200" cy="1066800"/>
          </a:xfrm>
          <a:prstGeom prst="rect">
            <a:avLst/>
          </a:prstGeom>
        </p:spPr>
      </p:pic>
      <p:pic>
        <p:nvPicPr>
          <p:cNvPr id="8" name="Image 6" descr="preencoded.png"/>
          <p:cNvPicPr>
            <a:picLocks noChangeAspect="1"/>
          </p:cNvPicPr>
          <p:nvPr/>
        </p:nvPicPr>
        <p:blipFill>
          <a:blip r:embed="rId9"/>
          <a:stretch>
            <a:fillRect/>
          </a:stretch>
        </p:blipFill>
        <p:spPr>
          <a:xfrm>
            <a:off x="914400" y="4095750"/>
            <a:ext cx="1219200" cy="38100"/>
          </a:xfrm>
          <a:prstGeom prst="rect">
            <a:avLst/>
          </a:prstGeom>
        </p:spPr>
      </p:pic>
      <p:pic>
        <p:nvPicPr>
          <p:cNvPr id="9" name="Image 7" descr="preencoded.png"/>
          <p:cNvPicPr>
            <a:picLocks noChangeAspect="1"/>
          </p:cNvPicPr>
          <p:nvPr/>
        </p:nvPicPr>
        <p:blipFill>
          <a:blip r:embed="rId10"/>
          <a:stretch>
            <a:fillRect/>
          </a:stretch>
        </p:blipFill>
        <p:spPr>
          <a:xfrm>
            <a:off x="914400" y="6172200"/>
            <a:ext cx="133350" cy="152400"/>
          </a:xfrm>
          <a:prstGeom prst="rect">
            <a:avLst/>
          </a:prstGeom>
        </p:spPr>
      </p:pic>
      <p:pic>
        <p:nvPicPr>
          <p:cNvPr id="10" name="Image 8" descr="preencoded.png"/>
          <p:cNvPicPr>
            <a:picLocks noChangeAspect="1"/>
          </p:cNvPicPr>
          <p:nvPr/>
        </p:nvPicPr>
        <p:blipFill>
          <a:blip r:embed="rId11"/>
          <a:stretch>
            <a:fillRect/>
          </a:stretch>
        </p:blipFill>
        <p:spPr>
          <a:xfrm>
            <a:off x="9601200" y="6019800"/>
            <a:ext cx="457200" cy="457200"/>
          </a:xfrm>
          <a:prstGeom prst="rect">
            <a:avLst/>
          </a:prstGeom>
        </p:spPr>
      </p:pic>
      <p:pic>
        <p:nvPicPr>
          <p:cNvPr id="11" name="Image 9" descr="preencoded.png"/>
          <p:cNvPicPr>
            <a:picLocks noChangeAspect="1"/>
          </p:cNvPicPr>
          <p:nvPr/>
        </p:nvPicPr>
        <p:blipFill>
          <a:blip r:embed="rId12"/>
          <a:stretch>
            <a:fillRect/>
          </a:stretch>
        </p:blipFill>
        <p:spPr>
          <a:xfrm>
            <a:off x="9734550" y="6115050"/>
            <a:ext cx="190500" cy="266700"/>
          </a:xfrm>
          <a:prstGeom prst="rect">
            <a:avLst/>
          </a:prstGeom>
        </p:spPr>
      </p:pic>
      <p:pic>
        <p:nvPicPr>
          <p:cNvPr id="12" name="Image 10" descr="preencoded.png"/>
          <p:cNvPicPr>
            <a:picLocks noChangeAspect="1"/>
          </p:cNvPicPr>
          <p:nvPr/>
        </p:nvPicPr>
        <p:blipFill>
          <a:blip r:embed="rId13"/>
          <a:stretch>
            <a:fillRect/>
          </a:stretch>
        </p:blipFill>
        <p:spPr>
          <a:xfrm>
            <a:off x="10210800" y="6019800"/>
            <a:ext cx="457200" cy="457200"/>
          </a:xfrm>
          <a:prstGeom prst="rect">
            <a:avLst/>
          </a:prstGeom>
        </p:spPr>
      </p:pic>
      <p:pic>
        <p:nvPicPr>
          <p:cNvPr id="13" name="Image 11" descr="preencoded.png"/>
          <p:cNvPicPr>
            <a:picLocks noChangeAspect="1"/>
          </p:cNvPicPr>
          <p:nvPr/>
        </p:nvPicPr>
        <p:blipFill>
          <a:blip r:embed="rId14"/>
          <a:stretch>
            <a:fillRect/>
          </a:stretch>
        </p:blipFill>
        <p:spPr>
          <a:xfrm>
            <a:off x="10344150" y="6115050"/>
            <a:ext cx="190500" cy="266700"/>
          </a:xfrm>
          <a:prstGeom prst="rect">
            <a:avLst/>
          </a:prstGeom>
        </p:spPr>
      </p:pic>
      <p:pic>
        <p:nvPicPr>
          <p:cNvPr id="14" name="Image 12" descr="preencoded.png"/>
          <p:cNvPicPr>
            <a:picLocks noChangeAspect="1"/>
          </p:cNvPicPr>
          <p:nvPr/>
        </p:nvPicPr>
        <p:blipFill>
          <a:blip r:embed="rId15"/>
          <a:stretch>
            <a:fillRect/>
          </a:stretch>
        </p:blipFill>
        <p:spPr>
          <a:xfrm>
            <a:off x="10820400" y="6019800"/>
            <a:ext cx="457200" cy="457200"/>
          </a:xfrm>
          <a:prstGeom prst="rect">
            <a:avLst/>
          </a:prstGeom>
        </p:spPr>
      </p:pic>
      <p:pic>
        <p:nvPicPr>
          <p:cNvPr id="15" name="Image 13" descr="preencoded.png"/>
          <p:cNvPicPr>
            <a:picLocks noChangeAspect="1"/>
          </p:cNvPicPr>
          <p:nvPr/>
        </p:nvPicPr>
        <p:blipFill>
          <a:blip r:embed="rId16"/>
          <a:stretch>
            <a:fillRect/>
          </a:stretch>
        </p:blipFill>
        <p:spPr>
          <a:xfrm>
            <a:off x="10953750" y="6115050"/>
            <a:ext cx="190500" cy="266700"/>
          </a:xfrm>
          <a:prstGeom prst="rect">
            <a:avLst/>
          </a:prstGeom>
        </p:spPr>
      </p:pic>
      <p:sp>
        <p:nvSpPr>
          <p:cNvPr id="16" name="Text 0"/>
          <p:cNvSpPr/>
          <p:nvPr/>
        </p:nvSpPr>
        <p:spPr>
          <a:xfrm>
            <a:off x="1143000" y="914400"/>
            <a:ext cx="12161520" cy="571500"/>
          </a:xfrm>
          <a:prstGeom prst="rect">
            <a:avLst/>
          </a:prstGeom>
          <a:noFill/>
          <a:ln/>
        </p:spPr>
        <p:txBody>
          <a:bodyPr vert="horz" wrap="square" lIns="0" tIns="0" rIns="0" bIns="0" rtlCol="0" anchor="t"/>
          <a:lstStyle/>
          <a:p>
            <a:pPr marL="0" indent="0">
              <a:lnSpc>
                <a:spcPts val="4500"/>
              </a:lnSpc>
              <a:buNone/>
            </a:pPr>
            <a:r>
              <a:rPr lang="en-US" sz="4500" b="1" dirty="0">
                <a:solidFill>
                  <a:srgbClr val="FFFFFF"/>
                </a:solidFill>
                <a:latin typeface="ui-sans-serif" pitchFamily="34" charset="0"/>
                <a:ea typeface="ui-sans-serif" pitchFamily="34" charset="-122"/>
                <a:cs typeface="ui-sans-serif" pitchFamily="34" charset="-120"/>
              </a:rPr>
              <a:t>Compliance Audit Processes</a:t>
            </a:r>
            <a:endParaRPr lang="en-US" sz="4500" dirty="0"/>
          </a:p>
        </p:txBody>
      </p:sp>
      <p:sp>
        <p:nvSpPr>
          <p:cNvPr id="17" name="Text 1"/>
          <p:cNvSpPr/>
          <p:nvPr/>
        </p:nvSpPr>
        <p:spPr>
          <a:xfrm>
            <a:off x="1143000" y="1638300"/>
            <a:ext cx="12161520" cy="342900"/>
          </a:xfrm>
          <a:prstGeom prst="rect">
            <a:avLst/>
          </a:prstGeom>
          <a:noFill/>
          <a:ln/>
        </p:spPr>
        <p:txBody>
          <a:bodyPr vert="horz" wrap="square" lIns="0" tIns="0" rIns="0" bIns="0" rtlCol="0" anchor="t"/>
          <a:lstStyle/>
          <a:p>
            <a:pPr marL="0" indent="0">
              <a:lnSpc>
                <a:spcPts val="2700"/>
              </a:lnSpc>
              <a:buNone/>
            </a:pPr>
            <a:r>
              <a:rPr lang="en-US" sz="2250" dirty="0">
                <a:solidFill>
                  <a:srgbClr val="FFFFFF"/>
                </a:solidFill>
                <a:latin typeface="ui-sans-serif" pitchFamily="34" charset="0"/>
                <a:ea typeface="ui-sans-serif" pitchFamily="34" charset="-122"/>
                <a:cs typeface="ui-sans-serif" pitchFamily="34" charset="-120"/>
              </a:rPr>
              <a:t>GRC104 - Compliance Frameworks and Legal Requirements</a:t>
            </a:r>
            <a:endParaRPr lang="en-US" sz="2250" dirty="0"/>
          </a:p>
        </p:txBody>
      </p:sp>
      <p:sp>
        <p:nvSpPr>
          <p:cNvPr id="18" name="Text 2"/>
          <p:cNvSpPr/>
          <p:nvPr/>
        </p:nvSpPr>
        <p:spPr>
          <a:xfrm>
            <a:off x="914400" y="3371850"/>
            <a:ext cx="12435840" cy="304800"/>
          </a:xfrm>
          <a:prstGeom prst="rect">
            <a:avLst/>
          </a:prstGeom>
          <a:noFill/>
          <a:ln/>
        </p:spPr>
        <p:txBody>
          <a:bodyPr vert="horz" wrap="square" lIns="0" tIns="0" rIns="0" bIns="0" rtlCol="0" anchor="t"/>
          <a:lstStyle/>
          <a:p>
            <a:pPr marL="0" indent="0">
              <a:lnSpc>
                <a:spcPts val="2400"/>
              </a:lnSpc>
              <a:buNone/>
            </a:pPr>
            <a:r>
              <a:rPr lang="en-US" sz="1800" dirty="0">
                <a:solidFill>
                  <a:srgbClr val="FFFFFF"/>
                </a:solidFill>
                <a:latin typeface="ui-sans-serif" pitchFamily="34" charset="0"/>
                <a:ea typeface="ui-sans-serif" pitchFamily="34" charset="-122"/>
                <a:cs typeface="ui-sans-serif" pitchFamily="34" charset="-120"/>
              </a:rPr>
              <a:t>A comprehensive exploration of audit methodologies, lifecycle, and best practices</a:t>
            </a:r>
            <a:endParaRPr lang="en-US" sz="1800" dirty="0"/>
          </a:p>
        </p:txBody>
      </p:sp>
      <p:sp>
        <p:nvSpPr>
          <p:cNvPr id="19" name="Text 3"/>
          <p:cNvSpPr/>
          <p:nvPr/>
        </p:nvSpPr>
        <p:spPr>
          <a:xfrm>
            <a:off x="2286000" y="3981450"/>
            <a:ext cx="7646849" cy="2667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ui-sans-serif" pitchFamily="34" charset="0"/>
                <a:ea typeface="ui-sans-serif" pitchFamily="34" charset="-122"/>
                <a:cs typeface="ui-sans-serif" pitchFamily="34" charset="-120"/>
              </a:rPr>
              <a:t>Ensuring organizational compliance through systematic evaluation</a:t>
            </a:r>
            <a:endParaRPr lang="en-US" sz="1500" dirty="0"/>
          </a:p>
        </p:txBody>
      </p:sp>
      <p:sp>
        <p:nvSpPr>
          <p:cNvPr id="20" name="Text 4"/>
          <p:cNvSpPr/>
          <p:nvPr/>
        </p:nvSpPr>
        <p:spPr>
          <a:xfrm>
            <a:off x="1162050" y="6134100"/>
            <a:ext cx="1604486" cy="2286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ui-sans-serif" pitchFamily="34" charset="0"/>
                <a:ea typeface="ui-sans-serif" pitchFamily="34" charset="-122"/>
                <a:cs typeface="ui-sans-serif" pitchFamily="34" charset="-120"/>
              </a:rPr>
              <a:t>October 31, 2025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486400" cy="4953000"/>
          </a:xfrm>
          <a:prstGeom prst="rect">
            <a:avLst/>
          </a:prstGeom>
        </p:spPr>
      </p:pic>
      <p:pic>
        <p:nvPicPr>
          <p:cNvPr id="5" name="Image 3" descr="preencoded.png"/>
          <p:cNvPicPr>
            <a:picLocks noChangeAspect="1"/>
          </p:cNvPicPr>
          <p:nvPr/>
        </p:nvPicPr>
        <p:blipFill>
          <a:blip r:embed="rId6"/>
          <a:stretch>
            <a:fillRect/>
          </a:stretch>
        </p:blipFill>
        <p:spPr>
          <a:xfrm>
            <a:off x="533400" y="3352800"/>
            <a:ext cx="190500" cy="152400"/>
          </a:xfrm>
          <a:prstGeom prst="rect">
            <a:avLst/>
          </a:prstGeom>
        </p:spPr>
      </p:pic>
      <p:pic>
        <p:nvPicPr>
          <p:cNvPr id="6" name="Image 4" descr="preencoded.png"/>
          <p:cNvPicPr>
            <a:picLocks noChangeAspect="1"/>
          </p:cNvPicPr>
          <p:nvPr/>
        </p:nvPicPr>
        <p:blipFill>
          <a:blip r:embed="rId7"/>
          <a:stretch>
            <a:fillRect/>
          </a:stretch>
        </p:blipFill>
        <p:spPr>
          <a:xfrm>
            <a:off x="533400" y="3886200"/>
            <a:ext cx="152400" cy="152400"/>
          </a:xfrm>
          <a:prstGeom prst="rect">
            <a:avLst/>
          </a:prstGeom>
        </p:spPr>
      </p:pic>
      <p:pic>
        <p:nvPicPr>
          <p:cNvPr id="7" name="Image 5" descr="preencoded.png"/>
          <p:cNvPicPr>
            <a:picLocks noChangeAspect="1"/>
          </p:cNvPicPr>
          <p:nvPr/>
        </p:nvPicPr>
        <p:blipFill>
          <a:blip r:embed="rId8"/>
          <a:stretch>
            <a:fillRect/>
          </a:stretch>
        </p:blipFill>
        <p:spPr>
          <a:xfrm>
            <a:off x="533400" y="4191000"/>
            <a:ext cx="152400" cy="152400"/>
          </a:xfrm>
          <a:prstGeom prst="rect">
            <a:avLst/>
          </a:prstGeom>
        </p:spPr>
      </p:pic>
      <p:pic>
        <p:nvPicPr>
          <p:cNvPr id="8" name="Image 6" descr="preencoded.png"/>
          <p:cNvPicPr>
            <a:picLocks noChangeAspect="1"/>
          </p:cNvPicPr>
          <p:nvPr/>
        </p:nvPicPr>
        <p:blipFill>
          <a:blip r:embed="rId9"/>
          <a:stretch>
            <a:fillRect/>
          </a:stretch>
        </p:blipFill>
        <p:spPr>
          <a:xfrm>
            <a:off x="533400" y="44958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6400800" y="1143000"/>
            <a:ext cx="5486400" cy="4953000"/>
          </a:xfrm>
          <a:prstGeom prst="rect">
            <a:avLst/>
          </a:prstGeom>
        </p:spPr>
      </p:pic>
      <p:pic>
        <p:nvPicPr>
          <p:cNvPr id="10" name="Image 8" descr="preencoded.png"/>
          <p:cNvPicPr>
            <a:picLocks noChangeAspect="1"/>
          </p:cNvPicPr>
          <p:nvPr/>
        </p:nvPicPr>
        <p:blipFill>
          <a:blip r:embed="rId11"/>
          <a:stretch>
            <a:fillRect/>
          </a:stretch>
        </p:blipFill>
        <p:spPr>
          <a:xfrm>
            <a:off x="7053709" y="2171700"/>
            <a:ext cx="381000" cy="381000"/>
          </a:xfrm>
          <a:prstGeom prst="rect">
            <a:avLst/>
          </a:prstGeom>
        </p:spPr>
      </p:pic>
      <p:pic>
        <p:nvPicPr>
          <p:cNvPr id="11" name="Image 9" descr="preencoded.png"/>
          <p:cNvPicPr>
            <a:picLocks noChangeAspect="1"/>
          </p:cNvPicPr>
          <p:nvPr/>
        </p:nvPicPr>
        <p:blipFill>
          <a:blip r:embed="rId12"/>
          <a:stretch>
            <a:fillRect/>
          </a:stretch>
        </p:blipFill>
        <p:spPr>
          <a:xfrm>
            <a:off x="8655844" y="2171700"/>
            <a:ext cx="381000" cy="381000"/>
          </a:xfrm>
          <a:prstGeom prst="rect">
            <a:avLst/>
          </a:prstGeom>
        </p:spPr>
      </p:pic>
      <p:pic>
        <p:nvPicPr>
          <p:cNvPr id="12" name="Image 10" descr="preencoded.png"/>
          <p:cNvPicPr>
            <a:picLocks noChangeAspect="1"/>
          </p:cNvPicPr>
          <p:nvPr/>
        </p:nvPicPr>
        <p:blipFill>
          <a:blip r:embed="rId13"/>
          <a:stretch>
            <a:fillRect/>
          </a:stretch>
        </p:blipFill>
        <p:spPr>
          <a:xfrm>
            <a:off x="10555635" y="2171700"/>
            <a:ext cx="381000" cy="381000"/>
          </a:xfrm>
          <a:prstGeom prst="rect">
            <a:avLst/>
          </a:prstGeom>
        </p:spPr>
      </p:pic>
      <p:pic>
        <p:nvPicPr>
          <p:cNvPr id="13" name="Image 11" descr="preencoded.png"/>
          <p:cNvPicPr>
            <a:picLocks noChangeAspect="1"/>
          </p:cNvPicPr>
          <p:nvPr/>
        </p:nvPicPr>
        <p:blipFill>
          <a:blip r:embed="rId14"/>
          <a:stretch>
            <a:fillRect/>
          </a:stretch>
        </p:blipFill>
        <p:spPr>
          <a:xfrm>
            <a:off x="6629400" y="3733800"/>
            <a:ext cx="5029200" cy="1562100"/>
          </a:xfrm>
          <a:prstGeom prst="rect">
            <a:avLst/>
          </a:prstGeom>
        </p:spPr>
      </p:pic>
      <p:pic>
        <p:nvPicPr>
          <p:cNvPr id="14" name="Image 12" descr="preencoded.png"/>
          <p:cNvPicPr>
            <a:picLocks noChangeAspect="1"/>
          </p:cNvPicPr>
          <p:nvPr/>
        </p:nvPicPr>
        <p:blipFill>
          <a:blip r:embed="rId15"/>
          <a:stretch>
            <a:fillRect/>
          </a:stretch>
        </p:blipFill>
        <p:spPr>
          <a:xfrm>
            <a:off x="0" y="6400800"/>
            <a:ext cx="12192000" cy="457200"/>
          </a:xfrm>
          <a:prstGeom prst="rect">
            <a:avLst/>
          </a:prstGeom>
        </p:spPr>
      </p:pic>
      <p:sp>
        <p:nvSpPr>
          <p:cNvPr id="15" name="Text 0"/>
          <p:cNvSpPr/>
          <p:nvPr/>
        </p:nvSpPr>
        <p:spPr>
          <a:xfrm>
            <a:off x="381000" y="2286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Course Overview - GRC104</a:t>
            </a:r>
            <a:endParaRPr lang="en-US" sz="2700" dirty="0"/>
          </a:p>
        </p:txBody>
      </p:sp>
      <p:sp>
        <p:nvSpPr>
          <p:cNvPr id="16" name="Text 1"/>
          <p:cNvSpPr/>
          <p:nvPr/>
        </p:nvSpPr>
        <p:spPr>
          <a:xfrm>
            <a:off x="533400" y="1371600"/>
            <a:ext cx="5029200" cy="6096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Compliance Frameworks and Legal Requirements</a:t>
            </a:r>
            <a:endParaRPr lang="en-US" sz="1800" dirty="0"/>
          </a:p>
        </p:txBody>
      </p:sp>
      <p:sp>
        <p:nvSpPr>
          <p:cNvPr id="17" name="Text 2"/>
          <p:cNvSpPr/>
          <p:nvPr/>
        </p:nvSpPr>
        <p:spPr>
          <a:xfrm>
            <a:off x="533400" y="2133600"/>
            <a:ext cx="50292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 comprehensive exploration of compliance audit processes, frameworks, and legal requirements that organizations must navigate to maintain regulatory adherence and mitigate risks.</a:t>
            </a:r>
            <a:endParaRPr lang="en-US" sz="1200" dirty="0"/>
          </a:p>
        </p:txBody>
      </p:sp>
      <p:sp>
        <p:nvSpPr>
          <p:cNvPr id="18" name="Text 3"/>
          <p:cNvSpPr/>
          <p:nvPr/>
        </p:nvSpPr>
        <p:spPr>
          <a:xfrm>
            <a:off x="533400" y="2971800"/>
            <a:ext cx="5029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Key Course Components:</a:t>
            </a:r>
            <a:endParaRPr lang="en-US" sz="1500" dirty="0"/>
          </a:p>
        </p:txBody>
      </p:sp>
      <p:sp>
        <p:nvSpPr>
          <p:cNvPr id="19" name="Text 4"/>
          <p:cNvSpPr/>
          <p:nvPr/>
        </p:nvSpPr>
        <p:spPr>
          <a:xfrm>
            <a:off x="838200" y="3314700"/>
            <a:ext cx="47244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Understanding legal frameworks and regulatory requirements</a:t>
            </a:r>
            <a:endParaRPr lang="en-US" sz="1200" dirty="0"/>
          </a:p>
        </p:txBody>
      </p:sp>
      <p:sp>
        <p:nvSpPr>
          <p:cNvPr id="20" name="Text 5"/>
          <p:cNvSpPr/>
          <p:nvPr/>
        </p:nvSpPr>
        <p:spPr>
          <a:xfrm>
            <a:off x="800100" y="3848100"/>
            <a:ext cx="524494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Designing and implementing compliance audit processes</a:t>
            </a:r>
            <a:endParaRPr lang="en-US" sz="1200" dirty="0"/>
          </a:p>
        </p:txBody>
      </p:sp>
      <p:sp>
        <p:nvSpPr>
          <p:cNvPr id="21" name="Text 6"/>
          <p:cNvSpPr/>
          <p:nvPr/>
        </p:nvSpPr>
        <p:spPr>
          <a:xfrm>
            <a:off x="800100" y="4152900"/>
            <a:ext cx="388405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Assessing and mitigating compliance risks</a:t>
            </a:r>
            <a:endParaRPr lang="en-US" sz="1200" dirty="0"/>
          </a:p>
        </p:txBody>
      </p:sp>
      <p:sp>
        <p:nvSpPr>
          <p:cNvPr id="22" name="Text 7"/>
          <p:cNvSpPr/>
          <p:nvPr/>
        </p:nvSpPr>
        <p:spPr>
          <a:xfrm>
            <a:off x="800100" y="4457700"/>
            <a:ext cx="449716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Evaluating control effectiveness and remediation</a:t>
            </a:r>
            <a:endParaRPr lang="en-US" sz="1200" dirty="0"/>
          </a:p>
        </p:txBody>
      </p:sp>
      <p:sp>
        <p:nvSpPr>
          <p:cNvPr id="23" name="Text 8"/>
          <p:cNvSpPr/>
          <p:nvPr/>
        </p:nvSpPr>
        <p:spPr>
          <a:xfrm>
            <a:off x="6629400" y="1371600"/>
            <a:ext cx="50292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GRC Landscape</a:t>
            </a:r>
            <a:endParaRPr lang="en-US" sz="1800" dirty="0"/>
          </a:p>
        </p:txBody>
      </p:sp>
      <p:sp>
        <p:nvSpPr>
          <p:cNvPr id="24" name="Text 9"/>
          <p:cNvSpPr/>
          <p:nvPr/>
        </p:nvSpPr>
        <p:spPr>
          <a:xfrm>
            <a:off x="6506438" y="2971800"/>
            <a:ext cx="1475542"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Governance</a:t>
            </a:r>
            <a:endParaRPr lang="en-US" sz="1350" dirty="0"/>
          </a:p>
        </p:txBody>
      </p:sp>
      <p:sp>
        <p:nvSpPr>
          <p:cNvPr id="25" name="Text 10"/>
          <p:cNvSpPr/>
          <p:nvPr/>
        </p:nvSpPr>
        <p:spPr>
          <a:xfrm>
            <a:off x="6506438" y="3238500"/>
            <a:ext cx="1475542"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Strategic direction</a:t>
            </a:r>
            <a:endParaRPr lang="en-US" sz="1050" dirty="0"/>
          </a:p>
        </p:txBody>
      </p:sp>
      <p:sp>
        <p:nvSpPr>
          <p:cNvPr id="26" name="Text 11"/>
          <p:cNvSpPr/>
          <p:nvPr/>
        </p:nvSpPr>
        <p:spPr>
          <a:xfrm>
            <a:off x="8012906" y="2971800"/>
            <a:ext cx="1666875"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Risk</a:t>
            </a:r>
            <a:endParaRPr lang="en-US" sz="1350" dirty="0"/>
          </a:p>
        </p:txBody>
      </p:sp>
      <p:sp>
        <p:nvSpPr>
          <p:cNvPr id="27" name="Text 12"/>
          <p:cNvSpPr/>
          <p:nvPr/>
        </p:nvSpPr>
        <p:spPr>
          <a:xfrm>
            <a:off x="7846219" y="3238500"/>
            <a:ext cx="200025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Assessment &amp; mitigation</a:t>
            </a:r>
            <a:endParaRPr lang="en-US" sz="1050" dirty="0"/>
          </a:p>
        </p:txBody>
      </p:sp>
      <p:sp>
        <p:nvSpPr>
          <p:cNvPr id="28" name="Text 13"/>
          <p:cNvSpPr/>
          <p:nvPr/>
        </p:nvSpPr>
        <p:spPr>
          <a:xfrm>
            <a:off x="9651176" y="2971800"/>
            <a:ext cx="2189917"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Compliance</a:t>
            </a:r>
            <a:endParaRPr lang="en-US" sz="1350" dirty="0"/>
          </a:p>
        </p:txBody>
      </p:sp>
      <p:sp>
        <p:nvSpPr>
          <p:cNvPr id="29" name="Text 14"/>
          <p:cNvSpPr/>
          <p:nvPr/>
        </p:nvSpPr>
        <p:spPr>
          <a:xfrm>
            <a:off x="9651176" y="3238500"/>
            <a:ext cx="2189917"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Adherence to requirements</a:t>
            </a:r>
            <a:endParaRPr lang="en-US" sz="1050" dirty="0"/>
          </a:p>
        </p:txBody>
      </p:sp>
      <p:sp>
        <p:nvSpPr>
          <p:cNvPr id="30" name="Text 15"/>
          <p:cNvSpPr/>
          <p:nvPr/>
        </p:nvSpPr>
        <p:spPr>
          <a:xfrm>
            <a:off x="6781800" y="3886200"/>
            <a:ext cx="4724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Where Audits Fit In</a:t>
            </a:r>
            <a:endParaRPr lang="en-US" sz="1500" dirty="0"/>
          </a:p>
        </p:txBody>
      </p:sp>
      <p:sp>
        <p:nvSpPr>
          <p:cNvPr id="31" name="Text 16"/>
          <p:cNvSpPr/>
          <p:nvPr/>
        </p:nvSpPr>
        <p:spPr>
          <a:xfrm>
            <a:off x="6781800" y="4229100"/>
            <a:ext cx="472440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Compliance audits serve as a critical component within the GRC framework, providing objective assurance that an organization's controls and processes align with applicable laws, regulations, and internal policies.</a:t>
            </a:r>
            <a:endParaRPr lang="en-US" sz="1200" dirty="0"/>
          </a:p>
        </p:txBody>
      </p:sp>
      <p:sp>
        <p:nvSpPr>
          <p:cNvPr id="32" name="Text 17"/>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3" name="Text 18"/>
          <p:cNvSpPr/>
          <p:nvPr/>
        </p:nvSpPr>
        <p:spPr>
          <a:xfrm>
            <a:off x="11468695" y="65151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919065"/>
            <a:ext cx="762000" cy="762000"/>
          </a:xfrm>
          <a:prstGeom prst="rect">
            <a:avLst/>
          </a:prstGeom>
        </p:spPr>
      </p:pic>
      <p:pic>
        <p:nvPicPr>
          <p:cNvPr id="5" name="Image 3" descr="preencoded.png"/>
          <p:cNvPicPr>
            <a:picLocks noChangeAspect="1"/>
          </p:cNvPicPr>
          <p:nvPr/>
        </p:nvPicPr>
        <p:blipFill>
          <a:blip r:embed="rId6"/>
          <a:stretch>
            <a:fillRect/>
          </a:stretch>
        </p:blipFill>
        <p:spPr>
          <a:xfrm>
            <a:off x="514350" y="1109565"/>
            <a:ext cx="342900" cy="381000"/>
          </a:xfrm>
          <a:prstGeom prst="rect">
            <a:avLst/>
          </a:prstGeom>
        </p:spPr>
      </p:pic>
      <p:pic>
        <p:nvPicPr>
          <p:cNvPr id="6" name="Image 4" descr="preencoded.png"/>
          <p:cNvPicPr>
            <a:picLocks noChangeAspect="1"/>
          </p:cNvPicPr>
          <p:nvPr/>
        </p:nvPicPr>
        <p:blipFill>
          <a:blip r:embed="rId7"/>
          <a:stretch>
            <a:fillRect/>
          </a:stretch>
        </p:blipFill>
        <p:spPr>
          <a:xfrm>
            <a:off x="1219200" y="1684174"/>
            <a:ext cx="10668000" cy="1905000"/>
          </a:xfrm>
          <a:prstGeom prst="rect">
            <a:avLst/>
          </a:prstGeom>
        </p:spPr>
      </p:pic>
      <p:pic>
        <p:nvPicPr>
          <p:cNvPr id="7" name="Image 5" descr="preencoded.png"/>
          <p:cNvPicPr>
            <a:picLocks noChangeAspect="1"/>
          </p:cNvPicPr>
          <p:nvPr/>
        </p:nvPicPr>
        <p:blipFill>
          <a:blip r:embed="rId8"/>
          <a:stretch>
            <a:fillRect/>
          </a:stretch>
        </p:blipFill>
        <p:spPr>
          <a:xfrm>
            <a:off x="1447800" y="2636674"/>
            <a:ext cx="190500" cy="266700"/>
          </a:xfrm>
          <a:prstGeom prst="rect">
            <a:avLst/>
          </a:prstGeom>
        </p:spPr>
      </p:pic>
      <p:pic>
        <p:nvPicPr>
          <p:cNvPr id="8" name="Image 6" descr="preencoded.png"/>
          <p:cNvPicPr>
            <a:picLocks noChangeAspect="1"/>
          </p:cNvPicPr>
          <p:nvPr/>
        </p:nvPicPr>
        <p:blipFill>
          <a:blip r:embed="rId9"/>
          <a:stretch>
            <a:fillRect/>
          </a:stretch>
        </p:blipFill>
        <p:spPr>
          <a:xfrm>
            <a:off x="6629400" y="2636674"/>
            <a:ext cx="142875" cy="266700"/>
          </a:xfrm>
          <a:prstGeom prst="rect">
            <a:avLst/>
          </a:prstGeom>
        </p:spPr>
      </p:pic>
      <p:pic>
        <p:nvPicPr>
          <p:cNvPr id="9" name="Image 7" descr="preencoded.png"/>
          <p:cNvPicPr>
            <a:picLocks noChangeAspect="1"/>
          </p:cNvPicPr>
          <p:nvPr/>
        </p:nvPicPr>
        <p:blipFill>
          <a:blip r:embed="rId10"/>
          <a:stretch>
            <a:fillRect/>
          </a:stretch>
        </p:blipFill>
        <p:spPr>
          <a:xfrm>
            <a:off x="1447800" y="3093874"/>
            <a:ext cx="142875" cy="266700"/>
          </a:xfrm>
          <a:prstGeom prst="rect">
            <a:avLst/>
          </a:prstGeom>
        </p:spPr>
      </p:pic>
      <p:pic>
        <p:nvPicPr>
          <p:cNvPr id="10" name="Image 8" descr="preencoded.png"/>
          <p:cNvPicPr>
            <a:picLocks noChangeAspect="1"/>
          </p:cNvPicPr>
          <p:nvPr/>
        </p:nvPicPr>
        <p:blipFill>
          <a:blip r:embed="rId11"/>
          <a:stretch>
            <a:fillRect/>
          </a:stretch>
        </p:blipFill>
        <p:spPr>
          <a:xfrm>
            <a:off x="6629400" y="3093874"/>
            <a:ext cx="190500" cy="266700"/>
          </a:xfrm>
          <a:prstGeom prst="rect">
            <a:avLst/>
          </a:prstGeom>
        </p:spPr>
      </p:pic>
      <p:pic>
        <p:nvPicPr>
          <p:cNvPr id="11" name="Image 9" descr="preencoded.png"/>
          <p:cNvPicPr>
            <a:picLocks noChangeAspect="1"/>
          </p:cNvPicPr>
          <p:nvPr/>
        </p:nvPicPr>
        <p:blipFill>
          <a:blip r:embed="rId12"/>
          <a:stretch>
            <a:fillRect/>
          </a:stretch>
        </p:blipFill>
        <p:spPr>
          <a:xfrm>
            <a:off x="304800" y="3511418"/>
            <a:ext cx="762000" cy="762000"/>
          </a:xfrm>
          <a:prstGeom prst="rect">
            <a:avLst/>
          </a:prstGeom>
        </p:spPr>
      </p:pic>
      <p:pic>
        <p:nvPicPr>
          <p:cNvPr id="12" name="Image 10" descr="preencoded.png"/>
          <p:cNvPicPr>
            <a:picLocks noChangeAspect="1"/>
          </p:cNvPicPr>
          <p:nvPr/>
        </p:nvPicPr>
        <p:blipFill>
          <a:blip r:embed="rId13"/>
          <a:stretch>
            <a:fillRect/>
          </a:stretch>
        </p:blipFill>
        <p:spPr>
          <a:xfrm>
            <a:off x="514350" y="3701918"/>
            <a:ext cx="342900" cy="381000"/>
          </a:xfrm>
          <a:prstGeom prst="rect">
            <a:avLst/>
          </a:prstGeom>
        </p:spPr>
      </p:pic>
      <p:pic>
        <p:nvPicPr>
          <p:cNvPr id="13" name="Image 11" descr="preencoded.png"/>
          <p:cNvPicPr>
            <a:picLocks noChangeAspect="1"/>
          </p:cNvPicPr>
          <p:nvPr/>
        </p:nvPicPr>
        <p:blipFill>
          <a:blip r:embed="rId14"/>
          <a:stretch>
            <a:fillRect/>
          </a:stretch>
        </p:blipFill>
        <p:spPr>
          <a:xfrm>
            <a:off x="1219200" y="4425818"/>
            <a:ext cx="3403550" cy="1638300"/>
          </a:xfrm>
          <a:prstGeom prst="rect">
            <a:avLst/>
          </a:prstGeom>
        </p:spPr>
      </p:pic>
      <p:pic>
        <p:nvPicPr>
          <p:cNvPr id="14" name="Image 12" descr="preencoded.png"/>
          <p:cNvPicPr>
            <a:picLocks noChangeAspect="1"/>
          </p:cNvPicPr>
          <p:nvPr/>
        </p:nvPicPr>
        <p:blipFill>
          <a:blip r:embed="rId15"/>
          <a:stretch>
            <a:fillRect/>
          </a:stretch>
        </p:blipFill>
        <p:spPr>
          <a:xfrm>
            <a:off x="2739926" y="4616318"/>
            <a:ext cx="361950" cy="342900"/>
          </a:xfrm>
          <a:prstGeom prst="rect">
            <a:avLst/>
          </a:prstGeom>
        </p:spPr>
      </p:pic>
      <p:pic>
        <p:nvPicPr>
          <p:cNvPr id="15" name="Image 13" descr="preencoded.png"/>
          <p:cNvPicPr>
            <a:picLocks noChangeAspect="1"/>
          </p:cNvPicPr>
          <p:nvPr/>
        </p:nvPicPr>
        <p:blipFill>
          <a:blip r:embed="rId16"/>
          <a:stretch>
            <a:fillRect/>
          </a:stretch>
        </p:blipFill>
        <p:spPr>
          <a:xfrm>
            <a:off x="4851350" y="4425818"/>
            <a:ext cx="3403550" cy="1638300"/>
          </a:xfrm>
          <a:prstGeom prst="rect">
            <a:avLst/>
          </a:prstGeom>
        </p:spPr>
      </p:pic>
      <p:pic>
        <p:nvPicPr>
          <p:cNvPr id="16" name="Image 14" descr="preencoded.png"/>
          <p:cNvPicPr>
            <a:picLocks noChangeAspect="1"/>
          </p:cNvPicPr>
          <p:nvPr/>
        </p:nvPicPr>
        <p:blipFill>
          <a:blip r:embed="rId17"/>
          <a:stretch>
            <a:fillRect/>
          </a:stretch>
        </p:blipFill>
        <p:spPr>
          <a:xfrm>
            <a:off x="6391126" y="4616318"/>
            <a:ext cx="323850" cy="342900"/>
          </a:xfrm>
          <a:prstGeom prst="rect">
            <a:avLst/>
          </a:prstGeom>
        </p:spPr>
      </p:pic>
      <p:pic>
        <p:nvPicPr>
          <p:cNvPr id="17" name="Image 15" descr="preencoded.png"/>
          <p:cNvPicPr>
            <a:picLocks noChangeAspect="1"/>
          </p:cNvPicPr>
          <p:nvPr/>
        </p:nvPicPr>
        <p:blipFill>
          <a:blip r:embed="rId18"/>
          <a:stretch>
            <a:fillRect/>
          </a:stretch>
        </p:blipFill>
        <p:spPr>
          <a:xfrm>
            <a:off x="8483501" y="4425818"/>
            <a:ext cx="3403699" cy="1638300"/>
          </a:xfrm>
          <a:prstGeom prst="rect">
            <a:avLst/>
          </a:prstGeom>
        </p:spPr>
      </p:pic>
      <p:pic>
        <p:nvPicPr>
          <p:cNvPr id="18" name="Image 16" descr="preencoded.png"/>
          <p:cNvPicPr>
            <a:picLocks noChangeAspect="1"/>
          </p:cNvPicPr>
          <p:nvPr/>
        </p:nvPicPr>
        <p:blipFill>
          <a:blip r:embed="rId19"/>
          <a:stretch>
            <a:fillRect/>
          </a:stretch>
        </p:blipFill>
        <p:spPr>
          <a:xfrm>
            <a:off x="10042475" y="4616318"/>
            <a:ext cx="285750" cy="342900"/>
          </a:xfrm>
          <a:prstGeom prst="rect">
            <a:avLst/>
          </a:prstGeom>
        </p:spPr>
      </p:pic>
      <p:pic>
        <p:nvPicPr>
          <p:cNvPr id="19" name="Image 17" descr="preencoded.png"/>
          <p:cNvPicPr>
            <a:picLocks noChangeAspect="1"/>
          </p:cNvPicPr>
          <p:nvPr/>
        </p:nvPicPr>
        <p:blipFill>
          <a:blip r:embed="rId20"/>
          <a:stretch>
            <a:fillRect/>
          </a:stretch>
        </p:blipFill>
        <p:spPr>
          <a:xfrm>
            <a:off x="0" y="6407018"/>
            <a:ext cx="12192000" cy="457200"/>
          </a:xfrm>
          <a:prstGeom prst="rect">
            <a:avLst/>
          </a:prstGeom>
        </p:spPr>
      </p:pic>
      <p:sp>
        <p:nvSpPr>
          <p:cNvPr id="20"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Introduction to Compliance Audits</a:t>
            </a:r>
            <a:endParaRPr lang="en-US" sz="2700" dirty="0"/>
          </a:p>
        </p:txBody>
      </p:sp>
      <p:sp>
        <p:nvSpPr>
          <p:cNvPr id="21" name="Text 1"/>
          <p:cNvSpPr/>
          <p:nvPr/>
        </p:nvSpPr>
        <p:spPr>
          <a:xfrm>
            <a:off x="1219200" y="1147665"/>
            <a:ext cx="1515368" cy="304800"/>
          </a:xfrm>
          <a:prstGeom prst="rect">
            <a:avLst/>
          </a:prstGeom>
          <a:noFill/>
          <a:ln/>
        </p:spPr>
        <p:txBody>
          <a:bodyPr vert="horz" wrap="square" lIns="0" tIns="0" rIns="0" bIns="0" rtlCol="0" anchor="t"/>
          <a:lstStyle/>
          <a:p>
            <a:pPr marL="0" indent="0">
              <a:lnSpc>
                <a:spcPts val="2400"/>
              </a:lnSpc>
              <a:buNone/>
            </a:pPr>
            <a:r>
              <a:rPr lang="en-US" sz="1800" b="1" dirty="0">
                <a:solidFill>
                  <a:srgbClr val="0F766E"/>
                </a:solidFill>
                <a:latin typeface="ui-sans-serif" pitchFamily="34" charset="0"/>
                <a:ea typeface="ui-sans-serif" pitchFamily="34" charset="-122"/>
                <a:cs typeface="ui-sans-serif" pitchFamily="34" charset="-120"/>
              </a:rPr>
              <a:t>Definition</a:t>
            </a:r>
            <a:endParaRPr lang="en-US" sz="1800" dirty="0"/>
          </a:p>
        </p:txBody>
      </p:sp>
      <p:sp>
        <p:nvSpPr>
          <p:cNvPr id="22" name="Text 2"/>
          <p:cNvSpPr/>
          <p:nvPr/>
        </p:nvSpPr>
        <p:spPr>
          <a:xfrm>
            <a:off x="1447800" y="1912774"/>
            <a:ext cx="102108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A </a:t>
            </a:r>
            <a:r>
              <a:rPr lang="en-US" sz="1350" b="1" dirty="0">
                <a:solidFill>
                  <a:srgbClr val="0D9488"/>
                </a:solidFill>
                <a:latin typeface="ui-sans-serif" pitchFamily="34" charset="0"/>
                <a:ea typeface="ui-sans-serif" pitchFamily="34" charset="-122"/>
                <a:cs typeface="ui-sans-serif" pitchFamily="34" charset="-120"/>
              </a:rPr>
              <a:t>compliance audit</a:t>
            </a:r>
            <a:r>
              <a:rPr lang="en-US" sz="1350" dirty="0">
                <a:solidFill>
                  <a:srgbClr val="374151"/>
                </a:solidFill>
                <a:latin typeface="ui-sans-serif" pitchFamily="34" charset="0"/>
                <a:ea typeface="ui-sans-serif" pitchFamily="34" charset="-122"/>
                <a:cs typeface="ui-sans-serif" pitchFamily="34" charset="-120"/>
              </a:rPr>
              <a:t> is a </a:t>
            </a:r>
            <a:r>
              <a:rPr lang="en-US" sz="1350" b="1" dirty="0">
                <a:solidFill>
                  <a:srgbClr val="374151"/>
                </a:solidFill>
                <a:latin typeface="ui-sans-serif" pitchFamily="34" charset="0"/>
                <a:ea typeface="ui-sans-serif" pitchFamily="34" charset="-122"/>
                <a:cs typeface="ui-sans-serif" pitchFamily="34" charset="-120"/>
              </a:rPr>
              <a:t>systematic</a:t>
            </a:r>
            <a:r>
              <a:rPr lang="en-US" sz="1350" dirty="0">
                <a:solidFill>
                  <a:srgbClr val="374151"/>
                </a:solidFill>
                <a:latin typeface="ui-sans-serif" pitchFamily="34" charset="0"/>
                <a:ea typeface="ui-sans-serif" pitchFamily="34" charset="-122"/>
                <a:cs typeface="ui-sans-serif" pitchFamily="34" charset="-120"/>
              </a:rPr>
              <a:t> and </a:t>
            </a:r>
            <a:r>
              <a:rPr lang="en-US" sz="1350" b="1" dirty="0">
                <a:solidFill>
                  <a:srgbClr val="374151"/>
                </a:solidFill>
                <a:latin typeface="ui-sans-serif" pitchFamily="34" charset="0"/>
                <a:ea typeface="ui-sans-serif" pitchFamily="34" charset="-122"/>
                <a:cs typeface="ui-sans-serif" pitchFamily="34" charset="-120"/>
              </a:rPr>
              <a:t>independent examination</a:t>
            </a:r>
            <a:r>
              <a:rPr lang="en-US" sz="1350" dirty="0">
                <a:solidFill>
                  <a:srgbClr val="374151"/>
                </a:solidFill>
                <a:latin typeface="ui-sans-serif" pitchFamily="34" charset="0"/>
                <a:ea typeface="ui-sans-serif" pitchFamily="34" charset="-122"/>
                <a:cs typeface="ui-sans-serif" pitchFamily="34" charset="-120"/>
              </a:rPr>
              <a:t> to determine whether an organization's operations, processes, and controls adhere to:</a:t>
            </a:r>
            <a:endParaRPr lang="en-US" sz="1350" dirty="0"/>
          </a:p>
        </p:txBody>
      </p:sp>
      <p:sp>
        <p:nvSpPr>
          <p:cNvPr id="23" name="Text 3"/>
          <p:cNvSpPr/>
          <p:nvPr/>
        </p:nvSpPr>
        <p:spPr>
          <a:xfrm>
            <a:off x="1752600" y="2598574"/>
            <a:ext cx="2901255"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Applicable laws and regulations</a:t>
            </a:r>
            <a:endParaRPr lang="en-US" sz="1200" dirty="0"/>
          </a:p>
        </p:txBody>
      </p:sp>
      <p:sp>
        <p:nvSpPr>
          <p:cNvPr id="24" name="Text 4"/>
          <p:cNvSpPr/>
          <p:nvPr/>
        </p:nvSpPr>
        <p:spPr>
          <a:xfrm>
            <a:off x="6886575" y="2598574"/>
            <a:ext cx="2935188"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Internal policies and procedures</a:t>
            </a:r>
            <a:endParaRPr lang="en-US" sz="1200" dirty="0"/>
          </a:p>
        </p:txBody>
      </p:sp>
      <p:sp>
        <p:nvSpPr>
          <p:cNvPr id="25" name="Text 5"/>
          <p:cNvSpPr/>
          <p:nvPr/>
        </p:nvSpPr>
        <p:spPr>
          <a:xfrm>
            <a:off x="1704975" y="3055774"/>
            <a:ext cx="3257371"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Industry standards and frameworks</a:t>
            </a:r>
            <a:endParaRPr lang="en-US" sz="1200" dirty="0"/>
          </a:p>
        </p:txBody>
      </p:sp>
      <p:sp>
        <p:nvSpPr>
          <p:cNvPr id="26" name="Text 6"/>
          <p:cNvSpPr/>
          <p:nvPr/>
        </p:nvSpPr>
        <p:spPr>
          <a:xfrm>
            <a:off x="6934200" y="3055774"/>
            <a:ext cx="3634026"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Ethical guidelines and codes of conduct</a:t>
            </a:r>
            <a:endParaRPr lang="en-US" sz="1200" dirty="0"/>
          </a:p>
        </p:txBody>
      </p:sp>
      <p:sp>
        <p:nvSpPr>
          <p:cNvPr id="27" name="Text 7"/>
          <p:cNvSpPr/>
          <p:nvPr/>
        </p:nvSpPr>
        <p:spPr>
          <a:xfrm>
            <a:off x="1219200" y="3740018"/>
            <a:ext cx="3384530" cy="304800"/>
          </a:xfrm>
          <a:prstGeom prst="rect">
            <a:avLst/>
          </a:prstGeom>
          <a:noFill/>
          <a:ln/>
        </p:spPr>
        <p:txBody>
          <a:bodyPr vert="horz" wrap="square" lIns="0" tIns="0" rIns="0" bIns="0" rtlCol="0" anchor="t"/>
          <a:lstStyle/>
          <a:p>
            <a:pPr marL="0" indent="0">
              <a:lnSpc>
                <a:spcPts val="2400"/>
              </a:lnSpc>
              <a:buNone/>
            </a:pPr>
            <a:r>
              <a:rPr lang="en-US" sz="1800" b="1" dirty="0">
                <a:solidFill>
                  <a:srgbClr val="7E22CE"/>
                </a:solidFill>
                <a:latin typeface="ui-sans-serif" pitchFamily="34" charset="0"/>
                <a:ea typeface="ui-sans-serif" pitchFamily="34" charset="-122"/>
                <a:cs typeface="ui-sans-serif" pitchFamily="34" charset="-120"/>
              </a:rPr>
              <a:t>Fundamental Purpose</a:t>
            </a:r>
            <a:endParaRPr lang="en-US" sz="1800" dirty="0"/>
          </a:p>
        </p:txBody>
      </p:sp>
      <p:sp>
        <p:nvSpPr>
          <p:cNvPr id="28" name="Text 8"/>
          <p:cNvSpPr/>
          <p:nvPr/>
        </p:nvSpPr>
        <p:spPr>
          <a:xfrm>
            <a:off x="1107445" y="5073518"/>
            <a:ext cx="362706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Ensure Legal Operation</a:t>
            </a:r>
            <a:endParaRPr lang="en-US" sz="1350" dirty="0"/>
          </a:p>
        </p:txBody>
      </p:sp>
      <p:sp>
        <p:nvSpPr>
          <p:cNvPr id="29" name="Text 9"/>
          <p:cNvSpPr/>
          <p:nvPr/>
        </p:nvSpPr>
        <p:spPr>
          <a:xfrm>
            <a:off x="1409700" y="5416418"/>
            <a:ext cx="302255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Verify organization operates within legal and ethical boundaries</a:t>
            </a:r>
            <a:endParaRPr lang="en-US" sz="1200" dirty="0"/>
          </a:p>
        </p:txBody>
      </p:sp>
      <p:sp>
        <p:nvSpPr>
          <p:cNvPr id="30" name="Text 10"/>
          <p:cNvSpPr/>
          <p:nvPr/>
        </p:nvSpPr>
        <p:spPr>
          <a:xfrm>
            <a:off x="4739595" y="5073518"/>
            <a:ext cx="362706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Safeguard Reputation</a:t>
            </a:r>
            <a:endParaRPr lang="en-US" sz="1350" dirty="0"/>
          </a:p>
        </p:txBody>
      </p:sp>
      <p:sp>
        <p:nvSpPr>
          <p:cNvPr id="31" name="Text 11"/>
          <p:cNvSpPr/>
          <p:nvPr/>
        </p:nvSpPr>
        <p:spPr>
          <a:xfrm>
            <a:off x="5041850" y="5416418"/>
            <a:ext cx="302255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Protect organizational reputation and stakeholder trust</a:t>
            </a:r>
            <a:endParaRPr lang="en-US" sz="1200" dirty="0"/>
          </a:p>
        </p:txBody>
      </p:sp>
      <p:sp>
        <p:nvSpPr>
          <p:cNvPr id="32" name="Text 12"/>
          <p:cNvSpPr/>
          <p:nvPr/>
        </p:nvSpPr>
        <p:spPr>
          <a:xfrm>
            <a:off x="8674001" y="5073518"/>
            <a:ext cx="3022699"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F2937"/>
                </a:solidFill>
                <a:latin typeface="ui-sans-serif" pitchFamily="34" charset="0"/>
                <a:ea typeface="ui-sans-serif" pitchFamily="34" charset="-122"/>
                <a:cs typeface="ui-sans-serif" pitchFamily="34" charset="-120"/>
              </a:rPr>
              <a:t>Mitigate Risks</a:t>
            </a:r>
            <a:endParaRPr lang="en-US" sz="1350" dirty="0"/>
          </a:p>
        </p:txBody>
      </p:sp>
      <p:sp>
        <p:nvSpPr>
          <p:cNvPr id="33" name="Text 13"/>
          <p:cNvSpPr/>
          <p:nvPr/>
        </p:nvSpPr>
        <p:spPr>
          <a:xfrm>
            <a:off x="8674001" y="5416418"/>
            <a:ext cx="3022699"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Reduce exposure to penalties, fines, and financial repercussions</a:t>
            </a:r>
            <a:endParaRPr lang="en-US" sz="1200" dirty="0"/>
          </a:p>
        </p:txBody>
      </p:sp>
      <p:sp>
        <p:nvSpPr>
          <p:cNvPr id="34" name="Text 14"/>
          <p:cNvSpPr/>
          <p:nvPr/>
        </p:nvSpPr>
        <p:spPr>
          <a:xfrm>
            <a:off x="381000" y="6521318"/>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5" name="Text 15"/>
          <p:cNvSpPr/>
          <p:nvPr/>
        </p:nvSpPr>
        <p:spPr>
          <a:xfrm>
            <a:off x="11468695" y="6521318"/>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3/26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3708350" cy="3619500"/>
          </a:xfrm>
          <a:prstGeom prst="rect">
            <a:avLst/>
          </a:prstGeom>
        </p:spPr>
      </p:pic>
      <p:pic>
        <p:nvPicPr>
          <p:cNvPr id="5" name="Image 3" descr="preencoded.png"/>
          <p:cNvPicPr>
            <a:picLocks noChangeAspect="1"/>
          </p:cNvPicPr>
          <p:nvPr/>
        </p:nvPicPr>
        <p:blipFill>
          <a:blip r:embed="rId6"/>
          <a:stretch>
            <a:fillRect/>
          </a:stretch>
        </p:blipFill>
        <p:spPr>
          <a:xfrm>
            <a:off x="1968401" y="1371600"/>
            <a:ext cx="381000" cy="381000"/>
          </a:xfrm>
          <a:prstGeom prst="rect">
            <a:avLst/>
          </a:prstGeom>
        </p:spPr>
      </p:pic>
      <p:pic>
        <p:nvPicPr>
          <p:cNvPr id="6" name="Image 4" descr="preencoded.png"/>
          <p:cNvPicPr>
            <a:picLocks noChangeAspect="1"/>
          </p:cNvPicPr>
          <p:nvPr/>
        </p:nvPicPr>
        <p:blipFill>
          <a:blip r:embed="rId7"/>
          <a:stretch>
            <a:fillRect/>
          </a:stretch>
        </p:blipFill>
        <p:spPr>
          <a:xfrm>
            <a:off x="533400" y="2400300"/>
            <a:ext cx="152400" cy="152400"/>
          </a:xfrm>
          <a:prstGeom prst="rect">
            <a:avLst/>
          </a:prstGeom>
        </p:spPr>
      </p:pic>
      <p:pic>
        <p:nvPicPr>
          <p:cNvPr id="7" name="Image 5" descr="preencoded.png"/>
          <p:cNvPicPr>
            <a:picLocks noChangeAspect="1"/>
          </p:cNvPicPr>
          <p:nvPr/>
        </p:nvPicPr>
        <p:blipFill>
          <a:blip r:embed="rId7"/>
          <a:stretch>
            <a:fillRect/>
          </a:stretch>
        </p:blipFill>
        <p:spPr>
          <a:xfrm>
            <a:off x="533400" y="2971800"/>
            <a:ext cx="152400" cy="152400"/>
          </a:xfrm>
          <a:prstGeom prst="rect">
            <a:avLst/>
          </a:prstGeom>
        </p:spPr>
      </p:pic>
      <p:pic>
        <p:nvPicPr>
          <p:cNvPr id="8" name="Image 6" descr="preencoded.png"/>
          <p:cNvPicPr>
            <a:picLocks noChangeAspect="1"/>
          </p:cNvPicPr>
          <p:nvPr/>
        </p:nvPicPr>
        <p:blipFill>
          <a:blip r:embed="rId7"/>
          <a:stretch>
            <a:fillRect/>
          </a:stretch>
        </p:blipFill>
        <p:spPr>
          <a:xfrm>
            <a:off x="533400" y="3314700"/>
            <a:ext cx="152400" cy="152400"/>
          </a:xfrm>
          <a:prstGeom prst="rect">
            <a:avLst/>
          </a:prstGeom>
        </p:spPr>
      </p:pic>
      <p:pic>
        <p:nvPicPr>
          <p:cNvPr id="9" name="Image 7" descr="preencoded.png"/>
          <p:cNvPicPr>
            <a:picLocks noChangeAspect="1"/>
          </p:cNvPicPr>
          <p:nvPr/>
        </p:nvPicPr>
        <p:blipFill>
          <a:blip r:embed="rId7"/>
          <a:stretch>
            <a:fillRect/>
          </a:stretch>
        </p:blipFill>
        <p:spPr>
          <a:xfrm>
            <a:off x="533400" y="38862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4149042" y="1052513"/>
            <a:ext cx="3893768" cy="3800475"/>
          </a:xfrm>
          <a:prstGeom prst="rect">
            <a:avLst/>
          </a:prstGeom>
        </p:spPr>
      </p:pic>
      <p:pic>
        <p:nvPicPr>
          <p:cNvPr id="11" name="Image 9" descr="preencoded.png"/>
          <p:cNvPicPr>
            <a:picLocks noChangeAspect="1"/>
          </p:cNvPicPr>
          <p:nvPr/>
        </p:nvPicPr>
        <p:blipFill>
          <a:blip r:embed="rId9"/>
          <a:stretch>
            <a:fillRect/>
          </a:stretch>
        </p:blipFill>
        <p:spPr>
          <a:xfrm>
            <a:off x="5895822" y="1292543"/>
            <a:ext cx="400050" cy="400050"/>
          </a:xfrm>
          <a:prstGeom prst="rect">
            <a:avLst/>
          </a:prstGeom>
        </p:spPr>
      </p:pic>
      <p:pic>
        <p:nvPicPr>
          <p:cNvPr id="12" name="Image 10" descr="preencoded.png"/>
          <p:cNvPicPr>
            <a:picLocks noChangeAspect="1"/>
          </p:cNvPicPr>
          <p:nvPr/>
        </p:nvPicPr>
        <p:blipFill>
          <a:blip r:embed="rId10"/>
          <a:stretch>
            <a:fillRect/>
          </a:stretch>
        </p:blipFill>
        <p:spPr>
          <a:xfrm>
            <a:off x="4389072" y="2372678"/>
            <a:ext cx="160020" cy="160020"/>
          </a:xfrm>
          <a:prstGeom prst="rect">
            <a:avLst/>
          </a:prstGeom>
        </p:spPr>
      </p:pic>
      <p:pic>
        <p:nvPicPr>
          <p:cNvPr id="13" name="Image 11" descr="preencoded.png"/>
          <p:cNvPicPr>
            <a:picLocks noChangeAspect="1"/>
          </p:cNvPicPr>
          <p:nvPr/>
        </p:nvPicPr>
        <p:blipFill>
          <a:blip r:embed="rId10"/>
          <a:stretch>
            <a:fillRect/>
          </a:stretch>
        </p:blipFill>
        <p:spPr>
          <a:xfrm>
            <a:off x="4389072" y="2972753"/>
            <a:ext cx="160020" cy="160020"/>
          </a:xfrm>
          <a:prstGeom prst="rect">
            <a:avLst/>
          </a:prstGeom>
        </p:spPr>
      </p:pic>
      <p:pic>
        <p:nvPicPr>
          <p:cNvPr id="14" name="Image 12" descr="preencoded.png"/>
          <p:cNvPicPr>
            <a:picLocks noChangeAspect="1"/>
          </p:cNvPicPr>
          <p:nvPr/>
        </p:nvPicPr>
        <p:blipFill>
          <a:blip r:embed="rId10"/>
          <a:stretch>
            <a:fillRect/>
          </a:stretch>
        </p:blipFill>
        <p:spPr>
          <a:xfrm>
            <a:off x="4389072" y="3332798"/>
            <a:ext cx="160020" cy="160020"/>
          </a:xfrm>
          <a:prstGeom prst="rect">
            <a:avLst/>
          </a:prstGeom>
        </p:spPr>
      </p:pic>
      <p:pic>
        <p:nvPicPr>
          <p:cNvPr id="15" name="Image 13" descr="preencoded.png"/>
          <p:cNvPicPr>
            <a:picLocks noChangeAspect="1"/>
          </p:cNvPicPr>
          <p:nvPr/>
        </p:nvPicPr>
        <p:blipFill>
          <a:blip r:embed="rId10"/>
          <a:stretch>
            <a:fillRect/>
          </a:stretch>
        </p:blipFill>
        <p:spPr>
          <a:xfrm>
            <a:off x="4389072" y="3932873"/>
            <a:ext cx="160020" cy="160020"/>
          </a:xfrm>
          <a:prstGeom prst="rect">
            <a:avLst/>
          </a:prstGeom>
        </p:spPr>
      </p:pic>
      <p:pic>
        <p:nvPicPr>
          <p:cNvPr id="16" name="Image 14" descr="preencoded.png"/>
          <p:cNvPicPr>
            <a:picLocks noChangeAspect="1"/>
          </p:cNvPicPr>
          <p:nvPr/>
        </p:nvPicPr>
        <p:blipFill>
          <a:blip r:embed="rId11"/>
          <a:stretch>
            <a:fillRect/>
          </a:stretch>
        </p:blipFill>
        <p:spPr>
          <a:xfrm>
            <a:off x="8178701" y="1143000"/>
            <a:ext cx="3708350" cy="3619500"/>
          </a:xfrm>
          <a:prstGeom prst="rect">
            <a:avLst/>
          </a:prstGeom>
        </p:spPr>
      </p:pic>
      <p:pic>
        <p:nvPicPr>
          <p:cNvPr id="17" name="Image 15" descr="preencoded.png"/>
          <p:cNvPicPr>
            <a:picLocks noChangeAspect="1"/>
          </p:cNvPicPr>
          <p:nvPr/>
        </p:nvPicPr>
        <p:blipFill>
          <a:blip r:embed="rId12"/>
          <a:stretch>
            <a:fillRect/>
          </a:stretch>
        </p:blipFill>
        <p:spPr>
          <a:xfrm>
            <a:off x="9794677" y="1371600"/>
            <a:ext cx="476250" cy="381000"/>
          </a:xfrm>
          <a:prstGeom prst="rect">
            <a:avLst/>
          </a:prstGeom>
        </p:spPr>
      </p:pic>
      <p:pic>
        <p:nvPicPr>
          <p:cNvPr id="18" name="Image 16" descr="preencoded.png"/>
          <p:cNvPicPr>
            <a:picLocks noChangeAspect="1"/>
          </p:cNvPicPr>
          <p:nvPr/>
        </p:nvPicPr>
        <p:blipFill>
          <a:blip r:embed="rId13"/>
          <a:stretch>
            <a:fillRect/>
          </a:stretch>
        </p:blipFill>
        <p:spPr>
          <a:xfrm>
            <a:off x="8407301" y="2400300"/>
            <a:ext cx="152400" cy="152400"/>
          </a:xfrm>
          <a:prstGeom prst="rect">
            <a:avLst/>
          </a:prstGeom>
        </p:spPr>
      </p:pic>
      <p:pic>
        <p:nvPicPr>
          <p:cNvPr id="19" name="Image 17" descr="preencoded.png"/>
          <p:cNvPicPr>
            <a:picLocks noChangeAspect="1"/>
          </p:cNvPicPr>
          <p:nvPr/>
        </p:nvPicPr>
        <p:blipFill>
          <a:blip r:embed="rId13"/>
          <a:stretch>
            <a:fillRect/>
          </a:stretch>
        </p:blipFill>
        <p:spPr>
          <a:xfrm>
            <a:off x="8407301" y="2971800"/>
            <a:ext cx="152400" cy="152400"/>
          </a:xfrm>
          <a:prstGeom prst="rect">
            <a:avLst/>
          </a:prstGeom>
        </p:spPr>
      </p:pic>
      <p:pic>
        <p:nvPicPr>
          <p:cNvPr id="20" name="Image 18" descr="preencoded.png"/>
          <p:cNvPicPr>
            <a:picLocks noChangeAspect="1"/>
          </p:cNvPicPr>
          <p:nvPr/>
        </p:nvPicPr>
        <p:blipFill>
          <a:blip r:embed="rId13"/>
          <a:stretch>
            <a:fillRect/>
          </a:stretch>
        </p:blipFill>
        <p:spPr>
          <a:xfrm>
            <a:off x="8407301" y="3314700"/>
            <a:ext cx="152400" cy="152400"/>
          </a:xfrm>
          <a:prstGeom prst="rect">
            <a:avLst/>
          </a:prstGeom>
        </p:spPr>
      </p:pic>
      <p:pic>
        <p:nvPicPr>
          <p:cNvPr id="21" name="Image 19" descr="preencoded.png"/>
          <p:cNvPicPr>
            <a:picLocks noChangeAspect="1"/>
          </p:cNvPicPr>
          <p:nvPr/>
        </p:nvPicPr>
        <p:blipFill>
          <a:blip r:embed="rId13"/>
          <a:stretch>
            <a:fillRect/>
          </a:stretch>
        </p:blipFill>
        <p:spPr>
          <a:xfrm>
            <a:off x="8407301" y="3886200"/>
            <a:ext cx="152400" cy="152400"/>
          </a:xfrm>
          <a:prstGeom prst="rect">
            <a:avLst/>
          </a:prstGeom>
        </p:spPr>
      </p:pic>
      <p:pic>
        <p:nvPicPr>
          <p:cNvPr id="22" name="Image 20" descr="preencoded.png"/>
          <p:cNvPicPr>
            <a:picLocks noChangeAspect="1"/>
          </p:cNvPicPr>
          <p:nvPr/>
        </p:nvPicPr>
        <p:blipFill>
          <a:blip r:embed="rId14"/>
          <a:stretch>
            <a:fillRect/>
          </a:stretch>
        </p:blipFill>
        <p:spPr>
          <a:xfrm>
            <a:off x="304800" y="4991100"/>
            <a:ext cx="11582400" cy="1104900"/>
          </a:xfrm>
          <a:prstGeom prst="rect">
            <a:avLst/>
          </a:prstGeom>
        </p:spPr>
      </p:pic>
      <p:pic>
        <p:nvPicPr>
          <p:cNvPr id="23" name="Image 21" descr="preencoded.png"/>
          <p:cNvPicPr>
            <a:picLocks noChangeAspect="1"/>
          </p:cNvPicPr>
          <p:nvPr/>
        </p:nvPicPr>
        <p:blipFill>
          <a:blip r:embed="rId15"/>
          <a:stretch>
            <a:fillRect/>
          </a:stretch>
        </p:blipFill>
        <p:spPr>
          <a:xfrm>
            <a:off x="0" y="6400800"/>
            <a:ext cx="12192000" cy="457200"/>
          </a:xfrm>
          <a:prstGeom prst="rect">
            <a:avLst/>
          </a:prstGeom>
        </p:spPr>
      </p:pic>
      <p:sp>
        <p:nvSpPr>
          <p:cNvPr id="24"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Compliance Audits vs. Other Audit Types</a:t>
            </a:r>
            <a:endParaRPr lang="en-US" sz="2700" dirty="0"/>
          </a:p>
        </p:txBody>
      </p:sp>
      <p:sp>
        <p:nvSpPr>
          <p:cNvPr id="25" name="Text 1"/>
          <p:cNvSpPr/>
          <p:nvPr/>
        </p:nvSpPr>
        <p:spPr>
          <a:xfrm>
            <a:off x="208285" y="1905000"/>
            <a:ext cx="390138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2563EB"/>
                </a:solidFill>
                <a:latin typeface="ui-sans-serif" pitchFamily="34" charset="0"/>
                <a:ea typeface="ui-sans-serif" pitchFamily="34" charset="-122"/>
                <a:cs typeface="ui-sans-serif" pitchFamily="34" charset="-120"/>
              </a:rPr>
              <a:t>Financial Audit</a:t>
            </a:r>
            <a:endParaRPr lang="en-US" sz="1800" dirty="0"/>
          </a:p>
        </p:txBody>
      </p:sp>
      <p:sp>
        <p:nvSpPr>
          <p:cNvPr id="26" name="Text 2"/>
          <p:cNvSpPr/>
          <p:nvPr/>
        </p:nvSpPr>
        <p:spPr>
          <a:xfrm>
            <a:off x="800100" y="236220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Focuses on the accuracy of financial statements</a:t>
            </a:r>
            <a:endParaRPr lang="en-US" sz="1200" dirty="0"/>
          </a:p>
        </p:txBody>
      </p:sp>
      <p:sp>
        <p:nvSpPr>
          <p:cNvPr id="27" name="Text 3"/>
          <p:cNvSpPr/>
          <p:nvPr/>
        </p:nvSpPr>
        <p:spPr>
          <a:xfrm>
            <a:off x="800100" y="2933700"/>
            <a:ext cx="328362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Ensures financial reporting integrity</a:t>
            </a:r>
            <a:endParaRPr lang="en-US" sz="1200" dirty="0"/>
          </a:p>
        </p:txBody>
      </p:sp>
      <p:sp>
        <p:nvSpPr>
          <p:cNvPr id="28" name="Text 4"/>
          <p:cNvSpPr/>
          <p:nvPr/>
        </p:nvSpPr>
        <p:spPr>
          <a:xfrm>
            <a:off x="800100" y="327660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Examines financial records and transactions</a:t>
            </a:r>
            <a:endParaRPr lang="en-US" sz="1200" dirty="0"/>
          </a:p>
        </p:txBody>
      </p:sp>
      <p:sp>
        <p:nvSpPr>
          <p:cNvPr id="29" name="Text 5"/>
          <p:cNvSpPr/>
          <p:nvPr/>
        </p:nvSpPr>
        <p:spPr>
          <a:xfrm>
            <a:off x="800100" y="3848100"/>
            <a:ext cx="333238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Primary purpose: Financial reliability</a:t>
            </a:r>
            <a:endParaRPr lang="en-US" sz="1200" dirty="0"/>
          </a:p>
        </p:txBody>
      </p:sp>
      <p:sp>
        <p:nvSpPr>
          <p:cNvPr id="30" name="Text 6"/>
          <p:cNvSpPr/>
          <p:nvPr/>
        </p:nvSpPr>
        <p:spPr>
          <a:xfrm>
            <a:off x="4047701" y="1852613"/>
            <a:ext cx="4096449" cy="320040"/>
          </a:xfrm>
          <a:prstGeom prst="rect">
            <a:avLst/>
          </a:prstGeom>
          <a:noFill/>
          <a:ln/>
        </p:spPr>
        <p:txBody>
          <a:bodyPr vert="horz" wrap="square" lIns="0" tIns="0" rIns="0" bIns="0" rtlCol="0" anchor="t"/>
          <a:lstStyle/>
          <a:p>
            <a:pPr marL="0" indent="0" algn="ctr">
              <a:lnSpc>
                <a:spcPts val="2520"/>
              </a:lnSpc>
              <a:buNone/>
            </a:pPr>
            <a:r>
              <a:rPr lang="en-US" sz="1890" b="1" dirty="0">
                <a:solidFill>
                  <a:srgbClr val="0D9488"/>
                </a:solidFill>
                <a:latin typeface="ui-sans-serif" pitchFamily="34" charset="0"/>
                <a:ea typeface="ui-sans-serif" pitchFamily="34" charset="-122"/>
                <a:cs typeface="ui-sans-serif" pitchFamily="34" charset="-120"/>
              </a:rPr>
              <a:t>Compliance Audit</a:t>
            </a:r>
            <a:endParaRPr lang="en-US" sz="1890" dirty="0"/>
          </a:p>
        </p:txBody>
      </p:sp>
      <p:sp>
        <p:nvSpPr>
          <p:cNvPr id="31" name="Text 7"/>
          <p:cNvSpPr/>
          <p:nvPr/>
        </p:nvSpPr>
        <p:spPr>
          <a:xfrm>
            <a:off x="4669107" y="2332673"/>
            <a:ext cx="3133673" cy="480060"/>
          </a:xfrm>
          <a:prstGeom prst="rect">
            <a:avLst/>
          </a:prstGeom>
          <a:noFill/>
          <a:ln/>
        </p:spPr>
        <p:txBody>
          <a:bodyPr vert="horz" wrap="square" lIns="0" tIns="0" rIns="0" bIns="0" rtlCol="0" anchor="t"/>
          <a:lstStyle/>
          <a:p>
            <a:pPr marL="0" indent="0" algn="l">
              <a:lnSpc>
                <a:spcPts val="1890"/>
              </a:lnSpc>
              <a:buNone/>
            </a:pPr>
            <a:r>
              <a:rPr lang="en-US" sz="1260" dirty="0">
                <a:solidFill>
                  <a:srgbClr val="000000"/>
                </a:solidFill>
                <a:latin typeface="ui-sans-serif" pitchFamily="34" charset="0"/>
                <a:ea typeface="ui-sans-serif" pitchFamily="34" charset="-122"/>
                <a:cs typeface="ui-sans-serif" pitchFamily="34" charset="-120"/>
              </a:rPr>
              <a:t>Focuses on adherence to laws and regulations</a:t>
            </a:r>
            <a:endParaRPr lang="en-US" sz="1260" dirty="0"/>
          </a:p>
        </p:txBody>
      </p:sp>
      <p:sp>
        <p:nvSpPr>
          <p:cNvPr id="32" name="Text 8"/>
          <p:cNvSpPr/>
          <p:nvPr/>
        </p:nvSpPr>
        <p:spPr>
          <a:xfrm>
            <a:off x="4669107" y="2932748"/>
            <a:ext cx="3199149" cy="240030"/>
          </a:xfrm>
          <a:prstGeom prst="rect">
            <a:avLst/>
          </a:prstGeom>
          <a:noFill/>
          <a:ln/>
        </p:spPr>
        <p:txBody>
          <a:bodyPr vert="horz" wrap="square" lIns="0" tIns="0" rIns="0" bIns="0" rtlCol="0" anchor="t"/>
          <a:lstStyle/>
          <a:p>
            <a:pPr marL="0" indent="0" algn="l">
              <a:lnSpc>
                <a:spcPts val="1890"/>
              </a:lnSpc>
              <a:buNone/>
            </a:pPr>
            <a:r>
              <a:rPr lang="en-US" sz="1260" dirty="0">
                <a:solidFill>
                  <a:srgbClr val="000000"/>
                </a:solidFill>
                <a:latin typeface="ui-sans-serif" pitchFamily="34" charset="0"/>
                <a:ea typeface="ui-sans-serif" pitchFamily="34" charset="-122"/>
                <a:cs typeface="ui-sans-serif" pitchFamily="34" charset="-120"/>
              </a:rPr>
              <a:t>Examines processes and controls</a:t>
            </a:r>
            <a:endParaRPr lang="en-US" sz="1260" dirty="0"/>
          </a:p>
        </p:txBody>
      </p:sp>
      <p:sp>
        <p:nvSpPr>
          <p:cNvPr id="33" name="Text 9"/>
          <p:cNvSpPr/>
          <p:nvPr/>
        </p:nvSpPr>
        <p:spPr>
          <a:xfrm>
            <a:off x="4669107" y="3292793"/>
            <a:ext cx="3133673" cy="480060"/>
          </a:xfrm>
          <a:prstGeom prst="rect">
            <a:avLst/>
          </a:prstGeom>
          <a:noFill/>
          <a:ln/>
        </p:spPr>
        <p:txBody>
          <a:bodyPr vert="horz" wrap="square" lIns="0" tIns="0" rIns="0" bIns="0" rtlCol="0" anchor="t"/>
          <a:lstStyle/>
          <a:p>
            <a:pPr marL="0" indent="0" algn="l">
              <a:lnSpc>
                <a:spcPts val="1890"/>
              </a:lnSpc>
              <a:buNone/>
            </a:pPr>
            <a:r>
              <a:rPr lang="en-US" sz="1260" dirty="0">
                <a:solidFill>
                  <a:srgbClr val="000000"/>
                </a:solidFill>
                <a:latin typeface="ui-sans-serif" pitchFamily="34" charset="0"/>
                <a:ea typeface="ui-sans-serif" pitchFamily="34" charset="-122"/>
                <a:cs typeface="ui-sans-serif" pitchFamily="34" charset="-120"/>
              </a:rPr>
              <a:t>Primary purpose: Regulatory compliance</a:t>
            </a:r>
            <a:endParaRPr lang="en-US" sz="1260" dirty="0"/>
          </a:p>
        </p:txBody>
      </p:sp>
      <p:sp>
        <p:nvSpPr>
          <p:cNvPr id="34" name="Text 10"/>
          <p:cNvSpPr/>
          <p:nvPr/>
        </p:nvSpPr>
        <p:spPr>
          <a:xfrm>
            <a:off x="4669107" y="3892868"/>
            <a:ext cx="3494687" cy="240030"/>
          </a:xfrm>
          <a:prstGeom prst="rect">
            <a:avLst/>
          </a:prstGeom>
          <a:noFill/>
          <a:ln/>
        </p:spPr>
        <p:txBody>
          <a:bodyPr vert="horz" wrap="square" lIns="0" tIns="0" rIns="0" bIns="0" rtlCol="0" anchor="t"/>
          <a:lstStyle/>
          <a:p>
            <a:pPr marL="0" indent="0" algn="l">
              <a:lnSpc>
                <a:spcPts val="1890"/>
              </a:lnSpc>
              <a:buNone/>
            </a:pPr>
            <a:r>
              <a:rPr lang="en-US" sz="1260" dirty="0">
                <a:solidFill>
                  <a:srgbClr val="000000"/>
                </a:solidFill>
                <a:latin typeface="ui-sans-serif" pitchFamily="34" charset="0"/>
                <a:ea typeface="ui-sans-serif" pitchFamily="34" charset="-122"/>
                <a:cs typeface="ui-sans-serif" pitchFamily="34" charset="-120"/>
              </a:rPr>
              <a:t>Ensures legal and ethical operations</a:t>
            </a:r>
            <a:endParaRPr lang="en-US" sz="1260" dirty="0"/>
          </a:p>
        </p:txBody>
      </p:sp>
      <p:sp>
        <p:nvSpPr>
          <p:cNvPr id="35" name="Text 11"/>
          <p:cNvSpPr/>
          <p:nvPr/>
        </p:nvSpPr>
        <p:spPr>
          <a:xfrm>
            <a:off x="8082186" y="1905000"/>
            <a:ext cx="390138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9333EA"/>
                </a:solidFill>
                <a:latin typeface="ui-sans-serif" pitchFamily="34" charset="0"/>
                <a:ea typeface="ui-sans-serif" pitchFamily="34" charset="-122"/>
                <a:cs typeface="ui-sans-serif" pitchFamily="34" charset="-120"/>
              </a:rPr>
              <a:t>Operational Audit</a:t>
            </a:r>
            <a:endParaRPr lang="en-US" sz="1800" dirty="0"/>
          </a:p>
        </p:txBody>
      </p:sp>
      <p:sp>
        <p:nvSpPr>
          <p:cNvPr id="36" name="Text 12"/>
          <p:cNvSpPr/>
          <p:nvPr/>
        </p:nvSpPr>
        <p:spPr>
          <a:xfrm>
            <a:off x="8674001" y="236220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Focuses on efficiency and effectiveness</a:t>
            </a:r>
            <a:endParaRPr lang="en-US" sz="1200" dirty="0"/>
          </a:p>
        </p:txBody>
      </p:sp>
      <p:sp>
        <p:nvSpPr>
          <p:cNvPr id="37" name="Text 13"/>
          <p:cNvSpPr/>
          <p:nvPr/>
        </p:nvSpPr>
        <p:spPr>
          <a:xfrm>
            <a:off x="8674001" y="2933700"/>
            <a:ext cx="292822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Reviews operational procedures</a:t>
            </a:r>
            <a:endParaRPr lang="en-US" sz="1200" dirty="0"/>
          </a:p>
        </p:txBody>
      </p:sp>
      <p:sp>
        <p:nvSpPr>
          <p:cNvPr id="38" name="Text 14"/>
          <p:cNvSpPr/>
          <p:nvPr/>
        </p:nvSpPr>
        <p:spPr>
          <a:xfrm>
            <a:off x="8674001" y="327660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Primary purpose: Operational improvement</a:t>
            </a:r>
            <a:endParaRPr lang="en-US" sz="1200" dirty="0"/>
          </a:p>
        </p:txBody>
      </p:sp>
      <p:sp>
        <p:nvSpPr>
          <p:cNvPr id="39" name="Text 15"/>
          <p:cNvSpPr/>
          <p:nvPr/>
        </p:nvSpPr>
        <p:spPr>
          <a:xfrm>
            <a:off x="8674001" y="3848100"/>
            <a:ext cx="303663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Identifies areas for enhancement</a:t>
            </a:r>
            <a:endParaRPr lang="en-US" sz="1200" dirty="0"/>
          </a:p>
        </p:txBody>
      </p:sp>
      <p:sp>
        <p:nvSpPr>
          <p:cNvPr id="40" name="Text 16"/>
          <p:cNvSpPr/>
          <p:nvPr/>
        </p:nvSpPr>
        <p:spPr>
          <a:xfrm>
            <a:off x="457200" y="5143500"/>
            <a:ext cx="11277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Key Distinction</a:t>
            </a:r>
            <a:endParaRPr lang="en-US" sz="1500" dirty="0"/>
          </a:p>
        </p:txBody>
      </p:sp>
      <p:sp>
        <p:nvSpPr>
          <p:cNvPr id="41" name="Text 17"/>
          <p:cNvSpPr/>
          <p:nvPr/>
        </p:nvSpPr>
        <p:spPr>
          <a:xfrm>
            <a:off x="457200" y="5486400"/>
            <a:ext cx="11277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While financial and operational audits focus on financial accuracy and operational efficiency respectively, compliance audits specifically verify adherence to established rules and requirements, ensuring organizations operate within legal and ethical boundaries.</a:t>
            </a:r>
            <a:endParaRPr lang="en-US" sz="1200" dirty="0"/>
          </a:p>
        </p:txBody>
      </p:sp>
      <p:sp>
        <p:nvSpPr>
          <p:cNvPr id="42" name="Text 18"/>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3" name="Text 19"/>
          <p:cNvSpPr/>
          <p:nvPr/>
        </p:nvSpPr>
        <p:spPr>
          <a:xfrm>
            <a:off x="11468695" y="65151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4/26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5676900" cy="1714500"/>
          </a:xfrm>
          <a:prstGeom prst="rect">
            <a:avLst/>
          </a:prstGeom>
        </p:spPr>
      </p:pic>
      <p:pic>
        <p:nvPicPr>
          <p:cNvPr id="5" name="Image 3" descr="preencoded.png"/>
          <p:cNvPicPr>
            <a:picLocks noChangeAspect="1"/>
          </p:cNvPicPr>
          <p:nvPr/>
        </p:nvPicPr>
        <p:blipFill>
          <a:blip r:embed="rId6"/>
          <a:stretch>
            <a:fillRect/>
          </a:stretch>
        </p:blipFill>
        <p:spPr>
          <a:xfrm>
            <a:off x="533400" y="2133600"/>
            <a:ext cx="381000" cy="381000"/>
          </a:xfrm>
          <a:prstGeom prst="rect">
            <a:avLst/>
          </a:prstGeom>
        </p:spPr>
      </p:pic>
      <p:pic>
        <p:nvPicPr>
          <p:cNvPr id="6" name="Image 4" descr="preencoded.png"/>
          <p:cNvPicPr>
            <a:picLocks noChangeAspect="1"/>
          </p:cNvPicPr>
          <p:nvPr/>
        </p:nvPicPr>
        <p:blipFill>
          <a:blip r:embed="rId7"/>
          <a:stretch>
            <a:fillRect/>
          </a:stretch>
        </p:blipFill>
        <p:spPr>
          <a:xfrm>
            <a:off x="6210300" y="1905000"/>
            <a:ext cx="5676900" cy="1714500"/>
          </a:xfrm>
          <a:prstGeom prst="rect">
            <a:avLst/>
          </a:prstGeom>
        </p:spPr>
      </p:pic>
      <p:pic>
        <p:nvPicPr>
          <p:cNvPr id="7" name="Image 5" descr="preencoded.png"/>
          <p:cNvPicPr>
            <a:picLocks noChangeAspect="1"/>
          </p:cNvPicPr>
          <p:nvPr/>
        </p:nvPicPr>
        <p:blipFill>
          <a:blip r:embed="rId8"/>
          <a:stretch>
            <a:fillRect/>
          </a:stretch>
        </p:blipFill>
        <p:spPr>
          <a:xfrm>
            <a:off x="6438900" y="2133600"/>
            <a:ext cx="381000" cy="381000"/>
          </a:xfrm>
          <a:prstGeom prst="rect">
            <a:avLst/>
          </a:prstGeom>
        </p:spPr>
      </p:pic>
      <p:pic>
        <p:nvPicPr>
          <p:cNvPr id="8" name="Image 6" descr="preencoded.png"/>
          <p:cNvPicPr>
            <a:picLocks noChangeAspect="1"/>
          </p:cNvPicPr>
          <p:nvPr/>
        </p:nvPicPr>
        <p:blipFill>
          <a:blip r:embed="rId9"/>
          <a:stretch>
            <a:fillRect/>
          </a:stretch>
        </p:blipFill>
        <p:spPr>
          <a:xfrm>
            <a:off x="304800" y="3848100"/>
            <a:ext cx="5676900" cy="1714500"/>
          </a:xfrm>
          <a:prstGeom prst="rect">
            <a:avLst/>
          </a:prstGeom>
        </p:spPr>
      </p:pic>
      <p:pic>
        <p:nvPicPr>
          <p:cNvPr id="9" name="Image 7" descr="preencoded.png"/>
          <p:cNvPicPr>
            <a:picLocks noChangeAspect="1"/>
          </p:cNvPicPr>
          <p:nvPr/>
        </p:nvPicPr>
        <p:blipFill>
          <a:blip r:embed="rId10"/>
          <a:stretch>
            <a:fillRect/>
          </a:stretch>
        </p:blipFill>
        <p:spPr>
          <a:xfrm>
            <a:off x="533400" y="4076700"/>
            <a:ext cx="428625" cy="381000"/>
          </a:xfrm>
          <a:prstGeom prst="rect">
            <a:avLst/>
          </a:prstGeom>
        </p:spPr>
      </p:pic>
      <p:pic>
        <p:nvPicPr>
          <p:cNvPr id="10" name="Image 8" descr="preencoded.png"/>
          <p:cNvPicPr>
            <a:picLocks noChangeAspect="1"/>
          </p:cNvPicPr>
          <p:nvPr/>
        </p:nvPicPr>
        <p:blipFill>
          <a:blip r:embed="rId11"/>
          <a:stretch>
            <a:fillRect/>
          </a:stretch>
        </p:blipFill>
        <p:spPr>
          <a:xfrm>
            <a:off x="6210300" y="3848100"/>
            <a:ext cx="5676900" cy="1714500"/>
          </a:xfrm>
          <a:prstGeom prst="rect">
            <a:avLst/>
          </a:prstGeom>
        </p:spPr>
      </p:pic>
      <p:pic>
        <p:nvPicPr>
          <p:cNvPr id="11" name="Image 9" descr="preencoded.png"/>
          <p:cNvPicPr>
            <a:picLocks noChangeAspect="1"/>
          </p:cNvPicPr>
          <p:nvPr/>
        </p:nvPicPr>
        <p:blipFill>
          <a:blip r:embed="rId12"/>
          <a:stretch>
            <a:fillRect/>
          </a:stretch>
        </p:blipFill>
        <p:spPr>
          <a:xfrm>
            <a:off x="6438900" y="4076700"/>
            <a:ext cx="381000" cy="381000"/>
          </a:xfrm>
          <a:prstGeom prst="rect">
            <a:avLst/>
          </a:prstGeom>
        </p:spPr>
      </p:pic>
      <p:pic>
        <p:nvPicPr>
          <p:cNvPr id="12" name="Image 10" descr="preencoded.png"/>
          <p:cNvPicPr>
            <a:picLocks noChangeAspect="1"/>
          </p:cNvPicPr>
          <p:nvPr/>
        </p:nvPicPr>
        <p:blipFill>
          <a:blip r:embed="rId13"/>
          <a:stretch>
            <a:fillRect/>
          </a:stretch>
        </p:blipFill>
        <p:spPr>
          <a:xfrm>
            <a:off x="0" y="6400800"/>
            <a:ext cx="12192000" cy="457200"/>
          </a:xfrm>
          <a:prstGeom prst="rect">
            <a:avLst/>
          </a:prstGeom>
        </p:spPr>
      </p:pic>
      <p:sp>
        <p:nvSpPr>
          <p:cNvPr id="13"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Core Objectives of Compliance Audits</a:t>
            </a:r>
            <a:endParaRPr lang="en-US" sz="2700" dirty="0"/>
          </a:p>
        </p:txBody>
      </p:sp>
      <p:sp>
        <p:nvSpPr>
          <p:cNvPr id="14"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Compliance audits serve multiple critical functions within an organization. The primary goals are multifaceted and crucial for an organization's sustained success and integrity:</a:t>
            </a:r>
            <a:endParaRPr lang="en-US" sz="1350" dirty="0"/>
          </a:p>
        </p:txBody>
      </p:sp>
      <p:sp>
        <p:nvSpPr>
          <p:cNvPr id="15" name="Text 2"/>
          <p:cNvSpPr/>
          <p:nvPr/>
        </p:nvSpPr>
        <p:spPr>
          <a:xfrm>
            <a:off x="1066800" y="2133600"/>
            <a:ext cx="56235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Identifying Non-Compliance</a:t>
            </a:r>
            <a:endParaRPr lang="en-US" sz="1500" dirty="0"/>
          </a:p>
        </p:txBody>
      </p:sp>
      <p:sp>
        <p:nvSpPr>
          <p:cNvPr id="16" name="Text 3"/>
          <p:cNvSpPr/>
          <p:nvPr/>
        </p:nvSpPr>
        <p:spPr>
          <a:xfrm>
            <a:off x="1066800" y="2476500"/>
            <a:ext cx="46863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Pinpointing instances where the organization deviates from legal, regulatory, or internal policy requirements. This systematic approach helps uncover gaps before they result in penalties or reputational damage.</a:t>
            </a:r>
            <a:endParaRPr lang="en-US" sz="1200" dirty="0"/>
          </a:p>
        </p:txBody>
      </p:sp>
      <p:sp>
        <p:nvSpPr>
          <p:cNvPr id="17" name="Text 4"/>
          <p:cNvSpPr/>
          <p:nvPr/>
        </p:nvSpPr>
        <p:spPr>
          <a:xfrm>
            <a:off x="6972300" y="2133600"/>
            <a:ext cx="56235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B91C1C"/>
                </a:solidFill>
                <a:latin typeface="ui-sans-serif" pitchFamily="34" charset="0"/>
                <a:ea typeface="ui-sans-serif" pitchFamily="34" charset="-122"/>
                <a:cs typeface="ui-sans-serif" pitchFamily="34" charset="-120"/>
              </a:rPr>
              <a:t>Mitigating Legal and Financial Risks</a:t>
            </a:r>
            <a:endParaRPr lang="en-US" sz="1500" dirty="0"/>
          </a:p>
        </p:txBody>
      </p:sp>
      <p:sp>
        <p:nvSpPr>
          <p:cNvPr id="18" name="Text 5"/>
          <p:cNvSpPr/>
          <p:nvPr/>
        </p:nvSpPr>
        <p:spPr>
          <a:xfrm>
            <a:off x="6972300" y="2476500"/>
            <a:ext cx="468630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Reducing exposure to penalties, fines, lawsuits, and other financial repercussions associated with non-compliance. Early identification of issues can prevent costly violations.</a:t>
            </a:r>
            <a:endParaRPr lang="en-US" sz="1200" dirty="0"/>
          </a:p>
        </p:txBody>
      </p:sp>
      <p:sp>
        <p:nvSpPr>
          <p:cNvPr id="19" name="Text 6"/>
          <p:cNvSpPr/>
          <p:nvPr/>
        </p:nvSpPr>
        <p:spPr>
          <a:xfrm>
            <a:off x="1114425" y="4076700"/>
            <a:ext cx="5566410"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Protecting Corporate Reputation</a:t>
            </a:r>
            <a:endParaRPr lang="en-US" sz="1500" dirty="0"/>
          </a:p>
        </p:txBody>
      </p:sp>
      <p:sp>
        <p:nvSpPr>
          <p:cNvPr id="20" name="Text 7"/>
          <p:cNvSpPr/>
          <p:nvPr/>
        </p:nvSpPr>
        <p:spPr>
          <a:xfrm>
            <a:off x="1114425" y="4419600"/>
            <a:ext cx="4638675"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Upholding public trust and stakeholder confidence by demonstrating a commitment to ethical conduct and regulatory adherence. A strong compliance posture enhances an organization's credibility.</a:t>
            </a:r>
            <a:endParaRPr lang="en-US" sz="1200" dirty="0"/>
          </a:p>
        </p:txBody>
      </p:sp>
      <p:sp>
        <p:nvSpPr>
          <p:cNvPr id="21" name="Text 8"/>
          <p:cNvSpPr/>
          <p:nvPr/>
        </p:nvSpPr>
        <p:spPr>
          <a:xfrm>
            <a:off x="6972300" y="4076700"/>
            <a:ext cx="56235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Driving Process Improvement</a:t>
            </a:r>
            <a:endParaRPr lang="en-US" sz="1500" dirty="0"/>
          </a:p>
        </p:txBody>
      </p:sp>
      <p:sp>
        <p:nvSpPr>
          <p:cNvPr id="22" name="Text 9"/>
          <p:cNvSpPr/>
          <p:nvPr/>
        </p:nvSpPr>
        <p:spPr>
          <a:xfrm>
            <a:off x="6972300" y="4419600"/>
            <a:ext cx="468630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Providing insights that lead to enhancements in internal controls, policies, and operational procedures to strengthen compliance posture. Compliance audits should improve over time as processes mature.</a:t>
            </a:r>
            <a:endParaRPr lang="en-US" sz="1200" dirty="0"/>
          </a:p>
        </p:txBody>
      </p:sp>
      <p:sp>
        <p:nvSpPr>
          <p:cNvPr id="23" name="Text 10"/>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24" name="Text 11"/>
          <p:cNvSpPr/>
          <p:nvPr/>
        </p:nvSpPr>
        <p:spPr>
          <a:xfrm>
            <a:off x="11468695" y="65151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5/26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5438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495300" y="1905000"/>
            <a:ext cx="3048000" cy="3048000"/>
          </a:xfrm>
          <a:prstGeom prst="rect">
            <a:avLst/>
          </a:prstGeom>
        </p:spPr>
      </p:pic>
      <p:pic>
        <p:nvPicPr>
          <p:cNvPr id="5" name="Image 3" descr="preencoded.png"/>
          <p:cNvPicPr>
            <a:picLocks noChangeAspect="1"/>
          </p:cNvPicPr>
          <p:nvPr/>
        </p:nvPicPr>
        <p:blipFill>
          <a:blip r:embed="rId6"/>
          <a:stretch>
            <a:fillRect/>
          </a:stretch>
        </p:blipFill>
        <p:spPr>
          <a:xfrm>
            <a:off x="1714500" y="2095500"/>
            <a:ext cx="609600" cy="609600"/>
          </a:xfrm>
          <a:prstGeom prst="rect">
            <a:avLst/>
          </a:prstGeom>
        </p:spPr>
      </p:pic>
      <p:pic>
        <p:nvPicPr>
          <p:cNvPr id="6" name="Image 4" descr="preencoded.png"/>
          <p:cNvPicPr>
            <a:picLocks noChangeAspect="1"/>
          </p:cNvPicPr>
          <p:nvPr/>
        </p:nvPicPr>
        <p:blipFill>
          <a:blip r:embed="rId7"/>
          <a:stretch>
            <a:fillRect/>
          </a:stretch>
        </p:blipFill>
        <p:spPr>
          <a:xfrm>
            <a:off x="1909762" y="2228850"/>
            <a:ext cx="219075" cy="342900"/>
          </a:xfrm>
          <a:prstGeom prst="rect">
            <a:avLst/>
          </a:prstGeom>
        </p:spPr>
      </p:pic>
      <p:pic>
        <p:nvPicPr>
          <p:cNvPr id="7" name="Image 5" descr="preencoded.png"/>
          <p:cNvPicPr>
            <a:picLocks noChangeAspect="1"/>
          </p:cNvPicPr>
          <p:nvPr/>
        </p:nvPicPr>
        <p:blipFill>
          <a:blip r:embed="rId8"/>
          <a:stretch>
            <a:fillRect/>
          </a:stretch>
        </p:blipFill>
        <p:spPr>
          <a:xfrm>
            <a:off x="685800" y="3238500"/>
            <a:ext cx="76200" cy="152400"/>
          </a:xfrm>
          <a:prstGeom prst="rect">
            <a:avLst/>
          </a:prstGeom>
        </p:spPr>
      </p:pic>
      <p:pic>
        <p:nvPicPr>
          <p:cNvPr id="8" name="Image 6" descr="preencoded.png"/>
          <p:cNvPicPr>
            <a:picLocks noChangeAspect="1"/>
          </p:cNvPicPr>
          <p:nvPr/>
        </p:nvPicPr>
        <p:blipFill>
          <a:blip r:embed="rId8"/>
          <a:stretch>
            <a:fillRect/>
          </a:stretch>
        </p:blipFill>
        <p:spPr>
          <a:xfrm>
            <a:off x="685800" y="3543300"/>
            <a:ext cx="76200" cy="152400"/>
          </a:xfrm>
          <a:prstGeom prst="rect">
            <a:avLst/>
          </a:prstGeom>
        </p:spPr>
      </p:pic>
      <p:pic>
        <p:nvPicPr>
          <p:cNvPr id="9" name="Image 7" descr="preencoded.png"/>
          <p:cNvPicPr>
            <a:picLocks noChangeAspect="1"/>
          </p:cNvPicPr>
          <p:nvPr/>
        </p:nvPicPr>
        <p:blipFill>
          <a:blip r:embed="rId8"/>
          <a:stretch>
            <a:fillRect/>
          </a:stretch>
        </p:blipFill>
        <p:spPr>
          <a:xfrm>
            <a:off x="685800" y="3848100"/>
            <a:ext cx="76200" cy="152400"/>
          </a:xfrm>
          <a:prstGeom prst="rect">
            <a:avLst/>
          </a:prstGeom>
        </p:spPr>
      </p:pic>
      <p:pic>
        <p:nvPicPr>
          <p:cNvPr id="10" name="Image 8" descr="preencoded.png"/>
          <p:cNvPicPr>
            <a:picLocks noChangeAspect="1"/>
          </p:cNvPicPr>
          <p:nvPr/>
        </p:nvPicPr>
        <p:blipFill>
          <a:blip r:embed="rId9"/>
          <a:stretch>
            <a:fillRect/>
          </a:stretch>
        </p:blipFill>
        <p:spPr>
          <a:xfrm>
            <a:off x="3771900" y="3419475"/>
            <a:ext cx="571500" cy="19050"/>
          </a:xfrm>
          <a:prstGeom prst="rect">
            <a:avLst/>
          </a:prstGeom>
        </p:spPr>
      </p:pic>
      <p:pic>
        <p:nvPicPr>
          <p:cNvPr id="11" name="Image 9" descr="preencoded.png"/>
          <p:cNvPicPr>
            <a:picLocks noChangeAspect="1"/>
          </p:cNvPicPr>
          <p:nvPr/>
        </p:nvPicPr>
        <p:blipFill>
          <a:blip r:embed="rId10"/>
          <a:stretch>
            <a:fillRect/>
          </a:stretch>
        </p:blipFill>
        <p:spPr>
          <a:xfrm>
            <a:off x="4572000" y="1905000"/>
            <a:ext cx="3048000" cy="3048000"/>
          </a:xfrm>
          <a:prstGeom prst="rect">
            <a:avLst/>
          </a:prstGeom>
        </p:spPr>
      </p:pic>
      <p:pic>
        <p:nvPicPr>
          <p:cNvPr id="12" name="Image 10" descr="preencoded.png"/>
          <p:cNvPicPr>
            <a:picLocks noChangeAspect="1"/>
          </p:cNvPicPr>
          <p:nvPr/>
        </p:nvPicPr>
        <p:blipFill>
          <a:blip r:embed="rId11"/>
          <a:stretch>
            <a:fillRect/>
          </a:stretch>
        </p:blipFill>
        <p:spPr>
          <a:xfrm>
            <a:off x="5791200" y="2095500"/>
            <a:ext cx="609600" cy="609600"/>
          </a:xfrm>
          <a:prstGeom prst="rect">
            <a:avLst/>
          </a:prstGeom>
        </p:spPr>
      </p:pic>
      <p:pic>
        <p:nvPicPr>
          <p:cNvPr id="13" name="Image 11" descr="preencoded.png"/>
          <p:cNvPicPr>
            <a:picLocks noChangeAspect="1"/>
          </p:cNvPicPr>
          <p:nvPr/>
        </p:nvPicPr>
        <p:blipFill>
          <a:blip r:embed="rId12"/>
          <a:stretch>
            <a:fillRect/>
          </a:stretch>
        </p:blipFill>
        <p:spPr>
          <a:xfrm>
            <a:off x="5953125" y="2228850"/>
            <a:ext cx="285750" cy="342900"/>
          </a:xfrm>
          <a:prstGeom prst="rect">
            <a:avLst/>
          </a:prstGeom>
        </p:spPr>
      </p:pic>
      <p:pic>
        <p:nvPicPr>
          <p:cNvPr id="14" name="Image 12" descr="preencoded.png"/>
          <p:cNvPicPr>
            <a:picLocks noChangeAspect="1"/>
          </p:cNvPicPr>
          <p:nvPr/>
        </p:nvPicPr>
        <p:blipFill>
          <a:blip r:embed="rId13"/>
          <a:stretch>
            <a:fillRect/>
          </a:stretch>
        </p:blipFill>
        <p:spPr>
          <a:xfrm>
            <a:off x="4762500" y="3238500"/>
            <a:ext cx="76200" cy="152400"/>
          </a:xfrm>
          <a:prstGeom prst="rect">
            <a:avLst/>
          </a:prstGeom>
        </p:spPr>
      </p:pic>
      <p:pic>
        <p:nvPicPr>
          <p:cNvPr id="15" name="Image 13" descr="preencoded.png"/>
          <p:cNvPicPr>
            <a:picLocks noChangeAspect="1"/>
          </p:cNvPicPr>
          <p:nvPr/>
        </p:nvPicPr>
        <p:blipFill>
          <a:blip r:embed="rId13"/>
          <a:stretch>
            <a:fillRect/>
          </a:stretch>
        </p:blipFill>
        <p:spPr>
          <a:xfrm>
            <a:off x="4762500" y="3543300"/>
            <a:ext cx="76200" cy="152400"/>
          </a:xfrm>
          <a:prstGeom prst="rect">
            <a:avLst/>
          </a:prstGeom>
        </p:spPr>
      </p:pic>
      <p:pic>
        <p:nvPicPr>
          <p:cNvPr id="16" name="Image 14" descr="preencoded.png"/>
          <p:cNvPicPr>
            <a:picLocks noChangeAspect="1"/>
          </p:cNvPicPr>
          <p:nvPr/>
        </p:nvPicPr>
        <p:blipFill>
          <a:blip r:embed="rId13"/>
          <a:stretch>
            <a:fillRect/>
          </a:stretch>
        </p:blipFill>
        <p:spPr>
          <a:xfrm>
            <a:off x="4762500" y="3848100"/>
            <a:ext cx="76200" cy="152400"/>
          </a:xfrm>
          <a:prstGeom prst="rect">
            <a:avLst/>
          </a:prstGeom>
        </p:spPr>
      </p:pic>
      <p:pic>
        <p:nvPicPr>
          <p:cNvPr id="17" name="Image 15" descr="preencoded.png"/>
          <p:cNvPicPr>
            <a:picLocks noChangeAspect="1"/>
          </p:cNvPicPr>
          <p:nvPr/>
        </p:nvPicPr>
        <p:blipFill>
          <a:blip r:embed="rId13"/>
          <a:stretch>
            <a:fillRect/>
          </a:stretch>
        </p:blipFill>
        <p:spPr>
          <a:xfrm>
            <a:off x="4762500" y="4152900"/>
            <a:ext cx="76200" cy="152400"/>
          </a:xfrm>
          <a:prstGeom prst="rect">
            <a:avLst/>
          </a:prstGeom>
        </p:spPr>
      </p:pic>
      <p:pic>
        <p:nvPicPr>
          <p:cNvPr id="18" name="Image 16" descr="preencoded.png"/>
          <p:cNvPicPr>
            <a:picLocks noChangeAspect="1"/>
          </p:cNvPicPr>
          <p:nvPr/>
        </p:nvPicPr>
        <p:blipFill>
          <a:blip r:embed="rId9"/>
          <a:stretch>
            <a:fillRect/>
          </a:stretch>
        </p:blipFill>
        <p:spPr>
          <a:xfrm>
            <a:off x="7848600" y="3419475"/>
            <a:ext cx="571500" cy="19050"/>
          </a:xfrm>
          <a:prstGeom prst="rect">
            <a:avLst/>
          </a:prstGeom>
        </p:spPr>
      </p:pic>
      <p:pic>
        <p:nvPicPr>
          <p:cNvPr id="19" name="Image 17" descr="preencoded.png"/>
          <p:cNvPicPr>
            <a:picLocks noChangeAspect="1"/>
          </p:cNvPicPr>
          <p:nvPr/>
        </p:nvPicPr>
        <p:blipFill>
          <a:blip r:embed="rId14"/>
          <a:stretch>
            <a:fillRect/>
          </a:stretch>
        </p:blipFill>
        <p:spPr>
          <a:xfrm>
            <a:off x="8648700" y="1905000"/>
            <a:ext cx="3048000" cy="3048000"/>
          </a:xfrm>
          <a:prstGeom prst="rect">
            <a:avLst/>
          </a:prstGeom>
        </p:spPr>
      </p:pic>
      <p:pic>
        <p:nvPicPr>
          <p:cNvPr id="20" name="Image 18" descr="preencoded.png"/>
          <p:cNvPicPr>
            <a:picLocks noChangeAspect="1"/>
          </p:cNvPicPr>
          <p:nvPr/>
        </p:nvPicPr>
        <p:blipFill>
          <a:blip r:embed="rId15"/>
          <a:stretch>
            <a:fillRect/>
          </a:stretch>
        </p:blipFill>
        <p:spPr>
          <a:xfrm>
            <a:off x="9867900" y="2095500"/>
            <a:ext cx="609600" cy="609600"/>
          </a:xfrm>
          <a:prstGeom prst="rect">
            <a:avLst/>
          </a:prstGeom>
        </p:spPr>
      </p:pic>
      <p:pic>
        <p:nvPicPr>
          <p:cNvPr id="21" name="Image 19" descr="preencoded.png"/>
          <p:cNvPicPr>
            <a:picLocks noChangeAspect="1"/>
          </p:cNvPicPr>
          <p:nvPr/>
        </p:nvPicPr>
        <p:blipFill>
          <a:blip r:embed="rId16"/>
          <a:stretch>
            <a:fillRect/>
          </a:stretch>
        </p:blipFill>
        <p:spPr>
          <a:xfrm>
            <a:off x="10063163" y="2228850"/>
            <a:ext cx="219075" cy="342900"/>
          </a:xfrm>
          <a:prstGeom prst="rect">
            <a:avLst/>
          </a:prstGeom>
        </p:spPr>
      </p:pic>
      <p:pic>
        <p:nvPicPr>
          <p:cNvPr id="22" name="Image 20" descr="preencoded.png"/>
          <p:cNvPicPr>
            <a:picLocks noChangeAspect="1"/>
          </p:cNvPicPr>
          <p:nvPr/>
        </p:nvPicPr>
        <p:blipFill>
          <a:blip r:embed="rId17"/>
          <a:stretch>
            <a:fillRect/>
          </a:stretch>
        </p:blipFill>
        <p:spPr>
          <a:xfrm>
            <a:off x="8839200" y="3238500"/>
            <a:ext cx="76200" cy="152400"/>
          </a:xfrm>
          <a:prstGeom prst="rect">
            <a:avLst/>
          </a:prstGeom>
        </p:spPr>
      </p:pic>
      <p:pic>
        <p:nvPicPr>
          <p:cNvPr id="23" name="Image 21" descr="preencoded.png"/>
          <p:cNvPicPr>
            <a:picLocks noChangeAspect="1"/>
          </p:cNvPicPr>
          <p:nvPr/>
        </p:nvPicPr>
        <p:blipFill>
          <a:blip r:embed="rId17"/>
          <a:stretch>
            <a:fillRect/>
          </a:stretch>
        </p:blipFill>
        <p:spPr>
          <a:xfrm>
            <a:off x="8839200" y="3543300"/>
            <a:ext cx="76200" cy="152400"/>
          </a:xfrm>
          <a:prstGeom prst="rect">
            <a:avLst/>
          </a:prstGeom>
        </p:spPr>
      </p:pic>
      <p:pic>
        <p:nvPicPr>
          <p:cNvPr id="24" name="Image 22" descr="preencoded.png"/>
          <p:cNvPicPr>
            <a:picLocks noChangeAspect="1"/>
          </p:cNvPicPr>
          <p:nvPr/>
        </p:nvPicPr>
        <p:blipFill>
          <a:blip r:embed="rId17"/>
          <a:stretch>
            <a:fillRect/>
          </a:stretch>
        </p:blipFill>
        <p:spPr>
          <a:xfrm>
            <a:off x="8839200" y="3848100"/>
            <a:ext cx="76200" cy="152400"/>
          </a:xfrm>
          <a:prstGeom prst="rect">
            <a:avLst/>
          </a:prstGeom>
        </p:spPr>
      </p:pic>
      <p:pic>
        <p:nvPicPr>
          <p:cNvPr id="25" name="Image 23" descr="preencoded.png"/>
          <p:cNvPicPr>
            <a:picLocks noChangeAspect="1"/>
          </p:cNvPicPr>
          <p:nvPr/>
        </p:nvPicPr>
        <p:blipFill>
          <a:blip r:embed="rId17"/>
          <a:stretch>
            <a:fillRect/>
          </a:stretch>
        </p:blipFill>
        <p:spPr>
          <a:xfrm>
            <a:off x="8839200" y="4152900"/>
            <a:ext cx="76200" cy="152400"/>
          </a:xfrm>
          <a:prstGeom prst="rect">
            <a:avLst/>
          </a:prstGeom>
        </p:spPr>
      </p:pic>
      <p:pic>
        <p:nvPicPr>
          <p:cNvPr id="26" name="Image 24" descr="preencoded.png"/>
          <p:cNvPicPr>
            <a:picLocks noChangeAspect="1"/>
          </p:cNvPicPr>
          <p:nvPr/>
        </p:nvPicPr>
        <p:blipFill>
          <a:blip r:embed="rId18"/>
          <a:stretch>
            <a:fillRect/>
          </a:stretch>
        </p:blipFill>
        <p:spPr>
          <a:xfrm>
            <a:off x="342900" y="30324"/>
            <a:ext cx="11430000" cy="3619500"/>
          </a:xfrm>
          <a:prstGeom prst="rect">
            <a:avLst/>
          </a:prstGeom>
        </p:spPr>
      </p:pic>
      <p:pic>
        <p:nvPicPr>
          <p:cNvPr id="27" name="Image 25" descr="preencoded.png"/>
          <p:cNvPicPr>
            <a:picLocks noChangeAspect="1"/>
          </p:cNvPicPr>
          <p:nvPr/>
        </p:nvPicPr>
        <p:blipFill>
          <a:blip r:embed="rId19"/>
          <a:stretch>
            <a:fillRect/>
          </a:stretch>
        </p:blipFill>
        <p:spPr>
          <a:xfrm>
            <a:off x="304800" y="5181600"/>
            <a:ext cx="11582400" cy="1257300"/>
          </a:xfrm>
          <a:prstGeom prst="rect">
            <a:avLst/>
          </a:prstGeom>
        </p:spPr>
      </p:pic>
      <p:pic>
        <p:nvPicPr>
          <p:cNvPr id="28" name="Image 26" descr="preencoded.png"/>
          <p:cNvPicPr>
            <a:picLocks noChangeAspect="1"/>
          </p:cNvPicPr>
          <p:nvPr/>
        </p:nvPicPr>
        <p:blipFill>
          <a:blip r:embed="rId20"/>
          <a:stretch>
            <a:fillRect/>
          </a:stretch>
        </p:blipFill>
        <p:spPr>
          <a:xfrm>
            <a:off x="457200" y="5372100"/>
            <a:ext cx="190500" cy="266700"/>
          </a:xfrm>
          <a:prstGeom prst="rect">
            <a:avLst/>
          </a:prstGeom>
        </p:spPr>
      </p:pic>
      <p:pic>
        <p:nvPicPr>
          <p:cNvPr id="29" name="Image 27" descr="preencoded.png"/>
          <p:cNvPicPr>
            <a:picLocks noChangeAspect="1"/>
          </p:cNvPicPr>
          <p:nvPr/>
        </p:nvPicPr>
        <p:blipFill>
          <a:blip r:embed="rId21"/>
          <a:stretch>
            <a:fillRect/>
          </a:stretch>
        </p:blipFill>
        <p:spPr>
          <a:xfrm>
            <a:off x="0" y="7086600"/>
            <a:ext cx="12192000" cy="457200"/>
          </a:xfrm>
          <a:prstGeom prst="rect">
            <a:avLst/>
          </a:prstGeom>
        </p:spPr>
      </p:pic>
      <p:sp>
        <p:nvSpPr>
          <p:cNvPr id="30"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The Compliance Audit Lifecycle</a:t>
            </a:r>
            <a:endParaRPr lang="en-US" sz="2700" dirty="0"/>
          </a:p>
        </p:txBody>
      </p:sp>
      <p:sp>
        <p:nvSpPr>
          <p:cNvPr id="31"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compliance audit process follows a systematic, cyclical approach that consists of three main phases, each with specific activities and objectives.</a:t>
            </a:r>
            <a:endParaRPr lang="en-US" sz="1350" dirty="0"/>
          </a:p>
        </p:txBody>
      </p:sp>
      <p:sp>
        <p:nvSpPr>
          <p:cNvPr id="32" name="Text 2"/>
          <p:cNvSpPr/>
          <p:nvPr/>
        </p:nvSpPr>
        <p:spPr>
          <a:xfrm>
            <a:off x="419100" y="2819400"/>
            <a:ext cx="32004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0D9488"/>
                </a:solidFill>
                <a:latin typeface="ui-sans-serif" pitchFamily="34" charset="0"/>
                <a:ea typeface="ui-sans-serif" pitchFamily="34" charset="-122"/>
                <a:cs typeface="ui-sans-serif" pitchFamily="34" charset="-120"/>
              </a:rPr>
              <a:t>Pre-Audit Phase</a:t>
            </a:r>
            <a:endParaRPr lang="en-US" sz="1500" dirty="0"/>
          </a:p>
        </p:txBody>
      </p:sp>
      <p:sp>
        <p:nvSpPr>
          <p:cNvPr id="33" name="Text 3"/>
          <p:cNvSpPr/>
          <p:nvPr/>
        </p:nvSpPr>
        <p:spPr>
          <a:xfrm>
            <a:off x="838200" y="3200400"/>
            <a:ext cx="249834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Audit planning and scoping</a:t>
            </a:r>
            <a:endParaRPr lang="en-US" sz="1200" dirty="0"/>
          </a:p>
        </p:txBody>
      </p:sp>
      <p:sp>
        <p:nvSpPr>
          <p:cNvPr id="34" name="Text 4"/>
          <p:cNvSpPr/>
          <p:nvPr/>
        </p:nvSpPr>
        <p:spPr>
          <a:xfrm>
            <a:off x="838200" y="3505200"/>
            <a:ext cx="152126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Risk assessment</a:t>
            </a:r>
            <a:endParaRPr lang="en-US" sz="1200" dirty="0"/>
          </a:p>
        </p:txBody>
      </p:sp>
      <p:sp>
        <p:nvSpPr>
          <p:cNvPr id="35" name="Text 5"/>
          <p:cNvSpPr/>
          <p:nvPr/>
        </p:nvSpPr>
        <p:spPr>
          <a:xfrm>
            <a:off x="838200" y="3810000"/>
            <a:ext cx="247155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Assembling the audit team</a:t>
            </a:r>
            <a:endParaRPr lang="en-US" sz="1200" dirty="0"/>
          </a:p>
        </p:txBody>
      </p:sp>
      <p:sp>
        <p:nvSpPr>
          <p:cNvPr id="36" name="Text 6"/>
          <p:cNvSpPr/>
          <p:nvPr/>
        </p:nvSpPr>
        <p:spPr>
          <a:xfrm>
            <a:off x="4495800" y="2819400"/>
            <a:ext cx="32004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CA8A04"/>
                </a:solidFill>
                <a:latin typeface="ui-sans-serif" pitchFamily="34" charset="0"/>
                <a:ea typeface="ui-sans-serif" pitchFamily="34" charset="-122"/>
                <a:cs typeface="ui-sans-serif" pitchFamily="34" charset="-120"/>
              </a:rPr>
              <a:t>Audit Execution Phase</a:t>
            </a:r>
            <a:endParaRPr lang="en-US" sz="1500" dirty="0"/>
          </a:p>
        </p:txBody>
      </p:sp>
      <p:sp>
        <p:nvSpPr>
          <p:cNvPr id="37" name="Text 7"/>
          <p:cNvSpPr/>
          <p:nvPr/>
        </p:nvSpPr>
        <p:spPr>
          <a:xfrm>
            <a:off x="4914900" y="3200400"/>
            <a:ext cx="158716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Opening meeting</a:t>
            </a:r>
            <a:endParaRPr lang="en-US" sz="1200" dirty="0"/>
          </a:p>
        </p:txBody>
      </p:sp>
      <p:sp>
        <p:nvSpPr>
          <p:cNvPr id="38" name="Text 8"/>
          <p:cNvSpPr/>
          <p:nvPr/>
        </p:nvSpPr>
        <p:spPr>
          <a:xfrm>
            <a:off x="4914900" y="3505200"/>
            <a:ext cx="177665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Evidence gathering</a:t>
            </a:r>
            <a:endParaRPr lang="en-US" sz="1200" dirty="0"/>
          </a:p>
        </p:txBody>
      </p:sp>
      <p:sp>
        <p:nvSpPr>
          <p:cNvPr id="39" name="Text 9"/>
          <p:cNvSpPr/>
          <p:nvPr/>
        </p:nvSpPr>
        <p:spPr>
          <a:xfrm>
            <a:off x="4914900" y="3810000"/>
            <a:ext cx="143035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Testing controls</a:t>
            </a:r>
            <a:endParaRPr lang="en-US" sz="1200" dirty="0"/>
          </a:p>
        </p:txBody>
      </p:sp>
      <p:sp>
        <p:nvSpPr>
          <p:cNvPr id="40" name="Text 10"/>
          <p:cNvSpPr/>
          <p:nvPr/>
        </p:nvSpPr>
        <p:spPr>
          <a:xfrm>
            <a:off x="4914900" y="4114800"/>
            <a:ext cx="167431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Analyzing findings</a:t>
            </a:r>
            <a:endParaRPr lang="en-US" sz="1200" dirty="0"/>
          </a:p>
        </p:txBody>
      </p:sp>
      <p:sp>
        <p:nvSpPr>
          <p:cNvPr id="41" name="Text 11"/>
          <p:cNvSpPr/>
          <p:nvPr/>
        </p:nvSpPr>
        <p:spPr>
          <a:xfrm>
            <a:off x="8572500" y="2819400"/>
            <a:ext cx="3200400"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6A34A"/>
                </a:solidFill>
                <a:latin typeface="ui-sans-serif" pitchFamily="34" charset="0"/>
                <a:ea typeface="ui-sans-serif" pitchFamily="34" charset="-122"/>
                <a:cs typeface="ui-sans-serif" pitchFamily="34" charset="-120"/>
              </a:rPr>
              <a:t>Post-Audit Phase</a:t>
            </a:r>
            <a:endParaRPr lang="en-US" sz="1500" dirty="0"/>
          </a:p>
        </p:txBody>
      </p:sp>
      <p:sp>
        <p:nvSpPr>
          <p:cNvPr id="42" name="Text 12"/>
          <p:cNvSpPr/>
          <p:nvPr/>
        </p:nvSpPr>
        <p:spPr>
          <a:xfrm>
            <a:off x="8991600" y="3200400"/>
            <a:ext cx="224349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Drafting the audit report</a:t>
            </a:r>
            <a:endParaRPr lang="en-US" sz="1200" dirty="0"/>
          </a:p>
        </p:txBody>
      </p:sp>
      <p:sp>
        <p:nvSpPr>
          <p:cNvPr id="43" name="Text 13"/>
          <p:cNvSpPr/>
          <p:nvPr/>
        </p:nvSpPr>
        <p:spPr>
          <a:xfrm>
            <a:off x="8991600" y="3505200"/>
            <a:ext cx="148429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Closing meeting</a:t>
            </a:r>
            <a:endParaRPr lang="en-US" sz="1200" dirty="0"/>
          </a:p>
        </p:txBody>
      </p:sp>
      <p:sp>
        <p:nvSpPr>
          <p:cNvPr id="44" name="Text 14"/>
          <p:cNvSpPr/>
          <p:nvPr/>
        </p:nvSpPr>
        <p:spPr>
          <a:xfrm>
            <a:off x="8991600" y="3810000"/>
            <a:ext cx="200310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Remediation planning</a:t>
            </a:r>
            <a:endParaRPr lang="en-US" sz="1200" dirty="0"/>
          </a:p>
        </p:txBody>
      </p:sp>
      <p:sp>
        <p:nvSpPr>
          <p:cNvPr id="45" name="Text 15"/>
          <p:cNvSpPr/>
          <p:nvPr/>
        </p:nvSpPr>
        <p:spPr>
          <a:xfrm>
            <a:off x="8991600" y="4114800"/>
            <a:ext cx="235690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Follow-up and verification</a:t>
            </a:r>
            <a:endParaRPr lang="en-US" sz="1200" dirty="0"/>
          </a:p>
        </p:txBody>
      </p:sp>
      <p:sp>
        <p:nvSpPr>
          <p:cNvPr id="46" name="Text 16"/>
          <p:cNvSpPr/>
          <p:nvPr/>
        </p:nvSpPr>
        <p:spPr>
          <a:xfrm>
            <a:off x="762000" y="5334000"/>
            <a:ext cx="109728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7E22CE"/>
                </a:solidFill>
                <a:latin typeface="ui-sans-serif" pitchFamily="34" charset="0"/>
                <a:ea typeface="ui-sans-serif" pitchFamily="34" charset="-122"/>
                <a:cs typeface="ui-sans-serif" pitchFamily="34" charset="-120"/>
              </a:rPr>
              <a:t>Cyclical Nature of Compliance Audits</a:t>
            </a:r>
            <a:endParaRPr lang="en-US" sz="1350" dirty="0"/>
          </a:p>
        </p:txBody>
      </p:sp>
      <p:sp>
        <p:nvSpPr>
          <p:cNvPr id="47" name="Text 17"/>
          <p:cNvSpPr/>
          <p:nvPr/>
        </p:nvSpPr>
        <p:spPr>
          <a:xfrm>
            <a:off x="762000" y="5600700"/>
            <a:ext cx="109728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compliance audit process is not a one-time event but a continuous cycle. Findings and improvements from one audit cycle inform the planning and scope of subsequent audits, creating an ongoing feedback loop that strengthens the organization's compliance posture over time.</a:t>
            </a:r>
            <a:endParaRPr lang="en-US" sz="1200" dirty="0"/>
          </a:p>
        </p:txBody>
      </p:sp>
      <p:sp>
        <p:nvSpPr>
          <p:cNvPr id="48" name="Text 18"/>
          <p:cNvSpPr/>
          <p:nvPr/>
        </p:nvSpPr>
        <p:spPr>
          <a:xfrm>
            <a:off x="381000" y="7200900"/>
            <a:ext cx="2573893"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Compliance Audit Processes</a:t>
            </a:r>
            <a:endParaRPr lang="en-US" sz="1200" dirty="0"/>
          </a:p>
        </p:txBody>
      </p:sp>
      <p:sp>
        <p:nvSpPr>
          <p:cNvPr id="49" name="Text 19"/>
          <p:cNvSpPr/>
          <p:nvPr/>
        </p:nvSpPr>
        <p:spPr>
          <a:xfrm>
            <a:off x="11468695" y="72009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6/26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4953000"/>
          </a:xfrm>
          <a:prstGeom prst="rect">
            <a:avLst/>
          </a:prstGeom>
        </p:spPr>
      </p:pic>
      <p:pic>
        <p:nvPicPr>
          <p:cNvPr id="5" name="Image 3" descr="preencoded.png"/>
          <p:cNvPicPr>
            <a:picLocks noChangeAspect="1"/>
          </p:cNvPicPr>
          <p:nvPr/>
        </p:nvPicPr>
        <p:blipFill>
          <a:blip r:embed="rId5"/>
          <a:stretch>
            <a:fillRect/>
          </a:stretch>
        </p:blipFill>
        <p:spPr>
          <a:xfrm>
            <a:off x="6324600" y="1143000"/>
            <a:ext cx="5562600" cy="4953000"/>
          </a:xfrm>
          <a:prstGeom prst="rect">
            <a:avLst/>
          </a:prstGeom>
        </p:spPr>
      </p:pic>
      <p:pic>
        <p:nvPicPr>
          <p:cNvPr id="6" name="Image 4" descr="preencoded.png"/>
          <p:cNvPicPr>
            <a:picLocks noChangeAspect="1"/>
          </p:cNvPicPr>
          <p:nvPr/>
        </p:nvPicPr>
        <p:blipFill>
          <a:blip r:embed="rId6"/>
          <a:stretch>
            <a:fillRect/>
          </a:stretch>
        </p:blipFill>
        <p:spPr>
          <a:xfrm>
            <a:off x="6553200" y="1828800"/>
            <a:ext cx="5105400" cy="762000"/>
          </a:xfrm>
          <a:prstGeom prst="rect">
            <a:avLst/>
          </a:prstGeom>
        </p:spPr>
      </p:pic>
      <p:pic>
        <p:nvPicPr>
          <p:cNvPr id="7" name="Image 5" descr="preencoded.png"/>
          <p:cNvPicPr>
            <a:picLocks noChangeAspect="1"/>
          </p:cNvPicPr>
          <p:nvPr/>
        </p:nvPicPr>
        <p:blipFill>
          <a:blip r:embed="rId7"/>
          <a:stretch>
            <a:fillRect/>
          </a:stretch>
        </p:blipFill>
        <p:spPr>
          <a:xfrm>
            <a:off x="6705600" y="2019300"/>
            <a:ext cx="228600" cy="304800"/>
          </a:xfrm>
          <a:prstGeom prst="rect">
            <a:avLst/>
          </a:prstGeom>
        </p:spPr>
      </p:pic>
      <p:pic>
        <p:nvPicPr>
          <p:cNvPr id="8" name="Image 6" descr="preencoded.png"/>
          <p:cNvPicPr>
            <a:picLocks noChangeAspect="1"/>
          </p:cNvPicPr>
          <p:nvPr/>
        </p:nvPicPr>
        <p:blipFill>
          <a:blip r:embed="rId8"/>
          <a:stretch>
            <a:fillRect/>
          </a:stretch>
        </p:blipFill>
        <p:spPr>
          <a:xfrm>
            <a:off x="6553200" y="2743200"/>
            <a:ext cx="5105400" cy="762000"/>
          </a:xfrm>
          <a:prstGeom prst="rect">
            <a:avLst/>
          </a:prstGeom>
        </p:spPr>
      </p:pic>
      <p:pic>
        <p:nvPicPr>
          <p:cNvPr id="9" name="Image 7" descr="preencoded.png"/>
          <p:cNvPicPr>
            <a:picLocks noChangeAspect="1"/>
          </p:cNvPicPr>
          <p:nvPr/>
        </p:nvPicPr>
        <p:blipFill>
          <a:blip r:embed="rId9"/>
          <a:stretch>
            <a:fillRect/>
          </a:stretch>
        </p:blipFill>
        <p:spPr>
          <a:xfrm>
            <a:off x="6705600" y="2933700"/>
            <a:ext cx="171450" cy="304800"/>
          </a:xfrm>
          <a:prstGeom prst="rect">
            <a:avLst/>
          </a:prstGeom>
        </p:spPr>
      </p:pic>
      <p:pic>
        <p:nvPicPr>
          <p:cNvPr id="10" name="Image 8" descr="preencoded.png"/>
          <p:cNvPicPr>
            <a:picLocks noChangeAspect="1"/>
          </p:cNvPicPr>
          <p:nvPr/>
        </p:nvPicPr>
        <p:blipFill>
          <a:blip r:embed="rId10"/>
          <a:stretch>
            <a:fillRect/>
          </a:stretch>
        </p:blipFill>
        <p:spPr>
          <a:xfrm>
            <a:off x="6553200" y="3657600"/>
            <a:ext cx="5105400" cy="952500"/>
          </a:xfrm>
          <a:prstGeom prst="rect">
            <a:avLst/>
          </a:prstGeom>
        </p:spPr>
      </p:pic>
      <p:pic>
        <p:nvPicPr>
          <p:cNvPr id="11" name="Image 9" descr="preencoded.png"/>
          <p:cNvPicPr>
            <a:picLocks noChangeAspect="1"/>
          </p:cNvPicPr>
          <p:nvPr/>
        </p:nvPicPr>
        <p:blipFill>
          <a:blip r:embed="rId11"/>
          <a:stretch>
            <a:fillRect/>
          </a:stretch>
        </p:blipFill>
        <p:spPr>
          <a:xfrm>
            <a:off x="6705600" y="3848100"/>
            <a:ext cx="257175" cy="304800"/>
          </a:xfrm>
          <a:prstGeom prst="rect">
            <a:avLst/>
          </a:prstGeom>
        </p:spPr>
      </p:pic>
      <p:pic>
        <p:nvPicPr>
          <p:cNvPr id="12" name="Image 10" descr="preencoded.png"/>
          <p:cNvPicPr>
            <a:picLocks noChangeAspect="1"/>
          </p:cNvPicPr>
          <p:nvPr/>
        </p:nvPicPr>
        <p:blipFill>
          <a:blip r:embed="rId12"/>
          <a:stretch>
            <a:fillRect/>
          </a:stretch>
        </p:blipFill>
        <p:spPr>
          <a:xfrm>
            <a:off x="0" y="6400800"/>
            <a:ext cx="12192000" cy="457200"/>
          </a:xfrm>
          <a:prstGeom prst="rect">
            <a:avLst/>
          </a:prstGeom>
        </p:spPr>
      </p:pic>
      <p:sp>
        <p:nvSpPr>
          <p:cNvPr id="13"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Pre-Audit Phase: Planning and Scoping</a:t>
            </a:r>
            <a:endParaRPr lang="en-US" sz="2700" dirty="0"/>
          </a:p>
        </p:txBody>
      </p:sp>
      <p:sp>
        <p:nvSpPr>
          <p:cNvPr id="14"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Audit Planning and Scoping</a:t>
            </a:r>
            <a:endParaRPr lang="en-US" sz="1800" dirty="0"/>
          </a:p>
        </p:txBody>
      </p:sp>
      <p:sp>
        <p:nvSpPr>
          <p:cNvPr id="15" name="Text 2"/>
          <p:cNvSpPr/>
          <p:nvPr/>
        </p:nvSpPr>
        <p:spPr>
          <a:xfrm>
            <a:off x="533400" y="1828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foundation of a successful audit begins with clear planning and scoping.</a:t>
            </a:r>
            <a:endParaRPr lang="en-US" sz="1200" dirty="0"/>
          </a:p>
        </p:txBody>
      </p:sp>
      <p:sp>
        <p:nvSpPr>
          <p:cNvPr id="16" name="Text 3"/>
          <p:cNvSpPr/>
          <p:nvPr/>
        </p:nvSpPr>
        <p:spPr>
          <a:xfrm>
            <a:off x="685800" y="2438400"/>
            <a:ext cx="49530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6B21A8"/>
                </a:solidFill>
                <a:latin typeface="ui-sans-serif" pitchFamily="34" charset="0"/>
                <a:ea typeface="ui-sans-serif" pitchFamily="34" charset="-122"/>
                <a:cs typeface="ui-sans-serif" pitchFamily="34" charset="-120"/>
              </a:rPr>
              <a:t>Define Audit Scope</a:t>
            </a:r>
            <a:endParaRPr lang="en-US" sz="1350" dirty="0"/>
          </a:p>
        </p:txBody>
      </p:sp>
      <p:sp>
        <p:nvSpPr>
          <p:cNvPr id="17" name="Text 4"/>
          <p:cNvSpPr/>
          <p:nvPr/>
        </p:nvSpPr>
        <p:spPr>
          <a:xfrm>
            <a:off x="685800" y="2705100"/>
            <a:ext cx="49530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Clearly outline what will be covered - business units, processes, or systems.</a:t>
            </a:r>
            <a:endParaRPr lang="en-US" sz="1200" dirty="0"/>
          </a:p>
        </p:txBody>
      </p:sp>
      <p:sp>
        <p:nvSpPr>
          <p:cNvPr id="18" name="Text 5"/>
          <p:cNvSpPr/>
          <p:nvPr/>
        </p:nvSpPr>
        <p:spPr>
          <a:xfrm>
            <a:off x="685800" y="3314700"/>
            <a:ext cx="49530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6B21A8"/>
                </a:solidFill>
                <a:latin typeface="ui-sans-serif" pitchFamily="34" charset="0"/>
                <a:ea typeface="ui-sans-serif" pitchFamily="34" charset="-122"/>
                <a:cs typeface="ui-sans-serif" pitchFamily="34" charset="-120"/>
              </a:rPr>
              <a:t>Establish Objectives</a:t>
            </a:r>
            <a:endParaRPr lang="en-US" sz="1350" dirty="0"/>
          </a:p>
        </p:txBody>
      </p:sp>
      <p:sp>
        <p:nvSpPr>
          <p:cNvPr id="19" name="Text 6"/>
          <p:cNvSpPr/>
          <p:nvPr/>
        </p:nvSpPr>
        <p:spPr>
          <a:xfrm>
            <a:off x="685800" y="3581400"/>
            <a:ext cx="59436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Identify what outcomes are expected from the audit.</a:t>
            </a:r>
            <a:endParaRPr lang="en-US" sz="1200" dirty="0"/>
          </a:p>
        </p:txBody>
      </p:sp>
      <p:sp>
        <p:nvSpPr>
          <p:cNvPr id="20" name="Text 7"/>
          <p:cNvSpPr/>
          <p:nvPr/>
        </p:nvSpPr>
        <p:spPr>
          <a:xfrm>
            <a:off x="685800" y="3962400"/>
            <a:ext cx="5943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6B21A8"/>
                </a:solidFill>
                <a:latin typeface="ui-sans-serif" pitchFamily="34" charset="0"/>
                <a:ea typeface="ui-sans-serif" pitchFamily="34" charset="-122"/>
                <a:cs typeface="ui-sans-serif" pitchFamily="34" charset="-120"/>
              </a:rPr>
              <a:t>Identify Applicable Regulations</a:t>
            </a:r>
            <a:endParaRPr lang="en-US" sz="1350" dirty="0"/>
          </a:p>
        </p:txBody>
      </p:sp>
      <p:sp>
        <p:nvSpPr>
          <p:cNvPr id="21" name="Text 8"/>
          <p:cNvSpPr/>
          <p:nvPr/>
        </p:nvSpPr>
        <p:spPr>
          <a:xfrm>
            <a:off x="685800" y="4229100"/>
            <a:ext cx="59436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Determine which laws and standards apply to the audit area.</a:t>
            </a:r>
            <a:endParaRPr lang="en-US" sz="1200" dirty="0"/>
          </a:p>
        </p:txBody>
      </p:sp>
      <p:sp>
        <p:nvSpPr>
          <p:cNvPr id="22" name="Text 9"/>
          <p:cNvSpPr/>
          <p:nvPr/>
        </p:nvSpPr>
        <p:spPr>
          <a:xfrm>
            <a:off x="685800" y="4610100"/>
            <a:ext cx="49530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6B21A8"/>
                </a:solidFill>
                <a:latin typeface="ui-sans-serif" pitchFamily="34" charset="0"/>
                <a:ea typeface="ui-sans-serif" pitchFamily="34" charset="-122"/>
                <a:cs typeface="ui-sans-serif" pitchFamily="34" charset="-120"/>
              </a:rPr>
              <a:t>Establish Audit Criteria</a:t>
            </a:r>
            <a:endParaRPr lang="en-US" sz="1350" dirty="0"/>
          </a:p>
        </p:txBody>
      </p:sp>
      <p:sp>
        <p:nvSpPr>
          <p:cNvPr id="23" name="Text 10"/>
          <p:cNvSpPr/>
          <p:nvPr/>
        </p:nvSpPr>
        <p:spPr>
          <a:xfrm>
            <a:off x="685800" y="4876800"/>
            <a:ext cx="594360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Set benchmarks for measuring compliance.</a:t>
            </a:r>
            <a:endParaRPr lang="en-US" sz="1200" dirty="0"/>
          </a:p>
        </p:txBody>
      </p:sp>
      <p:sp>
        <p:nvSpPr>
          <p:cNvPr id="24" name="Text 11"/>
          <p:cNvSpPr/>
          <p:nvPr/>
        </p:nvSpPr>
        <p:spPr>
          <a:xfrm>
            <a:off x="65532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Examples of Applicable Regulations</a:t>
            </a:r>
            <a:endParaRPr lang="en-US" sz="1800" dirty="0"/>
          </a:p>
        </p:txBody>
      </p:sp>
      <p:sp>
        <p:nvSpPr>
          <p:cNvPr id="25" name="Text 12"/>
          <p:cNvSpPr/>
          <p:nvPr/>
        </p:nvSpPr>
        <p:spPr>
          <a:xfrm>
            <a:off x="7048500" y="1981200"/>
            <a:ext cx="345817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D4ED8"/>
                </a:solidFill>
                <a:latin typeface="ui-sans-serif" pitchFamily="34" charset="0"/>
                <a:ea typeface="ui-sans-serif" pitchFamily="34" charset="-122"/>
                <a:cs typeface="ui-sans-serif" pitchFamily="34" charset="-120"/>
              </a:rPr>
              <a:t>GDPR</a:t>
            </a:r>
            <a:endParaRPr lang="en-US" sz="1350" dirty="0"/>
          </a:p>
        </p:txBody>
      </p:sp>
      <p:sp>
        <p:nvSpPr>
          <p:cNvPr id="26" name="Text 13"/>
          <p:cNvSpPr/>
          <p:nvPr/>
        </p:nvSpPr>
        <p:spPr>
          <a:xfrm>
            <a:off x="7048500" y="2247900"/>
            <a:ext cx="4149804"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General Data Protection Regulation for data privacy</a:t>
            </a:r>
            <a:endParaRPr lang="en-US" sz="1050" dirty="0"/>
          </a:p>
        </p:txBody>
      </p:sp>
      <p:sp>
        <p:nvSpPr>
          <p:cNvPr id="27" name="Text 14"/>
          <p:cNvSpPr/>
          <p:nvPr/>
        </p:nvSpPr>
        <p:spPr>
          <a:xfrm>
            <a:off x="6991350" y="2895600"/>
            <a:ext cx="2802136" cy="266700"/>
          </a:xfrm>
          <a:prstGeom prst="rect">
            <a:avLst/>
          </a:prstGeom>
          <a:noFill/>
          <a:ln/>
        </p:spPr>
        <p:txBody>
          <a:bodyPr vert="horz" wrap="square" lIns="0" tIns="0" rIns="0" bIns="0" rtlCol="0" anchor="t"/>
          <a:lstStyle/>
          <a:p>
            <a:pPr marL="0" indent="0">
              <a:lnSpc>
                <a:spcPts val="2100"/>
              </a:lnSpc>
              <a:buNone/>
            </a:pPr>
            <a:r>
              <a:rPr lang="en-US" sz="1350" b="1" dirty="0">
                <a:solidFill>
                  <a:srgbClr val="15803D"/>
                </a:solidFill>
                <a:latin typeface="ui-sans-serif" pitchFamily="34" charset="0"/>
                <a:ea typeface="ui-sans-serif" pitchFamily="34" charset="-122"/>
                <a:cs typeface="ui-sans-serif" pitchFamily="34" charset="-120"/>
              </a:rPr>
              <a:t>SOX</a:t>
            </a:r>
            <a:endParaRPr lang="en-US" sz="1350" dirty="0"/>
          </a:p>
        </p:txBody>
      </p:sp>
      <p:sp>
        <p:nvSpPr>
          <p:cNvPr id="28" name="Text 15"/>
          <p:cNvSpPr/>
          <p:nvPr/>
        </p:nvSpPr>
        <p:spPr>
          <a:xfrm>
            <a:off x="6991350" y="3162300"/>
            <a:ext cx="3362563"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Sarbanes-Oxley Act for financial reporting</a:t>
            </a:r>
            <a:endParaRPr lang="en-US" sz="1050" dirty="0"/>
          </a:p>
        </p:txBody>
      </p:sp>
      <p:sp>
        <p:nvSpPr>
          <p:cNvPr id="29" name="Text 16"/>
          <p:cNvSpPr/>
          <p:nvPr/>
        </p:nvSpPr>
        <p:spPr>
          <a:xfrm>
            <a:off x="7077075" y="3810000"/>
            <a:ext cx="4429125" cy="266700"/>
          </a:xfrm>
          <a:prstGeom prst="rect">
            <a:avLst/>
          </a:prstGeom>
          <a:noFill/>
          <a:ln/>
        </p:spPr>
        <p:txBody>
          <a:bodyPr vert="horz" wrap="square" lIns="0" tIns="0" rIns="0" bIns="0" rtlCol="0" anchor="t"/>
          <a:lstStyle/>
          <a:p>
            <a:pPr marL="0" indent="0">
              <a:lnSpc>
                <a:spcPts val="2100"/>
              </a:lnSpc>
              <a:buNone/>
            </a:pPr>
            <a:r>
              <a:rPr lang="en-US" sz="1350" b="1" dirty="0">
                <a:solidFill>
                  <a:srgbClr val="B91C1C"/>
                </a:solidFill>
                <a:latin typeface="ui-sans-serif" pitchFamily="34" charset="0"/>
                <a:ea typeface="ui-sans-serif" pitchFamily="34" charset="-122"/>
                <a:cs typeface="ui-sans-serif" pitchFamily="34" charset="-120"/>
              </a:rPr>
              <a:t>HIPAA</a:t>
            </a:r>
            <a:endParaRPr lang="en-US" sz="1350" dirty="0"/>
          </a:p>
        </p:txBody>
      </p:sp>
      <p:sp>
        <p:nvSpPr>
          <p:cNvPr id="30" name="Text 17"/>
          <p:cNvSpPr/>
          <p:nvPr/>
        </p:nvSpPr>
        <p:spPr>
          <a:xfrm>
            <a:off x="7077075" y="4076700"/>
            <a:ext cx="4429125"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Health Insurance Portability and Accountability Act for healthcare information</a:t>
            </a:r>
            <a:endParaRPr lang="en-US" sz="1050" dirty="0"/>
          </a:p>
        </p:txBody>
      </p:sp>
      <p:sp>
        <p:nvSpPr>
          <p:cNvPr id="31" name="Text 18"/>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2" name="Text 19"/>
          <p:cNvSpPr/>
          <p:nvPr/>
        </p:nvSpPr>
        <p:spPr>
          <a:xfrm>
            <a:off x="11468695" y="65151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7/26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4953000"/>
          </a:xfrm>
          <a:prstGeom prst="rect">
            <a:avLst/>
          </a:prstGeom>
        </p:spPr>
      </p:pic>
      <p:pic>
        <p:nvPicPr>
          <p:cNvPr id="5" name="Image 3" descr="preencoded.png"/>
          <p:cNvPicPr>
            <a:picLocks noChangeAspect="1"/>
          </p:cNvPicPr>
          <p:nvPr/>
        </p:nvPicPr>
        <p:blipFill>
          <a:blip r:embed="rId6"/>
          <a:stretch>
            <a:fillRect/>
          </a:stretch>
        </p:blipFill>
        <p:spPr>
          <a:xfrm>
            <a:off x="533400" y="2819400"/>
            <a:ext cx="152400" cy="152400"/>
          </a:xfrm>
          <a:prstGeom prst="rect">
            <a:avLst/>
          </a:prstGeom>
        </p:spPr>
      </p:pic>
      <p:pic>
        <p:nvPicPr>
          <p:cNvPr id="6" name="Image 4" descr="preencoded.png"/>
          <p:cNvPicPr>
            <a:picLocks noChangeAspect="1"/>
          </p:cNvPicPr>
          <p:nvPr/>
        </p:nvPicPr>
        <p:blipFill>
          <a:blip r:embed="rId7"/>
          <a:stretch>
            <a:fillRect/>
          </a:stretch>
        </p:blipFill>
        <p:spPr>
          <a:xfrm>
            <a:off x="533400" y="3162300"/>
            <a:ext cx="152400" cy="152400"/>
          </a:xfrm>
          <a:prstGeom prst="rect">
            <a:avLst/>
          </a:prstGeom>
        </p:spPr>
      </p:pic>
      <p:pic>
        <p:nvPicPr>
          <p:cNvPr id="7" name="Image 5" descr="preencoded.png"/>
          <p:cNvPicPr>
            <a:picLocks noChangeAspect="1"/>
          </p:cNvPicPr>
          <p:nvPr/>
        </p:nvPicPr>
        <p:blipFill>
          <a:blip r:embed="rId8"/>
          <a:stretch>
            <a:fillRect/>
          </a:stretch>
        </p:blipFill>
        <p:spPr>
          <a:xfrm>
            <a:off x="533400" y="3505200"/>
            <a:ext cx="171450" cy="152400"/>
          </a:xfrm>
          <a:prstGeom prst="rect">
            <a:avLst/>
          </a:prstGeom>
        </p:spPr>
      </p:pic>
      <p:pic>
        <p:nvPicPr>
          <p:cNvPr id="8" name="Image 6" descr="preencoded.png"/>
          <p:cNvPicPr>
            <a:picLocks noChangeAspect="1"/>
          </p:cNvPicPr>
          <p:nvPr/>
        </p:nvPicPr>
        <p:blipFill>
          <a:blip r:embed="rId9"/>
          <a:stretch>
            <a:fillRect/>
          </a:stretch>
        </p:blipFill>
        <p:spPr>
          <a:xfrm>
            <a:off x="533400" y="3924300"/>
            <a:ext cx="5105400" cy="1333500"/>
          </a:xfrm>
          <a:prstGeom prst="rect">
            <a:avLst/>
          </a:prstGeom>
        </p:spPr>
      </p:pic>
      <p:pic>
        <p:nvPicPr>
          <p:cNvPr id="9" name="Image 7" descr="preencoded.png"/>
          <p:cNvPicPr>
            <a:picLocks noChangeAspect="1"/>
          </p:cNvPicPr>
          <p:nvPr/>
        </p:nvPicPr>
        <p:blipFill>
          <a:blip r:embed="rId5"/>
          <a:stretch>
            <a:fillRect/>
          </a:stretch>
        </p:blipFill>
        <p:spPr>
          <a:xfrm>
            <a:off x="6324600" y="1143000"/>
            <a:ext cx="5562600" cy="4953000"/>
          </a:xfrm>
          <a:prstGeom prst="rect">
            <a:avLst/>
          </a:prstGeom>
        </p:spPr>
      </p:pic>
      <p:pic>
        <p:nvPicPr>
          <p:cNvPr id="10" name="Image 8" descr="preencoded.png"/>
          <p:cNvPicPr>
            <a:picLocks noChangeAspect="1"/>
          </p:cNvPicPr>
          <p:nvPr/>
        </p:nvPicPr>
        <p:blipFill>
          <a:blip r:embed="rId10"/>
          <a:stretch>
            <a:fillRect/>
          </a:stretch>
        </p:blipFill>
        <p:spPr>
          <a:xfrm>
            <a:off x="6553200" y="1828800"/>
            <a:ext cx="1276350" cy="419100"/>
          </a:xfrm>
          <a:prstGeom prst="rect">
            <a:avLst/>
          </a:prstGeom>
        </p:spPr>
      </p:pic>
      <p:pic>
        <p:nvPicPr>
          <p:cNvPr id="11" name="Image 9" descr="preencoded.png"/>
          <p:cNvPicPr>
            <a:picLocks noChangeAspect="1"/>
          </p:cNvPicPr>
          <p:nvPr/>
        </p:nvPicPr>
        <p:blipFill>
          <a:blip r:embed="rId11"/>
          <a:stretch>
            <a:fillRect/>
          </a:stretch>
        </p:blipFill>
        <p:spPr>
          <a:xfrm>
            <a:off x="7829550" y="1828800"/>
            <a:ext cx="1276350" cy="419100"/>
          </a:xfrm>
          <a:prstGeom prst="rect">
            <a:avLst/>
          </a:prstGeom>
        </p:spPr>
      </p:pic>
      <p:pic>
        <p:nvPicPr>
          <p:cNvPr id="12" name="Image 10" descr="preencoded.png"/>
          <p:cNvPicPr>
            <a:picLocks noChangeAspect="1"/>
          </p:cNvPicPr>
          <p:nvPr/>
        </p:nvPicPr>
        <p:blipFill>
          <a:blip r:embed="rId12"/>
          <a:stretch>
            <a:fillRect/>
          </a:stretch>
        </p:blipFill>
        <p:spPr>
          <a:xfrm>
            <a:off x="9105900" y="1828800"/>
            <a:ext cx="1276350" cy="419100"/>
          </a:xfrm>
          <a:prstGeom prst="rect">
            <a:avLst/>
          </a:prstGeom>
        </p:spPr>
      </p:pic>
      <p:pic>
        <p:nvPicPr>
          <p:cNvPr id="13" name="Image 11" descr="preencoded.png"/>
          <p:cNvPicPr>
            <a:picLocks noChangeAspect="1"/>
          </p:cNvPicPr>
          <p:nvPr/>
        </p:nvPicPr>
        <p:blipFill>
          <a:blip r:embed="rId10"/>
          <a:stretch>
            <a:fillRect/>
          </a:stretch>
        </p:blipFill>
        <p:spPr>
          <a:xfrm>
            <a:off x="10382250" y="1828800"/>
            <a:ext cx="1276350" cy="419100"/>
          </a:xfrm>
          <a:prstGeom prst="rect">
            <a:avLst/>
          </a:prstGeom>
        </p:spPr>
      </p:pic>
      <p:pic>
        <p:nvPicPr>
          <p:cNvPr id="14" name="Image 12" descr="preencoded.png"/>
          <p:cNvPicPr>
            <a:picLocks noChangeAspect="1"/>
          </p:cNvPicPr>
          <p:nvPr/>
        </p:nvPicPr>
        <p:blipFill>
          <a:blip r:embed="rId10"/>
          <a:stretch>
            <a:fillRect/>
          </a:stretch>
        </p:blipFill>
        <p:spPr>
          <a:xfrm>
            <a:off x="6553200" y="2247900"/>
            <a:ext cx="1276350" cy="419100"/>
          </a:xfrm>
          <a:prstGeom prst="rect">
            <a:avLst/>
          </a:prstGeom>
        </p:spPr>
      </p:pic>
      <p:pic>
        <p:nvPicPr>
          <p:cNvPr id="15" name="Image 13" descr="preencoded.png"/>
          <p:cNvPicPr>
            <a:picLocks noChangeAspect="1"/>
          </p:cNvPicPr>
          <p:nvPr/>
        </p:nvPicPr>
        <p:blipFill>
          <a:blip r:embed="rId13"/>
          <a:stretch>
            <a:fillRect/>
          </a:stretch>
        </p:blipFill>
        <p:spPr>
          <a:xfrm>
            <a:off x="7829550" y="2247900"/>
            <a:ext cx="1276350" cy="419100"/>
          </a:xfrm>
          <a:prstGeom prst="rect">
            <a:avLst/>
          </a:prstGeom>
        </p:spPr>
      </p:pic>
      <p:pic>
        <p:nvPicPr>
          <p:cNvPr id="16" name="Image 14" descr="preencoded.png"/>
          <p:cNvPicPr>
            <a:picLocks noChangeAspect="1"/>
          </p:cNvPicPr>
          <p:nvPr/>
        </p:nvPicPr>
        <p:blipFill>
          <a:blip r:embed="rId14"/>
          <a:stretch>
            <a:fillRect/>
          </a:stretch>
        </p:blipFill>
        <p:spPr>
          <a:xfrm>
            <a:off x="9105900" y="2247900"/>
            <a:ext cx="1276350" cy="419100"/>
          </a:xfrm>
          <a:prstGeom prst="rect">
            <a:avLst/>
          </a:prstGeom>
        </p:spPr>
      </p:pic>
      <p:pic>
        <p:nvPicPr>
          <p:cNvPr id="17" name="Image 15" descr="preencoded.png"/>
          <p:cNvPicPr>
            <a:picLocks noChangeAspect="1"/>
          </p:cNvPicPr>
          <p:nvPr/>
        </p:nvPicPr>
        <p:blipFill>
          <a:blip r:embed="rId15"/>
          <a:stretch>
            <a:fillRect/>
          </a:stretch>
        </p:blipFill>
        <p:spPr>
          <a:xfrm>
            <a:off x="10382250" y="2247900"/>
            <a:ext cx="1276350" cy="419100"/>
          </a:xfrm>
          <a:prstGeom prst="rect">
            <a:avLst/>
          </a:prstGeom>
        </p:spPr>
      </p:pic>
      <p:pic>
        <p:nvPicPr>
          <p:cNvPr id="18" name="Image 16" descr="preencoded.png"/>
          <p:cNvPicPr>
            <a:picLocks noChangeAspect="1"/>
          </p:cNvPicPr>
          <p:nvPr/>
        </p:nvPicPr>
        <p:blipFill>
          <a:blip r:embed="rId10"/>
          <a:stretch>
            <a:fillRect/>
          </a:stretch>
        </p:blipFill>
        <p:spPr>
          <a:xfrm>
            <a:off x="6553200" y="2667000"/>
            <a:ext cx="1276350" cy="419100"/>
          </a:xfrm>
          <a:prstGeom prst="rect">
            <a:avLst/>
          </a:prstGeom>
        </p:spPr>
      </p:pic>
      <p:pic>
        <p:nvPicPr>
          <p:cNvPr id="19" name="Image 17" descr="preencoded.png"/>
          <p:cNvPicPr>
            <a:picLocks noChangeAspect="1"/>
          </p:cNvPicPr>
          <p:nvPr/>
        </p:nvPicPr>
        <p:blipFill>
          <a:blip r:embed="rId16"/>
          <a:stretch>
            <a:fillRect/>
          </a:stretch>
        </p:blipFill>
        <p:spPr>
          <a:xfrm>
            <a:off x="7829550" y="2667000"/>
            <a:ext cx="1276350" cy="419100"/>
          </a:xfrm>
          <a:prstGeom prst="rect">
            <a:avLst/>
          </a:prstGeom>
        </p:spPr>
      </p:pic>
      <p:pic>
        <p:nvPicPr>
          <p:cNvPr id="20" name="Image 18" descr="preencoded.png"/>
          <p:cNvPicPr>
            <a:picLocks noChangeAspect="1"/>
          </p:cNvPicPr>
          <p:nvPr/>
        </p:nvPicPr>
        <p:blipFill>
          <a:blip r:embed="rId17"/>
          <a:stretch>
            <a:fillRect/>
          </a:stretch>
        </p:blipFill>
        <p:spPr>
          <a:xfrm>
            <a:off x="9105900" y="2667000"/>
            <a:ext cx="1276350" cy="419100"/>
          </a:xfrm>
          <a:prstGeom prst="rect">
            <a:avLst/>
          </a:prstGeom>
        </p:spPr>
      </p:pic>
      <p:pic>
        <p:nvPicPr>
          <p:cNvPr id="21" name="Image 19" descr="preencoded.png"/>
          <p:cNvPicPr>
            <a:picLocks noChangeAspect="1"/>
          </p:cNvPicPr>
          <p:nvPr/>
        </p:nvPicPr>
        <p:blipFill>
          <a:blip r:embed="rId15"/>
          <a:stretch>
            <a:fillRect/>
          </a:stretch>
        </p:blipFill>
        <p:spPr>
          <a:xfrm>
            <a:off x="10382250" y="2667000"/>
            <a:ext cx="1276350" cy="419100"/>
          </a:xfrm>
          <a:prstGeom prst="rect">
            <a:avLst/>
          </a:prstGeom>
        </p:spPr>
      </p:pic>
      <p:pic>
        <p:nvPicPr>
          <p:cNvPr id="22" name="Image 20" descr="preencoded.png"/>
          <p:cNvPicPr>
            <a:picLocks noChangeAspect="1"/>
          </p:cNvPicPr>
          <p:nvPr/>
        </p:nvPicPr>
        <p:blipFill>
          <a:blip r:embed="rId10"/>
          <a:stretch>
            <a:fillRect/>
          </a:stretch>
        </p:blipFill>
        <p:spPr>
          <a:xfrm>
            <a:off x="6553200" y="3086100"/>
            <a:ext cx="1276350" cy="419100"/>
          </a:xfrm>
          <a:prstGeom prst="rect">
            <a:avLst/>
          </a:prstGeom>
        </p:spPr>
      </p:pic>
      <p:pic>
        <p:nvPicPr>
          <p:cNvPr id="23" name="Image 21" descr="preencoded.png"/>
          <p:cNvPicPr>
            <a:picLocks noChangeAspect="1"/>
          </p:cNvPicPr>
          <p:nvPr/>
        </p:nvPicPr>
        <p:blipFill>
          <a:blip r:embed="rId18"/>
          <a:stretch>
            <a:fillRect/>
          </a:stretch>
        </p:blipFill>
        <p:spPr>
          <a:xfrm>
            <a:off x="7829550" y="3086100"/>
            <a:ext cx="1276350" cy="419100"/>
          </a:xfrm>
          <a:prstGeom prst="rect">
            <a:avLst/>
          </a:prstGeom>
        </p:spPr>
      </p:pic>
      <p:pic>
        <p:nvPicPr>
          <p:cNvPr id="24" name="Image 22" descr="preencoded.png"/>
          <p:cNvPicPr>
            <a:picLocks noChangeAspect="1"/>
          </p:cNvPicPr>
          <p:nvPr/>
        </p:nvPicPr>
        <p:blipFill>
          <a:blip r:embed="rId15"/>
          <a:stretch>
            <a:fillRect/>
          </a:stretch>
        </p:blipFill>
        <p:spPr>
          <a:xfrm>
            <a:off x="9105900" y="3086100"/>
            <a:ext cx="1276350" cy="419100"/>
          </a:xfrm>
          <a:prstGeom prst="rect">
            <a:avLst/>
          </a:prstGeom>
        </p:spPr>
      </p:pic>
      <p:pic>
        <p:nvPicPr>
          <p:cNvPr id="25" name="Image 23" descr="preencoded.png"/>
          <p:cNvPicPr>
            <a:picLocks noChangeAspect="1"/>
          </p:cNvPicPr>
          <p:nvPr/>
        </p:nvPicPr>
        <p:blipFill>
          <a:blip r:embed="rId15"/>
          <a:stretch>
            <a:fillRect/>
          </a:stretch>
        </p:blipFill>
        <p:spPr>
          <a:xfrm>
            <a:off x="10382250" y="3086100"/>
            <a:ext cx="1276350" cy="419100"/>
          </a:xfrm>
          <a:prstGeom prst="rect">
            <a:avLst/>
          </a:prstGeom>
        </p:spPr>
      </p:pic>
      <p:pic>
        <p:nvPicPr>
          <p:cNvPr id="26" name="Image 24" descr="preencoded.png"/>
          <p:cNvPicPr>
            <a:picLocks noChangeAspect="1"/>
          </p:cNvPicPr>
          <p:nvPr/>
        </p:nvPicPr>
        <p:blipFill>
          <a:blip r:embed="rId19"/>
          <a:stretch>
            <a:fillRect/>
          </a:stretch>
        </p:blipFill>
        <p:spPr>
          <a:xfrm>
            <a:off x="6553200" y="4381500"/>
            <a:ext cx="152400" cy="152400"/>
          </a:xfrm>
          <a:prstGeom prst="rect">
            <a:avLst/>
          </a:prstGeom>
        </p:spPr>
      </p:pic>
      <p:pic>
        <p:nvPicPr>
          <p:cNvPr id="27" name="Image 25" descr="preencoded.png"/>
          <p:cNvPicPr>
            <a:picLocks noChangeAspect="1"/>
          </p:cNvPicPr>
          <p:nvPr/>
        </p:nvPicPr>
        <p:blipFill>
          <a:blip r:embed="rId20"/>
          <a:stretch>
            <a:fillRect/>
          </a:stretch>
        </p:blipFill>
        <p:spPr>
          <a:xfrm>
            <a:off x="9163050" y="4381500"/>
            <a:ext cx="95250" cy="152400"/>
          </a:xfrm>
          <a:prstGeom prst="rect">
            <a:avLst/>
          </a:prstGeom>
        </p:spPr>
      </p:pic>
      <p:pic>
        <p:nvPicPr>
          <p:cNvPr id="28" name="Image 26" descr="preencoded.png"/>
          <p:cNvPicPr>
            <a:picLocks noChangeAspect="1"/>
          </p:cNvPicPr>
          <p:nvPr/>
        </p:nvPicPr>
        <p:blipFill>
          <a:blip r:embed="rId21"/>
          <a:stretch>
            <a:fillRect/>
          </a:stretch>
        </p:blipFill>
        <p:spPr>
          <a:xfrm>
            <a:off x="6553200" y="4724400"/>
            <a:ext cx="152400" cy="152400"/>
          </a:xfrm>
          <a:prstGeom prst="rect">
            <a:avLst/>
          </a:prstGeom>
        </p:spPr>
      </p:pic>
      <p:pic>
        <p:nvPicPr>
          <p:cNvPr id="29" name="Image 27" descr="preencoded.png"/>
          <p:cNvPicPr>
            <a:picLocks noChangeAspect="1"/>
          </p:cNvPicPr>
          <p:nvPr/>
        </p:nvPicPr>
        <p:blipFill>
          <a:blip r:embed="rId22"/>
          <a:stretch>
            <a:fillRect/>
          </a:stretch>
        </p:blipFill>
        <p:spPr>
          <a:xfrm>
            <a:off x="9163050" y="4724400"/>
            <a:ext cx="190500" cy="152400"/>
          </a:xfrm>
          <a:prstGeom prst="rect">
            <a:avLst/>
          </a:prstGeom>
        </p:spPr>
      </p:pic>
      <p:pic>
        <p:nvPicPr>
          <p:cNvPr id="30" name="Image 28" descr="preencoded.png"/>
          <p:cNvPicPr>
            <a:picLocks noChangeAspect="1"/>
          </p:cNvPicPr>
          <p:nvPr/>
        </p:nvPicPr>
        <p:blipFill>
          <a:blip r:embed="rId23"/>
          <a:stretch>
            <a:fillRect/>
          </a:stretch>
        </p:blipFill>
        <p:spPr>
          <a:xfrm>
            <a:off x="0" y="6400800"/>
            <a:ext cx="12192000" cy="457200"/>
          </a:xfrm>
          <a:prstGeom prst="rect">
            <a:avLst/>
          </a:prstGeom>
        </p:spPr>
      </p:pic>
      <p:sp>
        <p:nvSpPr>
          <p:cNvPr id="31"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Pre-Audit Phase: Risk Assessment</a:t>
            </a:r>
            <a:endParaRPr lang="en-US" sz="2700" dirty="0"/>
          </a:p>
        </p:txBody>
      </p:sp>
      <p:sp>
        <p:nvSpPr>
          <p:cNvPr id="32"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Risk Assessment Methodology</a:t>
            </a:r>
            <a:endParaRPr lang="en-US" sz="1800" dirty="0"/>
          </a:p>
        </p:txBody>
      </p:sp>
      <p:sp>
        <p:nvSpPr>
          <p:cNvPr id="33" name="Text 2"/>
          <p:cNvSpPr/>
          <p:nvPr/>
        </p:nvSpPr>
        <p:spPr>
          <a:xfrm>
            <a:off x="533400" y="1828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 thorough risk assessment prioritizes audit areas, ensuring resources focus on the most critical compliance aspects.</a:t>
            </a:r>
            <a:endParaRPr lang="en-US" sz="1200" dirty="0"/>
          </a:p>
        </p:txBody>
      </p:sp>
      <p:sp>
        <p:nvSpPr>
          <p:cNvPr id="34" name="Text 3"/>
          <p:cNvSpPr/>
          <p:nvPr/>
        </p:nvSpPr>
        <p:spPr>
          <a:xfrm>
            <a:off x="533400" y="2438400"/>
            <a:ext cx="5105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Key Components:</a:t>
            </a:r>
            <a:endParaRPr lang="en-US" sz="1500" dirty="0"/>
          </a:p>
        </p:txBody>
      </p:sp>
      <p:sp>
        <p:nvSpPr>
          <p:cNvPr id="35" name="Text 4"/>
          <p:cNvSpPr/>
          <p:nvPr/>
        </p:nvSpPr>
        <p:spPr>
          <a:xfrm>
            <a:off x="800100" y="2781300"/>
            <a:ext cx="5155644"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Risk Identification:</a:t>
            </a:r>
            <a:r>
              <a:rPr lang="en-US" sz="1200" dirty="0">
                <a:solidFill>
                  <a:srgbClr val="000000"/>
                </a:solidFill>
                <a:latin typeface="ui-sans-serif" pitchFamily="34" charset="0"/>
                <a:ea typeface="ui-sans-serif" pitchFamily="34" charset="-122"/>
                <a:cs typeface="ui-sans-serif" pitchFamily="34" charset="-120"/>
              </a:rPr>
              <a:t> Identify potential compliance risks</a:t>
            </a:r>
            <a:endParaRPr lang="en-US" sz="1200" dirty="0"/>
          </a:p>
        </p:txBody>
      </p:sp>
      <p:sp>
        <p:nvSpPr>
          <p:cNvPr id="36" name="Text 5"/>
          <p:cNvSpPr/>
          <p:nvPr/>
        </p:nvSpPr>
        <p:spPr>
          <a:xfrm>
            <a:off x="800100" y="3124200"/>
            <a:ext cx="4303931"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Risk Analysis:</a:t>
            </a:r>
            <a:r>
              <a:rPr lang="en-US" sz="1200" dirty="0">
                <a:solidFill>
                  <a:srgbClr val="000000"/>
                </a:solidFill>
                <a:latin typeface="ui-sans-serif" pitchFamily="34" charset="0"/>
                <a:ea typeface="ui-sans-serif" pitchFamily="34" charset="-122"/>
                <a:cs typeface="ui-sans-serif" pitchFamily="34" charset="-120"/>
              </a:rPr>
              <a:t> Evaluate likelihood and impact</a:t>
            </a:r>
            <a:endParaRPr lang="en-US" sz="1200" dirty="0"/>
          </a:p>
        </p:txBody>
      </p:sp>
      <p:sp>
        <p:nvSpPr>
          <p:cNvPr id="37" name="Text 6"/>
          <p:cNvSpPr/>
          <p:nvPr/>
        </p:nvSpPr>
        <p:spPr>
          <a:xfrm>
            <a:off x="819150" y="3467100"/>
            <a:ext cx="447931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Risk Prioritization:</a:t>
            </a:r>
            <a:r>
              <a:rPr lang="en-US" sz="1200" dirty="0">
                <a:solidFill>
                  <a:srgbClr val="000000"/>
                </a:solidFill>
                <a:latin typeface="ui-sans-serif" pitchFamily="34" charset="0"/>
                <a:ea typeface="ui-sans-serif" pitchFamily="34" charset="-122"/>
                <a:cs typeface="ui-sans-serif" pitchFamily="34" charset="-120"/>
              </a:rPr>
              <a:t> Focus on highest-risk areas</a:t>
            </a:r>
            <a:endParaRPr lang="en-US" sz="1200" dirty="0"/>
          </a:p>
        </p:txBody>
      </p:sp>
      <p:sp>
        <p:nvSpPr>
          <p:cNvPr id="38" name="Text 7"/>
          <p:cNvSpPr/>
          <p:nvPr/>
        </p:nvSpPr>
        <p:spPr>
          <a:xfrm>
            <a:off x="685800" y="4076700"/>
            <a:ext cx="4800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Risk Assessment Factors</a:t>
            </a:r>
            <a:endParaRPr lang="en-US" sz="1350" dirty="0"/>
          </a:p>
        </p:txBody>
      </p:sp>
      <p:sp>
        <p:nvSpPr>
          <p:cNvPr id="39" name="Text 8"/>
          <p:cNvSpPr/>
          <p:nvPr/>
        </p:nvSpPr>
        <p:spPr>
          <a:xfrm>
            <a:off x="685800" y="4419600"/>
            <a:ext cx="4800600"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Risk = Likelihood × Impact</a:t>
            </a:r>
            <a:endParaRPr lang="en-US" sz="1200" dirty="0"/>
          </a:p>
        </p:txBody>
      </p:sp>
      <p:sp>
        <p:nvSpPr>
          <p:cNvPr id="40" name="Text 9"/>
          <p:cNvSpPr/>
          <p:nvPr/>
        </p:nvSpPr>
        <p:spPr>
          <a:xfrm>
            <a:off x="685800" y="4724400"/>
            <a:ext cx="48006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Understanding both likelihood and impact helps prioritize audit focus areas.</a:t>
            </a:r>
            <a:endParaRPr lang="en-US" sz="1050" dirty="0"/>
          </a:p>
        </p:txBody>
      </p:sp>
      <p:sp>
        <p:nvSpPr>
          <p:cNvPr id="41" name="Text 10"/>
          <p:cNvSpPr/>
          <p:nvPr/>
        </p:nvSpPr>
        <p:spPr>
          <a:xfrm>
            <a:off x="6553200" y="1371600"/>
            <a:ext cx="5105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Risk Evaluation</a:t>
            </a:r>
            <a:endParaRPr lang="en-US" sz="1800" dirty="0"/>
          </a:p>
        </p:txBody>
      </p:sp>
      <p:sp>
        <p:nvSpPr>
          <p:cNvPr id="42" name="Text 11"/>
          <p:cNvSpPr/>
          <p:nvPr/>
        </p:nvSpPr>
        <p:spPr>
          <a:xfrm>
            <a:off x="7829550" y="18288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Low</a:t>
            </a:r>
            <a:endParaRPr lang="en-US" sz="1200" dirty="0"/>
          </a:p>
        </p:txBody>
      </p:sp>
      <p:sp>
        <p:nvSpPr>
          <p:cNvPr id="43" name="Text 12"/>
          <p:cNvSpPr/>
          <p:nvPr/>
        </p:nvSpPr>
        <p:spPr>
          <a:xfrm>
            <a:off x="9105900" y="18288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Medium</a:t>
            </a:r>
            <a:endParaRPr lang="en-US" sz="1200" dirty="0"/>
          </a:p>
        </p:txBody>
      </p:sp>
      <p:sp>
        <p:nvSpPr>
          <p:cNvPr id="44" name="Text 13"/>
          <p:cNvSpPr/>
          <p:nvPr/>
        </p:nvSpPr>
        <p:spPr>
          <a:xfrm>
            <a:off x="10382250" y="18288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High</a:t>
            </a:r>
            <a:endParaRPr lang="en-US" sz="1200" dirty="0"/>
          </a:p>
        </p:txBody>
      </p:sp>
      <p:sp>
        <p:nvSpPr>
          <p:cNvPr id="45" name="Text 14"/>
          <p:cNvSpPr/>
          <p:nvPr/>
        </p:nvSpPr>
        <p:spPr>
          <a:xfrm>
            <a:off x="6553200" y="22479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High</a:t>
            </a:r>
            <a:endParaRPr lang="en-US" sz="1200" dirty="0"/>
          </a:p>
        </p:txBody>
      </p:sp>
      <p:sp>
        <p:nvSpPr>
          <p:cNvPr id="46" name="Text 15"/>
          <p:cNvSpPr/>
          <p:nvPr/>
        </p:nvSpPr>
        <p:spPr>
          <a:xfrm>
            <a:off x="7701915" y="2247900"/>
            <a:ext cx="153162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Critical</a:t>
            </a:r>
            <a:endParaRPr lang="en-US" sz="1200" dirty="0"/>
          </a:p>
        </p:txBody>
      </p:sp>
      <p:sp>
        <p:nvSpPr>
          <p:cNvPr id="47" name="Text 16"/>
          <p:cNvSpPr/>
          <p:nvPr/>
        </p:nvSpPr>
        <p:spPr>
          <a:xfrm>
            <a:off x="9105900" y="22479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High</a:t>
            </a:r>
            <a:endParaRPr lang="en-US" sz="1200" dirty="0"/>
          </a:p>
        </p:txBody>
      </p:sp>
      <p:sp>
        <p:nvSpPr>
          <p:cNvPr id="48" name="Text 17"/>
          <p:cNvSpPr/>
          <p:nvPr/>
        </p:nvSpPr>
        <p:spPr>
          <a:xfrm>
            <a:off x="10382250" y="22479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High</a:t>
            </a:r>
            <a:endParaRPr lang="en-US" sz="1200" dirty="0"/>
          </a:p>
        </p:txBody>
      </p:sp>
      <p:sp>
        <p:nvSpPr>
          <p:cNvPr id="49" name="Text 18"/>
          <p:cNvSpPr/>
          <p:nvPr/>
        </p:nvSpPr>
        <p:spPr>
          <a:xfrm>
            <a:off x="6553200" y="26670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Medium</a:t>
            </a:r>
            <a:endParaRPr lang="en-US" sz="1200" dirty="0"/>
          </a:p>
        </p:txBody>
      </p:sp>
      <p:sp>
        <p:nvSpPr>
          <p:cNvPr id="50" name="Text 19"/>
          <p:cNvSpPr/>
          <p:nvPr/>
        </p:nvSpPr>
        <p:spPr>
          <a:xfrm>
            <a:off x="7829550" y="26670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Medium</a:t>
            </a:r>
            <a:endParaRPr lang="en-US" sz="1200" dirty="0"/>
          </a:p>
        </p:txBody>
      </p:sp>
      <p:sp>
        <p:nvSpPr>
          <p:cNvPr id="51" name="Text 20"/>
          <p:cNvSpPr/>
          <p:nvPr/>
        </p:nvSpPr>
        <p:spPr>
          <a:xfrm>
            <a:off x="9105900" y="26670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Low</a:t>
            </a:r>
            <a:endParaRPr lang="en-US" sz="1200" dirty="0"/>
          </a:p>
        </p:txBody>
      </p:sp>
      <p:sp>
        <p:nvSpPr>
          <p:cNvPr id="52" name="Text 21"/>
          <p:cNvSpPr/>
          <p:nvPr/>
        </p:nvSpPr>
        <p:spPr>
          <a:xfrm>
            <a:off x="10382250" y="26670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High</a:t>
            </a:r>
            <a:endParaRPr lang="en-US" sz="1200" dirty="0"/>
          </a:p>
        </p:txBody>
      </p:sp>
      <p:sp>
        <p:nvSpPr>
          <p:cNvPr id="53" name="Text 22"/>
          <p:cNvSpPr/>
          <p:nvPr/>
        </p:nvSpPr>
        <p:spPr>
          <a:xfrm>
            <a:off x="6553200" y="3086100"/>
            <a:ext cx="1276350" cy="419100"/>
          </a:xfrm>
          <a:prstGeom prst="rect">
            <a:avLst/>
          </a:prstGeom>
          <a:noFill/>
          <a:ln/>
        </p:spPr>
        <p:txBody>
          <a:bodyPr vert="horz" wrap="square" lIns="0" tIns="0" rIns="0" bIns="0" rtlCol="0" anchor="t"/>
          <a:lstStyle/>
          <a:p>
            <a:pPr marL="0" indent="0" algn="ctr">
              <a:lnSpc>
                <a:spcPts val="1800"/>
              </a:lnSpc>
              <a:buNone/>
            </a:pPr>
            <a:r>
              <a:rPr lang="en-US" sz="1200" b="1" dirty="0">
                <a:solidFill>
                  <a:srgbClr val="000000"/>
                </a:solidFill>
                <a:latin typeface="ui-sans-serif" pitchFamily="34" charset="0"/>
                <a:ea typeface="ui-sans-serif" pitchFamily="34" charset="-122"/>
                <a:cs typeface="ui-sans-serif" pitchFamily="34" charset="-120"/>
              </a:rPr>
              <a:t>Low</a:t>
            </a:r>
            <a:endParaRPr lang="en-US" sz="1200" dirty="0"/>
          </a:p>
        </p:txBody>
      </p:sp>
      <p:sp>
        <p:nvSpPr>
          <p:cNvPr id="54" name="Text 23"/>
          <p:cNvSpPr/>
          <p:nvPr/>
        </p:nvSpPr>
        <p:spPr>
          <a:xfrm>
            <a:off x="7829550" y="30861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Low</a:t>
            </a:r>
            <a:endParaRPr lang="en-US" sz="1200" dirty="0"/>
          </a:p>
        </p:txBody>
      </p:sp>
      <p:sp>
        <p:nvSpPr>
          <p:cNvPr id="55" name="Text 24"/>
          <p:cNvSpPr/>
          <p:nvPr/>
        </p:nvSpPr>
        <p:spPr>
          <a:xfrm>
            <a:off x="9105900" y="30861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High</a:t>
            </a:r>
            <a:endParaRPr lang="en-US" sz="1200" dirty="0"/>
          </a:p>
        </p:txBody>
      </p:sp>
      <p:sp>
        <p:nvSpPr>
          <p:cNvPr id="56" name="Text 25"/>
          <p:cNvSpPr/>
          <p:nvPr/>
        </p:nvSpPr>
        <p:spPr>
          <a:xfrm>
            <a:off x="10382250" y="3086100"/>
            <a:ext cx="1276350" cy="419100"/>
          </a:xfrm>
          <a:prstGeom prst="rect">
            <a:avLst/>
          </a:prstGeom>
          <a:noFill/>
          <a:ln/>
        </p:spPr>
        <p:txBody>
          <a:bodyPr vert="horz" wrap="square" lIns="0" tIns="0" rIns="0" bIns="0" rtlCol="0" anchor="t"/>
          <a:lstStyle/>
          <a:p>
            <a:pPr marL="0" indent="0" algn="ctr">
              <a:lnSpc>
                <a:spcPts val="1800"/>
              </a:lnSpc>
              <a:buNone/>
            </a:pPr>
            <a:r>
              <a:rPr lang="en-US" sz="1200" dirty="0">
                <a:solidFill>
                  <a:srgbClr val="FFFFFF"/>
                </a:solidFill>
                <a:latin typeface="ui-sans-serif" pitchFamily="34" charset="0"/>
                <a:ea typeface="ui-sans-serif" pitchFamily="34" charset="-122"/>
                <a:cs typeface="ui-sans-serif" pitchFamily="34" charset="-120"/>
              </a:rPr>
              <a:t>High</a:t>
            </a:r>
            <a:endParaRPr lang="en-US" sz="1200" dirty="0"/>
          </a:p>
        </p:txBody>
      </p:sp>
      <p:sp>
        <p:nvSpPr>
          <p:cNvPr id="57" name="Text 26"/>
          <p:cNvSpPr/>
          <p:nvPr/>
        </p:nvSpPr>
        <p:spPr>
          <a:xfrm>
            <a:off x="6553200" y="3581400"/>
            <a:ext cx="612648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Risk Matrix: Evaluating likelihood vs. impact</a:t>
            </a:r>
            <a:endParaRPr lang="en-US" sz="1050" dirty="0"/>
          </a:p>
        </p:txBody>
      </p:sp>
      <p:sp>
        <p:nvSpPr>
          <p:cNvPr id="58" name="Text 27"/>
          <p:cNvSpPr/>
          <p:nvPr/>
        </p:nvSpPr>
        <p:spPr>
          <a:xfrm>
            <a:off x="6553200" y="4000500"/>
            <a:ext cx="61264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Common Compliance Risks</a:t>
            </a:r>
            <a:endParaRPr lang="en-US" sz="1500" dirty="0"/>
          </a:p>
        </p:txBody>
      </p:sp>
      <p:sp>
        <p:nvSpPr>
          <p:cNvPr id="59" name="Text 28"/>
          <p:cNvSpPr/>
          <p:nvPr/>
        </p:nvSpPr>
        <p:spPr>
          <a:xfrm>
            <a:off x="6781800" y="4343400"/>
            <a:ext cx="1386066"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Legal penalties</a:t>
            </a:r>
            <a:endParaRPr lang="en-US" sz="1200" dirty="0"/>
          </a:p>
        </p:txBody>
      </p:sp>
      <p:sp>
        <p:nvSpPr>
          <p:cNvPr id="60" name="Text 29"/>
          <p:cNvSpPr/>
          <p:nvPr/>
        </p:nvSpPr>
        <p:spPr>
          <a:xfrm>
            <a:off x="9334500" y="4343400"/>
            <a:ext cx="1419999"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Financial losses</a:t>
            </a:r>
            <a:endParaRPr lang="en-US" sz="1200" dirty="0"/>
          </a:p>
        </p:txBody>
      </p:sp>
      <p:sp>
        <p:nvSpPr>
          <p:cNvPr id="61" name="Text 30"/>
          <p:cNvSpPr/>
          <p:nvPr/>
        </p:nvSpPr>
        <p:spPr>
          <a:xfrm>
            <a:off x="6781800" y="4686300"/>
            <a:ext cx="1965424"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Reputational damage</a:t>
            </a:r>
            <a:endParaRPr lang="en-US" sz="1200" dirty="0"/>
          </a:p>
        </p:txBody>
      </p:sp>
      <p:sp>
        <p:nvSpPr>
          <p:cNvPr id="62" name="Text 31"/>
          <p:cNvSpPr/>
          <p:nvPr/>
        </p:nvSpPr>
        <p:spPr>
          <a:xfrm>
            <a:off x="9429750" y="4686300"/>
            <a:ext cx="2146161"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Operational disruptions</a:t>
            </a:r>
            <a:endParaRPr lang="en-US" sz="1200" dirty="0"/>
          </a:p>
        </p:txBody>
      </p:sp>
      <p:sp>
        <p:nvSpPr>
          <p:cNvPr id="63" name="Text 32"/>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64" name="Text 33"/>
          <p:cNvSpPr/>
          <p:nvPr/>
        </p:nvSpPr>
        <p:spPr>
          <a:xfrm>
            <a:off x="11468695" y="65151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8/26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533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2667000"/>
          </a:xfrm>
          <a:prstGeom prst="rect">
            <a:avLst/>
          </a:prstGeom>
        </p:spPr>
      </p:pic>
      <p:pic>
        <p:nvPicPr>
          <p:cNvPr id="5" name="Image 3" descr="preencoded.png"/>
          <p:cNvPicPr>
            <a:picLocks noChangeAspect="1"/>
          </p:cNvPicPr>
          <p:nvPr/>
        </p:nvPicPr>
        <p:blipFill>
          <a:blip r:embed="rId6"/>
          <a:stretch>
            <a:fillRect/>
          </a:stretch>
        </p:blipFill>
        <p:spPr>
          <a:xfrm>
            <a:off x="533400" y="1409700"/>
            <a:ext cx="285750" cy="228600"/>
          </a:xfrm>
          <a:prstGeom prst="rect">
            <a:avLst/>
          </a:prstGeom>
        </p:spPr>
      </p:pic>
      <p:pic>
        <p:nvPicPr>
          <p:cNvPr id="6" name="Image 4" descr="preencoded.png"/>
          <p:cNvPicPr>
            <a:picLocks noChangeAspect="1"/>
          </p:cNvPicPr>
          <p:nvPr/>
        </p:nvPicPr>
        <p:blipFill>
          <a:blip r:embed="rId7"/>
          <a:stretch>
            <a:fillRect/>
          </a:stretch>
        </p:blipFill>
        <p:spPr>
          <a:xfrm>
            <a:off x="533400" y="2476500"/>
            <a:ext cx="152400" cy="152400"/>
          </a:xfrm>
          <a:prstGeom prst="rect">
            <a:avLst/>
          </a:prstGeom>
        </p:spPr>
      </p:pic>
      <p:pic>
        <p:nvPicPr>
          <p:cNvPr id="7" name="Image 5" descr="preencoded.png"/>
          <p:cNvPicPr>
            <a:picLocks noChangeAspect="1"/>
          </p:cNvPicPr>
          <p:nvPr/>
        </p:nvPicPr>
        <p:blipFill>
          <a:blip r:embed="rId7"/>
          <a:stretch>
            <a:fillRect/>
          </a:stretch>
        </p:blipFill>
        <p:spPr>
          <a:xfrm>
            <a:off x="533400" y="2781300"/>
            <a:ext cx="152400" cy="152400"/>
          </a:xfrm>
          <a:prstGeom prst="rect">
            <a:avLst/>
          </a:prstGeom>
        </p:spPr>
      </p:pic>
      <p:pic>
        <p:nvPicPr>
          <p:cNvPr id="8" name="Image 6" descr="preencoded.png"/>
          <p:cNvPicPr>
            <a:picLocks noChangeAspect="1"/>
          </p:cNvPicPr>
          <p:nvPr/>
        </p:nvPicPr>
        <p:blipFill>
          <a:blip r:embed="rId7"/>
          <a:stretch>
            <a:fillRect/>
          </a:stretch>
        </p:blipFill>
        <p:spPr>
          <a:xfrm>
            <a:off x="533400" y="3086100"/>
            <a:ext cx="152400" cy="152400"/>
          </a:xfrm>
          <a:prstGeom prst="rect">
            <a:avLst/>
          </a:prstGeom>
        </p:spPr>
      </p:pic>
      <p:pic>
        <p:nvPicPr>
          <p:cNvPr id="9" name="Image 7" descr="preencoded.png"/>
          <p:cNvPicPr>
            <a:picLocks noChangeAspect="1"/>
          </p:cNvPicPr>
          <p:nvPr/>
        </p:nvPicPr>
        <p:blipFill>
          <a:blip r:embed="rId7"/>
          <a:stretch>
            <a:fillRect/>
          </a:stretch>
        </p:blipFill>
        <p:spPr>
          <a:xfrm>
            <a:off x="533400" y="33909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304800" y="4038600"/>
            <a:ext cx="5562600" cy="2552700"/>
          </a:xfrm>
          <a:prstGeom prst="rect">
            <a:avLst/>
          </a:prstGeom>
        </p:spPr>
      </p:pic>
      <p:pic>
        <p:nvPicPr>
          <p:cNvPr id="11" name="Image 9" descr="preencoded.png"/>
          <p:cNvPicPr>
            <a:picLocks noChangeAspect="1"/>
          </p:cNvPicPr>
          <p:nvPr/>
        </p:nvPicPr>
        <p:blipFill>
          <a:blip r:embed="rId9"/>
          <a:stretch>
            <a:fillRect/>
          </a:stretch>
        </p:blipFill>
        <p:spPr>
          <a:xfrm>
            <a:off x="533400" y="4305300"/>
            <a:ext cx="228600" cy="228600"/>
          </a:xfrm>
          <a:prstGeom prst="rect">
            <a:avLst/>
          </a:prstGeom>
        </p:spPr>
      </p:pic>
      <p:pic>
        <p:nvPicPr>
          <p:cNvPr id="12" name="Image 10" descr="preencoded.png"/>
          <p:cNvPicPr>
            <a:picLocks noChangeAspect="1"/>
          </p:cNvPicPr>
          <p:nvPr/>
        </p:nvPicPr>
        <p:blipFill>
          <a:blip r:embed="rId10"/>
          <a:stretch>
            <a:fillRect/>
          </a:stretch>
        </p:blipFill>
        <p:spPr>
          <a:xfrm>
            <a:off x="533400" y="4724400"/>
            <a:ext cx="2476500" cy="838200"/>
          </a:xfrm>
          <a:prstGeom prst="rect">
            <a:avLst/>
          </a:prstGeom>
        </p:spPr>
      </p:pic>
      <p:pic>
        <p:nvPicPr>
          <p:cNvPr id="13" name="Image 11" descr="preencoded.png"/>
          <p:cNvPicPr>
            <a:picLocks noChangeAspect="1"/>
          </p:cNvPicPr>
          <p:nvPr/>
        </p:nvPicPr>
        <p:blipFill>
          <a:blip r:embed="rId11"/>
          <a:stretch>
            <a:fillRect/>
          </a:stretch>
        </p:blipFill>
        <p:spPr>
          <a:xfrm>
            <a:off x="3162300" y="4724400"/>
            <a:ext cx="2476500" cy="838200"/>
          </a:xfrm>
          <a:prstGeom prst="rect">
            <a:avLst/>
          </a:prstGeom>
        </p:spPr>
      </p:pic>
      <p:pic>
        <p:nvPicPr>
          <p:cNvPr id="14" name="Image 12" descr="preencoded.png"/>
          <p:cNvPicPr>
            <a:picLocks noChangeAspect="1"/>
          </p:cNvPicPr>
          <p:nvPr/>
        </p:nvPicPr>
        <p:blipFill>
          <a:blip r:embed="rId12"/>
          <a:stretch>
            <a:fillRect/>
          </a:stretch>
        </p:blipFill>
        <p:spPr>
          <a:xfrm>
            <a:off x="533400" y="5715000"/>
            <a:ext cx="2476500" cy="647700"/>
          </a:xfrm>
          <a:prstGeom prst="rect">
            <a:avLst/>
          </a:prstGeom>
        </p:spPr>
      </p:pic>
      <p:pic>
        <p:nvPicPr>
          <p:cNvPr id="15" name="Image 13" descr="preencoded.png"/>
          <p:cNvPicPr>
            <a:picLocks noChangeAspect="1"/>
          </p:cNvPicPr>
          <p:nvPr/>
        </p:nvPicPr>
        <p:blipFill>
          <a:blip r:embed="rId13"/>
          <a:stretch>
            <a:fillRect/>
          </a:stretch>
        </p:blipFill>
        <p:spPr>
          <a:xfrm>
            <a:off x="3162300" y="5715000"/>
            <a:ext cx="2476500" cy="647700"/>
          </a:xfrm>
          <a:prstGeom prst="rect">
            <a:avLst/>
          </a:prstGeom>
        </p:spPr>
      </p:pic>
      <p:pic>
        <p:nvPicPr>
          <p:cNvPr id="16" name="Image 14" descr="preencoded.png"/>
          <p:cNvPicPr>
            <a:picLocks noChangeAspect="1"/>
          </p:cNvPicPr>
          <p:nvPr/>
        </p:nvPicPr>
        <p:blipFill>
          <a:blip r:embed="rId14"/>
          <a:stretch>
            <a:fillRect/>
          </a:stretch>
        </p:blipFill>
        <p:spPr>
          <a:xfrm>
            <a:off x="6324600" y="1143000"/>
            <a:ext cx="5562600" cy="5448300"/>
          </a:xfrm>
          <a:prstGeom prst="rect">
            <a:avLst/>
          </a:prstGeom>
        </p:spPr>
      </p:pic>
      <p:pic>
        <p:nvPicPr>
          <p:cNvPr id="17" name="Image 15" descr="preencoded.png"/>
          <p:cNvPicPr>
            <a:picLocks noChangeAspect="1"/>
          </p:cNvPicPr>
          <p:nvPr/>
        </p:nvPicPr>
        <p:blipFill>
          <a:blip r:embed="rId15"/>
          <a:stretch>
            <a:fillRect/>
          </a:stretch>
        </p:blipFill>
        <p:spPr>
          <a:xfrm>
            <a:off x="6553200" y="1409700"/>
            <a:ext cx="171450" cy="228600"/>
          </a:xfrm>
          <a:prstGeom prst="rect">
            <a:avLst/>
          </a:prstGeom>
        </p:spPr>
      </p:pic>
      <p:pic>
        <p:nvPicPr>
          <p:cNvPr id="18" name="Image 16" descr="preencoded.png"/>
          <p:cNvPicPr>
            <a:picLocks noChangeAspect="1"/>
          </p:cNvPicPr>
          <p:nvPr/>
        </p:nvPicPr>
        <p:blipFill>
          <a:blip r:embed="rId16"/>
          <a:stretch>
            <a:fillRect/>
          </a:stretch>
        </p:blipFill>
        <p:spPr>
          <a:xfrm>
            <a:off x="6553200" y="3124200"/>
            <a:ext cx="323850" cy="381000"/>
          </a:xfrm>
          <a:prstGeom prst="rect">
            <a:avLst/>
          </a:prstGeom>
        </p:spPr>
      </p:pic>
      <p:pic>
        <p:nvPicPr>
          <p:cNvPr id="19" name="Image 17" descr="preencoded.png"/>
          <p:cNvPicPr>
            <a:picLocks noChangeAspect="1"/>
          </p:cNvPicPr>
          <p:nvPr/>
        </p:nvPicPr>
        <p:blipFill>
          <a:blip r:embed="rId17"/>
          <a:stretch>
            <a:fillRect/>
          </a:stretch>
        </p:blipFill>
        <p:spPr>
          <a:xfrm>
            <a:off x="6629400" y="3228975"/>
            <a:ext cx="171450" cy="152400"/>
          </a:xfrm>
          <a:prstGeom prst="rect">
            <a:avLst/>
          </a:prstGeom>
        </p:spPr>
      </p:pic>
      <p:pic>
        <p:nvPicPr>
          <p:cNvPr id="20" name="Image 18" descr="preencoded.png"/>
          <p:cNvPicPr>
            <a:picLocks noChangeAspect="1"/>
          </p:cNvPicPr>
          <p:nvPr/>
        </p:nvPicPr>
        <p:blipFill>
          <a:blip r:embed="rId18"/>
          <a:stretch>
            <a:fillRect/>
          </a:stretch>
        </p:blipFill>
        <p:spPr>
          <a:xfrm>
            <a:off x="6553200" y="3695700"/>
            <a:ext cx="304800" cy="381000"/>
          </a:xfrm>
          <a:prstGeom prst="rect">
            <a:avLst/>
          </a:prstGeom>
        </p:spPr>
      </p:pic>
      <p:pic>
        <p:nvPicPr>
          <p:cNvPr id="21" name="Image 19" descr="preencoded.png"/>
          <p:cNvPicPr>
            <a:picLocks noChangeAspect="1"/>
          </p:cNvPicPr>
          <p:nvPr/>
        </p:nvPicPr>
        <p:blipFill>
          <a:blip r:embed="rId19"/>
          <a:stretch>
            <a:fillRect/>
          </a:stretch>
        </p:blipFill>
        <p:spPr>
          <a:xfrm>
            <a:off x="6629400" y="3800475"/>
            <a:ext cx="152400" cy="152400"/>
          </a:xfrm>
          <a:prstGeom prst="rect">
            <a:avLst/>
          </a:prstGeom>
        </p:spPr>
      </p:pic>
      <p:pic>
        <p:nvPicPr>
          <p:cNvPr id="22" name="Image 20" descr="preencoded.png"/>
          <p:cNvPicPr>
            <a:picLocks noChangeAspect="1"/>
          </p:cNvPicPr>
          <p:nvPr/>
        </p:nvPicPr>
        <p:blipFill>
          <a:blip r:embed="rId20"/>
          <a:stretch>
            <a:fillRect/>
          </a:stretch>
        </p:blipFill>
        <p:spPr>
          <a:xfrm>
            <a:off x="6553200" y="4267200"/>
            <a:ext cx="323850" cy="381000"/>
          </a:xfrm>
          <a:prstGeom prst="rect">
            <a:avLst/>
          </a:prstGeom>
        </p:spPr>
      </p:pic>
      <p:pic>
        <p:nvPicPr>
          <p:cNvPr id="23" name="Image 21" descr="preencoded.png"/>
          <p:cNvPicPr>
            <a:picLocks noChangeAspect="1"/>
          </p:cNvPicPr>
          <p:nvPr/>
        </p:nvPicPr>
        <p:blipFill>
          <a:blip r:embed="rId21"/>
          <a:stretch>
            <a:fillRect/>
          </a:stretch>
        </p:blipFill>
        <p:spPr>
          <a:xfrm>
            <a:off x="6629400" y="4371975"/>
            <a:ext cx="171450" cy="152400"/>
          </a:xfrm>
          <a:prstGeom prst="rect">
            <a:avLst/>
          </a:prstGeom>
        </p:spPr>
      </p:pic>
      <p:pic>
        <p:nvPicPr>
          <p:cNvPr id="24" name="Image 22" descr="preencoded.png"/>
          <p:cNvPicPr>
            <a:picLocks noChangeAspect="1"/>
          </p:cNvPicPr>
          <p:nvPr/>
        </p:nvPicPr>
        <p:blipFill>
          <a:blip r:embed="rId22"/>
          <a:stretch>
            <a:fillRect/>
          </a:stretch>
        </p:blipFill>
        <p:spPr>
          <a:xfrm>
            <a:off x="6553200" y="4838700"/>
            <a:ext cx="285750" cy="381000"/>
          </a:xfrm>
          <a:prstGeom prst="rect">
            <a:avLst/>
          </a:prstGeom>
        </p:spPr>
      </p:pic>
      <p:pic>
        <p:nvPicPr>
          <p:cNvPr id="25" name="Image 23" descr="preencoded.png"/>
          <p:cNvPicPr>
            <a:picLocks noChangeAspect="1"/>
          </p:cNvPicPr>
          <p:nvPr/>
        </p:nvPicPr>
        <p:blipFill>
          <a:blip r:embed="rId23"/>
          <a:stretch>
            <a:fillRect/>
          </a:stretch>
        </p:blipFill>
        <p:spPr>
          <a:xfrm>
            <a:off x="6629400" y="4943475"/>
            <a:ext cx="133350" cy="152400"/>
          </a:xfrm>
          <a:prstGeom prst="rect">
            <a:avLst/>
          </a:prstGeom>
        </p:spPr>
      </p:pic>
      <p:pic>
        <p:nvPicPr>
          <p:cNvPr id="26" name="Image 24" descr="preencoded.png"/>
          <p:cNvPicPr>
            <a:picLocks noChangeAspect="1"/>
          </p:cNvPicPr>
          <p:nvPr/>
        </p:nvPicPr>
        <p:blipFill>
          <a:blip r:embed="rId24"/>
          <a:stretch>
            <a:fillRect/>
          </a:stretch>
        </p:blipFill>
        <p:spPr>
          <a:xfrm>
            <a:off x="0" y="6896100"/>
            <a:ext cx="12192000" cy="457200"/>
          </a:xfrm>
          <a:prstGeom prst="rect">
            <a:avLst/>
          </a:prstGeom>
        </p:spPr>
      </p:pic>
      <p:sp>
        <p:nvSpPr>
          <p:cNvPr id="27"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Pre-Audit Phase: Assembling the Audit Team</a:t>
            </a:r>
            <a:endParaRPr lang="en-US" sz="2700" dirty="0"/>
          </a:p>
        </p:txBody>
      </p:sp>
      <p:sp>
        <p:nvSpPr>
          <p:cNvPr id="28" name="Text 1"/>
          <p:cNvSpPr/>
          <p:nvPr/>
        </p:nvSpPr>
        <p:spPr>
          <a:xfrm>
            <a:off x="933450" y="1371600"/>
            <a:ext cx="5105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Selection Criteria</a:t>
            </a:r>
            <a:endParaRPr lang="en-US" sz="1800" dirty="0"/>
          </a:p>
        </p:txBody>
      </p:sp>
      <p:sp>
        <p:nvSpPr>
          <p:cNvPr id="29" name="Text 2"/>
          <p:cNvSpPr/>
          <p:nvPr/>
        </p:nvSpPr>
        <p:spPr>
          <a:xfrm>
            <a:off x="533400" y="1828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selection of the audit team is paramount, requiring a diverse mix of skills to cover all aspects of the compliance audit.</a:t>
            </a:r>
            <a:endParaRPr lang="en-US" sz="1200" dirty="0"/>
          </a:p>
        </p:txBody>
      </p:sp>
      <p:sp>
        <p:nvSpPr>
          <p:cNvPr id="30" name="Text 3"/>
          <p:cNvSpPr/>
          <p:nvPr/>
        </p:nvSpPr>
        <p:spPr>
          <a:xfrm>
            <a:off x="800100" y="2438400"/>
            <a:ext cx="439304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Subject matter expertise in relevant regulations</a:t>
            </a:r>
            <a:endParaRPr lang="en-US" sz="1200" dirty="0"/>
          </a:p>
        </p:txBody>
      </p:sp>
      <p:sp>
        <p:nvSpPr>
          <p:cNvPr id="31" name="Text 4"/>
          <p:cNvSpPr/>
          <p:nvPr/>
        </p:nvSpPr>
        <p:spPr>
          <a:xfrm>
            <a:off x="800100" y="2743200"/>
            <a:ext cx="547497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Technical knowledge of systems or processes being audited</a:t>
            </a:r>
            <a:endParaRPr lang="en-US" sz="1200" dirty="0"/>
          </a:p>
        </p:txBody>
      </p:sp>
      <p:sp>
        <p:nvSpPr>
          <p:cNvPr id="32" name="Text 5"/>
          <p:cNvSpPr/>
          <p:nvPr/>
        </p:nvSpPr>
        <p:spPr>
          <a:xfrm>
            <a:off x="800100" y="3048000"/>
            <a:ext cx="403175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Strong auditing skills and analytical abilities</a:t>
            </a:r>
            <a:endParaRPr lang="en-US" sz="1200" dirty="0"/>
          </a:p>
        </p:txBody>
      </p:sp>
      <p:sp>
        <p:nvSpPr>
          <p:cNvPr id="33" name="Text 6"/>
          <p:cNvSpPr/>
          <p:nvPr/>
        </p:nvSpPr>
        <p:spPr>
          <a:xfrm>
            <a:off x="800100" y="3352800"/>
            <a:ext cx="568428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Objectivity and independence to ensure impartial assessment</a:t>
            </a:r>
            <a:endParaRPr lang="en-US" sz="1200" dirty="0"/>
          </a:p>
        </p:txBody>
      </p:sp>
      <p:sp>
        <p:nvSpPr>
          <p:cNvPr id="34" name="Text 7"/>
          <p:cNvSpPr/>
          <p:nvPr/>
        </p:nvSpPr>
        <p:spPr>
          <a:xfrm>
            <a:off x="876300" y="42672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Required Skill Sets</a:t>
            </a:r>
            <a:endParaRPr lang="en-US" sz="1800" dirty="0"/>
          </a:p>
        </p:txBody>
      </p:sp>
      <p:sp>
        <p:nvSpPr>
          <p:cNvPr id="35" name="Text 8"/>
          <p:cNvSpPr/>
          <p:nvPr/>
        </p:nvSpPr>
        <p:spPr>
          <a:xfrm>
            <a:off x="647700" y="4838700"/>
            <a:ext cx="26974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F766E"/>
                </a:solidFill>
                <a:latin typeface="ui-sans-serif" pitchFamily="34" charset="0"/>
                <a:ea typeface="ui-sans-serif" pitchFamily="34" charset="-122"/>
                <a:cs typeface="ui-sans-serif" pitchFamily="34" charset="-120"/>
              </a:rPr>
              <a:t>Technical Expertise</a:t>
            </a:r>
            <a:endParaRPr lang="en-US" sz="1200" dirty="0"/>
          </a:p>
        </p:txBody>
      </p:sp>
      <p:sp>
        <p:nvSpPr>
          <p:cNvPr id="36" name="Text 9"/>
          <p:cNvSpPr/>
          <p:nvPr/>
        </p:nvSpPr>
        <p:spPr>
          <a:xfrm>
            <a:off x="647700" y="5067300"/>
            <a:ext cx="22479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Domain knowledge in specific areas</a:t>
            </a:r>
            <a:endParaRPr lang="en-US" sz="1050" dirty="0"/>
          </a:p>
        </p:txBody>
      </p:sp>
      <p:sp>
        <p:nvSpPr>
          <p:cNvPr id="37" name="Text 10"/>
          <p:cNvSpPr/>
          <p:nvPr/>
        </p:nvSpPr>
        <p:spPr>
          <a:xfrm>
            <a:off x="3276600" y="4838700"/>
            <a:ext cx="26974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7E22CE"/>
                </a:solidFill>
                <a:latin typeface="ui-sans-serif" pitchFamily="34" charset="0"/>
                <a:ea typeface="ui-sans-serif" pitchFamily="34" charset="-122"/>
                <a:cs typeface="ui-sans-serif" pitchFamily="34" charset="-120"/>
              </a:rPr>
              <a:t>Regulatory Knowledge</a:t>
            </a:r>
            <a:endParaRPr lang="en-US" sz="1200" dirty="0"/>
          </a:p>
        </p:txBody>
      </p:sp>
      <p:sp>
        <p:nvSpPr>
          <p:cNvPr id="38" name="Text 11"/>
          <p:cNvSpPr/>
          <p:nvPr/>
        </p:nvSpPr>
        <p:spPr>
          <a:xfrm>
            <a:off x="3276600" y="5067300"/>
            <a:ext cx="269748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Familiarity with applicable laws</a:t>
            </a:r>
            <a:endParaRPr lang="en-US" sz="1050" dirty="0"/>
          </a:p>
        </p:txBody>
      </p:sp>
      <p:sp>
        <p:nvSpPr>
          <p:cNvPr id="39" name="Text 12"/>
          <p:cNvSpPr/>
          <p:nvPr/>
        </p:nvSpPr>
        <p:spPr>
          <a:xfrm>
            <a:off x="647700" y="5829300"/>
            <a:ext cx="26974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15803D"/>
                </a:solidFill>
                <a:latin typeface="ui-sans-serif" pitchFamily="34" charset="0"/>
                <a:ea typeface="ui-sans-serif" pitchFamily="34" charset="-122"/>
                <a:cs typeface="ui-sans-serif" pitchFamily="34" charset="-120"/>
              </a:rPr>
              <a:t>Analytical Skills</a:t>
            </a:r>
            <a:endParaRPr lang="en-US" sz="1200" dirty="0"/>
          </a:p>
        </p:txBody>
      </p:sp>
      <p:sp>
        <p:nvSpPr>
          <p:cNvPr id="40" name="Text 13"/>
          <p:cNvSpPr/>
          <p:nvPr/>
        </p:nvSpPr>
        <p:spPr>
          <a:xfrm>
            <a:off x="647700" y="6057900"/>
            <a:ext cx="269748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Ability to interpret complex data</a:t>
            </a:r>
            <a:endParaRPr lang="en-US" sz="1050" dirty="0"/>
          </a:p>
        </p:txBody>
      </p:sp>
      <p:sp>
        <p:nvSpPr>
          <p:cNvPr id="41" name="Text 14"/>
          <p:cNvSpPr/>
          <p:nvPr/>
        </p:nvSpPr>
        <p:spPr>
          <a:xfrm>
            <a:off x="3276600" y="5829300"/>
            <a:ext cx="2697480" cy="228600"/>
          </a:xfrm>
          <a:prstGeom prst="rect">
            <a:avLst/>
          </a:prstGeom>
          <a:noFill/>
          <a:ln/>
        </p:spPr>
        <p:txBody>
          <a:bodyPr vert="horz" wrap="square" lIns="0" tIns="0" rIns="0" bIns="0" rtlCol="0" anchor="t"/>
          <a:lstStyle/>
          <a:p>
            <a:pPr marL="0" indent="0">
              <a:lnSpc>
                <a:spcPts val="1800"/>
              </a:lnSpc>
              <a:buNone/>
            </a:pPr>
            <a:r>
              <a:rPr lang="en-US" sz="1200" b="1" dirty="0">
                <a:solidFill>
                  <a:srgbClr val="B91C1C"/>
                </a:solidFill>
                <a:latin typeface="ui-sans-serif" pitchFamily="34" charset="0"/>
                <a:ea typeface="ui-sans-serif" pitchFamily="34" charset="-122"/>
                <a:cs typeface="ui-sans-serif" pitchFamily="34" charset="-120"/>
              </a:rPr>
              <a:t>Communication</a:t>
            </a:r>
            <a:endParaRPr lang="en-US" sz="1200" dirty="0"/>
          </a:p>
        </p:txBody>
      </p:sp>
      <p:sp>
        <p:nvSpPr>
          <p:cNvPr id="42" name="Text 15"/>
          <p:cNvSpPr/>
          <p:nvPr/>
        </p:nvSpPr>
        <p:spPr>
          <a:xfrm>
            <a:off x="3276600" y="6057900"/>
            <a:ext cx="2697480"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Clear reporting and presentation</a:t>
            </a:r>
            <a:endParaRPr lang="en-US" sz="1050" dirty="0"/>
          </a:p>
        </p:txBody>
      </p:sp>
      <p:sp>
        <p:nvSpPr>
          <p:cNvPr id="43" name="Text 16"/>
          <p:cNvSpPr/>
          <p:nvPr/>
        </p:nvSpPr>
        <p:spPr>
          <a:xfrm>
            <a:off x="683895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Establishing the Audit Charter</a:t>
            </a:r>
            <a:endParaRPr lang="en-US" sz="1800" dirty="0"/>
          </a:p>
        </p:txBody>
      </p:sp>
      <p:sp>
        <p:nvSpPr>
          <p:cNvPr id="44" name="Text 17"/>
          <p:cNvSpPr/>
          <p:nvPr/>
        </p:nvSpPr>
        <p:spPr>
          <a:xfrm>
            <a:off x="6553200" y="1828800"/>
            <a:ext cx="5105400"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audit charter is a formal document that outlines the team's authority, responsibilities, and reporting lines, ensuring clarity and accountability throughout the audit process.</a:t>
            </a:r>
            <a:endParaRPr lang="en-US" sz="1200" dirty="0"/>
          </a:p>
        </p:txBody>
      </p:sp>
      <p:sp>
        <p:nvSpPr>
          <p:cNvPr id="45" name="Text 18"/>
          <p:cNvSpPr/>
          <p:nvPr/>
        </p:nvSpPr>
        <p:spPr>
          <a:xfrm>
            <a:off x="6553200" y="2743200"/>
            <a:ext cx="61264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Key Components of an Audit Charter</a:t>
            </a:r>
            <a:endParaRPr lang="en-US" sz="1500" dirty="0"/>
          </a:p>
        </p:txBody>
      </p:sp>
      <p:sp>
        <p:nvSpPr>
          <p:cNvPr id="46" name="Text 19"/>
          <p:cNvSpPr/>
          <p:nvPr/>
        </p:nvSpPr>
        <p:spPr>
          <a:xfrm>
            <a:off x="7029450" y="3124200"/>
            <a:ext cx="379601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Authority</a:t>
            </a:r>
            <a:endParaRPr lang="en-US" sz="1200" dirty="0"/>
          </a:p>
        </p:txBody>
      </p:sp>
      <p:sp>
        <p:nvSpPr>
          <p:cNvPr id="47" name="Text 20"/>
          <p:cNvSpPr/>
          <p:nvPr/>
        </p:nvSpPr>
        <p:spPr>
          <a:xfrm>
            <a:off x="7029450" y="3352800"/>
            <a:ext cx="4555212"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Defines the scope of authority granted to the audit team</a:t>
            </a:r>
            <a:endParaRPr lang="en-US" sz="1050" dirty="0"/>
          </a:p>
        </p:txBody>
      </p:sp>
      <p:sp>
        <p:nvSpPr>
          <p:cNvPr id="48" name="Text 21"/>
          <p:cNvSpPr/>
          <p:nvPr/>
        </p:nvSpPr>
        <p:spPr>
          <a:xfrm>
            <a:off x="7010400" y="3695700"/>
            <a:ext cx="369957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Responsibilities</a:t>
            </a:r>
            <a:endParaRPr lang="en-US" sz="1200" dirty="0"/>
          </a:p>
        </p:txBody>
      </p:sp>
      <p:sp>
        <p:nvSpPr>
          <p:cNvPr id="49" name="Text 22"/>
          <p:cNvSpPr/>
          <p:nvPr/>
        </p:nvSpPr>
        <p:spPr>
          <a:xfrm>
            <a:off x="7010400" y="3924300"/>
            <a:ext cx="4439483"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Outlines the specific duties and obligations of the team</a:t>
            </a:r>
            <a:endParaRPr lang="en-US" sz="1050" dirty="0"/>
          </a:p>
        </p:txBody>
      </p:sp>
      <p:sp>
        <p:nvSpPr>
          <p:cNvPr id="50" name="Text 23"/>
          <p:cNvSpPr/>
          <p:nvPr/>
        </p:nvSpPr>
        <p:spPr>
          <a:xfrm>
            <a:off x="7029450" y="4267200"/>
            <a:ext cx="2927003"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Reporting Lines</a:t>
            </a:r>
            <a:endParaRPr lang="en-US" sz="1200" dirty="0"/>
          </a:p>
        </p:txBody>
      </p:sp>
      <p:sp>
        <p:nvSpPr>
          <p:cNvPr id="51" name="Text 24"/>
          <p:cNvSpPr/>
          <p:nvPr/>
        </p:nvSpPr>
        <p:spPr>
          <a:xfrm>
            <a:off x="7029450" y="4495800"/>
            <a:ext cx="3512403"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Establishes to whom the audit team reports</a:t>
            </a:r>
            <a:endParaRPr lang="en-US" sz="1050" dirty="0"/>
          </a:p>
        </p:txBody>
      </p:sp>
      <p:sp>
        <p:nvSpPr>
          <p:cNvPr id="52" name="Text 25"/>
          <p:cNvSpPr/>
          <p:nvPr/>
        </p:nvSpPr>
        <p:spPr>
          <a:xfrm>
            <a:off x="6991350" y="4838700"/>
            <a:ext cx="3838277"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Timeline</a:t>
            </a:r>
            <a:endParaRPr lang="en-US" sz="1200" dirty="0"/>
          </a:p>
        </p:txBody>
      </p:sp>
      <p:sp>
        <p:nvSpPr>
          <p:cNvPr id="53" name="Text 26"/>
          <p:cNvSpPr/>
          <p:nvPr/>
        </p:nvSpPr>
        <p:spPr>
          <a:xfrm>
            <a:off x="6991350" y="5067300"/>
            <a:ext cx="4605933"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Defines the scope and schedule of the audit engagement</a:t>
            </a:r>
            <a:endParaRPr lang="en-US" sz="1050" dirty="0"/>
          </a:p>
        </p:txBody>
      </p:sp>
      <p:sp>
        <p:nvSpPr>
          <p:cNvPr id="54" name="Text 27"/>
          <p:cNvSpPr/>
          <p:nvPr/>
        </p:nvSpPr>
        <p:spPr>
          <a:xfrm>
            <a:off x="381000" y="70104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55" name="Text 28"/>
          <p:cNvSpPr/>
          <p:nvPr/>
        </p:nvSpPr>
        <p:spPr>
          <a:xfrm>
            <a:off x="11468695" y="7010400"/>
            <a:ext cx="41076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9/26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80391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3632150" cy="6134100"/>
          </a:xfrm>
          <a:prstGeom prst="rect">
            <a:avLst/>
          </a:prstGeom>
        </p:spPr>
      </p:pic>
      <p:pic>
        <p:nvPicPr>
          <p:cNvPr id="5" name="Image 3" descr="preencoded.png"/>
          <p:cNvPicPr>
            <a:picLocks noChangeAspect="1"/>
          </p:cNvPicPr>
          <p:nvPr/>
        </p:nvPicPr>
        <p:blipFill>
          <a:blip r:embed="rId6"/>
          <a:stretch>
            <a:fillRect/>
          </a:stretch>
        </p:blipFill>
        <p:spPr>
          <a:xfrm>
            <a:off x="533400" y="2878493"/>
            <a:ext cx="3174950" cy="1714500"/>
          </a:xfrm>
          <a:prstGeom prst="rect">
            <a:avLst/>
          </a:prstGeom>
        </p:spPr>
      </p:pic>
      <p:pic>
        <p:nvPicPr>
          <p:cNvPr id="6" name="Image 4" descr="preencoded.png"/>
          <p:cNvPicPr>
            <a:picLocks noChangeAspect="1"/>
          </p:cNvPicPr>
          <p:nvPr/>
        </p:nvPicPr>
        <p:blipFill>
          <a:blip r:embed="rId7"/>
          <a:stretch>
            <a:fillRect/>
          </a:stretch>
        </p:blipFill>
        <p:spPr>
          <a:xfrm>
            <a:off x="685800" y="3411893"/>
            <a:ext cx="152400" cy="152400"/>
          </a:xfrm>
          <a:prstGeom prst="rect">
            <a:avLst/>
          </a:prstGeom>
        </p:spPr>
      </p:pic>
      <p:pic>
        <p:nvPicPr>
          <p:cNvPr id="7" name="Image 5" descr="preencoded.png"/>
          <p:cNvPicPr>
            <a:picLocks noChangeAspect="1"/>
          </p:cNvPicPr>
          <p:nvPr/>
        </p:nvPicPr>
        <p:blipFill>
          <a:blip r:embed="rId7"/>
          <a:stretch>
            <a:fillRect/>
          </a:stretch>
        </p:blipFill>
        <p:spPr>
          <a:xfrm>
            <a:off x="685800" y="3945293"/>
            <a:ext cx="152400" cy="152400"/>
          </a:xfrm>
          <a:prstGeom prst="rect">
            <a:avLst/>
          </a:prstGeom>
        </p:spPr>
      </p:pic>
      <p:pic>
        <p:nvPicPr>
          <p:cNvPr id="8" name="Image 6" descr="preencoded.png"/>
          <p:cNvPicPr>
            <a:picLocks noChangeAspect="1"/>
          </p:cNvPicPr>
          <p:nvPr/>
        </p:nvPicPr>
        <p:blipFill>
          <a:blip r:embed="rId7"/>
          <a:stretch>
            <a:fillRect/>
          </a:stretch>
        </p:blipFill>
        <p:spPr>
          <a:xfrm>
            <a:off x="685800" y="4250093"/>
            <a:ext cx="152400" cy="152400"/>
          </a:xfrm>
          <a:prstGeom prst="rect">
            <a:avLst/>
          </a:prstGeom>
        </p:spPr>
      </p:pic>
      <p:pic>
        <p:nvPicPr>
          <p:cNvPr id="9" name="Image 7" descr="preencoded.png"/>
          <p:cNvPicPr>
            <a:picLocks noChangeAspect="1"/>
          </p:cNvPicPr>
          <p:nvPr/>
        </p:nvPicPr>
        <p:blipFill>
          <a:blip r:embed="rId8"/>
          <a:stretch>
            <a:fillRect/>
          </a:stretch>
        </p:blipFill>
        <p:spPr>
          <a:xfrm>
            <a:off x="458753" y="4982929"/>
            <a:ext cx="571500" cy="457200"/>
          </a:xfrm>
          <a:prstGeom prst="rect">
            <a:avLst/>
          </a:prstGeom>
        </p:spPr>
      </p:pic>
      <p:pic>
        <p:nvPicPr>
          <p:cNvPr id="10" name="Image 8" descr="preencoded.png"/>
          <p:cNvPicPr>
            <a:picLocks noChangeAspect="1"/>
          </p:cNvPicPr>
          <p:nvPr/>
        </p:nvPicPr>
        <p:blipFill>
          <a:blip r:embed="rId9"/>
          <a:stretch>
            <a:fillRect/>
          </a:stretch>
        </p:blipFill>
        <p:spPr>
          <a:xfrm>
            <a:off x="4394150" y="1143000"/>
            <a:ext cx="7492901" cy="6134100"/>
          </a:xfrm>
          <a:prstGeom prst="rect">
            <a:avLst/>
          </a:prstGeom>
        </p:spPr>
      </p:pic>
      <p:pic>
        <p:nvPicPr>
          <p:cNvPr id="11" name="Image 9" descr="preencoded.png"/>
          <p:cNvPicPr>
            <a:picLocks noChangeAspect="1"/>
          </p:cNvPicPr>
          <p:nvPr/>
        </p:nvPicPr>
        <p:blipFill>
          <a:blip r:embed="rId10"/>
          <a:stretch>
            <a:fillRect/>
          </a:stretch>
        </p:blipFill>
        <p:spPr>
          <a:xfrm>
            <a:off x="4737050" y="1943100"/>
            <a:ext cx="571500" cy="571500"/>
          </a:xfrm>
          <a:prstGeom prst="rect">
            <a:avLst/>
          </a:prstGeom>
        </p:spPr>
      </p:pic>
      <p:pic>
        <p:nvPicPr>
          <p:cNvPr id="12" name="Image 10" descr="preencoded.png"/>
          <p:cNvPicPr>
            <a:picLocks noChangeAspect="1"/>
          </p:cNvPicPr>
          <p:nvPr/>
        </p:nvPicPr>
        <p:blipFill>
          <a:blip r:embed="rId11"/>
          <a:stretch>
            <a:fillRect/>
          </a:stretch>
        </p:blipFill>
        <p:spPr>
          <a:xfrm>
            <a:off x="4879925" y="2076450"/>
            <a:ext cx="285750" cy="304800"/>
          </a:xfrm>
          <a:prstGeom prst="rect">
            <a:avLst/>
          </a:prstGeom>
        </p:spPr>
      </p:pic>
      <p:pic>
        <p:nvPicPr>
          <p:cNvPr id="13" name="Image 11" descr="preencoded.png"/>
          <p:cNvPicPr>
            <a:picLocks noChangeAspect="1"/>
          </p:cNvPicPr>
          <p:nvPr/>
        </p:nvPicPr>
        <p:blipFill>
          <a:blip r:embed="rId12"/>
          <a:stretch>
            <a:fillRect/>
          </a:stretch>
        </p:blipFill>
        <p:spPr>
          <a:xfrm>
            <a:off x="4737050" y="2895600"/>
            <a:ext cx="571500" cy="571500"/>
          </a:xfrm>
          <a:prstGeom prst="rect">
            <a:avLst/>
          </a:prstGeom>
        </p:spPr>
      </p:pic>
      <p:pic>
        <p:nvPicPr>
          <p:cNvPr id="14" name="Image 12" descr="preencoded.png"/>
          <p:cNvPicPr>
            <a:picLocks noChangeAspect="1"/>
          </p:cNvPicPr>
          <p:nvPr/>
        </p:nvPicPr>
        <p:blipFill>
          <a:blip r:embed="rId13"/>
          <a:stretch>
            <a:fillRect/>
          </a:stretch>
        </p:blipFill>
        <p:spPr>
          <a:xfrm>
            <a:off x="4908500" y="3028950"/>
            <a:ext cx="228600" cy="304800"/>
          </a:xfrm>
          <a:prstGeom prst="rect">
            <a:avLst/>
          </a:prstGeom>
        </p:spPr>
      </p:pic>
      <p:pic>
        <p:nvPicPr>
          <p:cNvPr id="15" name="Image 13" descr="preencoded.png"/>
          <p:cNvPicPr>
            <a:picLocks noChangeAspect="1"/>
          </p:cNvPicPr>
          <p:nvPr/>
        </p:nvPicPr>
        <p:blipFill>
          <a:blip r:embed="rId14"/>
          <a:stretch>
            <a:fillRect/>
          </a:stretch>
        </p:blipFill>
        <p:spPr>
          <a:xfrm>
            <a:off x="4737050" y="4000500"/>
            <a:ext cx="571500" cy="571500"/>
          </a:xfrm>
          <a:prstGeom prst="rect">
            <a:avLst/>
          </a:prstGeom>
        </p:spPr>
      </p:pic>
      <p:pic>
        <p:nvPicPr>
          <p:cNvPr id="16" name="Image 14" descr="preencoded.png"/>
          <p:cNvPicPr>
            <a:picLocks noChangeAspect="1"/>
          </p:cNvPicPr>
          <p:nvPr/>
        </p:nvPicPr>
        <p:blipFill>
          <a:blip r:embed="rId15"/>
          <a:stretch>
            <a:fillRect/>
          </a:stretch>
        </p:blipFill>
        <p:spPr>
          <a:xfrm>
            <a:off x="4922788" y="4133850"/>
            <a:ext cx="200025" cy="304800"/>
          </a:xfrm>
          <a:prstGeom prst="rect">
            <a:avLst/>
          </a:prstGeom>
        </p:spPr>
      </p:pic>
      <p:pic>
        <p:nvPicPr>
          <p:cNvPr id="17" name="Image 15" descr="preencoded.png"/>
          <p:cNvPicPr>
            <a:picLocks noChangeAspect="1"/>
          </p:cNvPicPr>
          <p:nvPr/>
        </p:nvPicPr>
        <p:blipFill>
          <a:blip r:embed="rId16"/>
          <a:stretch>
            <a:fillRect/>
          </a:stretch>
        </p:blipFill>
        <p:spPr>
          <a:xfrm>
            <a:off x="4737050" y="5105400"/>
            <a:ext cx="571500" cy="571500"/>
          </a:xfrm>
          <a:prstGeom prst="rect">
            <a:avLst/>
          </a:prstGeom>
        </p:spPr>
      </p:pic>
      <p:pic>
        <p:nvPicPr>
          <p:cNvPr id="18" name="Image 16" descr="preencoded.png"/>
          <p:cNvPicPr>
            <a:picLocks noChangeAspect="1"/>
          </p:cNvPicPr>
          <p:nvPr/>
        </p:nvPicPr>
        <p:blipFill>
          <a:blip r:embed="rId17"/>
          <a:stretch>
            <a:fillRect/>
          </a:stretch>
        </p:blipFill>
        <p:spPr>
          <a:xfrm>
            <a:off x="4894213" y="5238750"/>
            <a:ext cx="257175" cy="304800"/>
          </a:xfrm>
          <a:prstGeom prst="rect">
            <a:avLst/>
          </a:prstGeom>
        </p:spPr>
      </p:pic>
      <p:pic>
        <p:nvPicPr>
          <p:cNvPr id="19" name="Image 17" descr="preencoded.png"/>
          <p:cNvPicPr>
            <a:picLocks noChangeAspect="1"/>
          </p:cNvPicPr>
          <p:nvPr/>
        </p:nvPicPr>
        <p:blipFill>
          <a:blip r:embed="rId18"/>
          <a:stretch>
            <a:fillRect/>
          </a:stretch>
        </p:blipFill>
        <p:spPr>
          <a:xfrm>
            <a:off x="4737050" y="6210300"/>
            <a:ext cx="571500" cy="571500"/>
          </a:xfrm>
          <a:prstGeom prst="rect">
            <a:avLst/>
          </a:prstGeom>
        </p:spPr>
      </p:pic>
      <p:pic>
        <p:nvPicPr>
          <p:cNvPr id="20" name="Image 18" descr="preencoded.png"/>
          <p:cNvPicPr>
            <a:picLocks noChangeAspect="1"/>
          </p:cNvPicPr>
          <p:nvPr/>
        </p:nvPicPr>
        <p:blipFill>
          <a:blip r:embed="rId19"/>
          <a:stretch>
            <a:fillRect/>
          </a:stretch>
        </p:blipFill>
        <p:spPr>
          <a:xfrm>
            <a:off x="4879925" y="6343650"/>
            <a:ext cx="285750" cy="304800"/>
          </a:xfrm>
          <a:prstGeom prst="rect">
            <a:avLst/>
          </a:prstGeom>
        </p:spPr>
      </p:pic>
      <p:pic>
        <p:nvPicPr>
          <p:cNvPr id="21" name="Image 19" descr="preencoded.png"/>
          <p:cNvPicPr>
            <a:picLocks noChangeAspect="1"/>
          </p:cNvPicPr>
          <p:nvPr/>
        </p:nvPicPr>
        <p:blipFill>
          <a:blip r:embed="rId20"/>
          <a:stretch>
            <a:fillRect/>
          </a:stretch>
        </p:blipFill>
        <p:spPr>
          <a:xfrm>
            <a:off x="0" y="7581900"/>
            <a:ext cx="12192000" cy="457200"/>
          </a:xfrm>
          <a:prstGeom prst="rect">
            <a:avLst/>
          </a:prstGeom>
        </p:spPr>
      </p:pic>
      <p:sp>
        <p:nvSpPr>
          <p:cNvPr id="22"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Opening Meeting</a:t>
            </a:r>
            <a:endParaRPr lang="en-US" sz="2700" dirty="0"/>
          </a:p>
        </p:txBody>
      </p:sp>
      <p:sp>
        <p:nvSpPr>
          <p:cNvPr id="23" name="Text 1"/>
          <p:cNvSpPr/>
          <p:nvPr/>
        </p:nvSpPr>
        <p:spPr>
          <a:xfrm>
            <a:off x="533400" y="1371600"/>
            <a:ext cx="317495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Purpose</a:t>
            </a:r>
            <a:endParaRPr lang="en-US" sz="1800" dirty="0"/>
          </a:p>
        </p:txBody>
      </p:sp>
      <p:sp>
        <p:nvSpPr>
          <p:cNvPr id="24" name="Text 2"/>
          <p:cNvSpPr/>
          <p:nvPr/>
        </p:nvSpPr>
        <p:spPr>
          <a:xfrm>
            <a:off x="533400" y="1828800"/>
            <a:ext cx="3174950" cy="1371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opening meeting serves as a crucial kick-off for the audit fieldwork, establishing a clear understanding between the audit team and the auditee's management regarding the audit process.</a:t>
            </a:r>
            <a:endParaRPr lang="en-US" sz="1200" dirty="0"/>
          </a:p>
        </p:txBody>
      </p:sp>
      <p:sp>
        <p:nvSpPr>
          <p:cNvPr id="25" name="Text 3"/>
          <p:cNvSpPr/>
          <p:nvPr/>
        </p:nvSpPr>
        <p:spPr>
          <a:xfrm>
            <a:off x="685800" y="3030893"/>
            <a:ext cx="28701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Key Benefits</a:t>
            </a:r>
            <a:endParaRPr lang="en-US" sz="1350" dirty="0"/>
          </a:p>
        </p:txBody>
      </p:sp>
      <p:sp>
        <p:nvSpPr>
          <p:cNvPr id="26" name="Text 4"/>
          <p:cNvSpPr/>
          <p:nvPr/>
        </p:nvSpPr>
        <p:spPr>
          <a:xfrm>
            <a:off x="914400" y="3373793"/>
            <a:ext cx="26415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Sets the tone for the audit engagement</a:t>
            </a:r>
            <a:endParaRPr lang="en-US" sz="1200" dirty="0"/>
          </a:p>
        </p:txBody>
      </p:sp>
      <p:sp>
        <p:nvSpPr>
          <p:cNvPr id="27" name="Text 5"/>
          <p:cNvSpPr/>
          <p:nvPr/>
        </p:nvSpPr>
        <p:spPr>
          <a:xfrm>
            <a:off x="914400" y="3907193"/>
            <a:ext cx="265783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Establishes trust and rapport</a:t>
            </a:r>
            <a:endParaRPr lang="en-US" sz="1200" dirty="0"/>
          </a:p>
        </p:txBody>
      </p:sp>
      <p:sp>
        <p:nvSpPr>
          <p:cNvPr id="28" name="Text 6"/>
          <p:cNvSpPr/>
          <p:nvPr/>
        </p:nvSpPr>
        <p:spPr>
          <a:xfrm>
            <a:off x="914400" y="4211993"/>
            <a:ext cx="306752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Clarifies roles and responsibilities</a:t>
            </a:r>
            <a:endParaRPr lang="en-US" sz="1200" dirty="0"/>
          </a:p>
        </p:txBody>
      </p:sp>
      <p:sp>
        <p:nvSpPr>
          <p:cNvPr id="29" name="Text 7"/>
          <p:cNvSpPr/>
          <p:nvPr/>
        </p:nvSpPr>
        <p:spPr>
          <a:xfrm>
            <a:off x="937548" y="4811479"/>
            <a:ext cx="294126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374151"/>
                </a:solidFill>
                <a:latin typeface="ui-sans-serif" pitchFamily="34" charset="0"/>
                <a:ea typeface="ui-sans-serif" pitchFamily="34" charset="-122"/>
                <a:cs typeface="ui-sans-serif" pitchFamily="34" charset="-120"/>
              </a:rPr>
              <a:t>Success depends on</a:t>
            </a:r>
            <a:endParaRPr lang="en-US" sz="1350" dirty="0"/>
          </a:p>
        </p:txBody>
      </p:sp>
      <p:sp>
        <p:nvSpPr>
          <p:cNvPr id="30" name="Text 8"/>
          <p:cNvSpPr/>
          <p:nvPr/>
        </p:nvSpPr>
        <p:spPr>
          <a:xfrm>
            <a:off x="1182653" y="5078179"/>
            <a:ext cx="2451050" cy="533400"/>
          </a:xfrm>
          <a:prstGeom prst="rect">
            <a:avLst/>
          </a:prstGeom>
          <a:noFill/>
          <a:ln/>
        </p:spPr>
        <p:txBody>
          <a:bodyPr vert="horz" wrap="square" lIns="0" tIns="0" rIns="0" bIns="0" rtlCol="0" anchor="t"/>
          <a:lstStyle/>
          <a:p>
            <a:pPr marL="0" indent="0" algn="ctr">
              <a:lnSpc>
                <a:spcPts val="2100"/>
              </a:lnSpc>
              <a:buNone/>
            </a:pPr>
            <a:r>
              <a:rPr lang="en-US" sz="1500" b="1" dirty="0">
                <a:solidFill>
                  <a:srgbClr val="0D9488"/>
                </a:solidFill>
                <a:latin typeface="ui-sans-serif" pitchFamily="34" charset="0"/>
                <a:ea typeface="ui-sans-serif" pitchFamily="34" charset="-122"/>
                <a:cs typeface="ui-sans-serif" pitchFamily="34" charset="-120"/>
              </a:rPr>
              <a:t>Effective Communication</a:t>
            </a:r>
            <a:endParaRPr lang="en-US" sz="1500" dirty="0"/>
          </a:p>
        </p:txBody>
      </p:sp>
      <p:sp>
        <p:nvSpPr>
          <p:cNvPr id="31" name="Text 9"/>
          <p:cNvSpPr/>
          <p:nvPr/>
        </p:nvSpPr>
        <p:spPr>
          <a:xfrm>
            <a:off x="4622750" y="1371600"/>
            <a:ext cx="7035701"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Opening Meeting Agenda</a:t>
            </a:r>
            <a:endParaRPr lang="en-US" sz="1800" dirty="0"/>
          </a:p>
        </p:txBody>
      </p:sp>
      <p:sp>
        <p:nvSpPr>
          <p:cNvPr id="32" name="Text 10"/>
          <p:cNvSpPr/>
          <p:nvPr/>
        </p:nvSpPr>
        <p:spPr>
          <a:xfrm>
            <a:off x="5460950" y="1943100"/>
            <a:ext cx="5542955"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Introductions</a:t>
            </a:r>
            <a:endParaRPr lang="en-US" sz="1500" dirty="0"/>
          </a:p>
        </p:txBody>
      </p:sp>
      <p:sp>
        <p:nvSpPr>
          <p:cNvPr id="33" name="Text 11"/>
          <p:cNvSpPr/>
          <p:nvPr/>
        </p:nvSpPr>
        <p:spPr>
          <a:xfrm>
            <a:off x="5460950" y="2209800"/>
            <a:ext cx="6651546"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Formal introductions of audit team members and key auditee personnel.</a:t>
            </a:r>
            <a:endParaRPr lang="en-US" sz="1200" dirty="0"/>
          </a:p>
        </p:txBody>
      </p:sp>
      <p:sp>
        <p:nvSpPr>
          <p:cNvPr id="34" name="Text 12"/>
          <p:cNvSpPr/>
          <p:nvPr/>
        </p:nvSpPr>
        <p:spPr>
          <a:xfrm>
            <a:off x="5460950" y="2895600"/>
            <a:ext cx="60832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Audit Scope and Objectives</a:t>
            </a:r>
            <a:endParaRPr lang="en-US" sz="1500" dirty="0"/>
          </a:p>
        </p:txBody>
      </p:sp>
      <p:sp>
        <p:nvSpPr>
          <p:cNvPr id="35" name="Text 13"/>
          <p:cNvSpPr/>
          <p:nvPr/>
        </p:nvSpPr>
        <p:spPr>
          <a:xfrm>
            <a:off x="5460950" y="3162300"/>
            <a:ext cx="6083201"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Review and confirm the audit's scope, objectives, and specific areas to be examined.</a:t>
            </a:r>
            <a:endParaRPr lang="en-US" sz="1200" dirty="0"/>
          </a:p>
        </p:txBody>
      </p:sp>
      <p:sp>
        <p:nvSpPr>
          <p:cNvPr id="36" name="Text 14"/>
          <p:cNvSpPr/>
          <p:nvPr/>
        </p:nvSpPr>
        <p:spPr>
          <a:xfrm>
            <a:off x="5460950" y="4000500"/>
            <a:ext cx="60832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Timeline</a:t>
            </a:r>
            <a:endParaRPr lang="en-US" sz="1500" dirty="0"/>
          </a:p>
        </p:txBody>
      </p:sp>
      <p:sp>
        <p:nvSpPr>
          <p:cNvPr id="37" name="Text 15"/>
          <p:cNvSpPr/>
          <p:nvPr/>
        </p:nvSpPr>
        <p:spPr>
          <a:xfrm>
            <a:off x="5460950" y="4267200"/>
            <a:ext cx="6083201"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Discuss and agree on the audit schedule, including key milestones and deadlines.</a:t>
            </a:r>
            <a:endParaRPr lang="en-US" sz="1200" dirty="0"/>
          </a:p>
        </p:txBody>
      </p:sp>
      <p:sp>
        <p:nvSpPr>
          <p:cNvPr id="38" name="Text 16"/>
          <p:cNvSpPr/>
          <p:nvPr/>
        </p:nvSpPr>
        <p:spPr>
          <a:xfrm>
            <a:off x="5460950" y="5105400"/>
            <a:ext cx="60832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Logistics</a:t>
            </a:r>
            <a:endParaRPr lang="en-US" sz="1500" dirty="0"/>
          </a:p>
        </p:txBody>
      </p:sp>
      <p:sp>
        <p:nvSpPr>
          <p:cNvPr id="39" name="Text 17"/>
          <p:cNvSpPr/>
          <p:nvPr/>
        </p:nvSpPr>
        <p:spPr>
          <a:xfrm>
            <a:off x="5460950" y="5372100"/>
            <a:ext cx="6083201"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Address practical arrangements such as workspace, system access, and communication protocols.</a:t>
            </a:r>
            <a:endParaRPr lang="en-US" sz="1200" dirty="0"/>
          </a:p>
        </p:txBody>
      </p:sp>
      <p:sp>
        <p:nvSpPr>
          <p:cNvPr id="40" name="Text 18"/>
          <p:cNvSpPr/>
          <p:nvPr/>
        </p:nvSpPr>
        <p:spPr>
          <a:xfrm>
            <a:off x="5460950" y="6210300"/>
            <a:ext cx="60832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Expectations</a:t>
            </a:r>
            <a:endParaRPr lang="en-US" sz="1500" dirty="0"/>
          </a:p>
        </p:txBody>
      </p:sp>
      <p:sp>
        <p:nvSpPr>
          <p:cNvPr id="41" name="Text 19"/>
          <p:cNvSpPr/>
          <p:nvPr/>
        </p:nvSpPr>
        <p:spPr>
          <a:xfrm>
            <a:off x="5460950" y="6477000"/>
            <a:ext cx="6083201"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Clarify roles, responsibilities, and the level of cooperation expected from both parties.</a:t>
            </a:r>
            <a:endParaRPr lang="en-US" sz="1200" dirty="0"/>
          </a:p>
        </p:txBody>
      </p:sp>
      <p:sp>
        <p:nvSpPr>
          <p:cNvPr id="42" name="Text 20"/>
          <p:cNvSpPr/>
          <p:nvPr/>
        </p:nvSpPr>
        <p:spPr>
          <a:xfrm>
            <a:off x="381000" y="76962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3" name="Text 21"/>
          <p:cNvSpPr/>
          <p:nvPr/>
        </p:nvSpPr>
        <p:spPr>
          <a:xfrm>
            <a:off x="11371808" y="76962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828800"/>
            <a:ext cx="3708350" cy="1866900"/>
          </a:xfrm>
          <a:prstGeom prst="rect">
            <a:avLst/>
          </a:prstGeom>
        </p:spPr>
      </p:pic>
      <p:pic>
        <p:nvPicPr>
          <p:cNvPr id="5" name="Image 3" descr="preencoded.png"/>
          <p:cNvPicPr>
            <a:picLocks noChangeAspect="1"/>
          </p:cNvPicPr>
          <p:nvPr/>
        </p:nvPicPr>
        <p:blipFill>
          <a:blip r:embed="rId6"/>
          <a:stretch>
            <a:fillRect/>
          </a:stretch>
        </p:blipFill>
        <p:spPr>
          <a:xfrm>
            <a:off x="495300" y="2019300"/>
            <a:ext cx="171450" cy="571500"/>
          </a:xfrm>
          <a:prstGeom prst="rect">
            <a:avLst/>
          </a:prstGeom>
        </p:spPr>
      </p:pic>
      <p:pic>
        <p:nvPicPr>
          <p:cNvPr id="6" name="Image 4" descr="preencoded.png"/>
          <p:cNvPicPr>
            <a:picLocks noChangeAspect="1"/>
          </p:cNvPicPr>
          <p:nvPr/>
        </p:nvPicPr>
        <p:blipFill>
          <a:blip r:embed="rId7"/>
          <a:stretch>
            <a:fillRect/>
          </a:stretch>
        </p:blipFill>
        <p:spPr>
          <a:xfrm>
            <a:off x="495300" y="2152650"/>
            <a:ext cx="171450" cy="304800"/>
          </a:xfrm>
          <a:prstGeom prst="rect">
            <a:avLst/>
          </a:prstGeom>
        </p:spPr>
      </p:pic>
      <p:pic>
        <p:nvPicPr>
          <p:cNvPr id="7" name="Image 5" descr="preencoded.png"/>
          <p:cNvPicPr>
            <a:picLocks noChangeAspect="1"/>
          </p:cNvPicPr>
          <p:nvPr/>
        </p:nvPicPr>
        <p:blipFill>
          <a:blip r:embed="rId8"/>
          <a:stretch>
            <a:fillRect/>
          </a:stretch>
        </p:blipFill>
        <p:spPr>
          <a:xfrm>
            <a:off x="4241750" y="1828800"/>
            <a:ext cx="3708350" cy="1866900"/>
          </a:xfrm>
          <a:prstGeom prst="rect">
            <a:avLst/>
          </a:prstGeom>
        </p:spPr>
      </p:pic>
      <p:pic>
        <p:nvPicPr>
          <p:cNvPr id="8" name="Image 6" descr="preencoded.png"/>
          <p:cNvPicPr>
            <a:picLocks noChangeAspect="1"/>
          </p:cNvPicPr>
          <p:nvPr/>
        </p:nvPicPr>
        <p:blipFill>
          <a:blip r:embed="rId9"/>
          <a:stretch>
            <a:fillRect/>
          </a:stretch>
        </p:blipFill>
        <p:spPr>
          <a:xfrm>
            <a:off x="4432250" y="2019300"/>
            <a:ext cx="285750" cy="571500"/>
          </a:xfrm>
          <a:prstGeom prst="rect">
            <a:avLst/>
          </a:prstGeom>
        </p:spPr>
      </p:pic>
      <p:pic>
        <p:nvPicPr>
          <p:cNvPr id="9" name="Image 7" descr="preencoded.png"/>
          <p:cNvPicPr>
            <a:picLocks noChangeAspect="1"/>
          </p:cNvPicPr>
          <p:nvPr/>
        </p:nvPicPr>
        <p:blipFill>
          <a:blip r:embed="rId10"/>
          <a:stretch>
            <a:fillRect/>
          </a:stretch>
        </p:blipFill>
        <p:spPr>
          <a:xfrm>
            <a:off x="4432250" y="2152650"/>
            <a:ext cx="285750" cy="304800"/>
          </a:xfrm>
          <a:prstGeom prst="rect">
            <a:avLst/>
          </a:prstGeom>
        </p:spPr>
      </p:pic>
      <p:pic>
        <p:nvPicPr>
          <p:cNvPr id="10" name="Image 8" descr="preencoded.png"/>
          <p:cNvPicPr>
            <a:picLocks noChangeAspect="1"/>
          </p:cNvPicPr>
          <p:nvPr/>
        </p:nvPicPr>
        <p:blipFill>
          <a:blip r:embed="rId11"/>
          <a:stretch>
            <a:fillRect/>
          </a:stretch>
        </p:blipFill>
        <p:spPr>
          <a:xfrm>
            <a:off x="8178701" y="1828800"/>
            <a:ext cx="3708499" cy="1866900"/>
          </a:xfrm>
          <a:prstGeom prst="rect">
            <a:avLst/>
          </a:prstGeom>
        </p:spPr>
      </p:pic>
      <p:pic>
        <p:nvPicPr>
          <p:cNvPr id="11" name="Image 9" descr="preencoded.png"/>
          <p:cNvPicPr>
            <a:picLocks noChangeAspect="1"/>
          </p:cNvPicPr>
          <p:nvPr/>
        </p:nvPicPr>
        <p:blipFill>
          <a:blip r:embed="rId12"/>
          <a:stretch>
            <a:fillRect/>
          </a:stretch>
        </p:blipFill>
        <p:spPr>
          <a:xfrm>
            <a:off x="8369201" y="2019300"/>
            <a:ext cx="228600" cy="571500"/>
          </a:xfrm>
          <a:prstGeom prst="rect">
            <a:avLst/>
          </a:prstGeom>
        </p:spPr>
      </p:pic>
      <p:pic>
        <p:nvPicPr>
          <p:cNvPr id="12" name="Image 10" descr="preencoded.png"/>
          <p:cNvPicPr>
            <a:picLocks noChangeAspect="1"/>
          </p:cNvPicPr>
          <p:nvPr/>
        </p:nvPicPr>
        <p:blipFill>
          <a:blip r:embed="rId13"/>
          <a:stretch>
            <a:fillRect/>
          </a:stretch>
        </p:blipFill>
        <p:spPr>
          <a:xfrm>
            <a:off x="8369201" y="2152650"/>
            <a:ext cx="228600" cy="304800"/>
          </a:xfrm>
          <a:prstGeom prst="rect">
            <a:avLst/>
          </a:prstGeom>
        </p:spPr>
      </p:pic>
      <p:pic>
        <p:nvPicPr>
          <p:cNvPr id="13" name="Image 11" descr="preencoded.png"/>
          <p:cNvPicPr>
            <a:picLocks noChangeAspect="1"/>
          </p:cNvPicPr>
          <p:nvPr/>
        </p:nvPicPr>
        <p:blipFill>
          <a:blip r:embed="rId14"/>
          <a:stretch>
            <a:fillRect/>
          </a:stretch>
        </p:blipFill>
        <p:spPr>
          <a:xfrm>
            <a:off x="304800" y="3924300"/>
            <a:ext cx="3708350" cy="1866900"/>
          </a:xfrm>
          <a:prstGeom prst="rect">
            <a:avLst/>
          </a:prstGeom>
        </p:spPr>
      </p:pic>
      <p:pic>
        <p:nvPicPr>
          <p:cNvPr id="14" name="Image 12" descr="preencoded.png"/>
          <p:cNvPicPr>
            <a:picLocks noChangeAspect="1"/>
          </p:cNvPicPr>
          <p:nvPr/>
        </p:nvPicPr>
        <p:blipFill>
          <a:blip r:embed="rId15"/>
          <a:stretch>
            <a:fillRect/>
          </a:stretch>
        </p:blipFill>
        <p:spPr>
          <a:xfrm>
            <a:off x="495300" y="4114800"/>
            <a:ext cx="228600" cy="571500"/>
          </a:xfrm>
          <a:prstGeom prst="rect">
            <a:avLst/>
          </a:prstGeom>
        </p:spPr>
      </p:pic>
      <p:pic>
        <p:nvPicPr>
          <p:cNvPr id="15" name="Image 13" descr="preencoded.png"/>
          <p:cNvPicPr>
            <a:picLocks noChangeAspect="1"/>
          </p:cNvPicPr>
          <p:nvPr/>
        </p:nvPicPr>
        <p:blipFill>
          <a:blip r:embed="rId16"/>
          <a:stretch>
            <a:fillRect/>
          </a:stretch>
        </p:blipFill>
        <p:spPr>
          <a:xfrm>
            <a:off x="495300" y="4248150"/>
            <a:ext cx="228600" cy="304800"/>
          </a:xfrm>
          <a:prstGeom prst="rect">
            <a:avLst/>
          </a:prstGeom>
        </p:spPr>
      </p:pic>
      <p:pic>
        <p:nvPicPr>
          <p:cNvPr id="16" name="Image 14" descr="preencoded.png"/>
          <p:cNvPicPr>
            <a:picLocks noChangeAspect="1"/>
          </p:cNvPicPr>
          <p:nvPr/>
        </p:nvPicPr>
        <p:blipFill>
          <a:blip r:embed="rId17"/>
          <a:stretch>
            <a:fillRect/>
          </a:stretch>
        </p:blipFill>
        <p:spPr>
          <a:xfrm>
            <a:off x="4241750" y="3924300"/>
            <a:ext cx="3708350" cy="1866900"/>
          </a:xfrm>
          <a:prstGeom prst="rect">
            <a:avLst/>
          </a:prstGeom>
        </p:spPr>
      </p:pic>
      <p:pic>
        <p:nvPicPr>
          <p:cNvPr id="17" name="Image 15" descr="preencoded.png"/>
          <p:cNvPicPr>
            <a:picLocks noChangeAspect="1"/>
          </p:cNvPicPr>
          <p:nvPr/>
        </p:nvPicPr>
        <p:blipFill>
          <a:blip r:embed="rId18"/>
          <a:stretch>
            <a:fillRect/>
          </a:stretch>
        </p:blipFill>
        <p:spPr>
          <a:xfrm>
            <a:off x="4432250" y="4114800"/>
            <a:ext cx="228600" cy="571500"/>
          </a:xfrm>
          <a:prstGeom prst="rect">
            <a:avLst/>
          </a:prstGeom>
        </p:spPr>
      </p:pic>
      <p:pic>
        <p:nvPicPr>
          <p:cNvPr id="18" name="Image 16" descr="preencoded.png"/>
          <p:cNvPicPr>
            <a:picLocks noChangeAspect="1"/>
          </p:cNvPicPr>
          <p:nvPr/>
        </p:nvPicPr>
        <p:blipFill>
          <a:blip r:embed="rId19"/>
          <a:stretch>
            <a:fillRect/>
          </a:stretch>
        </p:blipFill>
        <p:spPr>
          <a:xfrm>
            <a:off x="4432250" y="4248150"/>
            <a:ext cx="228600" cy="304800"/>
          </a:xfrm>
          <a:prstGeom prst="rect">
            <a:avLst/>
          </a:prstGeom>
        </p:spPr>
      </p:pic>
      <p:pic>
        <p:nvPicPr>
          <p:cNvPr id="19" name="Image 17" descr="preencoded.png"/>
          <p:cNvPicPr>
            <a:picLocks noChangeAspect="1"/>
          </p:cNvPicPr>
          <p:nvPr/>
        </p:nvPicPr>
        <p:blipFill>
          <a:blip r:embed="rId20"/>
          <a:stretch>
            <a:fillRect/>
          </a:stretch>
        </p:blipFill>
        <p:spPr>
          <a:xfrm>
            <a:off x="8178701" y="3924300"/>
            <a:ext cx="3708499" cy="1866900"/>
          </a:xfrm>
          <a:prstGeom prst="rect">
            <a:avLst/>
          </a:prstGeom>
        </p:spPr>
      </p:pic>
      <p:pic>
        <p:nvPicPr>
          <p:cNvPr id="20" name="Image 18" descr="preencoded.png"/>
          <p:cNvPicPr>
            <a:picLocks noChangeAspect="1"/>
          </p:cNvPicPr>
          <p:nvPr/>
        </p:nvPicPr>
        <p:blipFill>
          <a:blip r:embed="rId21"/>
          <a:stretch>
            <a:fillRect/>
          </a:stretch>
        </p:blipFill>
        <p:spPr>
          <a:xfrm>
            <a:off x="8369201" y="4114800"/>
            <a:ext cx="257175" cy="571500"/>
          </a:xfrm>
          <a:prstGeom prst="rect">
            <a:avLst/>
          </a:prstGeom>
        </p:spPr>
      </p:pic>
      <p:pic>
        <p:nvPicPr>
          <p:cNvPr id="21" name="Image 19" descr="preencoded.png"/>
          <p:cNvPicPr>
            <a:picLocks noChangeAspect="1"/>
          </p:cNvPicPr>
          <p:nvPr/>
        </p:nvPicPr>
        <p:blipFill>
          <a:blip r:embed="rId22"/>
          <a:stretch>
            <a:fillRect/>
          </a:stretch>
        </p:blipFill>
        <p:spPr>
          <a:xfrm>
            <a:off x="8369201" y="4248150"/>
            <a:ext cx="257175" cy="304800"/>
          </a:xfrm>
          <a:prstGeom prst="rect">
            <a:avLst/>
          </a:prstGeom>
        </p:spPr>
      </p:pic>
      <p:pic>
        <p:nvPicPr>
          <p:cNvPr id="22" name="Image 20" descr="preencoded.png"/>
          <p:cNvPicPr>
            <a:picLocks noChangeAspect="1"/>
          </p:cNvPicPr>
          <p:nvPr/>
        </p:nvPicPr>
        <p:blipFill>
          <a:blip r:embed="rId23"/>
          <a:stretch>
            <a:fillRect/>
          </a:stretch>
        </p:blipFill>
        <p:spPr>
          <a:xfrm>
            <a:off x="0" y="6400800"/>
            <a:ext cx="12192000" cy="457200"/>
          </a:xfrm>
          <a:prstGeom prst="rect">
            <a:avLst/>
          </a:prstGeom>
        </p:spPr>
      </p:pic>
      <p:sp>
        <p:nvSpPr>
          <p:cNvPr id="23"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Evidence Gathering Techniques</a:t>
            </a:r>
            <a:endParaRPr lang="en-US" sz="2700" dirty="0"/>
          </a:p>
        </p:txBody>
      </p:sp>
      <p:sp>
        <p:nvSpPr>
          <p:cNvPr id="24" name="Text 1"/>
          <p:cNvSpPr/>
          <p:nvPr/>
        </p:nvSpPr>
        <p:spPr>
          <a:xfrm>
            <a:off x="304800" y="1143000"/>
            <a:ext cx="11582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Effective evidence gathering is fundamental to a robust compliance audit. Auditors employ various techniques to collect sufficient, appropriate evidence to support their findings.</a:t>
            </a:r>
            <a:endParaRPr lang="en-US" sz="1200" dirty="0"/>
          </a:p>
        </p:txBody>
      </p:sp>
      <p:sp>
        <p:nvSpPr>
          <p:cNvPr id="25" name="Text 2"/>
          <p:cNvSpPr/>
          <p:nvPr/>
        </p:nvSpPr>
        <p:spPr>
          <a:xfrm>
            <a:off x="819150" y="2019300"/>
            <a:ext cx="3604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Document Review</a:t>
            </a:r>
            <a:endParaRPr lang="en-US" sz="1500" dirty="0"/>
          </a:p>
        </p:txBody>
      </p:sp>
      <p:sp>
        <p:nvSpPr>
          <p:cNvPr id="26" name="Text 3"/>
          <p:cNvSpPr/>
          <p:nvPr/>
        </p:nvSpPr>
        <p:spPr>
          <a:xfrm>
            <a:off x="819150" y="2362200"/>
            <a:ext cx="30035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Examining records, policies, and other documents to verify compliance with regulations and internal policies. This includes reviewing contracts, procedures, and compliance reports.</a:t>
            </a:r>
            <a:endParaRPr lang="en-US" sz="1200" dirty="0"/>
          </a:p>
        </p:txBody>
      </p:sp>
      <p:sp>
        <p:nvSpPr>
          <p:cNvPr id="27" name="Text 4"/>
          <p:cNvSpPr/>
          <p:nvPr/>
        </p:nvSpPr>
        <p:spPr>
          <a:xfrm>
            <a:off x="4870400" y="2019300"/>
            <a:ext cx="34670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Interviews &amp; Observations</a:t>
            </a:r>
            <a:endParaRPr lang="en-US" sz="1500" dirty="0"/>
          </a:p>
        </p:txBody>
      </p:sp>
      <p:sp>
        <p:nvSpPr>
          <p:cNvPr id="28" name="Text 5"/>
          <p:cNvSpPr/>
          <p:nvPr/>
        </p:nvSpPr>
        <p:spPr>
          <a:xfrm>
            <a:off x="4870400" y="2362200"/>
            <a:ext cx="288920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Conducting structured interviews with key personnel and observing processes in action to validate compliance controls and identify potential issues.</a:t>
            </a:r>
            <a:endParaRPr lang="en-US" sz="1200" dirty="0"/>
          </a:p>
        </p:txBody>
      </p:sp>
      <p:sp>
        <p:nvSpPr>
          <p:cNvPr id="29" name="Text 6"/>
          <p:cNvSpPr/>
          <p:nvPr/>
        </p:nvSpPr>
        <p:spPr>
          <a:xfrm>
            <a:off x="8750201" y="2019300"/>
            <a:ext cx="353579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Testing Controls</a:t>
            </a:r>
            <a:endParaRPr lang="en-US" sz="1500" dirty="0"/>
          </a:p>
        </p:txBody>
      </p:sp>
      <p:sp>
        <p:nvSpPr>
          <p:cNvPr id="30" name="Text 7"/>
          <p:cNvSpPr/>
          <p:nvPr/>
        </p:nvSpPr>
        <p:spPr>
          <a:xfrm>
            <a:off x="8750201" y="2362200"/>
            <a:ext cx="2946499"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Executing predetermined tests to evaluate the effectiveness of specific controls and procedures. This may include transaction testing and walkthroughs.</a:t>
            </a:r>
            <a:endParaRPr lang="en-US" sz="1200" dirty="0"/>
          </a:p>
        </p:txBody>
      </p:sp>
      <p:sp>
        <p:nvSpPr>
          <p:cNvPr id="31" name="Text 8"/>
          <p:cNvSpPr/>
          <p:nvPr/>
        </p:nvSpPr>
        <p:spPr>
          <a:xfrm>
            <a:off x="876300" y="4114800"/>
            <a:ext cx="35356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A16207"/>
                </a:solidFill>
                <a:latin typeface="ui-sans-serif" pitchFamily="34" charset="0"/>
                <a:ea typeface="ui-sans-serif" pitchFamily="34" charset="-122"/>
                <a:cs typeface="ui-sans-serif" pitchFamily="34" charset="-120"/>
              </a:rPr>
              <a:t>System Testing</a:t>
            </a:r>
            <a:endParaRPr lang="en-US" sz="1500" dirty="0"/>
          </a:p>
        </p:txBody>
      </p:sp>
      <p:sp>
        <p:nvSpPr>
          <p:cNvPr id="32" name="Text 9"/>
          <p:cNvSpPr/>
          <p:nvPr/>
        </p:nvSpPr>
        <p:spPr>
          <a:xfrm>
            <a:off x="876300" y="4457700"/>
            <a:ext cx="29463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Directly testing systems and applications to evaluate their compliance with requirements. This includes data sampling and transaction testing.</a:t>
            </a:r>
            <a:endParaRPr lang="en-US" sz="1200" dirty="0"/>
          </a:p>
        </p:txBody>
      </p:sp>
      <p:sp>
        <p:nvSpPr>
          <p:cNvPr id="33" name="Text 10"/>
          <p:cNvSpPr/>
          <p:nvPr/>
        </p:nvSpPr>
        <p:spPr>
          <a:xfrm>
            <a:off x="4813250" y="4114800"/>
            <a:ext cx="35356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B91C1C"/>
                </a:solidFill>
                <a:latin typeface="ui-sans-serif" pitchFamily="34" charset="0"/>
                <a:ea typeface="ui-sans-serif" pitchFamily="34" charset="-122"/>
                <a:cs typeface="ui-sans-serif" pitchFamily="34" charset="-120"/>
              </a:rPr>
              <a:t>Sampling Methods</a:t>
            </a:r>
            <a:endParaRPr lang="en-US" sz="1500" dirty="0"/>
          </a:p>
        </p:txBody>
      </p:sp>
      <p:sp>
        <p:nvSpPr>
          <p:cNvPr id="34" name="Text 11"/>
          <p:cNvSpPr/>
          <p:nvPr/>
        </p:nvSpPr>
        <p:spPr>
          <a:xfrm>
            <a:off x="4813250" y="4457700"/>
            <a:ext cx="2946350"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Selecting representative samples from populations of transactions or activities for detailed testing. Includes statistical and non-statistical sampling approaches.</a:t>
            </a:r>
            <a:endParaRPr lang="en-US" sz="1200" dirty="0"/>
          </a:p>
        </p:txBody>
      </p:sp>
      <p:sp>
        <p:nvSpPr>
          <p:cNvPr id="35" name="Text 12"/>
          <p:cNvSpPr/>
          <p:nvPr/>
        </p:nvSpPr>
        <p:spPr>
          <a:xfrm>
            <a:off x="8778776" y="4114800"/>
            <a:ext cx="350150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D4ED8"/>
                </a:solidFill>
                <a:latin typeface="ui-sans-serif" pitchFamily="34" charset="0"/>
                <a:ea typeface="ui-sans-serif" pitchFamily="34" charset="-122"/>
                <a:cs typeface="ui-sans-serif" pitchFamily="34" charset="-120"/>
              </a:rPr>
              <a:t>Data Analytics</a:t>
            </a:r>
            <a:endParaRPr lang="en-US" sz="1500" dirty="0"/>
          </a:p>
        </p:txBody>
      </p:sp>
      <p:sp>
        <p:nvSpPr>
          <p:cNvPr id="36" name="Text 13"/>
          <p:cNvSpPr/>
          <p:nvPr/>
        </p:nvSpPr>
        <p:spPr>
          <a:xfrm>
            <a:off x="8778776" y="4457700"/>
            <a:ext cx="2917924" cy="11430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Using analytical procedures to evaluate financial and operational data. This includes trend analysis, reasonableness testing, and continuous monitoring.</a:t>
            </a:r>
            <a:endParaRPr lang="en-US" sz="1200" dirty="0"/>
          </a:p>
        </p:txBody>
      </p:sp>
      <p:sp>
        <p:nvSpPr>
          <p:cNvPr id="37" name="Text 14"/>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8" name="Text 15"/>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11/26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7343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5829300"/>
          </a:xfrm>
          <a:prstGeom prst="rect">
            <a:avLst/>
          </a:prstGeom>
        </p:spPr>
      </p:pic>
      <p:pic>
        <p:nvPicPr>
          <p:cNvPr id="5" name="Image 3" descr="preencoded.png"/>
          <p:cNvPicPr>
            <a:picLocks noChangeAspect="1"/>
          </p:cNvPicPr>
          <p:nvPr/>
        </p:nvPicPr>
        <p:blipFill>
          <a:blip r:embed="rId6"/>
          <a:stretch>
            <a:fillRect/>
          </a:stretch>
        </p:blipFill>
        <p:spPr>
          <a:xfrm>
            <a:off x="6324600" y="1143000"/>
            <a:ext cx="5562600" cy="2514600"/>
          </a:xfrm>
          <a:prstGeom prst="rect">
            <a:avLst/>
          </a:prstGeom>
        </p:spPr>
      </p:pic>
      <p:pic>
        <p:nvPicPr>
          <p:cNvPr id="6" name="Image 4" descr="preencoded.png"/>
          <p:cNvPicPr>
            <a:picLocks noChangeAspect="1"/>
          </p:cNvPicPr>
          <p:nvPr/>
        </p:nvPicPr>
        <p:blipFill>
          <a:blip r:embed="rId7"/>
          <a:stretch>
            <a:fillRect/>
          </a:stretch>
        </p:blipFill>
        <p:spPr>
          <a:xfrm>
            <a:off x="6553200" y="1866900"/>
            <a:ext cx="152400" cy="152400"/>
          </a:xfrm>
          <a:prstGeom prst="rect">
            <a:avLst/>
          </a:prstGeom>
        </p:spPr>
      </p:pic>
      <p:pic>
        <p:nvPicPr>
          <p:cNvPr id="7" name="Image 5" descr="preencoded.png"/>
          <p:cNvPicPr>
            <a:picLocks noChangeAspect="1"/>
          </p:cNvPicPr>
          <p:nvPr/>
        </p:nvPicPr>
        <p:blipFill>
          <a:blip r:embed="rId7"/>
          <a:stretch>
            <a:fillRect/>
          </a:stretch>
        </p:blipFill>
        <p:spPr>
          <a:xfrm>
            <a:off x="6553200" y="2209800"/>
            <a:ext cx="152400" cy="152400"/>
          </a:xfrm>
          <a:prstGeom prst="rect">
            <a:avLst/>
          </a:prstGeom>
        </p:spPr>
      </p:pic>
      <p:pic>
        <p:nvPicPr>
          <p:cNvPr id="8" name="Image 6" descr="preencoded.png"/>
          <p:cNvPicPr>
            <a:picLocks noChangeAspect="1"/>
          </p:cNvPicPr>
          <p:nvPr/>
        </p:nvPicPr>
        <p:blipFill>
          <a:blip r:embed="rId7"/>
          <a:stretch>
            <a:fillRect/>
          </a:stretch>
        </p:blipFill>
        <p:spPr>
          <a:xfrm>
            <a:off x="6553200" y="2552700"/>
            <a:ext cx="152400" cy="152400"/>
          </a:xfrm>
          <a:prstGeom prst="rect">
            <a:avLst/>
          </a:prstGeom>
        </p:spPr>
      </p:pic>
      <p:pic>
        <p:nvPicPr>
          <p:cNvPr id="9" name="Image 7" descr="preencoded.png"/>
          <p:cNvPicPr>
            <a:picLocks noChangeAspect="1"/>
          </p:cNvPicPr>
          <p:nvPr/>
        </p:nvPicPr>
        <p:blipFill>
          <a:blip r:embed="rId7"/>
          <a:stretch>
            <a:fillRect/>
          </a:stretch>
        </p:blipFill>
        <p:spPr>
          <a:xfrm>
            <a:off x="6553200" y="2895600"/>
            <a:ext cx="152400" cy="152400"/>
          </a:xfrm>
          <a:prstGeom prst="rect">
            <a:avLst/>
          </a:prstGeom>
        </p:spPr>
      </p:pic>
      <p:pic>
        <p:nvPicPr>
          <p:cNvPr id="10" name="Image 8" descr="preencoded.png"/>
          <p:cNvPicPr>
            <a:picLocks noChangeAspect="1"/>
          </p:cNvPicPr>
          <p:nvPr/>
        </p:nvPicPr>
        <p:blipFill>
          <a:blip r:embed="rId7"/>
          <a:stretch>
            <a:fillRect/>
          </a:stretch>
        </p:blipFill>
        <p:spPr>
          <a:xfrm>
            <a:off x="6553200" y="3238500"/>
            <a:ext cx="152400" cy="152400"/>
          </a:xfrm>
          <a:prstGeom prst="rect">
            <a:avLst/>
          </a:prstGeom>
        </p:spPr>
      </p:pic>
      <p:pic>
        <p:nvPicPr>
          <p:cNvPr id="11" name="Image 9" descr="preencoded.png"/>
          <p:cNvPicPr>
            <a:picLocks noChangeAspect="1"/>
          </p:cNvPicPr>
          <p:nvPr/>
        </p:nvPicPr>
        <p:blipFill>
          <a:blip r:embed="rId8"/>
          <a:stretch>
            <a:fillRect/>
          </a:stretch>
        </p:blipFill>
        <p:spPr>
          <a:xfrm>
            <a:off x="6324600" y="3886200"/>
            <a:ext cx="5562600" cy="2743200"/>
          </a:xfrm>
          <a:prstGeom prst="rect">
            <a:avLst/>
          </a:prstGeom>
        </p:spPr>
      </p:pic>
      <p:pic>
        <p:nvPicPr>
          <p:cNvPr id="12" name="Image 10" descr="preencoded.png"/>
          <p:cNvPicPr>
            <a:picLocks noChangeAspect="1"/>
          </p:cNvPicPr>
          <p:nvPr/>
        </p:nvPicPr>
        <p:blipFill>
          <a:blip r:embed="rId9"/>
          <a:stretch>
            <a:fillRect/>
          </a:stretch>
        </p:blipFill>
        <p:spPr>
          <a:xfrm>
            <a:off x="7677150" y="4572000"/>
            <a:ext cx="228600" cy="304800"/>
          </a:xfrm>
          <a:prstGeom prst="rect">
            <a:avLst/>
          </a:prstGeom>
        </p:spPr>
      </p:pic>
      <p:pic>
        <p:nvPicPr>
          <p:cNvPr id="13" name="Image 11" descr="preencoded.png"/>
          <p:cNvPicPr>
            <a:picLocks noChangeAspect="1"/>
          </p:cNvPicPr>
          <p:nvPr/>
        </p:nvPicPr>
        <p:blipFill>
          <a:blip r:embed="rId10"/>
          <a:stretch>
            <a:fillRect/>
          </a:stretch>
        </p:blipFill>
        <p:spPr>
          <a:xfrm>
            <a:off x="10267950" y="4572000"/>
            <a:ext cx="304800" cy="304800"/>
          </a:xfrm>
          <a:prstGeom prst="rect">
            <a:avLst/>
          </a:prstGeom>
        </p:spPr>
      </p:pic>
      <p:pic>
        <p:nvPicPr>
          <p:cNvPr id="14" name="Image 12" descr="preencoded.png"/>
          <p:cNvPicPr>
            <a:picLocks noChangeAspect="1"/>
          </p:cNvPicPr>
          <p:nvPr/>
        </p:nvPicPr>
        <p:blipFill>
          <a:blip r:embed="rId11"/>
          <a:stretch>
            <a:fillRect/>
          </a:stretch>
        </p:blipFill>
        <p:spPr>
          <a:xfrm>
            <a:off x="7677150" y="5562600"/>
            <a:ext cx="228600" cy="304800"/>
          </a:xfrm>
          <a:prstGeom prst="rect">
            <a:avLst/>
          </a:prstGeom>
        </p:spPr>
      </p:pic>
      <p:pic>
        <p:nvPicPr>
          <p:cNvPr id="15" name="Image 13" descr="preencoded.png"/>
          <p:cNvPicPr>
            <a:picLocks noChangeAspect="1"/>
          </p:cNvPicPr>
          <p:nvPr/>
        </p:nvPicPr>
        <p:blipFill>
          <a:blip r:embed="rId12"/>
          <a:stretch>
            <a:fillRect/>
          </a:stretch>
        </p:blipFill>
        <p:spPr>
          <a:xfrm>
            <a:off x="10267950" y="5562600"/>
            <a:ext cx="304800" cy="304800"/>
          </a:xfrm>
          <a:prstGeom prst="rect">
            <a:avLst/>
          </a:prstGeom>
        </p:spPr>
      </p:pic>
      <p:pic>
        <p:nvPicPr>
          <p:cNvPr id="16" name="Image 14" descr="preencoded.png"/>
          <p:cNvPicPr>
            <a:picLocks noChangeAspect="1"/>
          </p:cNvPicPr>
          <p:nvPr/>
        </p:nvPicPr>
        <p:blipFill>
          <a:blip r:embed="rId13"/>
          <a:stretch>
            <a:fillRect/>
          </a:stretch>
        </p:blipFill>
        <p:spPr>
          <a:xfrm>
            <a:off x="0" y="7277100"/>
            <a:ext cx="12192000" cy="457200"/>
          </a:xfrm>
          <a:prstGeom prst="rect">
            <a:avLst/>
          </a:prstGeom>
        </p:spPr>
      </p:pic>
      <p:sp>
        <p:nvSpPr>
          <p:cNvPr id="17"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Document Review</a:t>
            </a:r>
            <a:endParaRPr lang="en-US" sz="2700" dirty="0"/>
          </a:p>
        </p:txBody>
      </p:sp>
      <p:sp>
        <p:nvSpPr>
          <p:cNvPr id="18"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Document Review Process</a:t>
            </a:r>
            <a:endParaRPr lang="en-US" sz="1800" dirty="0"/>
          </a:p>
        </p:txBody>
      </p:sp>
      <p:sp>
        <p:nvSpPr>
          <p:cNvPr id="19" name="Text 2"/>
          <p:cNvSpPr/>
          <p:nvPr/>
        </p:nvSpPr>
        <p:spPr>
          <a:xfrm>
            <a:off x="762000" y="1828800"/>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1. Planning &amp; Preparation</a:t>
            </a:r>
            <a:endParaRPr lang="en-US" sz="1500" dirty="0"/>
          </a:p>
        </p:txBody>
      </p:sp>
      <p:sp>
        <p:nvSpPr>
          <p:cNvPr id="20" name="Text 3"/>
          <p:cNvSpPr/>
          <p:nvPr/>
        </p:nvSpPr>
        <p:spPr>
          <a:xfrm>
            <a:off x="762000" y="217170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Identify key documents to review based on audit scope and objectives. Develop a review plan with priorities.</a:t>
            </a:r>
            <a:endParaRPr lang="en-US" sz="1200" dirty="0"/>
          </a:p>
        </p:txBody>
      </p:sp>
      <p:sp>
        <p:nvSpPr>
          <p:cNvPr id="21" name="Text 4"/>
          <p:cNvSpPr/>
          <p:nvPr/>
        </p:nvSpPr>
        <p:spPr>
          <a:xfrm>
            <a:off x="762000" y="2857500"/>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2. Document Collection</a:t>
            </a:r>
            <a:endParaRPr lang="en-US" sz="1500" dirty="0"/>
          </a:p>
        </p:txBody>
      </p:sp>
      <p:sp>
        <p:nvSpPr>
          <p:cNvPr id="22" name="Text 5"/>
          <p:cNvSpPr/>
          <p:nvPr/>
        </p:nvSpPr>
        <p:spPr>
          <a:xfrm>
            <a:off x="762000" y="320040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Gather relevant policies, procedures, records, and other documentation from specified business units.</a:t>
            </a:r>
            <a:endParaRPr lang="en-US" sz="1200" dirty="0"/>
          </a:p>
        </p:txBody>
      </p:sp>
      <p:sp>
        <p:nvSpPr>
          <p:cNvPr id="23" name="Text 6"/>
          <p:cNvSpPr/>
          <p:nvPr/>
        </p:nvSpPr>
        <p:spPr>
          <a:xfrm>
            <a:off x="762000" y="3886200"/>
            <a:ext cx="4876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3. Initial Review</a:t>
            </a:r>
            <a:endParaRPr lang="en-US" sz="1500" dirty="0"/>
          </a:p>
        </p:txBody>
      </p:sp>
      <p:sp>
        <p:nvSpPr>
          <p:cNvPr id="24" name="Text 7"/>
          <p:cNvSpPr/>
          <p:nvPr/>
        </p:nvSpPr>
        <p:spPr>
          <a:xfrm>
            <a:off x="762000" y="422910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Perform preliminary review to understand document types, volumes, and identify any obvious issues.</a:t>
            </a:r>
            <a:endParaRPr lang="en-US" sz="1200" dirty="0"/>
          </a:p>
        </p:txBody>
      </p:sp>
      <p:sp>
        <p:nvSpPr>
          <p:cNvPr id="25" name="Text 8"/>
          <p:cNvSpPr/>
          <p:nvPr/>
        </p:nvSpPr>
        <p:spPr>
          <a:xfrm>
            <a:off x="762000" y="4914900"/>
            <a:ext cx="48768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4. Detailed Analysis</a:t>
            </a:r>
            <a:endParaRPr lang="en-US" sz="1500" dirty="0"/>
          </a:p>
        </p:txBody>
      </p:sp>
      <p:sp>
        <p:nvSpPr>
          <p:cNvPr id="26" name="Text 9"/>
          <p:cNvSpPr/>
          <p:nvPr/>
        </p:nvSpPr>
        <p:spPr>
          <a:xfrm>
            <a:off x="762000" y="525780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Examine documents in detail to verify compliance with regulatory requirements and internal policies.</a:t>
            </a:r>
            <a:endParaRPr lang="en-US" sz="1200" dirty="0"/>
          </a:p>
        </p:txBody>
      </p:sp>
      <p:sp>
        <p:nvSpPr>
          <p:cNvPr id="27" name="Text 10"/>
          <p:cNvSpPr/>
          <p:nvPr/>
        </p:nvSpPr>
        <p:spPr>
          <a:xfrm>
            <a:off x="762000" y="5943600"/>
            <a:ext cx="58521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5. Documentation of Findings</a:t>
            </a:r>
            <a:endParaRPr lang="en-US" sz="1500" dirty="0"/>
          </a:p>
        </p:txBody>
      </p:sp>
      <p:sp>
        <p:nvSpPr>
          <p:cNvPr id="28" name="Text 11"/>
          <p:cNvSpPr/>
          <p:nvPr/>
        </p:nvSpPr>
        <p:spPr>
          <a:xfrm>
            <a:off x="762000" y="6286500"/>
            <a:ext cx="48768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Record observations, non-compliance issues, and evidence gathered from document reviews.</a:t>
            </a:r>
            <a:endParaRPr lang="en-US" sz="1200" dirty="0"/>
          </a:p>
        </p:txBody>
      </p:sp>
      <p:sp>
        <p:nvSpPr>
          <p:cNvPr id="29" name="Text 12"/>
          <p:cNvSpPr/>
          <p:nvPr/>
        </p:nvSpPr>
        <p:spPr>
          <a:xfrm>
            <a:off x="6553200" y="1371600"/>
            <a:ext cx="51054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Best Practices</a:t>
            </a:r>
            <a:endParaRPr lang="en-US" sz="1800" dirty="0"/>
          </a:p>
        </p:txBody>
      </p:sp>
      <p:sp>
        <p:nvSpPr>
          <p:cNvPr id="30" name="Text 13"/>
          <p:cNvSpPr/>
          <p:nvPr/>
        </p:nvSpPr>
        <p:spPr>
          <a:xfrm>
            <a:off x="6819900" y="1828800"/>
            <a:ext cx="570839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Establish clear review objectives and criteria before beginning</a:t>
            </a:r>
            <a:endParaRPr lang="en-US" sz="1200" dirty="0"/>
          </a:p>
        </p:txBody>
      </p:sp>
      <p:sp>
        <p:nvSpPr>
          <p:cNvPr id="31" name="Text 14"/>
          <p:cNvSpPr/>
          <p:nvPr/>
        </p:nvSpPr>
        <p:spPr>
          <a:xfrm>
            <a:off x="6819900" y="2171700"/>
            <a:ext cx="439947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Maintain proper chain of custody for documents</a:t>
            </a:r>
            <a:endParaRPr lang="en-US" sz="1200" dirty="0"/>
          </a:p>
        </p:txBody>
      </p:sp>
      <p:sp>
        <p:nvSpPr>
          <p:cNvPr id="32" name="Text 15"/>
          <p:cNvSpPr/>
          <p:nvPr/>
        </p:nvSpPr>
        <p:spPr>
          <a:xfrm>
            <a:off x="6819900" y="2514600"/>
            <a:ext cx="52729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Use sampling techniques for large volumes of documents</a:t>
            </a:r>
            <a:endParaRPr lang="en-US" sz="1200" dirty="0"/>
          </a:p>
        </p:txBody>
      </p:sp>
      <p:sp>
        <p:nvSpPr>
          <p:cNvPr id="33" name="Text 16"/>
          <p:cNvSpPr/>
          <p:nvPr/>
        </p:nvSpPr>
        <p:spPr>
          <a:xfrm>
            <a:off x="6819900" y="2857500"/>
            <a:ext cx="491097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Document review should be systematic and objective</a:t>
            </a:r>
            <a:endParaRPr lang="en-US" sz="1200" dirty="0"/>
          </a:p>
        </p:txBody>
      </p:sp>
      <p:sp>
        <p:nvSpPr>
          <p:cNvPr id="34" name="Text 17"/>
          <p:cNvSpPr/>
          <p:nvPr/>
        </p:nvSpPr>
        <p:spPr>
          <a:xfrm>
            <a:off x="6819900" y="3200400"/>
            <a:ext cx="567231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Integrate document review findings with other audit evidence</a:t>
            </a:r>
            <a:endParaRPr lang="en-US" sz="1200" dirty="0"/>
          </a:p>
        </p:txBody>
      </p:sp>
      <p:sp>
        <p:nvSpPr>
          <p:cNvPr id="35" name="Text 18"/>
          <p:cNvSpPr/>
          <p:nvPr/>
        </p:nvSpPr>
        <p:spPr>
          <a:xfrm>
            <a:off x="6553200" y="41148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Key Elements to Review</a:t>
            </a:r>
            <a:endParaRPr lang="en-US" sz="1800" dirty="0"/>
          </a:p>
        </p:txBody>
      </p:sp>
      <p:sp>
        <p:nvSpPr>
          <p:cNvPr id="36" name="Text 19"/>
          <p:cNvSpPr/>
          <p:nvPr/>
        </p:nvSpPr>
        <p:spPr>
          <a:xfrm>
            <a:off x="6553200" y="4953000"/>
            <a:ext cx="247650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Policies</a:t>
            </a:r>
            <a:endParaRPr lang="en-US" sz="1350" dirty="0"/>
          </a:p>
        </p:txBody>
      </p:sp>
      <p:sp>
        <p:nvSpPr>
          <p:cNvPr id="37" name="Text 20"/>
          <p:cNvSpPr/>
          <p:nvPr/>
        </p:nvSpPr>
        <p:spPr>
          <a:xfrm>
            <a:off x="6305550" y="5219700"/>
            <a:ext cx="29718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Formal statements of intent</a:t>
            </a:r>
            <a:endParaRPr lang="en-US" sz="1050" dirty="0"/>
          </a:p>
        </p:txBody>
      </p:sp>
      <p:sp>
        <p:nvSpPr>
          <p:cNvPr id="38" name="Text 21"/>
          <p:cNvSpPr/>
          <p:nvPr/>
        </p:nvSpPr>
        <p:spPr>
          <a:xfrm>
            <a:off x="9182100" y="4953000"/>
            <a:ext cx="247650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Procedures</a:t>
            </a:r>
            <a:endParaRPr lang="en-US" sz="1350" dirty="0"/>
          </a:p>
        </p:txBody>
      </p:sp>
      <p:sp>
        <p:nvSpPr>
          <p:cNvPr id="39" name="Text 22"/>
          <p:cNvSpPr/>
          <p:nvPr/>
        </p:nvSpPr>
        <p:spPr>
          <a:xfrm>
            <a:off x="8934450" y="5219700"/>
            <a:ext cx="29718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Step-by-step instructions</a:t>
            </a:r>
            <a:endParaRPr lang="en-US" sz="1050" dirty="0"/>
          </a:p>
        </p:txBody>
      </p:sp>
      <p:sp>
        <p:nvSpPr>
          <p:cNvPr id="40" name="Text 23"/>
          <p:cNvSpPr/>
          <p:nvPr/>
        </p:nvSpPr>
        <p:spPr>
          <a:xfrm>
            <a:off x="6553200" y="5943600"/>
            <a:ext cx="247650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Records</a:t>
            </a:r>
            <a:endParaRPr lang="en-US" sz="1350" dirty="0"/>
          </a:p>
        </p:txBody>
      </p:sp>
      <p:sp>
        <p:nvSpPr>
          <p:cNvPr id="41" name="Text 24"/>
          <p:cNvSpPr/>
          <p:nvPr/>
        </p:nvSpPr>
        <p:spPr>
          <a:xfrm>
            <a:off x="6305550" y="6210300"/>
            <a:ext cx="29718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Documentation of activities</a:t>
            </a:r>
            <a:endParaRPr lang="en-US" sz="1050" dirty="0"/>
          </a:p>
        </p:txBody>
      </p:sp>
      <p:sp>
        <p:nvSpPr>
          <p:cNvPr id="42" name="Text 25"/>
          <p:cNvSpPr/>
          <p:nvPr/>
        </p:nvSpPr>
        <p:spPr>
          <a:xfrm>
            <a:off x="8934450" y="5943600"/>
            <a:ext cx="2971800"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00000"/>
                </a:solidFill>
                <a:latin typeface="ui-sans-serif" pitchFamily="34" charset="0"/>
                <a:ea typeface="ui-sans-serif" pitchFamily="34" charset="-122"/>
                <a:cs typeface="ui-sans-serif" pitchFamily="34" charset="-120"/>
              </a:rPr>
              <a:t>Compliance Reports</a:t>
            </a:r>
            <a:endParaRPr lang="en-US" sz="1350" dirty="0"/>
          </a:p>
        </p:txBody>
      </p:sp>
      <p:sp>
        <p:nvSpPr>
          <p:cNvPr id="43" name="Text 26"/>
          <p:cNvSpPr/>
          <p:nvPr/>
        </p:nvSpPr>
        <p:spPr>
          <a:xfrm>
            <a:off x="8934450" y="6210300"/>
            <a:ext cx="297180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4B5563"/>
                </a:solidFill>
                <a:latin typeface="ui-sans-serif" pitchFamily="34" charset="0"/>
                <a:ea typeface="ui-sans-serif" pitchFamily="34" charset="-122"/>
                <a:cs typeface="ui-sans-serif" pitchFamily="34" charset="-120"/>
              </a:rPr>
              <a:t>Previous audit findings</a:t>
            </a:r>
            <a:endParaRPr lang="en-US" sz="1050" dirty="0"/>
          </a:p>
        </p:txBody>
      </p:sp>
      <p:sp>
        <p:nvSpPr>
          <p:cNvPr id="44" name="Text 27"/>
          <p:cNvSpPr/>
          <p:nvPr/>
        </p:nvSpPr>
        <p:spPr>
          <a:xfrm>
            <a:off x="381000" y="73914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5" name="Text 28"/>
          <p:cNvSpPr/>
          <p:nvPr/>
        </p:nvSpPr>
        <p:spPr>
          <a:xfrm>
            <a:off x="11371808" y="73914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12/26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4953000"/>
          </a:xfrm>
          <a:prstGeom prst="rect">
            <a:avLst/>
          </a:prstGeom>
        </p:spPr>
      </p:pic>
      <p:pic>
        <p:nvPicPr>
          <p:cNvPr id="5" name="Image 3" descr="preencoded.png"/>
          <p:cNvPicPr>
            <a:picLocks noChangeAspect="1"/>
          </p:cNvPicPr>
          <p:nvPr/>
        </p:nvPicPr>
        <p:blipFill>
          <a:blip r:embed="rId6"/>
          <a:stretch>
            <a:fillRect/>
          </a:stretch>
        </p:blipFill>
        <p:spPr>
          <a:xfrm>
            <a:off x="533400" y="1371600"/>
            <a:ext cx="457200" cy="457200"/>
          </a:xfrm>
          <a:prstGeom prst="rect">
            <a:avLst/>
          </a:prstGeom>
        </p:spPr>
      </p:pic>
      <p:pic>
        <p:nvPicPr>
          <p:cNvPr id="6" name="Image 4" descr="preencoded.png"/>
          <p:cNvPicPr>
            <a:picLocks noChangeAspect="1"/>
          </p:cNvPicPr>
          <p:nvPr/>
        </p:nvPicPr>
        <p:blipFill>
          <a:blip r:embed="rId7"/>
          <a:stretch>
            <a:fillRect/>
          </a:stretch>
        </p:blipFill>
        <p:spPr>
          <a:xfrm>
            <a:off x="619125" y="1447800"/>
            <a:ext cx="285750" cy="304800"/>
          </a:xfrm>
          <a:prstGeom prst="rect">
            <a:avLst/>
          </a:prstGeom>
        </p:spPr>
      </p:pic>
      <p:pic>
        <p:nvPicPr>
          <p:cNvPr id="7" name="Image 5" descr="preencoded.png"/>
          <p:cNvPicPr>
            <a:picLocks noChangeAspect="1"/>
          </p:cNvPicPr>
          <p:nvPr/>
        </p:nvPicPr>
        <p:blipFill>
          <a:blip r:embed="rId8"/>
          <a:stretch>
            <a:fillRect/>
          </a:stretch>
        </p:blipFill>
        <p:spPr>
          <a:xfrm>
            <a:off x="533400" y="2019300"/>
            <a:ext cx="152400" cy="152400"/>
          </a:xfrm>
          <a:prstGeom prst="rect">
            <a:avLst/>
          </a:prstGeom>
        </p:spPr>
      </p:pic>
      <p:pic>
        <p:nvPicPr>
          <p:cNvPr id="8" name="Image 6" descr="preencoded.png"/>
          <p:cNvPicPr>
            <a:picLocks noChangeAspect="1"/>
          </p:cNvPicPr>
          <p:nvPr/>
        </p:nvPicPr>
        <p:blipFill>
          <a:blip r:embed="rId8"/>
          <a:stretch>
            <a:fillRect/>
          </a:stretch>
        </p:blipFill>
        <p:spPr>
          <a:xfrm>
            <a:off x="533400" y="2857500"/>
            <a:ext cx="152400" cy="152400"/>
          </a:xfrm>
          <a:prstGeom prst="rect">
            <a:avLst/>
          </a:prstGeom>
        </p:spPr>
      </p:pic>
      <p:pic>
        <p:nvPicPr>
          <p:cNvPr id="9" name="Image 7" descr="preencoded.png"/>
          <p:cNvPicPr>
            <a:picLocks noChangeAspect="1"/>
          </p:cNvPicPr>
          <p:nvPr/>
        </p:nvPicPr>
        <p:blipFill>
          <a:blip r:embed="rId8"/>
          <a:stretch>
            <a:fillRect/>
          </a:stretch>
        </p:blipFill>
        <p:spPr>
          <a:xfrm>
            <a:off x="533400" y="3695700"/>
            <a:ext cx="152400" cy="152400"/>
          </a:xfrm>
          <a:prstGeom prst="rect">
            <a:avLst/>
          </a:prstGeom>
        </p:spPr>
      </p:pic>
      <p:pic>
        <p:nvPicPr>
          <p:cNvPr id="10" name="Image 8" descr="preencoded.png"/>
          <p:cNvPicPr>
            <a:picLocks noChangeAspect="1"/>
          </p:cNvPicPr>
          <p:nvPr/>
        </p:nvPicPr>
        <p:blipFill>
          <a:blip r:embed="rId8"/>
          <a:stretch>
            <a:fillRect/>
          </a:stretch>
        </p:blipFill>
        <p:spPr>
          <a:xfrm>
            <a:off x="533400" y="4533900"/>
            <a:ext cx="152400" cy="152400"/>
          </a:xfrm>
          <a:prstGeom prst="rect">
            <a:avLst/>
          </a:prstGeom>
        </p:spPr>
      </p:pic>
      <p:pic>
        <p:nvPicPr>
          <p:cNvPr id="11" name="Image 9" descr="preencoded.png"/>
          <p:cNvPicPr>
            <a:picLocks noChangeAspect="1"/>
          </p:cNvPicPr>
          <p:nvPr/>
        </p:nvPicPr>
        <p:blipFill>
          <a:blip r:embed="rId5"/>
          <a:stretch>
            <a:fillRect/>
          </a:stretch>
        </p:blipFill>
        <p:spPr>
          <a:xfrm>
            <a:off x="6324600" y="1143000"/>
            <a:ext cx="5562600" cy="4953000"/>
          </a:xfrm>
          <a:prstGeom prst="rect">
            <a:avLst/>
          </a:prstGeom>
        </p:spPr>
      </p:pic>
      <p:pic>
        <p:nvPicPr>
          <p:cNvPr id="12" name="Image 10" descr="preencoded.png"/>
          <p:cNvPicPr>
            <a:picLocks noChangeAspect="1"/>
          </p:cNvPicPr>
          <p:nvPr/>
        </p:nvPicPr>
        <p:blipFill>
          <a:blip r:embed="rId9"/>
          <a:stretch>
            <a:fillRect/>
          </a:stretch>
        </p:blipFill>
        <p:spPr>
          <a:xfrm>
            <a:off x="6553200" y="1371600"/>
            <a:ext cx="457200" cy="457200"/>
          </a:xfrm>
          <a:prstGeom prst="rect">
            <a:avLst/>
          </a:prstGeom>
        </p:spPr>
      </p:pic>
      <p:pic>
        <p:nvPicPr>
          <p:cNvPr id="13" name="Image 11" descr="preencoded.png"/>
          <p:cNvPicPr>
            <a:picLocks noChangeAspect="1"/>
          </p:cNvPicPr>
          <p:nvPr/>
        </p:nvPicPr>
        <p:blipFill>
          <a:blip r:embed="rId10"/>
          <a:stretch>
            <a:fillRect/>
          </a:stretch>
        </p:blipFill>
        <p:spPr>
          <a:xfrm>
            <a:off x="6653213" y="1447800"/>
            <a:ext cx="257175" cy="304800"/>
          </a:xfrm>
          <a:prstGeom prst="rect">
            <a:avLst/>
          </a:prstGeom>
        </p:spPr>
      </p:pic>
      <p:pic>
        <p:nvPicPr>
          <p:cNvPr id="14" name="Image 12" descr="preencoded.png"/>
          <p:cNvPicPr>
            <a:picLocks noChangeAspect="1"/>
          </p:cNvPicPr>
          <p:nvPr/>
        </p:nvPicPr>
        <p:blipFill>
          <a:blip r:embed="rId11"/>
          <a:stretch>
            <a:fillRect/>
          </a:stretch>
        </p:blipFill>
        <p:spPr>
          <a:xfrm>
            <a:off x="6553200" y="2019300"/>
            <a:ext cx="152400" cy="152400"/>
          </a:xfrm>
          <a:prstGeom prst="rect">
            <a:avLst/>
          </a:prstGeom>
        </p:spPr>
      </p:pic>
      <p:pic>
        <p:nvPicPr>
          <p:cNvPr id="15" name="Image 13" descr="preencoded.png"/>
          <p:cNvPicPr>
            <a:picLocks noChangeAspect="1"/>
          </p:cNvPicPr>
          <p:nvPr/>
        </p:nvPicPr>
        <p:blipFill>
          <a:blip r:embed="rId11"/>
          <a:stretch>
            <a:fillRect/>
          </a:stretch>
        </p:blipFill>
        <p:spPr>
          <a:xfrm>
            <a:off x="6553200" y="2857500"/>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6553200" y="3695700"/>
            <a:ext cx="152400" cy="152400"/>
          </a:xfrm>
          <a:prstGeom prst="rect">
            <a:avLst/>
          </a:prstGeom>
        </p:spPr>
      </p:pic>
      <p:pic>
        <p:nvPicPr>
          <p:cNvPr id="17" name="Image 15" descr="preencoded.png"/>
          <p:cNvPicPr>
            <a:picLocks noChangeAspect="1"/>
          </p:cNvPicPr>
          <p:nvPr/>
        </p:nvPicPr>
        <p:blipFill>
          <a:blip r:embed="rId11"/>
          <a:stretch>
            <a:fillRect/>
          </a:stretch>
        </p:blipFill>
        <p:spPr>
          <a:xfrm>
            <a:off x="6553200" y="4533900"/>
            <a:ext cx="152400" cy="152400"/>
          </a:xfrm>
          <a:prstGeom prst="rect">
            <a:avLst/>
          </a:prstGeom>
        </p:spPr>
      </p:pic>
      <p:pic>
        <p:nvPicPr>
          <p:cNvPr id="18" name="Image 16" descr="preencoded.png"/>
          <p:cNvPicPr>
            <a:picLocks noChangeAspect="1"/>
          </p:cNvPicPr>
          <p:nvPr/>
        </p:nvPicPr>
        <p:blipFill>
          <a:blip r:embed="rId12"/>
          <a:stretch>
            <a:fillRect/>
          </a:stretch>
        </p:blipFill>
        <p:spPr>
          <a:xfrm>
            <a:off x="0" y="6400800"/>
            <a:ext cx="12192000" cy="457200"/>
          </a:xfrm>
          <a:prstGeom prst="rect">
            <a:avLst/>
          </a:prstGeom>
        </p:spPr>
      </p:pic>
      <p:sp>
        <p:nvSpPr>
          <p:cNvPr id="19"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Interviews and Observations</a:t>
            </a:r>
            <a:endParaRPr lang="en-US" sz="2700" dirty="0"/>
          </a:p>
        </p:txBody>
      </p:sp>
      <p:sp>
        <p:nvSpPr>
          <p:cNvPr id="20" name="Text 1"/>
          <p:cNvSpPr/>
          <p:nvPr/>
        </p:nvSpPr>
        <p:spPr>
          <a:xfrm>
            <a:off x="1143000" y="1447800"/>
            <a:ext cx="3069312"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Effective Interviews</a:t>
            </a:r>
            <a:endParaRPr lang="en-US" sz="1800" dirty="0"/>
          </a:p>
        </p:txBody>
      </p:sp>
      <p:sp>
        <p:nvSpPr>
          <p:cNvPr id="21" name="Text 2"/>
          <p:cNvSpPr/>
          <p:nvPr/>
        </p:nvSpPr>
        <p:spPr>
          <a:xfrm>
            <a:off x="800100" y="1981200"/>
            <a:ext cx="580644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Prepare Key Interview Questions</a:t>
            </a:r>
            <a:endParaRPr lang="en-US" sz="1200" dirty="0"/>
          </a:p>
        </p:txBody>
      </p:sp>
      <p:sp>
        <p:nvSpPr>
          <p:cNvPr id="22" name="Text 3"/>
          <p:cNvSpPr/>
          <p:nvPr/>
        </p:nvSpPr>
        <p:spPr>
          <a:xfrm>
            <a:off x="800100" y="22098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Develop clear, focused questions in advance to ensure comprehensive coverage of audit objectives.</a:t>
            </a:r>
            <a:endParaRPr lang="en-US" sz="1200" dirty="0"/>
          </a:p>
        </p:txBody>
      </p:sp>
      <p:sp>
        <p:nvSpPr>
          <p:cNvPr id="23" name="Text 4"/>
          <p:cNvSpPr/>
          <p:nvPr/>
        </p:nvSpPr>
        <p:spPr>
          <a:xfrm>
            <a:off x="800100" y="2819400"/>
            <a:ext cx="580644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Select Appropriate Interviewees</a:t>
            </a:r>
            <a:endParaRPr lang="en-US" sz="1200" dirty="0"/>
          </a:p>
        </p:txBody>
      </p:sp>
      <p:sp>
        <p:nvSpPr>
          <p:cNvPr id="24" name="Text 5"/>
          <p:cNvSpPr/>
          <p:nvPr/>
        </p:nvSpPr>
        <p:spPr>
          <a:xfrm>
            <a:off x="800100" y="30480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Identify personnel with relevant knowledge and authority to provide accurate information.</a:t>
            </a:r>
            <a:endParaRPr lang="en-US" sz="1200" dirty="0"/>
          </a:p>
        </p:txBody>
      </p:sp>
      <p:sp>
        <p:nvSpPr>
          <p:cNvPr id="25" name="Text 6"/>
          <p:cNvSpPr/>
          <p:nvPr/>
        </p:nvSpPr>
        <p:spPr>
          <a:xfrm>
            <a:off x="800100" y="3657600"/>
            <a:ext cx="580644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Create a Conducive Environment</a:t>
            </a:r>
            <a:endParaRPr lang="en-US" sz="1200" dirty="0"/>
          </a:p>
        </p:txBody>
      </p:sp>
      <p:sp>
        <p:nvSpPr>
          <p:cNvPr id="26" name="Text 7"/>
          <p:cNvSpPr/>
          <p:nvPr/>
        </p:nvSpPr>
        <p:spPr>
          <a:xfrm>
            <a:off x="800100" y="38862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Establish rapport and ensure confidentiality to encourage honest and complete responses.</a:t>
            </a:r>
            <a:endParaRPr lang="en-US" sz="1200" dirty="0"/>
          </a:p>
        </p:txBody>
      </p:sp>
      <p:sp>
        <p:nvSpPr>
          <p:cNvPr id="27" name="Text 8"/>
          <p:cNvSpPr/>
          <p:nvPr/>
        </p:nvSpPr>
        <p:spPr>
          <a:xfrm>
            <a:off x="800100" y="4495800"/>
            <a:ext cx="483870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Listen Actively</a:t>
            </a:r>
            <a:endParaRPr lang="en-US" sz="1200" dirty="0"/>
          </a:p>
        </p:txBody>
      </p:sp>
      <p:sp>
        <p:nvSpPr>
          <p:cNvPr id="28" name="Text 9"/>
          <p:cNvSpPr/>
          <p:nvPr/>
        </p:nvSpPr>
        <p:spPr>
          <a:xfrm>
            <a:off x="800100" y="47244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Pay close attention to responses, ask follow-up questions, and clarify ambiguous information.</a:t>
            </a:r>
            <a:endParaRPr lang="en-US" sz="1200" dirty="0"/>
          </a:p>
        </p:txBody>
      </p:sp>
      <p:sp>
        <p:nvSpPr>
          <p:cNvPr id="29" name="Text 10"/>
          <p:cNvSpPr/>
          <p:nvPr/>
        </p:nvSpPr>
        <p:spPr>
          <a:xfrm>
            <a:off x="7162800" y="1447800"/>
            <a:ext cx="3082707" cy="304800"/>
          </a:xfrm>
          <a:prstGeom prst="rect">
            <a:avLst/>
          </a:prstGeom>
          <a:noFill/>
          <a:ln/>
        </p:spPr>
        <p:txBody>
          <a:bodyPr vert="horz" wrap="square" lIns="0" tIns="0" rIns="0" bIns="0" rtlCol="0" anchor="t"/>
          <a:lstStyle/>
          <a:p>
            <a:pPr marL="0" indent="0">
              <a:lnSpc>
                <a:spcPts val="2400"/>
              </a:lnSpc>
              <a:buNone/>
            </a:pPr>
            <a:r>
              <a:rPr lang="en-US" sz="1800" b="1" dirty="0">
                <a:solidFill>
                  <a:srgbClr val="9333EA"/>
                </a:solidFill>
                <a:latin typeface="ui-sans-serif" pitchFamily="34" charset="0"/>
                <a:ea typeface="ui-sans-serif" pitchFamily="34" charset="-122"/>
                <a:cs typeface="ui-sans-serif" pitchFamily="34" charset="-120"/>
              </a:rPr>
              <a:t>Direct Observations</a:t>
            </a:r>
            <a:endParaRPr lang="en-US" sz="1800" dirty="0"/>
          </a:p>
        </p:txBody>
      </p:sp>
      <p:sp>
        <p:nvSpPr>
          <p:cNvPr id="30" name="Text 11"/>
          <p:cNvSpPr/>
          <p:nvPr/>
        </p:nvSpPr>
        <p:spPr>
          <a:xfrm>
            <a:off x="6819900" y="1981200"/>
            <a:ext cx="483870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Plan Observation Sessions</a:t>
            </a:r>
            <a:endParaRPr lang="en-US" sz="1200" dirty="0"/>
          </a:p>
        </p:txBody>
      </p:sp>
      <p:sp>
        <p:nvSpPr>
          <p:cNvPr id="31" name="Text 12"/>
          <p:cNvSpPr/>
          <p:nvPr/>
        </p:nvSpPr>
        <p:spPr>
          <a:xfrm>
            <a:off x="6819900" y="22098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Schedule observations during normal operations to capture typical workflow and procedures.</a:t>
            </a:r>
            <a:endParaRPr lang="en-US" sz="1200" dirty="0"/>
          </a:p>
        </p:txBody>
      </p:sp>
      <p:sp>
        <p:nvSpPr>
          <p:cNvPr id="32" name="Text 13"/>
          <p:cNvSpPr/>
          <p:nvPr/>
        </p:nvSpPr>
        <p:spPr>
          <a:xfrm>
            <a:off x="6819900" y="2819400"/>
            <a:ext cx="483870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Document Everything</a:t>
            </a:r>
            <a:endParaRPr lang="en-US" sz="1200" dirty="0"/>
          </a:p>
        </p:txBody>
      </p:sp>
      <p:sp>
        <p:nvSpPr>
          <p:cNvPr id="33" name="Text 14"/>
          <p:cNvSpPr/>
          <p:nvPr/>
        </p:nvSpPr>
        <p:spPr>
          <a:xfrm>
            <a:off x="6819900" y="30480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Record observations systematically using checklists, notes, and visual documentation when appropriate.</a:t>
            </a:r>
            <a:endParaRPr lang="en-US" sz="1200" dirty="0"/>
          </a:p>
        </p:txBody>
      </p:sp>
      <p:sp>
        <p:nvSpPr>
          <p:cNvPr id="34" name="Text 15"/>
          <p:cNvSpPr/>
          <p:nvPr/>
        </p:nvSpPr>
        <p:spPr>
          <a:xfrm>
            <a:off x="6819900" y="3657600"/>
            <a:ext cx="580644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Observe Without Interference</a:t>
            </a:r>
            <a:endParaRPr lang="en-US" sz="1200" dirty="0"/>
          </a:p>
        </p:txBody>
      </p:sp>
      <p:sp>
        <p:nvSpPr>
          <p:cNvPr id="35" name="Text 16"/>
          <p:cNvSpPr/>
          <p:nvPr/>
        </p:nvSpPr>
        <p:spPr>
          <a:xfrm>
            <a:off x="6819900" y="38862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Maintain a non-intrusive presence to observe natural processes and behaviors.</a:t>
            </a:r>
            <a:endParaRPr lang="en-US" sz="1200" dirty="0"/>
          </a:p>
        </p:txBody>
      </p:sp>
      <p:sp>
        <p:nvSpPr>
          <p:cNvPr id="36" name="Text 17"/>
          <p:cNvSpPr/>
          <p:nvPr/>
        </p:nvSpPr>
        <p:spPr>
          <a:xfrm>
            <a:off x="6819900" y="4495800"/>
            <a:ext cx="4838700"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Verify with Other Evidence</a:t>
            </a:r>
            <a:endParaRPr lang="en-US" sz="1200" dirty="0"/>
          </a:p>
        </p:txBody>
      </p:sp>
      <p:sp>
        <p:nvSpPr>
          <p:cNvPr id="37" name="Text 18"/>
          <p:cNvSpPr/>
          <p:nvPr/>
        </p:nvSpPr>
        <p:spPr>
          <a:xfrm>
            <a:off x="6819900" y="4724400"/>
            <a:ext cx="48387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4B5563"/>
                </a:solidFill>
                <a:latin typeface="ui-sans-serif" pitchFamily="34" charset="0"/>
                <a:ea typeface="ui-sans-serif" pitchFamily="34" charset="-122"/>
                <a:cs typeface="ui-sans-serif" pitchFamily="34" charset="-120"/>
              </a:rPr>
              <a:t>Corroborate observations with document reviews and test results to form complete audit findings.</a:t>
            </a:r>
            <a:endParaRPr lang="en-US" sz="1200" dirty="0"/>
          </a:p>
        </p:txBody>
      </p:sp>
      <p:sp>
        <p:nvSpPr>
          <p:cNvPr id="38" name="Text 19"/>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9" name="Text 20"/>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13/26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3708350" cy="2171700"/>
          </a:xfrm>
          <a:prstGeom prst="rect">
            <a:avLst/>
          </a:prstGeom>
        </p:spPr>
      </p:pic>
      <p:pic>
        <p:nvPicPr>
          <p:cNvPr id="5" name="Image 3" descr="preencoded.png"/>
          <p:cNvPicPr>
            <a:picLocks noChangeAspect="1"/>
          </p:cNvPicPr>
          <p:nvPr/>
        </p:nvPicPr>
        <p:blipFill>
          <a:blip r:embed="rId6"/>
          <a:stretch>
            <a:fillRect/>
          </a:stretch>
        </p:blipFill>
        <p:spPr>
          <a:xfrm>
            <a:off x="495300" y="2095500"/>
            <a:ext cx="285750" cy="381000"/>
          </a:xfrm>
          <a:prstGeom prst="rect">
            <a:avLst/>
          </a:prstGeom>
        </p:spPr>
      </p:pic>
      <p:pic>
        <p:nvPicPr>
          <p:cNvPr id="6" name="Image 4" descr="preencoded.png"/>
          <p:cNvPicPr>
            <a:picLocks noChangeAspect="1"/>
          </p:cNvPicPr>
          <p:nvPr/>
        </p:nvPicPr>
        <p:blipFill>
          <a:blip r:embed="rId7"/>
          <a:stretch>
            <a:fillRect/>
          </a:stretch>
        </p:blipFill>
        <p:spPr>
          <a:xfrm>
            <a:off x="495300" y="3724275"/>
            <a:ext cx="133350" cy="133350"/>
          </a:xfrm>
          <a:prstGeom prst="rect">
            <a:avLst/>
          </a:prstGeom>
        </p:spPr>
      </p:pic>
      <p:pic>
        <p:nvPicPr>
          <p:cNvPr id="7" name="Image 5" descr="preencoded.png"/>
          <p:cNvPicPr>
            <a:picLocks noChangeAspect="1"/>
          </p:cNvPicPr>
          <p:nvPr/>
        </p:nvPicPr>
        <p:blipFill>
          <a:blip r:embed="rId8"/>
          <a:stretch>
            <a:fillRect/>
          </a:stretch>
        </p:blipFill>
        <p:spPr>
          <a:xfrm>
            <a:off x="4241750" y="1905000"/>
            <a:ext cx="3708350" cy="2171700"/>
          </a:xfrm>
          <a:prstGeom prst="rect">
            <a:avLst/>
          </a:prstGeom>
        </p:spPr>
      </p:pic>
      <p:pic>
        <p:nvPicPr>
          <p:cNvPr id="8" name="Image 6" descr="preencoded.png"/>
          <p:cNvPicPr>
            <a:picLocks noChangeAspect="1"/>
          </p:cNvPicPr>
          <p:nvPr/>
        </p:nvPicPr>
        <p:blipFill>
          <a:blip r:embed="rId9"/>
          <a:stretch>
            <a:fillRect/>
          </a:stretch>
        </p:blipFill>
        <p:spPr>
          <a:xfrm>
            <a:off x="4432250" y="2095500"/>
            <a:ext cx="476250" cy="381000"/>
          </a:xfrm>
          <a:prstGeom prst="rect">
            <a:avLst/>
          </a:prstGeom>
        </p:spPr>
      </p:pic>
      <p:pic>
        <p:nvPicPr>
          <p:cNvPr id="9" name="Image 7" descr="preencoded.png"/>
          <p:cNvPicPr>
            <a:picLocks noChangeAspect="1"/>
          </p:cNvPicPr>
          <p:nvPr/>
        </p:nvPicPr>
        <p:blipFill>
          <a:blip r:embed="rId7"/>
          <a:stretch>
            <a:fillRect/>
          </a:stretch>
        </p:blipFill>
        <p:spPr>
          <a:xfrm>
            <a:off x="4432250" y="3495675"/>
            <a:ext cx="133350" cy="133350"/>
          </a:xfrm>
          <a:prstGeom prst="rect">
            <a:avLst/>
          </a:prstGeom>
        </p:spPr>
      </p:pic>
      <p:pic>
        <p:nvPicPr>
          <p:cNvPr id="10" name="Image 8" descr="preencoded.png"/>
          <p:cNvPicPr>
            <a:picLocks noChangeAspect="1"/>
          </p:cNvPicPr>
          <p:nvPr/>
        </p:nvPicPr>
        <p:blipFill>
          <a:blip r:embed="rId10"/>
          <a:stretch>
            <a:fillRect/>
          </a:stretch>
        </p:blipFill>
        <p:spPr>
          <a:xfrm>
            <a:off x="8178701" y="1905000"/>
            <a:ext cx="3708499" cy="2171700"/>
          </a:xfrm>
          <a:prstGeom prst="rect">
            <a:avLst/>
          </a:prstGeom>
        </p:spPr>
      </p:pic>
      <p:pic>
        <p:nvPicPr>
          <p:cNvPr id="11" name="Image 9" descr="preencoded.png"/>
          <p:cNvPicPr>
            <a:picLocks noChangeAspect="1"/>
          </p:cNvPicPr>
          <p:nvPr/>
        </p:nvPicPr>
        <p:blipFill>
          <a:blip r:embed="rId11"/>
          <a:stretch>
            <a:fillRect/>
          </a:stretch>
        </p:blipFill>
        <p:spPr>
          <a:xfrm>
            <a:off x="8369201" y="2095500"/>
            <a:ext cx="381000" cy="381000"/>
          </a:xfrm>
          <a:prstGeom prst="rect">
            <a:avLst/>
          </a:prstGeom>
        </p:spPr>
      </p:pic>
      <p:pic>
        <p:nvPicPr>
          <p:cNvPr id="12" name="Image 10" descr="preencoded.png"/>
          <p:cNvPicPr>
            <a:picLocks noChangeAspect="1"/>
          </p:cNvPicPr>
          <p:nvPr/>
        </p:nvPicPr>
        <p:blipFill>
          <a:blip r:embed="rId7"/>
          <a:stretch>
            <a:fillRect/>
          </a:stretch>
        </p:blipFill>
        <p:spPr>
          <a:xfrm>
            <a:off x="8369201" y="3495675"/>
            <a:ext cx="133350" cy="133350"/>
          </a:xfrm>
          <a:prstGeom prst="rect">
            <a:avLst/>
          </a:prstGeom>
        </p:spPr>
      </p:pic>
      <p:pic>
        <p:nvPicPr>
          <p:cNvPr id="13" name="Image 11" descr="preencoded.png"/>
          <p:cNvPicPr>
            <a:picLocks noChangeAspect="1"/>
          </p:cNvPicPr>
          <p:nvPr/>
        </p:nvPicPr>
        <p:blipFill>
          <a:blip r:embed="rId12"/>
          <a:stretch>
            <a:fillRect/>
          </a:stretch>
        </p:blipFill>
        <p:spPr>
          <a:xfrm>
            <a:off x="304800" y="4305300"/>
            <a:ext cx="11582400" cy="1371600"/>
          </a:xfrm>
          <a:prstGeom prst="rect">
            <a:avLst/>
          </a:prstGeom>
        </p:spPr>
      </p:pic>
      <p:pic>
        <p:nvPicPr>
          <p:cNvPr id="14" name="Image 12" descr="preencoded.png"/>
          <p:cNvPicPr>
            <a:picLocks noChangeAspect="1"/>
          </p:cNvPicPr>
          <p:nvPr/>
        </p:nvPicPr>
        <p:blipFill>
          <a:blip r:embed="rId13"/>
          <a:stretch>
            <a:fillRect/>
          </a:stretch>
        </p:blipFill>
        <p:spPr>
          <a:xfrm>
            <a:off x="495300" y="4914900"/>
            <a:ext cx="171450" cy="266700"/>
          </a:xfrm>
          <a:prstGeom prst="rect">
            <a:avLst/>
          </a:prstGeom>
        </p:spPr>
      </p:pic>
      <p:pic>
        <p:nvPicPr>
          <p:cNvPr id="15" name="Image 13" descr="preencoded.png"/>
          <p:cNvPicPr>
            <a:picLocks noChangeAspect="1"/>
          </p:cNvPicPr>
          <p:nvPr/>
        </p:nvPicPr>
        <p:blipFill>
          <a:blip r:embed="rId14"/>
          <a:stretch>
            <a:fillRect/>
          </a:stretch>
        </p:blipFill>
        <p:spPr>
          <a:xfrm>
            <a:off x="6172200" y="4914900"/>
            <a:ext cx="219075" cy="266700"/>
          </a:xfrm>
          <a:prstGeom prst="rect">
            <a:avLst/>
          </a:prstGeom>
        </p:spPr>
      </p:pic>
      <p:pic>
        <p:nvPicPr>
          <p:cNvPr id="16" name="Image 14" descr="preencoded.png"/>
          <p:cNvPicPr>
            <a:picLocks noChangeAspect="1"/>
          </p:cNvPicPr>
          <p:nvPr/>
        </p:nvPicPr>
        <p:blipFill>
          <a:blip r:embed="rId15"/>
          <a:stretch>
            <a:fillRect/>
          </a:stretch>
        </p:blipFill>
        <p:spPr>
          <a:xfrm>
            <a:off x="0" y="6400800"/>
            <a:ext cx="12192000" cy="457200"/>
          </a:xfrm>
          <a:prstGeom prst="rect">
            <a:avLst/>
          </a:prstGeom>
        </p:spPr>
      </p:pic>
      <p:sp>
        <p:nvSpPr>
          <p:cNvPr id="17"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Testing Controls</a:t>
            </a:r>
            <a:endParaRPr lang="en-US" sz="2700" dirty="0"/>
          </a:p>
        </p:txBody>
      </p:sp>
      <p:sp>
        <p:nvSpPr>
          <p:cNvPr id="18"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During the audit execution phase, testing controls is a critical component of ensuring compliance. This involves evaluating the design and operational effectiveness of an organization's control mechanisms.</a:t>
            </a:r>
            <a:endParaRPr lang="en-US" sz="1350" dirty="0"/>
          </a:p>
        </p:txBody>
      </p:sp>
      <p:sp>
        <p:nvSpPr>
          <p:cNvPr id="19" name="Text 2"/>
          <p:cNvSpPr/>
          <p:nvPr/>
        </p:nvSpPr>
        <p:spPr>
          <a:xfrm>
            <a:off x="895350" y="2190750"/>
            <a:ext cx="2555498"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Substantive Testing</a:t>
            </a:r>
            <a:endParaRPr lang="en-US" sz="1500" dirty="0"/>
          </a:p>
        </p:txBody>
      </p:sp>
      <p:sp>
        <p:nvSpPr>
          <p:cNvPr id="20" name="Text 3"/>
          <p:cNvSpPr/>
          <p:nvPr/>
        </p:nvSpPr>
        <p:spPr>
          <a:xfrm>
            <a:off x="495300" y="2667000"/>
            <a:ext cx="332735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Evaluates the accuracy and completeness of transactions and account balances by examining underlying documentation and records.</a:t>
            </a:r>
            <a:endParaRPr lang="en-US" sz="1200" dirty="0"/>
          </a:p>
        </p:txBody>
      </p:sp>
      <p:sp>
        <p:nvSpPr>
          <p:cNvPr id="21" name="Text 4"/>
          <p:cNvSpPr/>
          <p:nvPr/>
        </p:nvSpPr>
        <p:spPr>
          <a:xfrm>
            <a:off x="704850" y="3695700"/>
            <a:ext cx="365992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Focuses on detecting material misstatements</a:t>
            </a:r>
            <a:endParaRPr lang="en-US" sz="1050" dirty="0"/>
          </a:p>
        </p:txBody>
      </p:sp>
      <p:sp>
        <p:nvSpPr>
          <p:cNvPr id="22" name="Text 5"/>
          <p:cNvSpPr/>
          <p:nvPr/>
        </p:nvSpPr>
        <p:spPr>
          <a:xfrm>
            <a:off x="5022800" y="2190750"/>
            <a:ext cx="1955423"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Control Testing</a:t>
            </a:r>
            <a:endParaRPr lang="en-US" sz="1500" dirty="0"/>
          </a:p>
        </p:txBody>
      </p:sp>
      <p:sp>
        <p:nvSpPr>
          <p:cNvPr id="23" name="Text 6"/>
          <p:cNvSpPr/>
          <p:nvPr/>
        </p:nvSpPr>
        <p:spPr>
          <a:xfrm>
            <a:off x="4432250" y="2667000"/>
            <a:ext cx="33273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Assesses the effectiveness of specific controls in preventing or detecting and correcting material misstatements.</a:t>
            </a:r>
            <a:endParaRPr lang="en-US" sz="1200" dirty="0"/>
          </a:p>
        </p:txBody>
      </p:sp>
      <p:sp>
        <p:nvSpPr>
          <p:cNvPr id="24" name="Text 7"/>
          <p:cNvSpPr/>
          <p:nvPr/>
        </p:nvSpPr>
        <p:spPr>
          <a:xfrm>
            <a:off x="4641800" y="3467100"/>
            <a:ext cx="3586163"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Validates control design and implementation</a:t>
            </a:r>
            <a:endParaRPr lang="en-US" sz="1050" dirty="0"/>
          </a:p>
        </p:txBody>
      </p:sp>
      <p:sp>
        <p:nvSpPr>
          <p:cNvPr id="25" name="Text 8"/>
          <p:cNvSpPr/>
          <p:nvPr/>
        </p:nvSpPr>
        <p:spPr>
          <a:xfrm>
            <a:off x="8864501" y="2190750"/>
            <a:ext cx="179576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Walkthroughs</a:t>
            </a:r>
            <a:endParaRPr lang="en-US" sz="1500" dirty="0"/>
          </a:p>
        </p:txBody>
      </p:sp>
      <p:sp>
        <p:nvSpPr>
          <p:cNvPr id="26" name="Text 9"/>
          <p:cNvSpPr/>
          <p:nvPr/>
        </p:nvSpPr>
        <p:spPr>
          <a:xfrm>
            <a:off x="8369201" y="2667000"/>
            <a:ext cx="3327499"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Traces transactions through the accounting system to verify that controls are properly designed and operating as intended.</a:t>
            </a:r>
            <a:endParaRPr lang="en-US" sz="1200" dirty="0"/>
          </a:p>
        </p:txBody>
      </p:sp>
      <p:sp>
        <p:nvSpPr>
          <p:cNvPr id="27" name="Text 10"/>
          <p:cNvSpPr/>
          <p:nvPr/>
        </p:nvSpPr>
        <p:spPr>
          <a:xfrm>
            <a:off x="8578751" y="3467100"/>
            <a:ext cx="3113782" cy="190500"/>
          </a:xfrm>
          <a:prstGeom prst="rect">
            <a:avLst/>
          </a:prstGeom>
          <a:noFill/>
          <a:ln/>
        </p:spPr>
        <p:txBody>
          <a:bodyPr vert="horz" wrap="square" lIns="0" tIns="0" rIns="0" bIns="0" rtlCol="0" anchor="t"/>
          <a:lstStyle/>
          <a:p>
            <a:pPr marL="0" indent="0">
              <a:lnSpc>
                <a:spcPts val="1500"/>
              </a:lnSpc>
              <a:buNone/>
            </a:pPr>
            <a:r>
              <a:rPr lang="en-US" sz="1050" dirty="0">
                <a:solidFill>
                  <a:srgbClr val="6B7280"/>
                </a:solidFill>
                <a:latin typeface="ui-sans-serif" pitchFamily="34" charset="0"/>
                <a:ea typeface="ui-sans-serif" pitchFamily="34" charset="-122"/>
                <a:cs typeface="ui-sans-serif" pitchFamily="34" charset="-120"/>
              </a:rPr>
              <a:t>Provides end-to-end process validation</a:t>
            </a:r>
            <a:endParaRPr lang="en-US" sz="1050" dirty="0"/>
          </a:p>
        </p:txBody>
      </p:sp>
      <p:sp>
        <p:nvSpPr>
          <p:cNvPr id="28" name="Text 11"/>
          <p:cNvSpPr/>
          <p:nvPr/>
        </p:nvSpPr>
        <p:spPr>
          <a:xfrm>
            <a:off x="495300" y="4495800"/>
            <a:ext cx="11201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Key Considerations for Control Testing</a:t>
            </a:r>
            <a:endParaRPr lang="en-US" sz="1500" dirty="0"/>
          </a:p>
        </p:txBody>
      </p:sp>
      <p:sp>
        <p:nvSpPr>
          <p:cNvPr id="29" name="Text 12"/>
          <p:cNvSpPr/>
          <p:nvPr/>
        </p:nvSpPr>
        <p:spPr>
          <a:xfrm>
            <a:off x="781050" y="4876800"/>
            <a:ext cx="5238750"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Test Design</a:t>
            </a:r>
            <a:endParaRPr lang="en-US" sz="1200" dirty="0"/>
          </a:p>
        </p:txBody>
      </p:sp>
      <p:sp>
        <p:nvSpPr>
          <p:cNvPr id="30" name="Text 13"/>
          <p:cNvSpPr/>
          <p:nvPr/>
        </p:nvSpPr>
        <p:spPr>
          <a:xfrm>
            <a:off x="781050" y="5105400"/>
            <a:ext cx="523875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Tests must be carefully designed to address specific control objectives and risk areas.</a:t>
            </a:r>
            <a:endParaRPr lang="en-US" sz="1050" dirty="0"/>
          </a:p>
        </p:txBody>
      </p:sp>
      <p:sp>
        <p:nvSpPr>
          <p:cNvPr id="31" name="Text 14"/>
          <p:cNvSpPr/>
          <p:nvPr/>
        </p:nvSpPr>
        <p:spPr>
          <a:xfrm>
            <a:off x="6505575" y="4876800"/>
            <a:ext cx="4998393" cy="228600"/>
          </a:xfrm>
          <a:prstGeom prst="rect">
            <a:avLst/>
          </a:prstGeom>
          <a:noFill/>
          <a:ln/>
        </p:spPr>
        <p:txBody>
          <a:bodyPr vert="horz" wrap="square" lIns="0" tIns="0" rIns="0" bIns="0" rtlCol="0" anchor="t"/>
          <a:lstStyle/>
          <a:p>
            <a:pPr marL="0" indent="0">
              <a:lnSpc>
                <a:spcPts val="1800"/>
              </a:lnSpc>
              <a:buNone/>
            </a:pPr>
            <a:r>
              <a:rPr lang="en-US" sz="1200" dirty="0">
                <a:solidFill>
                  <a:srgbClr val="1F2937"/>
                </a:solidFill>
                <a:latin typeface="ui-sans-serif" pitchFamily="34" charset="0"/>
                <a:ea typeface="ui-sans-serif" pitchFamily="34" charset="-122"/>
                <a:cs typeface="ui-sans-serif" pitchFamily="34" charset="-120"/>
              </a:rPr>
              <a:t>Test Selection</a:t>
            </a:r>
            <a:endParaRPr lang="en-US" sz="1200" dirty="0"/>
          </a:p>
        </p:txBody>
      </p:sp>
      <p:sp>
        <p:nvSpPr>
          <p:cNvPr id="32" name="Text 15"/>
          <p:cNvSpPr/>
          <p:nvPr/>
        </p:nvSpPr>
        <p:spPr>
          <a:xfrm>
            <a:off x="6505575" y="5105400"/>
            <a:ext cx="5998071" cy="1905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Strategic selection of control instances to test, focusing on high-risk areas.</a:t>
            </a:r>
            <a:endParaRPr lang="en-US" sz="1050" dirty="0"/>
          </a:p>
        </p:txBody>
      </p:sp>
      <p:sp>
        <p:nvSpPr>
          <p:cNvPr id="33" name="Text 16"/>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4" name="Text 17"/>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14/26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84582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6553200"/>
          </a:xfrm>
          <a:prstGeom prst="rect">
            <a:avLst/>
          </a:prstGeom>
        </p:spPr>
      </p:pic>
      <p:pic>
        <p:nvPicPr>
          <p:cNvPr id="5" name="Image 3" descr="preencoded.png"/>
          <p:cNvPicPr>
            <a:picLocks noChangeAspect="1"/>
          </p:cNvPicPr>
          <p:nvPr/>
        </p:nvPicPr>
        <p:blipFill>
          <a:blip r:embed="rId6"/>
          <a:stretch>
            <a:fillRect/>
          </a:stretch>
        </p:blipFill>
        <p:spPr>
          <a:xfrm>
            <a:off x="533400" y="1828800"/>
            <a:ext cx="457200" cy="457200"/>
          </a:xfrm>
          <a:prstGeom prst="rect">
            <a:avLst/>
          </a:prstGeom>
        </p:spPr>
      </p:pic>
      <p:pic>
        <p:nvPicPr>
          <p:cNvPr id="6" name="Image 4" descr="preencoded.png"/>
          <p:cNvPicPr>
            <a:picLocks noChangeAspect="1"/>
          </p:cNvPicPr>
          <p:nvPr/>
        </p:nvPicPr>
        <p:blipFill>
          <a:blip r:embed="rId7"/>
          <a:stretch>
            <a:fillRect/>
          </a:stretch>
        </p:blipFill>
        <p:spPr>
          <a:xfrm>
            <a:off x="666750" y="1962150"/>
            <a:ext cx="190500" cy="190500"/>
          </a:xfrm>
          <a:prstGeom prst="rect">
            <a:avLst/>
          </a:prstGeom>
        </p:spPr>
      </p:pic>
      <p:pic>
        <p:nvPicPr>
          <p:cNvPr id="7" name="Image 5" descr="preencoded.png"/>
          <p:cNvPicPr>
            <a:picLocks noChangeAspect="1"/>
          </p:cNvPicPr>
          <p:nvPr/>
        </p:nvPicPr>
        <p:blipFill>
          <a:blip r:embed="rId8"/>
          <a:stretch>
            <a:fillRect/>
          </a:stretch>
        </p:blipFill>
        <p:spPr>
          <a:xfrm>
            <a:off x="1085850" y="2047875"/>
            <a:ext cx="1676400" cy="19050"/>
          </a:xfrm>
          <a:prstGeom prst="rect">
            <a:avLst/>
          </a:prstGeom>
        </p:spPr>
      </p:pic>
      <p:pic>
        <p:nvPicPr>
          <p:cNvPr id="8" name="Image 6" descr="preencoded.png"/>
          <p:cNvPicPr>
            <a:picLocks noChangeAspect="1"/>
          </p:cNvPicPr>
          <p:nvPr/>
        </p:nvPicPr>
        <p:blipFill>
          <a:blip r:embed="rId9"/>
          <a:stretch>
            <a:fillRect/>
          </a:stretch>
        </p:blipFill>
        <p:spPr>
          <a:xfrm>
            <a:off x="2857500" y="1828800"/>
            <a:ext cx="457200" cy="457200"/>
          </a:xfrm>
          <a:prstGeom prst="rect">
            <a:avLst/>
          </a:prstGeom>
        </p:spPr>
      </p:pic>
      <p:pic>
        <p:nvPicPr>
          <p:cNvPr id="9" name="Image 7" descr="preencoded.png"/>
          <p:cNvPicPr>
            <a:picLocks noChangeAspect="1"/>
          </p:cNvPicPr>
          <p:nvPr/>
        </p:nvPicPr>
        <p:blipFill>
          <a:blip r:embed="rId10"/>
          <a:stretch>
            <a:fillRect/>
          </a:stretch>
        </p:blipFill>
        <p:spPr>
          <a:xfrm>
            <a:off x="2967038" y="1962150"/>
            <a:ext cx="238125" cy="190500"/>
          </a:xfrm>
          <a:prstGeom prst="rect">
            <a:avLst/>
          </a:prstGeom>
        </p:spPr>
      </p:pic>
      <p:pic>
        <p:nvPicPr>
          <p:cNvPr id="10" name="Image 8" descr="preencoded.png"/>
          <p:cNvPicPr>
            <a:picLocks noChangeAspect="1"/>
          </p:cNvPicPr>
          <p:nvPr/>
        </p:nvPicPr>
        <p:blipFill>
          <a:blip r:embed="rId8"/>
          <a:stretch>
            <a:fillRect/>
          </a:stretch>
        </p:blipFill>
        <p:spPr>
          <a:xfrm>
            <a:off x="3409950" y="2047875"/>
            <a:ext cx="1676400" cy="19050"/>
          </a:xfrm>
          <a:prstGeom prst="rect">
            <a:avLst/>
          </a:prstGeom>
        </p:spPr>
      </p:pic>
      <p:pic>
        <p:nvPicPr>
          <p:cNvPr id="11" name="Image 9" descr="preencoded.png"/>
          <p:cNvPicPr>
            <a:picLocks noChangeAspect="1"/>
          </p:cNvPicPr>
          <p:nvPr/>
        </p:nvPicPr>
        <p:blipFill>
          <a:blip r:embed="rId11"/>
          <a:stretch>
            <a:fillRect/>
          </a:stretch>
        </p:blipFill>
        <p:spPr>
          <a:xfrm>
            <a:off x="5181600" y="1828800"/>
            <a:ext cx="457200" cy="457200"/>
          </a:xfrm>
          <a:prstGeom prst="rect">
            <a:avLst/>
          </a:prstGeom>
        </p:spPr>
      </p:pic>
      <p:pic>
        <p:nvPicPr>
          <p:cNvPr id="12" name="Image 10" descr="preencoded.png"/>
          <p:cNvPicPr>
            <a:picLocks noChangeAspect="1"/>
          </p:cNvPicPr>
          <p:nvPr/>
        </p:nvPicPr>
        <p:blipFill>
          <a:blip r:embed="rId12"/>
          <a:stretch>
            <a:fillRect/>
          </a:stretch>
        </p:blipFill>
        <p:spPr>
          <a:xfrm>
            <a:off x="5300663" y="1962150"/>
            <a:ext cx="219075" cy="190500"/>
          </a:xfrm>
          <a:prstGeom prst="rect">
            <a:avLst/>
          </a:prstGeom>
        </p:spPr>
      </p:pic>
      <p:pic>
        <p:nvPicPr>
          <p:cNvPr id="13" name="Image 11" descr="preencoded.png"/>
          <p:cNvPicPr>
            <a:picLocks noChangeAspect="1"/>
          </p:cNvPicPr>
          <p:nvPr/>
        </p:nvPicPr>
        <p:blipFill>
          <a:blip r:embed="rId13"/>
          <a:stretch>
            <a:fillRect/>
          </a:stretch>
        </p:blipFill>
        <p:spPr>
          <a:xfrm>
            <a:off x="533400" y="2514600"/>
            <a:ext cx="266700" cy="381000"/>
          </a:xfrm>
          <a:prstGeom prst="rect">
            <a:avLst/>
          </a:prstGeom>
        </p:spPr>
      </p:pic>
      <p:pic>
        <p:nvPicPr>
          <p:cNvPr id="14" name="Image 12" descr="preencoded.png"/>
          <p:cNvPicPr>
            <a:picLocks noChangeAspect="1"/>
          </p:cNvPicPr>
          <p:nvPr/>
        </p:nvPicPr>
        <p:blipFill>
          <a:blip r:embed="rId14"/>
          <a:stretch>
            <a:fillRect/>
          </a:stretch>
        </p:blipFill>
        <p:spPr>
          <a:xfrm>
            <a:off x="609600" y="2619375"/>
            <a:ext cx="114300" cy="152400"/>
          </a:xfrm>
          <a:prstGeom prst="rect">
            <a:avLst/>
          </a:prstGeom>
        </p:spPr>
      </p:pic>
      <p:pic>
        <p:nvPicPr>
          <p:cNvPr id="15" name="Image 13" descr="preencoded.png"/>
          <p:cNvPicPr>
            <a:picLocks noChangeAspect="1"/>
          </p:cNvPicPr>
          <p:nvPr/>
        </p:nvPicPr>
        <p:blipFill>
          <a:blip r:embed="rId15"/>
          <a:stretch>
            <a:fillRect/>
          </a:stretch>
        </p:blipFill>
        <p:spPr>
          <a:xfrm>
            <a:off x="533400" y="3390900"/>
            <a:ext cx="304800" cy="381000"/>
          </a:xfrm>
          <a:prstGeom prst="rect">
            <a:avLst/>
          </a:prstGeom>
        </p:spPr>
      </p:pic>
      <p:pic>
        <p:nvPicPr>
          <p:cNvPr id="16" name="Image 14" descr="preencoded.png"/>
          <p:cNvPicPr>
            <a:picLocks noChangeAspect="1"/>
          </p:cNvPicPr>
          <p:nvPr/>
        </p:nvPicPr>
        <p:blipFill>
          <a:blip r:embed="rId16"/>
          <a:stretch>
            <a:fillRect/>
          </a:stretch>
        </p:blipFill>
        <p:spPr>
          <a:xfrm>
            <a:off x="609600" y="3495675"/>
            <a:ext cx="152400" cy="152400"/>
          </a:xfrm>
          <a:prstGeom prst="rect">
            <a:avLst/>
          </a:prstGeom>
        </p:spPr>
      </p:pic>
      <p:pic>
        <p:nvPicPr>
          <p:cNvPr id="17" name="Image 15" descr="preencoded.png"/>
          <p:cNvPicPr>
            <a:picLocks noChangeAspect="1"/>
          </p:cNvPicPr>
          <p:nvPr/>
        </p:nvPicPr>
        <p:blipFill>
          <a:blip r:embed="rId17"/>
          <a:stretch>
            <a:fillRect/>
          </a:stretch>
        </p:blipFill>
        <p:spPr>
          <a:xfrm>
            <a:off x="533400" y="4267200"/>
            <a:ext cx="323850" cy="381000"/>
          </a:xfrm>
          <a:prstGeom prst="rect">
            <a:avLst/>
          </a:prstGeom>
        </p:spPr>
      </p:pic>
      <p:pic>
        <p:nvPicPr>
          <p:cNvPr id="18" name="Image 16" descr="preencoded.png"/>
          <p:cNvPicPr>
            <a:picLocks noChangeAspect="1"/>
          </p:cNvPicPr>
          <p:nvPr/>
        </p:nvPicPr>
        <p:blipFill>
          <a:blip r:embed="rId18"/>
          <a:stretch>
            <a:fillRect/>
          </a:stretch>
        </p:blipFill>
        <p:spPr>
          <a:xfrm>
            <a:off x="609600" y="4371975"/>
            <a:ext cx="171450" cy="152400"/>
          </a:xfrm>
          <a:prstGeom prst="rect">
            <a:avLst/>
          </a:prstGeom>
        </p:spPr>
      </p:pic>
      <p:pic>
        <p:nvPicPr>
          <p:cNvPr id="19" name="Image 17" descr="preencoded.png"/>
          <p:cNvPicPr>
            <a:picLocks noChangeAspect="1"/>
          </p:cNvPicPr>
          <p:nvPr/>
        </p:nvPicPr>
        <p:blipFill>
          <a:blip r:embed="rId15"/>
          <a:stretch>
            <a:fillRect/>
          </a:stretch>
        </p:blipFill>
        <p:spPr>
          <a:xfrm>
            <a:off x="533400" y="5143500"/>
            <a:ext cx="304800" cy="381000"/>
          </a:xfrm>
          <a:prstGeom prst="rect">
            <a:avLst/>
          </a:prstGeom>
        </p:spPr>
      </p:pic>
      <p:pic>
        <p:nvPicPr>
          <p:cNvPr id="20" name="Image 18" descr="preencoded.png"/>
          <p:cNvPicPr>
            <a:picLocks noChangeAspect="1"/>
          </p:cNvPicPr>
          <p:nvPr/>
        </p:nvPicPr>
        <p:blipFill>
          <a:blip r:embed="rId19"/>
          <a:stretch>
            <a:fillRect/>
          </a:stretch>
        </p:blipFill>
        <p:spPr>
          <a:xfrm>
            <a:off x="609600" y="5248275"/>
            <a:ext cx="152400" cy="152400"/>
          </a:xfrm>
          <a:prstGeom prst="rect">
            <a:avLst/>
          </a:prstGeom>
        </p:spPr>
      </p:pic>
      <p:pic>
        <p:nvPicPr>
          <p:cNvPr id="21" name="Image 19" descr="preencoded.png"/>
          <p:cNvPicPr>
            <a:picLocks noChangeAspect="1"/>
          </p:cNvPicPr>
          <p:nvPr/>
        </p:nvPicPr>
        <p:blipFill>
          <a:blip r:embed="rId5"/>
          <a:stretch>
            <a:fillRect/>
          </a:stretch>
        </p:blipFill>
        <p:spPr>
          <a:xfrm>
            <a:off x="6324600" y="1143000"/>
            <a:ext cx="5562600" cy="6553200"/>
          </a:xfrm>
          <a:prstGeom prst="rect">
            <a:avLst/>
          </a:prstGeom>
        </p:spPr>
      </p:pic>
      <p:pic>
        <p:nvPicPr>
          <p:cNvPr id="22" name="Image 20" descr="preencoded.png"/>
          <p:cNvPicPr>
            <a:picLocks noChangeAspect="1"/>
          </p:cNvPicPr>
          <p:nvPr/>
        </p:nvPicPr>
        <p:blipFill>
          <a:blip r:embed="rId20"/>
          <a:stretch>
            <a:fillRect/>
          </a:stretch>
        </p:blipFill>
        <p:spPr>
          <a:xfrm>
            <a:off x="6553200" y="2781300"/>
            <a:ext cx="700088" cy="700088"/>
          </a:xfrm>
          <a:prstGeom prst="rect">
            <a:avLst/>
          </a:prstGeom>
        </p:spPr>
      </p:pic>
      <p:pic>
        <p:nvPicPr>
          <p:cNvPr id="23" name="Image 21" descr="preencoded.png"/>
          <p:cNvPicPr>
            <a:picLocks noChangeAspect="1"/>
          </p:cNvPicPr>
          <p:nvPr/>
        </p:nvPicPr>
        <p:blipFill>
          <a:blip r:embed="rId21"/>
          <a:stretch>
            <a:fillRect/>
          </a:stretch>
        </p:blipFill>
        <p:spPr>
          <a:xfrm>
            <a:off x="7272338" y="2781300"/>
            <a:ext cx="700088" cy="700088"/>
          </a:xfrm>
          <a:prstGeom prst="rect">
            <a:avLst/>
          </a:prstGeom>
        </p:spPr>
      </p:pic>
      <p:pic>
        <p:nvPicPr>
          <p:cNvPr id="24" name="Image 22" descr="preencoded.png"/>
          <p:cNvPicPr>
            <a:picLocks noChangeAspect="1"/>
          </p:cNvPicPr>
          <p:nvPr/>
        </p:nvPicPr>
        <p:blipFill>
          <a:blip r:embed="rId22"/>
          <a:stretch>
            <a:fillRect/>
          </a:stretch>
        </p:blipFill>
        <p:spPr>
          <a:xfrm>
            <a:off x="7991475" y="2781300"/>
            <a:ext cx="700088" cy="700088"/>
          </a:xfrm>
          <a:prstGeom prst="rect">
            <a:avLst/>
          </a:prstGeom>
        </p:spPr>
      </p:pic>
      <p:pic>
        <p:nvPicPr>
          <p:cNvPr id="25" name="Image 23" descr="preencoded.png"/>
          <p:cNvPicPr>
            <a:picLocks noChangeAspect="1"/>
          </p:cNvPicPr>
          <p:nvPr/>
        </p:nvPicPr>
        <p:blipFill>
          <a:blip r:embed="rId23"/>
          <a:stretch>
            <a:fillRect/>
          </a:stretch>
        </p:blipFill>
        <p:spPr>
          <a:xfrm>
            <a:off x="8710613" y="2781300"/>
            <a:ext cx="700088" cy="700088"/>
          </a:xfrm>
          <a:prstGeom prst="rect">
            <a:avLst/>
          </a:prstGeom>
        </p:spPr>
      </p:pic>
      <p:pic>
        <p:nvPicPr>
          <p:cNvPr id="26" name="Image 24" descr="preencoded.png"/>
          <p:cNvPicPr>
            <a:picLocks noChangeAspect="1"/>
          </p:cNvPicPr>
          <p:nvPr/>
        </p:nvPicPr>
        <p:blipFill>
          <a:blip r:embed="rId24"/>
          <a:stretch>
            <a:fillRect/>
          </a:stretch>
        </p:blipFill>
        <p:spPr>
          <a:xfrm>
            <a:off x="6553200" y="3500438"/>
            <a:ext cx="700088" cy="700088"/>
          </a:xfrm>
          <a:prstGeom prst="rect">
            <a:avLst/>
          </a:prstGeom>
        </p:spPr>
      </p:pic>
      <p:pic>
        <p:nvPicPr>
          <p:cNvPr id="27" name="Image 25" descr="preencoded.png"/>
          <p:cNvPicPr>
            <a:picLocks noChangeAspect="1"/>
          </p:cNvPicPr>
          <p:nvPr/>
        </p:nvPicPr>
        <p:blipFill>
          <a:blip r:embed="rId25"/>
          <a:stretch>
            <a:fillRect/>
          </a:stretch>
        </p:blipFill>
        <p:spPr>
          <a:xfrm>
            <a:off x="7272338" y="3500438"/>
            <a:ext cx="700088" cy="700088"/>
          </a:xfrm>
          <a:prstGeom prst="rect">
            <a:avLst/>
          </a:prstGeom>
        </p:spPr>
      </p:pic>
      <p:pic>
        <p:nvPicPr>
          <p:cNvPr id="28" name="Image 26" descr="preencoded.png"/>
          <p:cNvPicPr>
            <a:picLocks noChangeAspect="1"/>
          </p:cNvPicPr>
          <p:nvPr/>
        </p:nvPicPr>
        <p:blipFill>
          <a:blip r:embed="rId26"/>
          <a:stretch>
            <a:fillRect/>
          </a:stretch>
        </p:blipFill>
        <p:spPr>
          <a:xfrm>
            <a:off x="7991475" y="3500438"/>
            <a:ext cx="700088" cy="700088"/>
          </a:xfrm>
          <a:prstGeom prst="rect">
            <a:avLst/>
          </a:prstGeom>
        </p:spPr>
      </p:pic>
      <p:pic>
        <p:nvPicPr>
          <p:cNvPr id="29" name="Image 27" descr="preencoded.png"/>
          <p:cNvPicPr>
            <a:picLocks noChangeAspect="1"/>
          </p:cNvPicPr>
          <p:nvPr/>
        </p:nvPicPr>
        <p:blipFill>
          <a:blip r:embed="rId27"/>
          <a:stretch>
            <a:fillRect/>
          </a:stretch>
        </p:blipFill>
        <p:spPr>
          <a:xfrm>
            <a:off x="8710613" y="3500438"/>
            <a:ext cx="700088" cy="700088"/>
          </a:xfrm>
          <a:prstGeom prst="rect">
            <a:avLst/>
          </a:prstGeom>
        </p:spPr>
      </p:pic>
      <p:pic>
        <p:nvPicPr>
          <p:cNvPr id="30" name="Image 28" descr="preencoded.png"/>
          <p:cNvPicPr>
            <a:picLocks noChangeAspect="1"/>
          </p:cNvPicPr>
          <p:nvPr/>
        </p:nvPicPr>
        <p:blipFill>
          <a:blip r:embed="rId28"/>
          <a:stretch>
            <a:fillRect/>
          </a:stretch>
        </p:blipFill>
        <p:spPr>
          <a:xfrm>
            <a:off x="6553200" y="4219575"/>
            <a:ext cx="700088" cy="700088"/>
          </a:xfrm>
          <a:prstGeom prst="rect">
            <a:avLst/>
          </a:prstGeom>
        </p:spPr>
      </p:pic>
      <p:pic>
        <p:nvPicPr>
          <p:cNvPr id="31" name="Image 29" descr="preencoded.png"/>
          <p:cNvPicPr>
            <a:picLocks noChangeAspect="1"/>
          </p:cNvPicPr>
          <p:nvPr/>
        </p:nvPicPr>
        <p:blipFill>
          <a:blip r:embed="rId29"/>
          <a:stretch>
            <a:fillRect/>
          </a:stretch>
        </p:blipFill>
        <p:spPr>
          <a:xfrm>
            <a:off x="7272338" y="4219575"/>
            <a:ext cx="700088" cy="700088"/>
          </a:xfrm>
          <a:prstGeom prst="rect">
            <a:avLst/>
          </a:prstGeom>
        </p:spPr>
      </p:pic>
      <p:pic>
        <p:nvPicPr>
          <p:cNvPr id="32" name="Image 30" descr="preencoded.png"/>
          <p:cNvPicPr>
            <a:picLocks noChangeAspect="1"/>
          </p:cNvPicPr>
          <p:nvPr/>
        </p:nvPicPr>
        <p:blipFill>
          <a:blip r:embed="rId30"/>
          <a:stretch>
            <a:fillRect/>
          </a:stretch>
        </p:blipFill>
        <p:spPr>
          <a:xfrm>
            <a:off x="7991475" y="4219575"/>
            <a:ext cx="700088" cy="700088"/>
          </a:xfrm>
          <a:prstGeom prst="rect">
            <a:avLst/>
          </a:prstGeom>
        </p:spPr>
      </p:pic>
      <p:pic>
        <p:nvPicPr>
          <p:cNvPr id="33" name="Image 31" descr="preencoded.png"/>
          <p:cNvPicPr>
            <a:picLocks noChangeAspect="1"/>
          </p:cNvPicPr>
          <p:nvPr/>
        </p:nvPicPr>
        <p:blipFill>
          <a:blip r:embed="rId31"/>
          <a:stretch>
            <a:fillRect/>
          </a:stretch>
        </p:blipFill>
        <p:spPr>
          <a:xfrm>
            <a:off x="8710613" y="4219575"/>
            <a:ext cx="700088" cy="700088"/>
          </a:xfrm>
          <a:prstGeom prst="rect">
            <a:avLst/>
          </a:prstGeom>
        </p:spPr>
      </p:pic>
      <p:pic>
        <p:nvPicPr>
          <p:cNvPr id="34" name="Image 32" descr="preencoded.png"/>
          <p:cNvPicPr>
            <a:picLocks noChangeAspect="1"/>
          </p:cNvPicPr>
          <p:nvPr/>
        </p:nvPicPr>
        <p:blipFill>
          <a:blip r:embed="rId32"/>
          <a:stretch>
            <a:fillRect/>
          </a:stretch>
        </p:blipFill>
        <p:spPr>
          <a:xfrm>
            <a:off x="6553200" y="4938713"/>
            <a:ext cx="700088" cy="700088"/>
          </a:xfrm>
          <a:prstGeom prst="rect">
            <a:avLst/>
          </a:prstGeom>
        </p:spPr>
      </p:pic>
      <p:pic>
        <p:nvPicPr>
          <p:cNvPr id="35" name="Image 33" descr="preencoded.png"/>
          <p:cNvPicPr>
            <a:picLocks noChangeAspect="1"/>
          </p:cNvPicPr>
          <p:nvPr/>
        </p:nvPicPr>
        <p:blipFill>
          <a:blip r:embed="rId33"/>
          <a:stretch>
            <a:fillRect/>
          </a:stretch>
        </p:blipFill>
        <p:spPr>
          <a:xfrm>
            <a:off x="7272338" y="4938713"/>
            <a:ext cx="700088" cy="700088"/>
          </a:xfrm>
          <a:prstGeom prst="rect">
            <a:avLst/>
          </a:prstGeom>
        </p:spPr>
      </p:pic>
      <p:pic>
        <p:nvPicPr>
          <p:cNvPr id="36" name="Image 34" descr="preencoded.png"/>
          <p:cNvPicPr>
            <a:picLocks noChangeAspect="1"/>
          </p:cNvPicPr>
          <p:nvPr/>
        </p:nvPicPr>
        <p:blipFill>
          <a:blip r:embed="rId34"/>
          <a:stretch>
            <a:fillRect/>
          </a:stretch>
        </p:blipFill>
        <p:spPr>
          <a:xfrm>
            <a:off x="7991475" y="4938713"/>
            <a:ext cx="700088" cy="700088"/>
          </a:xfrm>
          <a:prstGeom prst="rect">
            <a:avLst/>
          </a:prstGeom>
        </p:spPr>
      </p:pic>
      <p:pic>
        <p:nvPicPr>
          <p:cNvPr id="37" name="Image 35" descr="preencoded.png"/>
          <p:cNvPicPr>
            <a:picLocks noChangeAspect="1"/>
          </p:cNvPicPr>
          <p:nvPr/>
        </p:nvPicPr>
        <p:blipFill>
          <a:blip r:embed="rId35"/>
          <a:stretch>
            <a:fillRect/>
          </a:stretch>
        </p:blipFill>
        <p:spPr>
          <a:xfrm>
            <a:off x="8710613" y="4938713"/>
            <a:ext cx="700088" cy="700088"/>
          </a:xfrm>
          <a:prstGeom prst="rect">
            <a:avLst/>
          </a:prstGeom>
        </p:spPr>
      </p:pic>
      <p:pic>
        <p:nvPicPr>
          <p:cNvPr id="38" name="Image 36" descr="preencoded.png"/>
          <p:cNvPicPr>
            <a:picLocks noChangeAspect="1"/>
          </p:cNvPicPr>
          <p:nvPr/>
        </p:nvPicPr>
        <p:blipFill>
          <a:blip r:embed="rId36"/>
          <a:stretch>
            <a:fillRect/>
          </a:stretch>
        </p:blipFill>
        <p:spPr>
          <a:xfrm>
            <a:off x="9687508" y="2712098"/>
            <a:ext cx="152400" cy="152400"/>
          </a:xfrm>
          <a:prstGeom prst="rect">
            <a:avLst/>
          </a:prstGeom>
        </p:spPr>
      </p:pic>
      <p:pic>
        <p:nvPicPr>
          <p:cNvPr id="39" name="Image 37" descr="preencoded.png"/>
          <p:cNvPicPr>
            <a:picLocks noChangeAspect="1"/>
          </p:cNvPicPr>
          <p:nvPr/>
        </p:nvPicPr>
        <p:blipFill>
          <a:blip r:embed="rId37"/>
          <a:stretch>
            <a:fillRect/>
          </a:stretch>
        </p:blipFill>
        <p:spPr>
          <a:xfrm>
            <a:off x="9687508" y="3016898"/>
            <a:ext cx="152400" cy="152400"/>
          </a:xfrm>
          <a:prstGeom prst="rect">
            <a:avLst/>
          </a:prstGeom>
        </p:spPr>
      </p:pic>
      <p:pic>
        <p:nvPicPr>
          <p:cNvPr id="40" name="Image 38" descr="preencoded.png"/>
          <p:cNvPicPr>
            <a:picLocks noChangeAspect="1"/>
          </p:cNvPicPr>
          <p:nvPr/>
        </p:nvPicPr>
        <p:blipFill>
          <a:blip r:embed="rId38"/>
          <a:stretch>
            <a:fillRect/>
          </a:stretch>
        </p:blipFill>
        <p:spPr>
          <a:xfrm>
            <a:off x="9687508" y="3321698"/>
            <a:ext cx="152400" cy="152400"/>
          </a:xfrm>
          <a:prstGeom prst="rect">
            <a:avLst/>
          </a:prstGeom>
        </p:spPr>
      </p:pic>
      <p:pic>
        <p:nvPicPr>
          <p:cNvPr id="41" name="Image 39" descr="preencoded.png"/>
          <p:cNvPicPr>
            <a:picLocks noChangeAspect="1"/>
          </p:cNvPicPr>
          <p:nvPr/>
        </p:nvPicPr>
        <p:blipFill>
          <a:blip r:embed="rId39"/>
          <a:stretch>
            <a:fillRect/>
          </a:stretch>
        </p:blipFill>
        <p:spPr>
          <a:xfrm>
            <a:off x="9687508" y="3626498"/>
            <a:ext cx="152400" cy="152400"/>
          </a:xfrm>
          <a:prstGeom prst="rect">
            <a:avLst/>
          </a:prstGeom>
        </p:spPr>
      </p:pic>
      <p:pic>
        <p:nvPicPr>
          <p:cNvPr id="42" name="Image 40" descr="preencoded.png"/>
          <p:cNvPicPr>
            <a:picLocks noChangeAspect="1"/>
          </p:cNvPicPr>
          <p:nvPr/>
        </p:nvPicPr>
        <p:blipFill>
          <a:blip r:embed="rId40"/>
          <a:stretch>
            <a:fillRect/>
          </a:stretch>
        </p:blipFill>
        <p:spPr>
          <a:xfrm>
            <a:off x="6553200" y="5652799"/>
            <a:ext cx="5105400" cy="1600200"/>
          </a:xfrm>
          <a:prstGeom prst="rect">
            <a:avLst/>
          </a:prstGeom>
        </p:spPr>
      </p:pic>
      <p:pic>
        <p:nvPicPr>
          <p:cNvPr id="43" name="Image 41" descr="preencoded.png"/>
          <p:cNvPicPr>
            <a:picLocks noChangeAspect="1"/>
          </p:cNvPicPr>
          <p:nvPr/>
        </p:nvPicPr>
        <p:blipFill>
          <a:blip r:embed="rId41"/>
          <a:stretch>
            <a:fillRect/>
          </a:stretch>
        </p:blipFill>
        <p:spPr>
          <a:xfrm>
            <a:off x="6705600" y="6186199"/>
            <a:ext cx="152400" cy="152400"/>
          </a:xfrm>
          <a:prstGeom prst="rect">
            <a:avLst/>
          </a:prstGeom>
        </p:spPr>
      </p:pic>
      <p:pic>
        <p:nvPicPr>
          <p:cNvPr id="44" name="Image 42" descr="preencoded.png"/>
          <p:cNvPicPr>
            <a:picLocks noChangeAspect="1"/>
          </p:cNvPicPr>
          <p:nvPr/>
        </p:nvPicPr>
        <p:blipFill>
          <a:blip r:embed="rId41"/>
          <a:stretch>
            <a:fillRect/>
          </a:stretch>
        </p:blipFill>
        <p:spPr>
          <a:xfrm>
            <a:off x="6705600" y="6681499"/>
            <a:ext cx="152400" cy="152400"/>
          </a:xfrm>
          <a:prstGeom prst="rect">
            <a:avLst/>
          </a:prstGeom>
        </p:spPr>
      </p:pic>
      <p:pic>
        <p:nvPicPr>
          <p:cNvPr id="45" name="Image 43" descr="preencoded.png"/>
          <p:cNvPicPr>
            <a:picLocks noChangeAspect="1"/>
          </p:cNvPicPr>
          <p:nvPr/>
        </p:nvPicPr>
        <p:blipFill>
          <a:blip r:embed="rId42"/>
          <a:stretch>
            <a:fillRect/>
          </a:stretch>
        </p:blipFill>
        <p:spPr>
          <a:xfrm>
            <a:off x="0" y="8001000"/>
            <a:ext cx="12192000" cy="457200"/>
          </a:xfrm>
          <a:prstGeom prst="rect">
            <a:avLst/>
          </a:prstGeom>
        </p:spPr>
      </p:pic>
      <p:sp>
        <p:nvSpPr>
          <p:cNvPr id="46"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Audit Execution Phase: Analyzing Findings</a:t>
            </a:r>
            <a:endParaRPr lang="en-US" sz="2700" dirty="0"/>
          </a:p>
        </p:txBody>
      </p:sp>
      <p:sp>
        <p:nvSpPr>
          <p:cNvPr id="47"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Finding Analysis Framework</a:t>
            </a:r>
            <a:endParaRPr lang="en-US" sz="1800" dirty="0"/>
          </a:p>
        </p:txBody>
      </p:sp>
      <p:sp>
        <p:nvSpPr>
          <p:cNvPr id="48" name="Text 2"/>
          <p:cNvSpPr/>
          <p:nvPr/>
        </p:nvSpPr>
        <p:spPr>
          <a:xfrm>
            <a:off x="914400" y="2514600"/>
            <a:ext cx="47244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Evaluate Evidence</a:t>
            </a:r>
            <a:endParaRPr lang="en-US" sz="1350" dirty="0"/>
          </a:p>
        </p:txBody>
      </p:sp>
      <p:sp>
        <p:nvSpPr>
          <p:cNvPr id="49" name="Text 3"/>
          <p:cNvSpPr/>
          <p:nvPr/>
        </p:nvSpPr>
        <p:spPr>
          <a:xfrm>
            <a:off x="914400" y="2781300"/>
            <a:ext cx="47244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Compare gathered evidence against established compliance criteria and audit objectives</a:t>
            </a:r>
            <a:endParaRPr lang="en-US" sz="1200" dirty="0"/>
          </a:p>
        </p:txBody>
      </p:sp>
      <p:sp>
        <p:nvSpPr>
          <p:cNvPr id="50" name="Text 4"/>
          <p:cNvSpPr/>
          <p:nvPr/>
        </p:nvSpPr>
        <p:spPr>
          <a:xfrm>
            <a:off x="952500" y="3390900"/>
            <a:ext cx="56235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Identify Non-Compliance</a:t>
            </a:r>
            <a:endParaRPr lang="en-US" sz="1350" dirty="0"/>
          </a:p>
        </p:txBody>
      </p:sp>
      <p:sp>
        <p:nvSpPr>
          <p:cNvPr id="51" name="Text 5"/>
          <p:cNvSpPr/>
          <p:nvPr/>
        </p:nvSpPr>
        <p:spPr>
          <a:xfrm>
            <a:off x="952500" y="3657600"/>
            <a:ext cx="4686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Document instances where controls or processes fall short of requirements</a:t>
            </a:r>
            <a:endParaRPr lang="en-US" sz="1200" dirty="0"/>
          </a:p>
        </p:txBody>
      </p:sp>
      <p:sp>
        <p:nvSpPr>
          <p:cNvPr id="52" name="Text 6"/>
          <p:cNvSpPr/>
          <p:nvPr/>
        </p:nvSpPr>
        <p:spPr>
          <a:xfrm>
            <a:off x="971550" y="4267200"/>
            <a:ext cx="466725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Determine Root Cause</a:t>
            </a:r>
            <a:endParaRPr lang="en-US" sz="1350" dirty="0"/>
          </a:p>
        </p:txBody>
      </p:sp>
      <p:sp>
        <p:nvSpPr>
          <p:cNvPr id="53" name="Text 7"/>
          <p:cNvSpPr/>
          <p:nvPr/>
        </p:nvSpPr>
        <p:spPr>
          <a:xfrm>
            <a:off x="971550" y="4533900"/>
            <a:ext cx="46672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Analyze why non-compliance occurred to develop effective remediation strategies</a:t>
            </a:r>
            <a:endParaRPr lang="en-US" sz="1200" dirty="0"/>
          </a:p>
        </p:txBody>
      </p:sp>
      <p:sp>
        <p:nvSpPr>
          <p:cNvPr id="54" name="Text 8"/>
          <p:cNvSpPr/>
          <p:nvPr/>
        </p:nvSpPr>
        <p:spPr>
          <a:xfrm>
            <a:off x="952500" y="5143500"/>
            <a:ext cx="46863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Assess Impact</a:t>
            </a:r>
            <a:endParaRPr lang="en-US" sz="1350" dirty="0"/>
          </a:p>
        </p:txBody>
      </p:sp>
      <p:sp>
        <p:nvSpPr>
          <p:cNvPr id="55" name="Text 9"/>
          <p:cNvSpPr/>
          <p:nvPr/>
        </p:nvSpPr>
        <p:spPr>
          <a:xfrm>
            <a:off x="952500" y="5410200"/>
            <a:ext cx="4686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Evaluate the potential severity and likelihood of associated risks</a:t>
            </a:r>
            <a:endParaRPr lang="en-US" sz="1200" dirty="0"/>
          </a:p>
        </p:txBody>
      </p:sp>
      <p:sp>
        <p:nvSpPr>
          <p:cNvPr id="56" name="Text 10"/>
          <p:cNvSpPr/>
          <p:nvPr/>
        </p:nvSpPr>
        <p:spPr>
          <a:xfrm>
            <a:off x="65532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Risk Rating Methodology</a:t>
            </a:r>
            <a:endParaRPr lang="en-US" sz="1800" dirty="0"/>
          </a:p>
        </p:txBody>
      </p:sp>
      <p:sp>
        <p:nvSpPr>
          <p:cNvPr id="57" name="Text 11"/>
          <p:cNvSpPr/>
          <p:nvPr/>
        </p:nvSpPr>
        <p:spPr>
          <a:xfrm>
            <a:off x="6553200" y="1828800"/>
            <a:ext cx="51054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Risk ratings categorize findings by severity and likelihood to prioritize remediation efforts.</a:t>
            </a:r>
            <a:endParaRPr lang="en-US" sz="1200" dirty="0"/>
          </a:p>
        </p:txBody>
      </p:sp>
      <p:sp>
        <p:nvSpPr>
          <p:cNvPr id="58" name="Text 12"/>
          <p:cNvSpPr/>
          <p:nvPr/>
        </p:nvSpPr>
        <p:spPr>
          <a:xfrm>
            <a:off x="6553200" y="2438400"/>
            <a:ext cx="25527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00000"/>
                </a:solidFill>
                <a:latin typeface="ui-sans-serif" pitchFamily="34" charset="0"/>
                <a:ea typeface="ui-sans-serif" pitchFamily="34" charset="-122"/>
                <a:cs typeface="ui-sans-serif" pitchFamily="34" charset="-120"/>
              </a:rPr>
              <a:t>Risk Matrix</a:t>
            </a:r>
            <a:endParaRPr lang="en-US" sz="1350" dirty="0"/>
          </a:p>
        </p:txBody>
      </p:sp>
      <p:sp>
        <p:nvSpPr>
          <p:cNvPr id="59" name="Text 13"/>
          <p:cNvSpPr/>
          <p:nvPr/>
        </p:nvSpPr>
        <p:spPr>
          <a:xfrm>
            <a:off x="6731943" y="2781300"/>
            <a:ext cx="700088" cy="700088"/>
          </a:xfrm>
          <a:prstGeom prst="rect">
            <a:avLst/>
          </a:prstGeom>
          <a:noFill/>
          <a:ln/>
        </p:spPr>
        <p:txBody>
          <a:bodyPr vert="horz" wrap="square" lIns="0" tIns="0" rIns="0" bIns="0" rtlCol="0" anchor="t"/>
          <a:lstStyle/>
          <a:p>
            <a:pPr marL="0" indent="0">
              <a:lnSpc>
                <a:spcPts val="1800"/>
              </a:lnSpc>
              <a:buNone/>
            </a:pPr>
            <a:r>
              <a:rPr lang="en-US" sz="1200" b="1" dirty="0">
                <a:solidFill>
                  <a:srgbClr val="166534"/>
                </a:solidFill>
                <a:latin typeface="ui-sans-serif" pitchFamily="34" charset="0"/>
                <a:ea typeface="ui-sans-serif" pitchFamily="34" charset="-122"/>
                <a:cs typeface="ui-sans-serif" pitchFamily="34" charset="-120"/>
              </a:rPr>
              <a:t>Low</a:t>
            </a:r>
            <a:endParaRPr lang="en-US" sz="1200" dirty="0"/>
          </a:p>
        </p:txBody>
      </p:sp>
      <p:sp>
        <p:nvSpPr>
          <p:cNvPr id="60" name="Text 14"/>
          <p:cNvSpPr/>
          <p:nvPr/>
        </p:nvSpPr>
        <p:spPr>
          <a:xfrm>
            <a:off x="7451080" y="2781300"/>
            <a:ext cx="700088" cy="700088"/>
          </a:xfrm>
          <a:prstGeom prst="rect">
            <a:avLst/>
          </a:prstGeom>
          <a:noFill/>
          <a:ln/>
        </p:spPr>
        <p:txBody>
          <a:bodyPr vert="horz" wrap="square" lIns="0" tIns="0" rIns="0" bIns="0" rtlCol="0" anchor="t"/>
          <a:lstStyle/>
          <a:p>
            <a:pPr marL="0" indent="0">
              <a:lnSpc>
                <a:spcPts val="1800"/>
              </a:lnSpc>
              <a:buNone/>
            </a:pPr>
            <a:r>
              <a:rPr lang="en-US" sz="1200" b="1" dirty="0">
                <a:solidFill>
                  <a:srgbClr val="166534"/>
                </a:solidFill>
                <a:latin typeface="ui-sans-serif" pitchFamily="34" charset="0"/>
                <a:ea typeface="ui-sans-serif" pitchFamily="34" charset="-122"/>
                <a:cs typeface="ui-sans-serif" pitchFamily="34" charset="-120"/>
              </a:rPr>
              <a:t>Low</a:t>
            </a:r>
            <a:endParaRPr lang="en-US" sz="1200" dirty="0"/>
          </a:p>
        </p:txBody>
      </p:sp>
      <p:sp>
        <p:nvSpPr>
          <p:cNvPr id="61" name="Text 15"/>
          <p:cNvSpPr/>
          <p:nvPr/>
        </p:nvSpPr>
        <p:spPr>
          <a:xfrm>
            <a:off x="7999661" y="2781300"/>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854D0E"/>
                </a:solidFill>
                <a:latin typeface="ui-sans-serif" pitchFamily="34" charset="0"/>
                <a:ea typeface="ui-sans-serif" pitchFamily="34" charset="-122"/>
                <a:cs typeface="ui-sans-serif" pitchFamily="34" charset="-120"/>
              </a:rPr>
              <a:t>Medium</a:t>
            </a:r>
            <a:endParaRPr lang="en-US" sz="1200" dirty="0"/>
          </a:p>
        </p:txBody>
      </p:sp>
      <p:sp>
        <p:nvSpPr>
          <p:cNvPr id="62" name="Text 16"/>
          <p:cNvSpPr/>
          <p:nvPr/>
        </p:nvSpPr>
        <p:spPr>
          <a:xfrm>
            <a:off x="8718798" y="2781300"/>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854D0E"/>
                </a:solidFill>
                <a:latin typeface="ui-sans-serif" pitchFamily="34" charset="0"/>
                <a:ea typeface="ui-sans-serif" pitchFamily="34" charset="-122"/>
                <a:cs typeface="ui-sans-serif" pitchFamily="34" charset="-120"/>
              </a:rPr>
              <a:t>Medium</a:t>
            </a:r>
            <a:endParaRPr lang="en-US" sz="1200" dirty="0"/>
          </a:p>
        </p:txBody>
      </p:sp>
      <p:sp>
        <p:nvSpPr>
          <p:cNvPr id="63" name="Text 17"/>
          <p:cNvSpPr/>
          <p:nvPr/>
        </p:nvSpPr>
        <p:spPr>
          <a:xfrm>
            <a:off x="6561386" y="3500438"/>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854D0E"/>
                </a:solidFill>
                <a:latin typeface="ui-sans-serif" pitchFamily="34" charset="0"/>
                <a:ea typeface="ui-sans-serif" pitchFamily="34" charset="-122"/>
                <a:cs typeface="ui-sans-serif" pitchFamily="34" charset="-120"/>
              </a:rPr>
              <a:t>Medium</a:t>
            </a:r>
            <a:endParaRPr lang="en-US" sz="1200" dirty="0"/>
          </a:p>
        </p:txBody>
      </p:sp>
      <p:sp>
        <p:nvSpPr>
          <p:cNvPr id="64" name="Text 18"/>
          <p:cNvSpPr/>
          <p:nvPr/>
        </p:nvSpPr>
        <p:spPr>
          <a:xfrm>
            <a:off x="7280523" y="3500438"/>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854D0E"/>
                </a:solidFill>
                <a:latin typeface="ui-sans-serif" pitchFamily="34" charset="0"/>
                <a:ea typeface="ui-sans-serif" pitchFamily="34" charset="-122"/>
                <a:cs typeface="ui-sans-serif" pitchFamily="34" charset="-120"/>
              </a:rPr>
              <a:t>Medium</a:t>
            </a:r>
            <a:endParaRPr lang="en-US" sz="1200" dirty="0"/>
          </a:p>
        </p:txBody>
      </p:sp>
      <p:sp>
        <p:nvSpPr>
          <p:cNvPr id="65" name="Text 19"/>
          <p:cNvSpPr/>
          <p:nvPr/>
        </p:nvSpPr>
        <p:spPr>
          <a:xfrm>
            <a:off x="8142833" y="3500438"/>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A3412"/>
                </a:solidFill>
                <a:latin typeface="ui-sans-serif" pitchFamily="34" charset="0"/>
                <a:ea typeface="ui-sans-serif" pitchFamily="34" charset="-122"/>
                <a:cs typeface="ui-sans-serif" pitchFamily="34" charset="-120"/>
              </a:rPr>
              <a:t>High</a:t>
            </a:r>
            <a:endParaRPr lang="en-US" sz="1200" dirty="0"/>
          </a:p>
        </p:txBody>
      </p:sp>
      <p:sp>
        <p:nvSpPr>
          <p:cNvPr id="66" name="Text 20"/>
          <p:cNvSpPr/>
          <p:nvPr/>
        </p:nvSpPr>
        <p:spPr>
          <a:xfrm>
            <a:off x="8861971" y="3500438"/>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A3412"/>
                </a:solidFill>
                <a:latin typeface="ui-sans-serif" pitchFamily="34" charset="0"/>
                <a:ea typeface="ui-sans-serif" pitchFamily="34" charset="-122"/>
                <a:cs typeface="ui-sans-serif" pitchFamily="34" charset="-120"/>
              </a:rPr>
              <a:t>High</a:t>
            </a:r>
            <a:endParaRPr lang="en-US" sz="1200" dirty="0"/>
          </a:p>
        </p:txBody>
      </p:sp>
      <p:sp>
        <p:nvSpPr>
          <p:cNvPr id="67" name="Text 21"/>
          <p:cNvSpPr/>
          <p:nvPr/>
        </p:nvSpPr>
        <p:spPr>
          <a:xfrm>
            <a:off x="6561386" y="4219575"/>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854D0E"/>
                </a:solidFill>
                <a:latin typeface="ui-sans-serif" pitchFamily="34" charset="0"/>
                <a:ea typeface="ui-sans-serif" pitchFamily="34" charset="-122"/>
                <a:cs typeface="ui-sans-serif" pitchFamily="34" charset="-120"/>
              </a:rPr>
              <a:t>Medium</a:t>
            </a:r>
            <a:endParaRPr lang="en-US" sz="1200" dirty="0"/>
          </a:p>
        </p:txBody>
      </p:sp>
      <p:sp>
        <p:nvSpPr>
          <p:cNvPr id="68" name="Text 22"/>
          <p:cNvSpPr/>
          <p:nvPr/>
        </p:nvSpPr>
        <p:spPr>
          <a:xfrm>
            <a:off x="7423696" y="4219575"/>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A3412"/>
                </a:solidFill>
                <a:latin typeface="ui-sans-serif" pitchFamily="34" charset="0"/>
                <a:ea typeface="ui-sans-serif" pitchFamily="34" charset="-122"/>
                <a:cs typeface="ui-sans-serif" pitchFamily="34" charset="-120"/>
              </a:rPr>
              <a:t>High</a:t>
            </a:r>
            <a:endParaRPr lang="en-US" sz="1200" dirty="0"/>
          </a:p>
        </p:txBody>
      </p:sp>
      <p:sp>
        <p:nvSpPr>
          <p:cNvPr id="69" name="Text 23"/>
          <p:cNvSpPr/>
          <p:nvPr/>
        </p:nvSpPr>
        <p:spPr>
          <a:xfrm>
            <a:off x="8142833" y="4219575"/>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A3412"/>
                </a:solidFill>
                <a:latin typeface="ui-sans-serif" pitchFamily="34" charset="0"/>
                <a:ea typeface="ui-sans-serif" pitchFamily="34" charset="-122"/>
                <a:cs typeface="ui-sans-serif" pitchFamily="34" charset="-120"/>
              </a:rPr>
              <a:t>High</a:t>
            </a:r>
            <a:endParaRPr lang="en-US" sz="1200" dirty="0"/>
          </a:p>
        </p:txBody>
      </p:sp>
      <p:sp>
        <p:nvSpPr>
          <p:cNvPr id="70" name="Text 24"/>
          <p:cNvSpPr/>
          <p:nvPr/>
        </p:nvSpPr>
        <p:spPr>
          <a:xfrm>
            <a:off x="8755707" y="4219575"/>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91B1B"/>
                </a:solidFill>
                <a:latin typeface="ui-sans-serif" pitchFamily="34" charset="0"/>
                <a:ea typeface="ui-sans-serif" pitchFamily="34" charset="-122"/>
                <a:cs typeface="ui-sans-serif" pitchFamily="34" charset="-120"/>
              </a:rPr>
              <a:t>Critical</a:t>
            </a:r>
            <a:endParaRPr lang="en-US" sz="1200" dirty="0"/>
          </a:p>
        </p:txBody>
      </p:sp>
      <p:sp>
        <p:nvSpPr>
          <p:cNvPr id="71" name="Text 25"/>
          <p:cNvSpPr/>
          <p:nvPr/>
        </p:nvSpPr>
        <p:spPr>
          <a:xfrm>
            <a:off x="6704558" y="4938713"/>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A3412"/>
                </a:solidFill>
                <a:latin typeface="ui-sans-serif" pitchFamily="34" charset="0"/>
                <a:ea typeface="ui-sans-serif" pitchFamily="34" charset="-122"/>
                <a:cs typeface="ui-sans-serif" pitchFamily="34" charset="-120"/>
              </a:rPr>
              <a:t>High</a:t>
            </a:r>
            <a:endParaRPr lang="en-US" sz="1200" dirty="0"/>
          </a:p>
        </p:txBody>
      </p:sp>
      <p:sp>
        <p:nvSpPr>
          <p:cNvPr id="72" name="Text 26"/>
          <p:cNvSpPr/>
          <p:nvPr/>
        </p:nvSpPr>
        <p:spPr>
          <a:xfrm>
            <a:off x="7317432" y="4938713"/>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91B1B"/>
                </a:solidFill>
                <a:latin typeface="ui-sans-serif" pitchFamily="34" charset="0"/>
                <a:ea typeface="ui-sans-serif" pitchFamily="34" charset="-122"/>
                <a:cs typeface="ui-sans-serif" pitchFamily="34" charset="-120"/>
              </a:rPr>
              <a:t>Critical</a:t>
            </a:r>
            <a:endParaRPr lang="en-US" sz="1200" dirty="0"/>
          </a:p>
        </p:txBody>
      </p:sp>
      <p:sp>
        <p:nvSpPr>
          <p:cNvPr id="73" name="Text 27"/>
          <p:cNvSpPr/>
          <p:nvPr/>
        </p:nvSpPr>
        <p:spPr>
          <a:xfrm>
            <a:off x="8036570" y="4938713"/>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91B1B"/>
                </a:solidFill>
                <a:latin typeface="ui-sans-serif" pitchFamily="34" charset="0"/>
                <a:ea typeface="ui-sans-serif" pitchFamily="34" charset="-122"/>
                <a:cs typeface="ui-sans-serif" pitchFamily="34" charset="-120"/>
              </a:rPr>
              <a:t>Critical</a:t>
            </a:r>
            <a:endParaRPr lang="en-US" sz="1200" dirty="0"/>
          </a:p>
        </p:txBody>
      </p:sp>
      <p:sp>
        <p:nvSpPr>
          <p:cNvPr id="74" name="Text 28"/>
          <p:cNvSpPr/>
          <p:nvPr/>
        </p:nvSpPr>
        <p:spPr>
          <a:xfrm>
            <a:off x="8755707" y="4938713"/>
            <a:ext cx="840105" cy="700088"/>
          </a:xfrm>
          <a:prstGeom prst="rect">
            <a:avLst/>
          </a:prstGeom>
          <a:noFill/>
          <a:ln/>
        </p:spPr>
        <p:txBody>
          <a:bodyPr vert="horz" wrap="square" lIns="0" tIns="0" rIns="0" bIns="0" rtlCol="0" anchor="t"/>
          <a:lstStyle/>
          <a:p>
            <a:pPr marL="0" indent="0">
              <a:lnSpc>
                <a:spcPts val="1800"/>
              </a:lnSpc>
              <a:buNone/>
            </a:pPr>
            <a:r>
              <a:rPr lang="en-US" sz="1200" b="1" dirty="0">
                <a:solidFill>
                  <a:srgbClr val="991B1B"/>
                </a:solidFill>
                <a:latin typeface="ui-sans-serif" pitchFamily="34" charset="0"/>
                <a:ea typeface="ui-sans-serif" pitchFamily="34" charset="-122"/>
                <a:cs typeface="ui-sans-serif" pitchFamily="34" charset="-120"/>
              </a:rPr>
              <a:t>Critical</a:t>
            </a:r>
            <a:endParaRPr lang="en-US" sz="1200" dirty="0"/>
          </a:p>
        </p:txBody>
      </p:sp>
      <p:sp>
        <p:nvSpPr>
          <p:cNvPr id="75" name="Text 29"/>
          <p:cNvSpPr/>
          <p:nvPr/>
        </p:nvSpPr>
        <p:spPr>
          <a:xfrm>
            <a:off x="9916108" y="2693048"/>
            <a:ext cx="1639669"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Low: Minimal impact</a:t>
            </a:r>
            <a:endParaRPr lang="en-US" sz="1050" dirty="0"/>
          </a:p>
        </p:txBody>
      </p:sp>
      <p:sp>
        <p:nvSpPr>
          <p:cNvPr id="76" name="Text 30"/>
          <p:cNvSpPr/>
          <p:nvPr/>
        </p:nvSpPr>
        <p:spPr>
          <a:xfrm>
            <a:off x="9916108" y="2997848"/>
            <a:ext cx="2107228"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Medium: Moderate impact</a:t>
            </a:r>
            <a:endParaRPr lang="en-US" sz="1050" dirty="0"/>
          </a:p>
        </p:txBody>
      </p:sp>
      <p:sp>
        <p:nvSpPr>
          <p:cNvPr id="77" name="Text 31"/>
          <p:cNvSpPr/>
          <p:nvPr/>
        </p:nvSpPr>
        <p:spPr>
          <a:xfrm>
            <a:off x="9916108" y="3302648"/>
            <a:ext cx="1918633"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High: Significant impact</a:t>
            </a:r>
            <a:endParaRPr lang="en-US" sz="1050" dirty="0"/>
          </a:p>
        </p:txBody>
      </p:sp>
      <p:sp>
        <p:nvSpPr>
          <p:cNvPr id="78" name="Text 32"/>
          <p:cNvSpPr/>
          <p:nvPr/>
        </p:nvSpPr>
        <p:spPr>
          <a:xfrm>
            <a:off x="9916108" y="3607448"/>
            <a:ext cx="1820049" cy="190500"/>
          </a:xfrm>
          <a:prstGeom prst="rect">
            <a:avLst/>
          </a:prstGeom>
          <a:noFill/>
          <a:ln/>
        </p:spPr>
        <p:txBody>
          <a:bodyPr vert="horz" wrap="square" lIns="0" tIns="0" rIns="0" bIns="0" rtlCol="0" anchor="t"/>
          <a:lstStyle/>
          <a:p>
            <a:pPr marL="0" indent="0">
              <a:lnSpc>
                <a:spcPts val="1500"/>
              </a:lnSpc>
              <a:buNone/>
            </a:pPr>
            <a:r>
              <a:rPr lang="en-US" sz="1050" dirty="0">
                <a:solidFill>
                  <a:srgbClr val="000000"/>
                </a:solidFill>
                <a:latin typeface="ui-sans-serif" pitchFamily="34" charset="0"/>
                <a:ea typeface="ui-sans-serif" pitchFamily="34" charset="-122"/>
                <a:cs typeface="ui-sans-serif" pitchFamily="34" charset="-120"/>
              </a:rPr>
              <a:t>Critical: Severe impact</a:t>
            </a:r>
            <a:endParaRPr lang="en-US" sz="1050" dirty="0"/>
          </a:p>
        </p:txBody>
      </p:sp>
      <p:sp>
        <p:nvSpPr>
          <p:cNvPr id="79" name="Text 33"/>
          <p:cNvSpPr/>
          <p:nvPr/>
        </p:nvSpPr>
        <p:spPr>
          <a:xfrm>
            <a:off x="6705600" y="5805199"/>
            <a:ext cx="48006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Key Considerations</a:t>
            </a:r>
            <a:endParaRPr lang="en-US" sz="1350" dirty="0"/>
          </a:p>
        </p:txBody>
      </p:sp>
      <p:sp>
        <p:nvSpPr>
          <p:cNvPr id="80" name="Text 34"/>
          <p:cNvSpPr/>
          <p:nvPr/>
        </p:nvSpPr>
        <p:spPr>
          <a:xfrm>
            <a:off x="6934200" y="6148099"/>
            <a:ext cx="4572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Document findings with clear descriptions of conditions, criteria, cause, and effect</a:t>
            </a:r>
            <a:endParaRPr lang="en-US" sz="1200" dirty="0"/>
          </a:p>
        </p:txBody>
      </p:sp>
      <p:sp>
        <p:nvSpPr>
          <p:cNvPr id="81" name="Text 35"/>
          <p:cNvSpPr/>
          <p:nvPr/>
        </p:nvSpPr>
        <p:spPr>
          <a:xfrm>
            <a:off x="6934200" y="6643399"/>
            <a:ext cx="4572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Ensure risk ratings are consistent with organization's risk appetite</a:t>
            </a:r>
            <a:endParaRPr lang="en-US" sz="1200" dirty="0"/>
          </a:p>
        </p:txBody>
      </p:sp>
      <p:sp>
        <p:nvSpPr>
          <p:cNvPr id="82" name="Text 36"/>
          <p:cNvSpPr/>
          <p:nvPr/>
        </p:nvSpPr>
        <p:spPr>
          <a:xfrm>
            <a:off x="381000" y="81153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83" name="Text 37"/>
          <p:cNvSpPr/>
          <p:nvPr/>
        </p:nvSpPr>
        <p:spPr>
          <a:xfrm>
            <a:off x="11371808" y="81153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15/26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3708350" cy="1409700"/>
          </a:xfrm>
          <a:prstGeom prst="rect">
            <a:avLst/>
          </a:prstGeom>
        </p:spPr>
      </p:pic>
      <p:pic>
        <p:nvPicPr>
          <p:cNvPr id="5" name="Image 3" descr="preencoded.png"/>
          <p:cNvPicPr>
            <a:picLocks noChangeAspect="1"/>
          </p:cNvPicPr>
          <p:nvPr/>
        </p:nvPicPr>
        <p:blipFill>
          <a:blip r:embed="rId6"/>
          <a:stretch>
            <a:fillRect/>
          </a:stretch>
        </p:blipFill>
        <p:spPr>
          <a:xfrm>
            <a:off x="495300" y="2095500"/>
            <a:ext cx="228600" cy="304800"/>
          </a:xfrm>
          <a:prstGeom prst="rect">
            <a:avLst/>
          </a:prstGeom>
        </p:spPr>
      </p:pic>
      <p:pic>
        <p:nvPicPr>
          <p:cNvPr id="6" name="Image 4" descr="preencoded.png"/>
          <p:cNvPicPr>
            <a:picLocks noChangeAspect="1"/>
          </p:cNvPicPr>
          <p:nvPr/>
        </p:nvPicPr>
        <p:blipFill>
          <a:blip r:embed="rId7"/>
          <a:stretch>
            <a:fillRect/>
          </a:stretch>
        </p:blipFill>
        <p:spPr>
          <a:xfrm>
            <a:off x="4241750" y="1905000"/>
            <a:ext cx="3708350" cy="1409700"/>
          </a:xfrm>
          <a:prstGeom prst="rect">
            <a:avLst/>
          </a:prstGeom>
        </p:spPr>
      </p:pic>
      <p:pic>
        <p:nvPicPr>
          <p:cNvPr id="7" name="Image 5" descr="preencoded.png"/>
          <p:cNvPicPr>
            <a:picLocks noChangeAspect="1"/>
          </p:cNvPicPr>
          <p:nvPr/>
        </p:nvPicPr>
        <p:blipFill>
          <a:blip r:embed="rId8"/>
          <a:stretch>
            <a:fillRect/>
          </a:stretch>
        </p:blipFill>
        <p:spPr>
          <a:xfrm>
            <a:off x="4432250" y="2095500"/>
            <a:ext cx="304800" cy="304800"/>
          </a:xfrm>
          <a:prstGeom prst="rect">
            <a:avLst/>
          </a:prstGeom>
        </p:spPr>
      </p:pic>
      <p:pic>
        <p:nvPicPr>
          <p:cNvPr id="8" name="Image 6" descr="preencoded.png"/>
          <p:cNvPicPr>
            <a:picLocks noChangeAspect="1"/>
          </p:cNvPicPr>
          <p:nvPr/>
        </p:nvPicPr>
        <p:blipFill>
          <a:blip r:embed="rId9"/>
          <a:stretch>
            <a:fillRect/>
          </a:stretch>
        </p:blipFill>
        <p:spPr>
          <a:xfrm>
            <a:off x="8178701" y="1905000"/>
            <a:ext cx="3708499" cy="1409700"/>
          </a:xfrm>
          <a:prstGeom prst="rect">
            <a:avLst/>
          </a:prstGeom>
        </p:spPr>
      </p:pic>
      <p:pic>
        <p:nvPicPr>
          <p:cNvPr id="9" name="Image 7" descr="preencoded.png"/>
          <p:cNvPicPr>
            <a:picLocks noChangeAspect="1"/>
          </p:cNvPicPr>
          <p:nvPr/>
        </p:nvPicPr>
        <p:blipFill>
          <a:blip r:embed="rId10"/>
          <a:stretch>
            <a:fillRect/>
          </a:stretch>
        </p:blipFill>
        <p:spPr>
          <a:xfrm>
            <a:off x="8369201" y="2095500"/>
            <a:ext cx="304800" cy="304800"/>
          </a:xfrm>
          <a:prstGeom prst="rect">
            <a:avLst/>
          </a:prstGeom>
        </p:spPr>
      </p:pic>
      <p:pic>
        <p:nvPicPr>
          <p:cNvPr id="10" name="Image 8" descr="preencoded.png"/>
          <p:cNvPicPr>
            <a:picLocks noChangeAspect="1"/>
          </p:cNvPicPr>
          <p:nvPr/>
        </p:nvPicPr>
        <p:blipFill>
          <a:blip r:embed="rId11"/>
          <a:stretch>
            <a:fillRect/>
          </a:stretch>
        </p:blipFill>
        <p:spPr>
          <a:xfrm>
            <a:off x="304800" y="3543300"/>
            <a:ext cx="3708350" cy="1638300"/>
          </a:xfrm>
          <a:prstGeom prst="rect">
            <a:avLst/>
          </a:prstGeom>
        </p:spPr>
      </p:pic>
      <p:pic>
        <p:nvPicPr>
          <p:cNvPr id="11" name="Image 9" descr="preencoded.png"/>
          <p:cNvPicPr>
            <a:picLocks noChangeAspect="1"/>
          </p:cNvPicPr>
          <p:nvPr/>
        </p:nvPicPr>
        <p:blipFill>
          <a:blip r:embed="rId12"/>
          <a:stretch>
            <a:fillRect/>
          </a:stretch>
        </p:blipFill>
        <p:spPr>
          <a:xfrm>
            <a:off x="495300" y="3733800"/>
            <a:ext cx="342900" cy="304800"/>
          </a:xfrm>
          <a:prstGeom prst="rect">
            <a:avLst/>
          </a:prstGeom>
        </p:spPr>
      </p:pic>
      <p:pic>
        <p:nvPicPr>
          <p:cNvPr id="12" name="Image 10" descr="preencoded.png"/>
          <p:cNvPicPr>
            <a:picLocks noChangeAspect="1"/>
          </p:cNvPicPr>
          <p:nvPr/>
        </p:nvPicPr>
        <p:blipFill>
          <a:blip r:embed="rId13"/>
          <a:stretch>
            <a:fillRect/>
          </a:stretch>
        </p:blipFill>
        <p:spPr>
          <a:xfrm>
            <a:off x="4241750" y="3543300"/>
            <a:ext cx="3708350" cy="1638300"/>
          </a:xfrm>
          <a:prstGeom prst="rect">
            <a:avLst/>
          </a:prstGeom>
        </p:spPr>
      </p:pic>
      <p:pic>
        <p:nvPicPr>
          <p:cNvPr id="13" name="Image 11" descr="preencoded.png"/>
          <p:cNvPicPr>
            <a:picLocks noChangeAspect="1"/>
          </p:cNvPicPr>
          <p:nvPr/>
        </p:nvPicPr>
        <p:blipFill>
          <a:blip r:embed="rId14"/>
          <a:stretch>
            <a:fillRect/>
          </a:stretch>
        </p:blipFill>
        <p:spPr>
          <a:xfrm>
            <a:off x="4432250" y="3733800"/>
            <a:ext cx="228600" cy="304800"/>
          </a:xfrm>
          <a:prstGeom prst="rect">
            <a:avLst/>
          </a:prstGeom>
        </p:spPr>
      </p:pic>
      <p:pic>
        <p:nvPicPr>
          <p:cNvPr id="14" name="Image 12" descr="preencoded.png"/>
          <p:cNvPicPr>
            <a:picLocks noChangeAspect="1"/>
          </p:cNvPicPr>
          <p:nvPr/>
        </p:nvPicPr>
        <p:blipFill>
          <a:blip r:embed="rId15"/>
          <a:stretch>
            <a:fillRect/>
          </a:stretch>
        </p:blipFill>
        <p:spPr>
          <a:xfrm>
            <a:off x="8178701" y="3543300"/>
            <a:ext cx="3708499" cy="1638300"/>
          </a:xfrm>
          <a:prstGeom prst="rect">
            <a:avLst/>
          </a:prstGeom>
        </p:spPr>
      </p:pic>
      <p:pic>
        <p:nvPicPr>
          <p:cNvPr id="15" name="Image 13" descr="preencoded.png"/>
          <p:cNvPicPr>
            <a:picLocks noChangeAspect="1"/>
          </p:cNvPicPr>
          <p:nvPr/>
        </p:nvPicPr>
        <p:blipFill>
          <a:blip r:embed="rId16"/>
          <a:stretch>
            <a:fillRect/>
          </a:stretch>
        </p:blipFill>
        <p:spPr>
          <a:xfrm>
            <a:off x="8369201" y="4248150"/>
            <a:ext cx="665411" cy="381000"/>
          </a:xfrm>
          <a:prstGeom prst="rect">
            <a:avLst/>
          </a:prstGeom>
        </p:spPr>
      </p:pic>
      <p:pic>
        <p:nvPicPr>
          <p:cNvPr id="16" name="Image 14" descr="preencoded.png"/>
          <p:cNvPicPr>
            <a:picLocks noChangeAspect="1"/>
          </p:cNvPicPr>
          <p:nvPr/>
        </p:nvPicPr>
        <p:blipFill>
          <a:blip r:embed="rId17"/>
          <a:stretch>
            <a:fillRect/>
          </a:stretch>
        </p:blipFill>
        <p:spPr>
          <a:xfrm>
            <a:off x="9090124" y="4248150"/>
            <a:ext cx="554534" cy="381000"/>
          </a:xfrm>
          <a:prstGeom prst="rect">
            <a:avLst/>
          </a:prstGeom>
        </p:spPr>
      </p:pic>
      <p:pic>
        <p:nvPicPr>
          <p:cNvPr id="17" name="Image 15" descr="preencoded.png"/>
          <p:cNvPicPr>
            <a:picLocks noChangeAspect="1"/>
          </p:cNvPicPr>
          <p:nvPr/>
        </p:nvPicPr>
        <p:blipFill>
          <a:blip r:embed="rId18"/>
          <a:stretch>
            <a:fillRect/>
          </a:stretch>
        </p:blipFill>
        <p:spPr>
          <a:xfrm>
            <a:off x="9700171" y="4248150"/>
            <a:ext cx="665411" cy="381000"/>
          </a:xfrm>
          <a:prstGeom prst="rect">
            <a:avLst/>
          </a:prstGeom>
        </p:spPr>
      </p:pic>
      <p:pic>
        <p:nvPicPr>
          <p:cNvPr id="18" name="Image 16" descr="preencoded.png"/>
          <p:cNvPicPr>
            <a:picLocks noChangeAspect="1"/>
          </p:cNvPicPr>
          <p:nvPr/>
        </p:nvPicPr>
        <p:blipFill>
          <a:blip r:embed="rId19"/>
          <a:stretch>
            <a:fillRect/>
          </a:stretch>
        </p:blipFill>
        <p:spPr>
          <a:xfrm>
            <a:off x="10421094" y="4248150"/>
            <a:ext cx="665411" cy="381000"/>
          </a:xfrm>
          <a:prstGeom prst="rect">
            <a:avLst/>
          </a:prstGeom>
        </p:spPr>
      </p:pic>
      <p:pic>
        <p:nvPicPr>
          <p:cNvPr id="19" name="Image 17" descr="preencoded.png"/>
          <p:cNvPicPr>
            <a:picLocks noChangeAspect="1"/>
          </p:cNvPicPr>
          <p:nvPr/>
        </p:nvPicPr>
        <p:blipFill>
          <a:blip r:embed="rId20"/>
          <a:stretch>
            <a:fillRect/>
          </a:stretch>
        </p:blipFill>
        <p:spPr>
          <a:xfrm>
            <a:off x="11142018" y="4248150"/>
            <a:ext cx="554534" cy="381000"/>
          </a:xfrm>
          <a:prstGeom prst="rect">
            <a:avLst/>
          </a:prstGeom>
        </p:spPr>
      </p:pic>
      <p:pic>
        <p:nvPicPr>
          <p:cNvPr id="20" name="Image 18" descr="preencoded.png"/>
          <p:cNvPicPr>
            <a:picLocks noChangeAspect="1"/>
          </p:cNvPicPr>
          <p:nvPr/>
        </p:nvPicPr>
        <p:blipFill>
          <a:blip r:embed="rId21"/>
          <a:stretch>
            <a:fillRect/>
          </a:stretch>
        </p:blipFill>
        <p:spPr>
          <a:xfrm>
            <a:off x="0" y="6400800"/>
            <a:ext cx="12192000" cy="457200"/>
          </a:xfrm>
          <a:prstGeom prst="rect">
            <a:avLst/>
          </a:prstGeom>
        </p:spPr>
      </p:pic>
      <p:sp>
        <p:nvSpPr>
          <p:cNvPr id="21"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Post-Audit Phase: Drafting the Audit Report</a:t>
            </a:r>
            <a:endParaRPr lang="en-US" sz="2700" dirty="0"/>
          </a:p>
        </p:txBody>
      </p:sp>
      <p:sp>
        <p:nvSpPr>
          <p:cNvPr id="22"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compliance audit report is the official record of findings and recommendations. A well-structured report facilitates remediation and follow-up.</a:t>
            </a:r>
            <a:endParaRPr lang="en-US" sz="1350" dirty="0"/>
          </a:p>
        </p:txBody>
      </p:sp>
      <p:sp>
        <p:nvSpPr>
          <p:cNvPr id="23" name="Text 2"/>
          <p:cNvSpPr/>
          <p:nvPr/>
        </p:nvSpPr>
        <p:spPr>
          <a:xfrm>
            <a:off x="876300" y="2095500"/>
            <a:ext cx="35356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Executive Summary</a:t>
            </a:r>
            <a:endParaRPr lang="en-US" sz="1500" dirty="0"/>
          </a:p>
        </p:txBody>
      </p:sp>
      <p:sp>
        <p:nvSpPr>
          <p:cNvPr id="24" name="Text 3"/>
          <p:cNvSpPr/>
          <p:nvPr/>
        </p:nvSpPr>
        <p:spPr>
          <a:xfrm>
            <a:off x="876300" y="2438400"/>
            <a:ext cx="29463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Concise overview for busy executives, highlighting key findings and recommendations.</a:t>
            </a:r>
            <a:endParaRPr lang="en-US" sz="1200" dirty="0"/>
          </a:p>
        </p:txBody>
      </p:sp>
      <p:sp>
        <p:nvSpPr>
          <p:cNvPr id="25" name="Text 4"/>
          <p:cNvSpPr/>
          <p:nvPr/>
        </p:nvSpPr>
        <p:spPr>
          <a:xfrm>
            <a:off x="4889450" y="2095500"/>
            <a:ext cx="34441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Scope and Objectives</a:t>
            </a:r>
            <a:endParaRPr lang="en-US" sz="1500" dirty="0"/>
          </a:p>
        </p:txBody>
      </p:sp>
      <p:sp>
        <p:nvSpPr>
          <p:cNvPr id="26" name="Text 5"/>
          <p:cNvSpPr/>
          <p:nvPr/>
        </p:nvSpPr>
        <p:spPr>
          <a:xfrm>
            <a:off x="4889450" y="2438400"/>
            <a:ext cx="28701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Description of what was examined and the audit's overarching goals.</a:t>
            </a:r>
            <a:endParaRPr lang="en-US" sz="1200" dirty="0"/>
          </a:p>
        </p:txBody>
      </p:sp>
      <p:sp>
        <p:nvSpPr>
          <p:cNvPr id="27" name="Text 6"/>
          <p:cNvSpPr/>
          <p:nvPr/>
        </p:nvSpPr>
        <p:spPr>
          <a:xfrm>
            <a:off x="8826401" y="2095500"/>
            <a:ext cx="3444359" cy="266700"/>
          </a:xfrm>
          <a:prstGeom prst="rect">
            <a:avLst/>
          </a:prstGeom>
          <a:noFill/>
          <a:ln/>
        </p:spPr>
        <p:txBody>
          <a:bodyPr vert="horz" wrap="square" lIns="0" tIns="0" rIns="0" bIns="0" rtlCol="0" anchor="t"/>
          <a:lstStyle/>
          <a:p>
            <a:pPr marL="0" indent="0">
              <a:lnSpc>
                <a:spcPts val="2100"/>
              </a:lnSpc>
              <a:buNone/>
            </a:pPr>
            <a:r>
              <a:rPr lang="en-US" sz="1500" b="1" dirty="0">
                <a:solidFill>
                  <a:srgbClr val="FF6666"/>
                </a:solidFill>
                <a:latin typeface="ui-sans-serif" pitchFamily="34" charset="0"/>
                <a:ea typeface="ui-sans-serif" pitchFamily="34" charset="-122"/>
                <a:cs typeface="ui-sans-serif" pitchFamily="34" charset="-120"/>
              </a:rPr>
              <a:t>Detailed Findings</a:t>
            </a:r>
            <a:endParaRPr lang="en-US" sz="1500" dirty="0"/>
          </a:p>
        </p:txBody>
      </p:sp>
      <p:sp>
        <p:nvSpPr>
          <p:cNvPr id="28" name="Text 7"/>
          <p:cNvSpPr/>
          <p:nvPr/>
        </p:nvSpPr>
        <p:spPr>
          <a:xfrm>
            <a:off x="8826401" y="2362200"/>
            <a:ext cx="2870299"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Presentation of each non-compliance issue, including condition, criteria, cause, and effect.</a:t>
            </a:r>
            <a:endParaRPr lang="en-US" sz="1200" dirty="0"/>
          </a:p>
        </p:txBody>
      </p:sp>
      <p:sp>
        <p:nvSpPr>
          <p:cNvPr id="29" name="Text 8"/>
          <p:cNvSpPr/>
          <p:nvPr/>
        </p:nvSpPr>
        <p:spPr>
          <a:xfrm>
            <a:off x="990600" y="3733800"/>
            <a:ext cx="28320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A16207"/>
                </a:solidFill>
                <a:latin typeface="ui-sans-serif" pitchFamily="34" charset="0"/>
                <a:ea typeface="ui-sans-serif" pitchFamily="34" charset="-122"/>
                <a:cs typeface="ui-sans-serif" pitchFamily="34" charset="-120"/>
              </a:rPr>
              <a:t>Risk Ratings</a:t>
            </a:r>
            <a:endParaRPr lang="en-US" sz="1500" dirty="0"/>
          </a:p>
        </p:txBody>
      </p:sp>
      <p:sp>
        <p:nvSpPr>
          <p:cNvPr id="30" name="Text 9"/>
          <p:cNvSpPr/>
          <p:nvPr/>
        </p:nvSpPr>
        <p:spPr>
          <a:xfrm>
            <a:off x="990600" y="4076700"/>
            <a:ext cx="2832050" cy="9144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Assessment of the severity and likelihood of each finding, often categorized as High, Medium, or Low.</a:t>
            </a:r>
            <a:endParaRPr lang="en-US" sz="1200" dirty="0"/>
          </a:p>
        </p:txBody>
      </p:sp>
      <p:sp>
        <p:nvSpPr>
          <p:cNvPr id="31" name="Text 10"/>
          <p:cNvSpPr/>
          <p:nvPr/>
        </p:nvSpPr>
        <p:spPr>
          <a:xfrm>
            <a:off x="4813250" y="3733800"/>
            <a:ext cx="35356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Recommendations</a:t>
            </a:r>
            <a:endParaRPr lang="en-US" sz="1500" dirty="0"/>
          </a:p>
        </p:txBody>
      </p:sp>
      <p:sp>
        <p:nvSpPr>
          <p:cNvPr id="32" name="Text 11"/>
          <p:cNvSpPr/>
          <p:nvPr/>
        </p:nvSpPr>
        <p:spPr>
          <a:xfrm>
            <a:off x="4813250" y="4076700"/>
            <a:ext cx="2946350" cy="6858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Specific, actionable suggestions for addressing each finding and mitigating associated risks.</a:t>
            </a:r>
            <a:endParaRPr lang="en-US" sz="1200" dirty="0"/>
          </a:p>
        </p:txBody>
      </p:sp>
      <p:sp>
        <p:nvSpPr>
          <p:cNvPr id="33" name="Text 12"/>
          <p:cNvSpPr/>
          <p:nvPr/>
        </p:nvSpPr>
        <p:spPr>
          <a:xfrm>
            <a:off x="8369201" y="3829050"/>
            <a:ext cx="3327499"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Report Flow</a:t>
            </a:r>
            <a:endParaRPr lang="en-US" sz="1500" dirty="0"/>
          </a:p>
        </p:txBody>
      </p:sp>
      <p:sp>
        <p:nvSpPr>
          <p:cNvPr id="34" name="Text 13"/>
          <p:cNvSpPr/>
          <p:nvPr/>
        </p:nvSpPr>
        <p:spPr>
          <a:xfrm>
            <a:off x="8302660" y="4248150"/>
            <a:ext cx="798493" cy="381000"/>
          </a:xfrm>
          <a:prstGeom prst="rect">
            <a:avLst/>
          </a:prstGeom>
          <a:noFill/>
          <a:ln/>
        </p:spPr>
        <p:txBody>
          <a:bodyPr vert="horz" wrap="square" lIns="0" tIns="0" rIns="0" bIns="0" rtlCol="0" anchor="t"/>
          <a:lstStyle/>
          <a:p>
            <a:pPr marL="0" indent="0" algn="ctr">
              <a:lnSpc>
                <a:spcPts val="1800"/>
              </a:lnSpc>
              <a:buNone/>
            </a:pPr>
            <a:r>
              <a:rPr lang="en-US" sz="1200" dirty="0">
                <a:solidFill>
                  <a:srgbClr val="0F766E"/>
                </a:solidFill>
                <a:latin typeface="ui-sans-serif" pitchFamily="34" charset="0"/>
                <a:ea typeface="ui-sans-serif" pitchFamily="34" charset="-122"/>
                <a:cs typeface="ui-sans-serif" pitchFamily="34" charset="-120"/>
              </a:rPr>
              <a:t>Start</a:t>
            </a:r>
            <a:endParaRPr lang="en-US" sz="1200" dirty="0"/>
          </a:p>
        </p:txBody>
      </p:sp>
      <p:sp>
        <p:nvSpPr>
          <p:cNvPr id="35" name="Text 14"/>
          <p:cNvSpPr/>
          <p:nvPr/>
        </p:nvSpPr>
        <p:spPr>
          <a:xfrm>
            <a:off x="9034671" y="4248150"/>
            <a:ext cx="665440" cy="381000"/>
          </a:xfrm>
          <a:prstGeom prst="rect">
            <a:avLst/>
          </a:prstGeom>
          <a:noFill/>
          <a:ln/>
        </p:spPr>
        <p:txBody>
          <a:bodyPr vert="horz" wrap="square" lIns="0" tIns="0" rIns="0" bIns="0" rtlCol="0" anchor="t"/>
          <a:lstStyle/>
          <a:p>
            <a:pPr marL="0" indent="0" algn="ctr">
              <a:lnSpc>
                <a:spcPts val="1800"/>
              </a:lnSpc>
              <a:buNone/>
            </a:pPr>
            <a:r>
              <a:rPr lang="en-US" sz="1200" dirty="0">
                <a:solidFill>
                  <a:srgbClr val="7E22CE"/>
                </a:solidFill>
                <a:latin typeface="ui-sans-serif" pitchFamily="34" charset="0"/>
                <a:ea typeface="ui-sans-serif" pitchFamily="34" charset="-122"/>
                <a:cs typeface="ui-sans-serif" pitchFamily="34" charset="-120"/>
              </a:rPr>
              <a:t>Scope</a:t>
            </a:r>
            <a:endParaRPr lang="en-US" sz="1200" dirty="0"/>
          </a:p>
        </p:txBody>
      </p:sp>
      <p:sp>
        <p:nvSpPr>
          <p:cNvPr id="36" name="Text 15"/>
          <p:cNvSpPr/>
          <p:nvPr/>
        </p:nvSpPr>
        <p:spPr>
          <a:xfrm>
            <a:off x="9633630" y="4248150"/>
            <a:ext cx="798493" cy="381000"/>
          </a:xfrm>
          <a:prstGeom prst="rect">
            <a:avLst/>
          </a:prstGeom>
          <a:noFill/>
          <a:ln/>
        </p:spPr>
        <p:txBody>
          <a:bodyPr vert="horz" wrap="square" lIns="0" tIns="0" rIns="0" bIns="0" rtlCol="0" anchor="t"/>
          <a:lstStyle/>
          <a:p>
            <a:pPr marL="0" indent="0" algn="ctr">
              <a:lnSpc>
                <a:spcPts val="1800"/>
              </a:lnSpc>
              <a:buNone/>
            </a:pPr>
            <a:r>
              <a:rPr lang="en-US" sz="1200" dirty="0">
                <a:solidFill>
                  <a:srgbClr val="B91C1C"/>
                </a:solidFill>
                <a:latin typeface="ui-sans-serif" pitchFamily="34" charset="0"/>
                <a:ea typeface="ui-sans-serif" pitchFamily="34" charset="-122"/>
                <a:cs typeface="ui-sans-serif" pitchFamily="34" charset="-120"/>
              </a:rPr>
              <a:t>Findings</a:t>
            </a:r>
            <a:endParaRPr lang="en-US" sz="1200" dirty="0"/>
          </a:p>
        </p:txBody>
      </p:sp>
      <p:sp>
        <p:nvSpPr>
          <p:cNvPr id="37" name="Text 16"/>
          <p:cNvSpPr/>
          <p:nvPr/>
        </p:nvSpPr>
        <p:spPr>
          <a:xfrm>
            <a:off x="10354553" y="4248150"/>
            <a:ext cx="798493" cy="381000"/>
          </a:xfrm>
          <a:prstGeom prst="rect">
            <a:avLst/>
          </a:prstGeom>
          <a:noFill/>
          <a:ln/>
        </p:spPr>
        <p:txBody>
          <a:bodyPr vert="horz" wrap="square" lIns="0" tIns="0" rIns="0" bIns="0" rtlCol="0" anchor="t"/>
          <a:lstStyle/>
          <a:p>
            <a:pPr marL="0" indent="0" algn="ctr">
              <a:lnSpc>
                <a:spcPts val="1800"/>
              </a:lnSpc>
              <a:buNone/>
            </a:pPr>
            <a:r>
              <a:rPr lang="en-US" sz="1200" dirty="0">
                <a:solidFill>
                  <a:srgbClr val="A16207"/>
                </a:solidFill>
                <a:latin typeface="ui-sans-serif" pitchFamily="34" charset="0"/>
                <a:ea typeface="ui-sans-serif" pitchFamily="34" charset="-122"/>
                <a:cs typeface="ui-sans-serif" pitchFamily="34" charset="-120"/>
              </a:rPr>
              <a:t>Ratings</a:t>
            </a:r>
            <a:endParaRPr lang="en-US" sz="1200" dirty="0"/>
          </a:p>
        </p:txBody>
      </p:sp>
      <p:sp>
        <p:nvSpPr>
          <p:cNvPr id="38" name="Text 17"/>
          <p:cNvSpPr/>
          <p:nvPr/>
        </p:nvSpPr>
        <p:spPr>
          <a:xfrm>
            <a:off x="11086564" y="4248150"/>
            <a:ext cx="665440" cy="381000"/>
          </a:xfrm>
          <a:prstGeom prst="rect">
            <a:avLst/>
          </a:prstGeom>
          <a:noFill/>
          <a:ln/>
        </p:spPr>
        <p:txBody>
          <a:bodyPr vert="horz" wrap="square" lIns="0" tIns="0" rIns="0" bIns="0" rtlCol="0" anchor="t"/>
          <a:lstStyle/>
          <a:p>
            <a:pPr marL="0" indent="0" algn="ctr">
              <a:lnSpc>
                <a:spcPts val="1800"/>
              </a:lnSpc>
              <a:buNone/>
            </a:pPr>
            <a:r>
              <a:rPr lang="en-US" sz="1200" dirty="0">
                <a:solidFill>
                  <a:srgbClr val="15803D"/>
                </a:solidFill>
                <a:latin typeface="ui-sans-serif" pitchFamily="34" charset="0"/>
                <a:ea typeface="ui-sans-serif" pitchFamily="34" charset="-122"/>
                <a:cs typeface="ui-sans-serif" pitchFamily="34" charset="-120"/>
              </a:rPr>
              <a:t>Recs</a:t>
            </a:r>
            <a:endParaRPr lang="en-US" sz="1200" dirty="0"/>
          </a:p>
        </p:txBody>
      </p:sp>
      <p:sp>
        <p:nvSpPr>
          <p:cNvPr id="39" name="Text 18"/>
          <p:cNvSpPr/>
          <p:nvPr/>
        </p:nvSpPr>
        <p:spPr>
          <a:xfrm>
            <a:off x="8036451" y="4705350"/>
            <a:ext cx="3992999"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6B7280"/>
                </a:solidFill>
                <a:latin typeface="ui-sans-serif" pitchFamily="34" charset="0"/>
                <a:ea typeface="ui-sans-serif" pitchFamily="34" charset="-122"/>
                <a:cs typeface="ui-sans-serif" pitchFamily="34" charset="-120"/>
              </a:rPr>
              <a:t>Report Structure Flow</a:t>
            </a:r>
            <a:endParaRPr lang="en-US" sz="1050" dirty="0"/>
          </a:p>
        </p:txBody>
      </p:sp>
      <p:sp>
        <p:nvSpPr>
          <p:cNvPr id="40" name="Text 19"/>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1" name="Text 20"/>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16/26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3708350" cy="2514600"/>
          </a:xfrm>
          <a:prstGeom prst="rect">
            <a:avLst/>
          </a:prstGeom>
        </p:spPr>
      </p:pic>
      <p:pic>
        <p:nvPicPr>
          <p:cNvPr id="5" name="Image 3" descr="preencoded.png"/>
          <p:cNvPicPr>
            <a:picLocks noChangeAspect="1"/>
          </p:cNvPicPr>
          <p:nvPr/>
        </p:nvPicPr>
        <p:blipFill>
          <a:blip r:embed="rId6"/>
          <a:stretch>
            <a:fillRect/>
          </a:stretch>
        </p:blipFill>
        <p:spPr>
          <a:xfrm>
            <a:off x="495300" y="2095500"/>
            <a:ext cx="381000" cy="381000"/>
          </a:xfrm>
          <a:prstGeom prst="rect">
            <a:avLst/>
          </a:prstGeom>
        </p:spPr>
      </p:pic>
      <p:pic>
        <p:nvPicPr>
          <p:cNvPr id="6" name="Image 4" descr="preencoded.png"/>
          <p:cNvPicPr>
            <a:picLocks noChangeAspect="1"/>
          </p:cNvPicPr>
          <p:nvPr/>
        </p:nvPicPr>
        <p:blipFill>
          <a:blip r:embed="rId7"/>
          <a:stretch>
            <a:fillRect/>
          </a:stretch>
        </p:blipFill>
        <p:spPr>
          <a:xfrm>
            <a:off x="495300" y="2628900"/>
            <a:ext cx="171450" cy="304800"/>
          </a:xfrm>
          <a:prstGeom prst="rect">
            <a:avLst/>
          </a:prstGeom>
        </p:spPr>
      </p:pic>
      <p:pic>
        <p:nvPicPr>
          <p:cNvPr id="7" name="Image 5" descr="preencoded.png"/>
          <p:cNvPicPr>
            <a:picLocks noChangeAspect="1"/>
          </p:cNvPicPr>
          <p:nvPr/>
        </p:nvPicPr>
        <p:blipFill>
          <a:blip r:embed="rId8"/>
          <a:stretch>
            <a:fillRect/>
          </a:stretch>
        </p:blipFill>
        <p:spPr>
          <a:xfrm>
            <a:off x="495300" y="3619500"/>
            <a:ext cx="3327350" cy="609600"/>
          </a:xfrm>
          <a:prstGeom prst="rect">
            <a:avLst/>
          </a:prstGeom>
        </p:spPr>
      </p:pic>
      <p:pic>
        <p:nvPicPr>
          <p:cNvPr id="8" name="Image 6" descr="preencoded.png"/>
          <p:cNvPicPr>
            <a:picLocks noChangeAspect="1"/>
          </p:cNvPicPr>
          <p:nvPr/>
        </p:nvPicPr>
        <p:blipFill>
          <a:blip r:embed="rId9"/>
          <a:stretch>
            <a:fillRect/>
          </a:stretch>
        </p:blipFill>
        <p:spPr>
          <a:xfrm>
            <a:off x="609600" y="3752850"/>
            <a:ext cx="104775" cy="133350"/>
          </a:xfrm>
          <a:prstGeom prst="rect">
            <a:avLst/>
          </a:prstGeom>
        </p:spPr>
      </p:pic>
      <p:pic>
        <p:nvPicPr>
          <p:cNvPr id="9" name="Image 7" descr="preencoded.png"/>
          <p:cNvPicPr>
            <a:picLocks noChangeAspect="1"/>
          </p:cNvPicPr>
          <p:nvPr/>
        </p:nvPicPr>
        <p:blipFill>
          <a:blip r:embed="rId10"/>
          <a:stretch>
            <a:fillRect/>
          </a:stretch>
        </p:blipFill>
        <p:spPr>
          <a:xfrm>
            <a:off x="4241750" y="1905000"/>
            <a:ext cx="3708350" cy="2514600"/>
          </a:xfrm>
          <a:prstGeom prst="rect">
            <a:avLst/>
          </a:prstGeom>
        </p:spPr>
      </p:pic>
      <p:pic>
        <p:nvPicPr>
          <p:cNvPr id="10" name="Image 8" descr="preencoded.png"/>
          <p:cNvPicPr>
            <a:picLocks noChangeAspect="1"/>
          </p:cNvPicPr>
          <p:nvPr/>
        </p:nvPicPr>
        <p:blipFill>
          <a:blip r:embed="rId11"/>
          <a:stretch>
            <a:fillRect/>
          </a:stretch>
        </p:blipFill>
        <p:spPr>
          <a:xfrm>
            <a:off x="4432250" y="2095500"/>
            <a:ext cx="381000" cy="381000"/>
          </a:xfrm>
          <a:prstGeom prst="rect">
            <a:avLst/>
          </a:prstGeom>
        </p:spPr>
      </p:pic>
      <p:pic>
        <p:nvPicPr>
          <p:cNvPr id="11" name="Image 9" descr="preencoded.png"/>
          <p:cNvPicPr>
            <a:picLocks noChangeAspect="1"/>
          </p:cNvPicPr>
          <p:nvPr/>
        </p:nvPicPr>
        <p:blipFill>
          <a:blip r:embed="rId12"/>
          <a:stretch>
            <a:fillRect/>
          </a:stretch>
        </p:blipFill>
        <p:spPr>
          <a:xfrm>
            <a:off x="4432250" y="2628900"/>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4432250" y="3619500"/>
            <a:ext cx="3327350" cy="419100"/>
          </a:xfrm>
          <a:prstGeom prst="rect">
            <a:avLst/>
          </a:prstGeom>
        </p:spPr>
      </p:pic>
      <p:pic>
        <p:nvPicPr>
          <p:cNvPr id="13" name="Image 11" descr="preencoded.png"/>
          <p:cNvPicPr>
            <a:picLocks noChangeAspect="1"/>
          </p:cNvPicPr>
          <p:nvPr/>
        </p:nvPicPr>
        <p:blipFill>
          <a:blip r:embed="rId14"/>
          <a:stretch>
            <a:fillRect/>
          </a:stretch>
        </p:blipFill>
        <p:spPr>
          <a:xfrm>
            <a:off x="4546550" y="3752850"/>
            <a:ext cx="104775" cy="133350"/>
          </a:xfrm>
          <a:prstGeom prst="rect">
            <a:avLst/>
          </a:prstGeom>
        </p:spPr>
      </p:pic>
      <p:pic>
        <p:nvPicPr>
          <p:cNvPr id="14" name="Image 12" descr="preencoded.png"/>
          <p:cNvPicPr>
            <a:picLocks noChangeAspect="1"/>
          </p:cNvPicPr>
          <p:nvPr/>
        </p:nvPicPr>
        <p:blipFill>
          <a:blip r:embed="rId15"/>
          <a:stretch>
            <a:fillRect/>
          </a:stretch>
        </p:blipFill>
        <p:spPr>
          <a:xfrm>
            <a:off x="8178701" y="1905000"/>
            <a:ext cx="3708499" cy="2514600"/>
          </a:xfrm>
          <a:prstGeom prst="rect">
            <a:avLst/>
          </a:prstGeom>
        </p:spPr>
      </p:pic>
      <p:pic>
        <p:nvPicPr>
          <p:cNvPr id="15" name="Image 13" descr="preencoded.png"/>
          <p:cNvPicPr>
            <a:picLocks noChangeAspect="1"/>
          </p:cNvPicPr>
          <p:nvPr/>
        </p:nvPicPr>
        <p:blipFill>
          <a:blip r:embed="rId16"/>
          <a:stretch>
            <a:fillRect/>
          </a:stretch>
        </p:blipFill>
        <p:spPr>
          <a:xfrm>
            <a:off x="8369201" y="2095500"/>
            <a:ext cx="381000" cy="381000"/>
          </a:xfrm>
          <a:prstGeom prst="rect">
            <a:avLst/>
          </a:prstGeom>
        </p:spPr>
      </p:pic>
      <p:pic>
        <p:nvPicPr>
          <p:cNvPr id="16" name="Image 14" descr="preencoded.png"/>
          <p:cNvPicPr>
            <a:picLocks noChangeAspect="1"/>
          </p:cNvPicPr>
          <p:nvPr/>
        </p:nvPicPr>
        <p:blipFill>
          <a:blip r:embed="rId17"/>
          <a:stretch>
            <a:fillRect/>
          </a:stretch>
        </p:blipFill>
        <p:spPr>
          <a:xfrm>
            <a:off x="8369201" y="2628900"/>
            <a:ext cx="285750" cy="304800"/>
          </a:xfrm>
          <a:prstGeom prst="rect">
            <a:avLst/>
          </a:prstGeom>
        </p:spPr>
      </p:pic>
      <p:pic>
        <p:nvPicPr>
          <p:cNvPr id="17" name="Image 15" descr="preencoded.png"/>
          <p:cNvPicPr>
            <a:picLocks noChangeAspect="1"/>
          </p:cNvPicPr>
          <p:nvPr/>
        </p:nvPicPr>
        <p:blipFill>
          <a:blip r:embed="rId18"/>
          <a:stretch>
            <a:fillRect/>
          </a:stretch>
        </p:blipFill>
        <p:spPr>
          <a:xfrm>
            <a:off x="8369201" y="3390900"/>
            <a:ext cx="3327499" cy="419100"/>
          </a:xfrm>
          <a:prstGeom prst="rect">
            <a:avLst/>
          </a:prstGeom>
        </p:spPr>
      </p:pic>
      <p:pic>
        <p:nvPicPr>
          <p:cNvPr id="18" name="Image 16" descr="preencoded.png"/>
          <p:cNvPicPr>
            <a:picLocks noChangeAspect="1"/>
          </p:cNvPicPr>
          <p:nvPr/>
        </p:nvPicPr>
        <p:blipFill>
          <a:blip r:embed="rId19"/>
          <a:stretch>
            <a:fillRect/>
          </a:stretch>
        </p:blipFill>
        <p:spPr>
          <a:xfrm>
            <a:off x="8483501" y="3524250"/>
            <a:ext cx="104775" cy="133350"/>
          </a:xfrm>
          <a:prstGeom prst="rect">
            <a:avLst/>
          </a:prstGeom>
        </p:spPr>
      </p:pic>
      <p:pic>
        <p:nvPicPr>
          <p:cNvPr id="19" name="Image 17" descr="preencoded.png"/>
          <p:cNvPicPr>
            <a:picLocks noChangeAspect="1"/>
          </p:cNvPicPr>
          <p:nvPr/>
        </p:nvPicPr>
        <p:blipFill>
          <a:blip r:embed="rId20"/>
          <a:stretch>
            <a:fillRect/>
          </a:stretch>
        </p:blipFill>
        <p:spPr>
          <a:xfrm>
            <a:off x="304800" y="4724400"/>
            <a:ext cx="11582400" cy="1371600"/>
          </a:xfrm>
          <a:prstGeom prst="rect">
            <a:avLst/>
          </a:prstGeom>
        </p:spPr>
      </p:pic>
      <p:pic>
        <p:nvPicPr>
          <p:cNvPr id="20" name="Image 18" descr="preencoded.png"/>
          <p:cNvPicPr>
            <a:picLocks noChangeAspect="1"/>
          </p:cNvPicPr>
          <p:nvPr/>
        </p:nvPicPr>
        <p:blipFill>
          <a:blip r:embed="rId21"/>
          <a:stretch>
            <a:fillRect/>
          </a:stretch>
        </p:blipFill>
        <p:spPr>
          <a:xfrm>
            <a:off x="495300" y="5334000"/>
            <a:ext cx="152400" cy="152400"/>
          </a:xfrm>
          <a:prstGeom prst="rect">
            <a:avLst/>
          </a:prstGeom>
        </p:spPr>
      </p:pic>
      <p:pic>
        <p:nvPicPr>
          <p:cNvPr id="21" name="Image 19" descr="preencoded.png"/>
          <p:cNvPicPr>
            <a:picLocks noChangeAspect="1"/>
          </p:cNvPicPr>
          <p:nvPr/>
        </p:nvPicPr>
        <p:blipFill>
          <a:blip r:embed="rId22"/>
          <a:stretch>
            <a:fillRect/>
          </a:stretch>
        </p:blipFill>
        <p:spPr>
          <a:xfrm>
            <a:off x="6172200" y="5334000"/>
            <a:ext cx="152400" cy="152400"/>
          </a:xfrm>
          <a:prstGeom prst="rect">
            <a:avLst/>
          </a:prstGeom>
        </p:spPr>
      </p:pic>
      <p:pic>
        <p:nvPicPr>
          <p:cNvPr id="22" name="Image 20" descr="preencoded.png"/>
          <p:cNvPicPr>
            <a:picLocks noChangeAspect="1"/>
          </p:cNvPicPr>
          <p:nvPr/>
        </p:nvPicPr>
        <p:blipFill>
          <a:blip r:embed="rId23"/>
          <a:stretch>
            <a:fillRect/>
          </a:stretch>
        </p:blipFill>
        <p:spPr>
          <a:xfrm>
            <a:off x="495300" y="5715000"/>
            <a:ext cx="190500" cy="152400"/>
          </a:xfrm>
          <a:prstGeom prst="rect">
            <a:avLst/>
          </a:prstGeom>
        </p:spPr>
      </p:pic>
      <p:pic>
        <p:nvPicPr>
          <p:cNvPr id="23" name="Image 21" descr="preencoded.png"/>
          <p:cNvPicPr>
            <a:picLocks noChangeAspect="1"/>
          </p:cNvPicPr>
          <p:nvPr/>
        </p:nvPicPr>
        <p:blipFill>
          <a:blip r:embed="rId24"/>
          <a:stretch>
            <a:fillRect/>
          </a:stretch>
        </p:blipFill>
        <p:spPr>
          <a:xfrm>
            <a:off x="6172200" y="5715000"/>
            <a:ext cx="171450" cy="152400"/>
          </a:xfrm>
          <a:prstGeom prst="rect">
            <a:avLst/>
          </a:prstGeom>
        </p:spPr>
      </p:pic>
      <p:pic>
        <p:nvPicPr>
          <p:cNvPr id="24" name="Image 22" descr="preencoded.png"/>
          <p:cNvPicPr>
            <a:picLocks noChangeAspect="1"/>
          </p:cNvPicPr>
          <p:nvPr/>
        </p:nvPicPr>
        <p:blipFill>
          <a:blip r:embed="rId25"/>
          <a:stretch>
            <a:fillRect/>
          </a:stretch>
        </p:blipFill>
        <p:spPr>
          <a:xfrm>
            <a:off x="0" y="6400800"/>
            <a:ext cx="12192000" cy="457200"/>
          </a:xfrm>
          <a:prstGeom prst="rect">
            <a:avLst/>
          </a:prstGeom>
        </p:spPr>
      </p:pic>
      <p:sp>
        <p:nvSpPr>
          <p:cNvPr id="25"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Post-Audit Phase: The Closing Meeting</a:t>
            </a:r>
            <a:endParaRPr lang="en-US" sz="2700" dirty="0"/>
          </a:p>
        </p:txBody>
      </p:sp>
      <p:sp>
        <p:nvSpPr>
          <p:cNvPr id="26"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closing meeting is a crucial step in the post-audit phase, providing an opportunity for auditors to formally present their draft findings to the auditee's management. This meeting serves as the final formal interaction before the audit report is issued.</a:t>
            </a:r>
            <a:endParaRPr lang="en-US" sz="1350" dirty="0"/>
          </a:p>
        </p:txBody>
      </p:sp>
      <p:sp>
        <p:nvSpPr>
          <p:cNvPr id="27" name="Text 2"/>
          <p:cNvSpPr/>
          <p:nvPr/>
        </p:nvSpPr>
        <p:spPr>
          <a:xfrm>
            <a:off x="619423" y="2095500"/>
            <a:ext cx="381000" cy="381000"/>
          </a:xfrm>
          <a:prstGeom prst="rect">
            <a:avLst/>
          </a:prstGeom>
          <a:noFill/>
          <a:ln/>
        </p:spPr>
        <p:txBody>
          <a:bodyPr vert="horz" wrap="square" lIns="0" tIns="0" rIns="0" bIns="0" rtlCol="0" anchor="t"/>
          <a:lstStyle/>
          <a:p>
            <a:pPr marL="0" indent="0">
              <a:lnSpc>
                <a:spcPts val="2250"/>
              </a:lnSpc>
              <a:buNone/>
            </a:pPr>
            <a:r>
              <a:rPr lang="en-US" sz="1500" b="1" dirty="0">
                <a:solidFill>
                  <a:srgbClr val="0F766E"/>
                </a:solidFill>
                <a:latin typeface="ui-sans-serif" pitchFamily="34" charset="0"/>
                <a:ea typeface="ui-sans-serif" pitchFamily="34" charset="-122"/>
                <a:cs typeface="ui-sans-serif" pitchFamily="34" charset="-120"/>
              </a:rPr>
              <a:t>1</a:t>
            </a:r>
            <a:endParaRPr lang="en-US" sz="1500" dirty="0"/>
          </a:p>
        </p:txBody>
      </p:sp>
      <p:sp>
        <p:nvSpPr>
          <p:cNvPr id="28" name="Text 3"/>
          <p:cNvSpPr/>
          <p:nvPr/>
        </p:nvSpPr>
        <p:spPr>
          <a:xfrm>
            <a:off x="990600" y="2152650"/>
            <a:ext cx="2901077"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Discuss Draft Findings</a:t>
            </a:r>
            <a:endParaRPr lang="en-US" sz="1500" dirty="0"/>
          </a:p>
        </p:txBody>
      </p:sp>
      <p:sp>
        <p:nvSpPr>
          <p:cNvPr id="29" name="Text 4"/>
          <p:cNvSpPr/>
          <p:nvPr/>
        </p:nvSpPr>
        <p:spPr>
          <a:xfrm>
            <a:off x="781050" y="2590800"/>
            <a:ext cx="304160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Present preliminary audit findings, including identified non-compliance issues, control weaknesses, and potential risks.</a:t>
            </a:r>
            <a:endParaRPr lang="en-US" sz="1200" dirty="0"/>
          </a:p>
        </p:txBody>
      </p:sp>
      <p:sp>
        <p:nvSpPr>
          <p:cNvPr id="30" name="Text 5"/>
          <p:cNvSpPr/>
          <p:nvPr/>
        </p:nvSpPr>
        <p:spPr>
          <a:xfrm>
            <a:off x="790575" y="3733800"/>
            <a:ext cx="3098750" cy="381000"/>
          </a:xfrm>
          <a:prstGeom prst="rect">
            <a:avLst/>
          </a:prstGeom>
          <a:noFill/>
          <a:ln/>
        </p:spPr>
        <p:txBody>
          <a:bodyPr vert="horz" wrap="square" lIns="0" tIns="0" rIns="0" bIns="0" rtlCol="0" anchor="t"/>
          <a:lstStyle/>
          <a:p>
            <a:pPr marL="0" indent="0">
              <a:lnSpc>
                <a:spcPts val="1500"/>
              </a:lnSpc>
              <a:buNone/>
            </a:pPr>
            <a:r>
              <a:rPr lang="en-US" sz="1050" dirty="0">
                <a:solidFill>
                  <a:srgbClr val="115E59"/>
                </a:solidFill>
                <a:latin typeface="ui-sans-serif" pitchFamily="34" charset="0"/>
                <a:ea typeface="ui-sans-serif" pitchFamily="34" charset="-122"/>
                <a:cs typeface="ui-sans-serif" pitchFamily="34" charset="-120"/>
              </a:rPr>
              <a:t>Key to establish baseline for further discussion</a:t>
            </a:r>
            <a:endParaRPr lang="en-US" sz="1050" dirty="0"/>
          </a:p>
        </p:txBody>
      </p:sp>
      <p:sp>
        <p:nvSpPr>
          <p:cNvPr id="31" name="Text 6"/>
          <p:cNvSpPr/>
          <p:nvPr/>
        </p:nvSpPr>
        <p:spPr>
          <a:xfrm>
            <a:off x="4556373" y="2095500"/>
            <a:ext cx="381000" cy="381000"/>
          </a:xfrm>
          <a:prstGeom prst="rect">
            <a:avLst/>
          </a:prstGeom>
          <a:noFill/>
          <a:ln/>
        </p:spPr>
        <p:txBody>
          <a:bodyPr vert="horz" wrap="square" lIns="0" tIns="0" rIns="0" bIns="0" rtlCol="0" anchor="t"/>
          <a:lstStyle/>
          <a:p>
            <a:pPr marL="0" indent="0">
              <a:lnSpc>
                <a:spcPts val="2250"/>
              </a:lnSpc>
              <a:buNone/>
            </a:pPr>
            <a:r>
              <a:rPr lang="en-US" sz="1500" b="1" dirty="0">
                <a:solidFill>
                  <a:srgbClr val="7E22CE"/>
                </a:solidFill>
                <a:latin typeface="ui-sans-serif" pitchFamily="34" charset="0"/>
                <a:ea typeface="ui-sans-serif" pitchFamily="34" charset="-122"/>
                <a:cs typeface="ui-sans-serif" pitchFamily="34" charset="-120"/>
              </a:rPr>
              <a:t>2</a:t>
            </a:r>
            <a:endParaRPr lang="en-US" sz="1500" dirty="0"/>
          </a:p>
        </p:txBody>
      </p:sp>
      <p:sp>
        <p:nvSpPr>
          <p:cNvPr id="32" name="Text 7"/>
          <p:cNvSpPr/>
          <p:nvPr/>
        </p:nvSpPr>
        <p:spPr>
          <a:xfrm>
            <a:off x="4927550" y="2152650"/>
            <a:ext cx="1815227"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Validate Facts</a:t>
            </a:r>
            <a:endParaRPr lang="en-US" sz="1500" dirty="0"/>
          </a:p>
        </p:txBody>
      </p:sp>
      <p:sp>
        <p:nvSpPr>
          <p:cNvPr id="33" name="Text 8"/>
          <p:cNvSpPr/>
          <p:nvPr/>
        </p:nvSpPr>
        <p:spPr>
          <a:xfrm>
            <a:off x="4775150" y="2590800"/>
            <a:ext cx="298445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Allow management to review the factual accuracy of the findings and provide any additional context or evidence.</a:t>
            </a:r>
            <a:endParaRPr lang="en-US" sz="1200" dirty="0"/>
          </a:p>
        </p:txBody>
      </p:sp>
      <p:sp>
        <p:nvSpPr>
          <p:cNvPr id="34" name="Text 9"/>
          <p:cNvSpPr/>
          <p:nvPr/>
        </p:nvSpPr>
        <p:spPr>
          <a:xfrm>
            <a:off x="4727525" y="3733800"/>
            <a:ext cx="3718500" cy="190500"/>
          </a:xfrm>
          <a:prstGeom prst="rect">
            <a:avLst/>
          </a:prstGeom>
          <a:noFill/>
          <a:ln/>
        </p:spPr>
        <p:txBody>
          <a:bodyPr vert="horz" wrap="square" lIns="0" tIns="0" rIns="0" bIns="0" rtlCol="0" anchor="t"/>
          <a:lstStyle/>
          <a:p>
            <a:pPr marL="0" indent="0">
              <a:lnSpc>
                <a:spcPts val="1500"/>
              </a:lnSpc>
              <a:buNone/>
            </a:pPr>
            <a:r>
              <a:rPr lang="en-US" sz="1050" dirty="0">
                <a:solidFill>
                  <a:srgbClr val="6B21A8"/>
                </a:solidFill>
                <a:latin typeface="ui-sans-serif" pitchFamily="34" charset="0"/>
                <a:ea typeface="ui-sans-serif" pitchFamily="34" charset="-122"/>
                <a:cs typeface="ui-sans-serif" pitchFamily="34" charset="-120"/>
              </a:rPr>
              <a:t>Ensures final report is accurate and fair</a:t>
            </a:r>
            <a:endParaRPr lang="en-US" sz="1050" dirty="0"/>
          </a:p>
        </p:txBody>
      </p:sp>
      <p:sp>
        <p:nvSpPr>
          <p:cNvPr id="35" name="Text 10"/>
          <p:cNvSpPr/>
          <p:nvPr/>
        </p:nvSpPr>
        <p:spPr>
          <a:xfrm>
            <a:off x="8493323" y="2095500"/>
            <a:ext cx="381000" cy="381000"/>
          </a:xfrm>
          <a:prstGeom prst="rect">
            <a:avLst/>
          </a:prstGeom>
          <a:noFill/>
          <a:ln/>
        </p:spPr>
        <p:txBody>
          <a:bodyPr vert="horz" wrap="square" lIns="0" tIns="0" rIns="0" bIns="0" rtlCol="0" anchor="t"/>
          <a:lstStyle/>
          <a:p>
            <a:pPr marL="0" indent="0">
              <a:lnSpc>
                <a:spcPts val="2250"/>
              </a:lnSpc>
              <a:buNone/>
            </a:pPr>
            <a:r>
              <a:rPr lang="en-US" sz="1500" b="1" dirty="0">
                <a:solidFill>
                  <a:srgbClr val="15803D"/>
                </a:solidFill>
                <a:latin typeface="ui-sans-serif" pitchFamily="34" charset="0"/>
                <a:ea typeface="ui-sans-serif" pitchFamily="34" charset="-122"/>
                <a:cs typeface="ui-sans-serif" pitchFamily="34" charset="-120"/>
              </a:rPr>
              <a:t>3</a:t>
            </a:r>
            <a:endParaRPr lang="en-US" sz="1500" dirty="0"/>
          </a:p>
        </p:txBody>
      </p:sp>
      <p:sp>
        <p:nvSpPr>
          <p:cNvPr id="36" name="Text 11"/>
          <p:cNvSpPr/>
          <p:nvPr/>
        </p:nvSpPr>
        <p:spPr>
          <a:xfrm>
            <a:off x="8864501" y="2152650"/>
            <a:ext cx="3013412"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Gather Initial Feedback</a:t>
            </a:r>
            <a:endParaRPr lang="en-US" sz="1500" dirty="0"/>
          </a:p>
        </p:txBody>
      </p:sp>
      <p:sp>
        <p:nvSpPr>
          <p:cNvPr id="37" name="Text 12"/>
          <p:cNvSpPr/>
          <p:nvPr/>
        </p:nvSpPr>
        <p:spPr>
          <a:xfrm>
            <a:off x="8769251" y="2590800"/>
            <a:ext cx="2927449" cy="6858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Obtain management's initial reactions and perspectives on the proposed recommendations.</a:t>
            </a:r>
            <a:endParaRPr lang="en-US" sz="1200" dirty="0"/>
          </a:p>
        </p:txBody>
      </p:sp>
      <p:sp>
        <p:nvSpPr>
          <p:cNvPr id="38" name="Text 13"/>
          <p:cNvSpPr/>
          <p:nvPr/>
        </p:nvSpPr>
        <p:spPr>
          <a:xfrm>
            <a:off x="8664476" y="3505200"/>
            <a:ext cx="3718679" cy="190500"/>
          </a:xfrm>
          <a:prstGeom prst="rect">
            <a:avLst/>
          </a:prstGeom>
          <a:noFill/>
          <a:ln/>
        </p:spPr>
        <p:txBody>
          <a:bodyPr vert="horz" wrap="square" lIns="0" tIns="0" rIns="0" bIns="0" rtlCol="0" anchor="t"/>
          <a:lstStyle/>
          <a:p>
            <a:pPr marL="0" indent="0">
              <a:lnSpc>
                <a:spcPts val="1500"/>
              </a:lnSpc>
              <a:buNone/>
            </a:pPr>
            <a:r>
              <a:rPr lang="en-US" sz="1050" dirty="0">
                <a:solidFill>
                  <a:srgbClr val="166534"/>
                </a:solidFill>
                <a:latin typeface="ui-sans-serif" pitchFamily="34" charset="0"/>
                <a:ea typeface="ui-sans-serif" pitchFamily="34" charset="-122"/>
                <a:cs typeface="ui-sans-serif" pitchFamily="34" charset="-120"/>
              </a:rPr>
              <a:t>Facilitates smoother remediation process</a:t>
            </a:r>
            <a:endParaRPr lang="en-US" sz="1050" dirty="0"/>
          </a:p>
        </p:txBody>
      </p:sp>
      <p:sp>
        <p:nvSpPr>
          <p:cNvPr id="39" name="Text 14"/>
          <p:cNvSpPr/>
          <p:nvPr/>
        </p:nvSpPr>
        <p:spPr>
          <a:xfrm>
            <a:off x="495300" y="4914900"/>
            <a:ext cx="11201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Best Practices for Closing Meetings</a:t>
            </a:r>
            <a:endParaRPr lang="en-US" sz="1500" dirty="0"/>
          </a:p>
        </p:txBody>
      </p:sp>
      <p:sp>
        <p:nvSpPr>
          <p:cNvPr id="40" name="Text 15"/>
          <p:cNvSpPr/>
          <p:nvPr/>
        </p:nvSpPr>
        <p:spPr>
          <a:xfrm>
            <a:off x="762000" y="5295900"/>
            <a:ext cx="4518422"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Allow sufficient time for discussion and questions</a:t>
            </a:r>
            <a:endParaRPr lang="en-US" sz="1200" dirty="0"/>
          </a:p>
        </p:txBody>
      </p:sp>
      <p:sp>
        <p:nvSpPr>
          <p:cNvPr id="41" name="Text 16"/>
          <p:cNvSpPr/>
          <p:nvPr/>
        </p:nvSpPr>
        <p:spPr>
          <a:xfrm>
            <a:off x="6438900" y="5295900"/>
            <a:ext cx="3512046"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Review agenda and objectives at start</a:t>
            </a:r>
            <a:endParaRPr lang="en-US" sz="1200" dirty="0"/>
          </a:p>
        </p:txBody>
      </p:sp>
      <p:sp>
        <p:nvSpPr>
          <p:cNvPr id="42" name="Text 17"/>
          <p:cNvSpPr/>
          <p:nvPr/>
        </p:nvSpPr>
        <p:spPr>
          <a:xfrm>
            <a:off x="800100" y="5676900"/>
            <a:ext cx="4672905"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Maintain collaborative rather than adversarial tone</a:t>
            </a:r>
            <a:endParaRPr lang="en-US" sz="1200" dirty="0"/>
          </a:p>
        </p:txBody>
      </p:sp>
      <p:sp>
        <p:nvSpPr>
          <p:cNvPr id="43" name="Text 18"/>
          <p:cNvSpPr/>
          <p:nvPr/>
        </p:nvSpPr>
        <p:spPr>
          <a:xfrm>
            <a:off x="6457950" y="5676900"/>
            <a:ext cx="3503831"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Document key points and agreements</a:t>
            </a:r>
            <a:endParaRPr lang="en-US" sz="1200" dirty="0"/>
          </a:p>
        </p:txBody>
      </p:sp>
      <p:sp>
        <p:nvSpPr>
          <p:cNvPr id="44" name="Text 19"/>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5" name="Text 20"/>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17/26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5715000"/>
          </a:xfrm>
          <a:prstGeom prst="rect">
            <a:avLst/>
          </a:prstGeom>
        </p:spPr>
      </p:pic>
      <p:pic>
        <p:nvPicPr>
          <p:cNvPr id="5" name="Image 3" descr="preencoded.png"/>
          <p:cNvPicPr>
            <a:picLocks noChangeAspect="1"/>
          </p:cNvPicPr>
          <p:nvPr/>
        </p:nvPicPr>
        <p:blipFill>
          <a:blip r:embed="rId6"/>
          <a:stretch>
            <a:fillRect/>
          </a:stretch>
        </p:blipFill>
        <p:spPr>
          <a:xfrm>
            <a:off x="533400" y="3314700"/>
            <a:ext cx="171450" cy="266700"/>
          </a:xfrm>
          <a:prstGeom prst="rect">
            <a:avLst/>
          </a:prstGeom>
        </p:spPr>
      </p:pic>
      <p:pic>
        <p:nvPicPr>
          <p:cNvPr id="6" name="Image 4" descr="preencoded.png"/>
          <p:cNvPicPr>
            <a:picLocks noChangeAspect="1"/>
          </p:cNvPicPr>
          <p:nvPr/>
        </p:nvPicPr>
        <p:blipFill>
          <a:blip r:embed="rId7"/>
          <a:stretch>
            <a:fillRect/>
          </a:stretch>
        </p:blipFill>
        <p:spPr>
          <a:xfrm>
            <a:off x="533400" y="3886200"/>
            <a:ext cx="219075" cy="266700"/>
          </a:xfrm>
          <a:prstGeom prst="rect">
            <a:avLst/>
          </a:prstGeom>
        </p:spPr>
      </p:pic>
      <p:pic>
        <p:nvPicPr>
          <p:cNvPr id="7" name="Image 5" descr="preencoded.png"/>
          <p:cNvPicPr>
            <a:picLocks noChangeAspect="1"/>
          </p:cNvPicPr>
          <p:nvPr/>
        </p:nvPicPr>
        <p:blipFill>
          <a:blip r:embed="rId8"/>
          <a:stretch>
            <a:fillRect/>
          </a:stretch>
        </p:blipFill>
        <p:spPr>
          <a:xfrm>
            <a:off x="533400" y="4457700"/>
            <a:ext cx="152400" cy="266700"/>
          </a:xfrm>
          <a:prstGeom prst="rect">
            <a:avLst/>
          </a:prstGeom>
        </p:spPr>
      </p:pic>
      <p:pic>
        <p:nvPicPr>
          <p:cNvPr id="8" name="Image 6" descr="preencoded.png"/>
          <p:cNvPicPr>
            <a:picLocks noChangeAspect="1"/>
          </p:cNvPicPr>
          <p:nvPr/>
        </p:nvPicPr>
        <p:blipFill>
          <a:blip r:embed="rId9"/>
          <a:stretch>
            <a:fillRect/>
          </a:stretch>
        </p:blipFill>
        <p:spPr>
          <a:xfrm>
            <a:off x="533400" y="5029200"/>
            <a:ext cx="171450" cy="266700"/>
          </a:xfrm>
          <a:prstGeom prst="rect">
            <a:avLst/>
          </a:prstGeom>
        </p:spPr>
      </p:pic>
      <p:pic>
        <p:nvPicPr>
          <p:cNvPr id="9" name="Image 7" descr="preencoded.png"/>
          <p:cNvPicPr>
            <a:picLocks noChangeAspect="1"/>
          </p:cNvPicPr>
          <p:nvPr/>
        </p:nvPicPr>
        <p:blipFill>
          <a:blip r:embed="rId10"/>
          <a:stretch>
            <a:fillRect/>
          </a:stretch>
        </p:blipFill>
        <p:spPr>
          <a:xfrm>
            <a:off x="533400" y="5524500"/>
            <a:ext cx="5105400" cy="1104900"/>
          </a:xfrm>
          <a:prstGeom prst="rect">
            <a:avLst/>
          </a:prstGeom>
        </p:spPr>
      </p:pic>
      <p:pic>
        <p:nvPicPr>
          <p:cNvPr id="10" name="Image 8" descr="preencoded.png"/>
          <p:cNvPicPr>
            <a:picLocks noChangeAspect="1"/>
          </p:cNvPicPr>
          <p:nvPr/>
        </p:nvPicPr>
        <p:blipFill>
          <a:blip r:embed="rId5"/>
          <a:stretch>
            <a:fillRect/>
          </a:stretch>
        </p:blipFill>
        <p:spPr>
          <a:xfrm>
            <a:off x="6324600" y="1143000"/>
            <a:ext cx="5562600" cy="5715000"/>
          </a:xfrm>
          <a:prstGeom prst="rect">
            <a:avLst/>
          </a:prstGeom>
        </p:spPr>
      </p:pic>
      <p:pic>
        <p:nvPicPr>
          <p:cNvPr id="11" name="Image 9" descr="preencoded.png"/>
          <p:cNvPicPr>
            <a:picLocks noChangeAspect="1"/>
          </p:cNvPicPr>
          <p:nvPr/>
        </p:nvPicPr>
        <p:blipFill>
          <a:blip r:embed="rId11"/>
          <a:stretch>
            <a:fillRect/>
          </a:stretch>
        </p:blipFill>
        <p:spPr>
          <a:xfrm>
            <a:off x="6886575" y="1828800"/>
            <a:ext cx="609600" cy="609600"/>
          </a:xfrm>
          <a:prstGeom prst="rect">
            <a:avLst/>
          </a:prstGeom>
        </p:spPr>
      </p:pic>
      <p:pic>
        <p:nvPicPr>
          <p:cNvPr id="12" name="Image 10" descr="preencoded.png"/>
          <p:cNvPicPr>
            <a:picLocks noChangeAspect="1"/>
          </p:cNvPicPr>
          <p:nvPr/>
        </p:nvPicPr>
        <p:blipFill>
          <a:blip r:embed="rId12"/>
          <a:stretch>
            <a:fillRect/>
          </a:stretch>
        </p:blipFill>
        <p:spPr>
          <a:xfrm>
            <a:off x="7077075" y="1981200"/>
            <a:ext cx="228600" cy="304800"/>
          </a:xfrm>
          <a:prstGeom prst="rect">
            <a:avLst/>
          </a:prstGeom>
        </p:spPr>
      </p:pic>
      <p:pic>
        <p:nvPicPr>
          <p:cNvPr id="13" name="Image 11" descr="preencoded.png"/>
          <p:cNvPicPr>
            <a:picLocks noChangeAspect="1"/>
          </p:cNvPicPr>
          <p:nvPr/>
        </p:nvPicPr>
        <p:blipFill>
          <a:blip r:embed="rId13"/>
          <a:stretch>
            <a:fillRect/>
          </a:stretch>
        </p:blipFill>
        <p:spPr>
          <a:xfrm>
            <a:off x="8162925" y="1828800"/>
            <a:ext cx="609600" cy="609600"/>
          </a:xfrm>
          <a:prstGeom prst="rect">
            <a:avLst/>
          </a:prstGeom>
        </p:spPr>
      </p:pic>
      <p:pic>
        <p:nvPicPr>
          <p:cNvPr id="14" name="Image 12" descr="preencoded.png"/>
          <p:cNvPicPr>
            <a:picLocks noChangeAspect="1"/>
          </p:cNvPicPr>
          <p:nvPr/>
        </p:nvPicPr>
        <p:blipFill>
          <a:blip r:embed="rId14"/>
          <a:stretch>
            <a:fillRect/>
          </a:stretch>
        </p:blipFill>
        <p:spPr>
          <a:xfrm>
            <a:off x="8382000" y="1981200"/>
            <a:ext cx="171450" cy="304800"/>
          </a:xfrm>
          <a:prstGeom prst="rect">
            <a:avLst/>
          </a:prstGeom>
        </p:spPr>
      </p:pic>
      <p:pic>
        <p:nvPicPr>
          <p:cNvPr id="15" name="Image 13" descr="preencoded.png"/>
          <p:cNvPicPr>
            <a:picLocks noChangeAspect="1"/>
          </p:cNvPicPr>
          <p:nvPr/>
        </p:nvPicPr>
        <p:blipFill>
          <a:blip r:embed="rId15"/>
          <a:stretch>
            <a:fillRect/>
          </a:stretch>
        </p:blipFill>
        <p:spPr>
          <a:xfrm>
            <a:off x="9439275" y="1828800"/>
            <a:ext cx="609600" cy="609600"/>
          </a:xfrm>
          <a:prstGeom prst="rect">
            <a:avLst/>
          </a:prstGeom>
        </p:spPr>
      </p:pic>
      <p:pic>
        <p:nvPicPr>
          <p:cNvPr id="16" name="Image 14" descr="preencoded.png"/>
          <p:cNvPicPr>
            <a:picLocks noChangeAspect="1"/>
          </p:cNvPicPr>
          <p:nvPr/>
        </p:nvPicPr>
        <p:blipFill>
          <a:blip r:embed="rId16"/>
          <a:stretch>
            <a:fillRect/>
          </a:stretch>
        </p:blipFill>
        <p:spPr>
          <a:xfrm>
            <a:off x="9601200" y="1981200"/>
            <a:ext cx="285750" cy="304800"/>
          </a:xfrm>
          <a:prstGeom prst="rect">
            <a:avLst/>
          </a:prstGeom>
        </p:spPr>
      </p:pic>
      <p:pic>
        <p:nvPicPr>
          <p:cNvPr id="17" name="Image 15" descr="preencoded.png"/>
          <p:cNvPicPr>
            <a:picLocks noChangeAspect="1"/>
          </p:cNvPicPr>
          <p:nvPr/>
        </p:nvPicPr>
        <p:blipFill>
          <a:blip r:embed="rId17"/>
          <a:stretch>
            <a:fillRect/>
          </a:stretch>
        </p:blipFill>
        <p:spPr>
          <a:xfrm>
            <a:off x="10715625" y="1828800"/>
            <a:ext cx="609600" cy="609600"/>
          </a:xfrm>
          <a:prstGeom prst="rect">
            <a:avLst/>
          </a:prstGeom>
        </p:spPr>
      </p:pic>
      <p:pic>
        <p:nvPicPr>
          <p:cNvPr id="18" name="Image 16" descr="preencoded.png"/>
          <p:cNvPicPr>
            <a:picLocks noChangeAspect="1"/>
          </p:cNvPicPr>
          <p:nvPr/>
        </p:nvPicPr>
        <p:blipFill>
          <a:blip r:embed="rId18"/>
          <a:stretch>
            <a:fillRect/>
          </a:stretch>
        </p:blipFill>
        <p:spPr>
          <a:xfrm>
            <a:off x="10906125" y="1981200"/>
            <a:ext cx="228600" cy="304800"/>
          </a:xfrm>
          <a:prstGeom prst="rect">
            <a:avLst/>
          </a:prstGeom>
        </p:spPr>
      </p:pic>
      <p:pic>
        <p:nvPicPr>
          <p:cNvPr id="19" name="Image 17" descr="preencoded.png"/>
          <p:cNvPicPr>
            <a:picLocks noChangeAspect="1"/>
          </p:cNvPicPr>
          <p:nvPr/>
        </p:nvPicPr>
        <p:blipFill>
          <a:blip r:embed="rId19"/>
          <a:stretch>
            <a:fillRect/>
          </a:stretch>
        </p:blipFill>
        <p:spPr>
          <a:xfrm>
            <a:off x="6553200" y="3390900"/>
            <a:ext cx="2476500" cy="876300"/>
          </a:xfrm>
          <a:prstGeom prst="rect">
            <a:avLst/>
          </a:prstGeom>
        </p:spPr>
      </p:pic>
      <p:pic>
        <p:nvPicPr>
          <p:cNvPr id="20" name="Image 18" descr="preencoded.png"/>
          <p:cNvPicPr>
            <a:picLocks noChangeAspect="1"/>
          </p:cNvPicPr>
          <p:nvPr/>
        </p:nvPicPr>
        <p:blipFill>
          <a:blip r:embed="rId20"/>
          <a:stretch>
            <a:fillRect/>
          </a:stretch>
        </p:blipFill>
        <p:spPr>
          <a:xfrm>
            <a:off x="6667500" y="3543300"/>
            <a:ext cx="152400" cy="152400"/>
          </a:xfrm>
          <a:prstGeom prst="rect">
            <a:avLst/>
          </a:prstGeom>
        </p:spPr>
      </p:pic>
      <p:pic>
        <p:nvPicPr>
          <p:cNvPr id="21" name="Image 19" descr="preencoded.png"/>
          <p:cNvPicPr>
            <a:picLocks noChangeAspect="1"/>
          </p:cNvPicPr>
          <p:nvPr/>
        </p:nvPicPr>
        <p:blipFill>
          <a:blip r:embed="rId19"/>
          <a:stretch>
            <a:fillRect/>
          </a:stretch>
        </p:blipFill>
        <p:spPr>
          <a:xfrm>
            <a:off x="9182100" y="3390900"/>
            <a:ext cx="2476500" cy="876300"/>
          </a:xfrm>
          <a:prstGeom prst="rect">
            <a:avLst/>
          </a:prstGeom>
        </p:spPr>
      </p:pic>
      <p:pic>
        <p:nvPicPr>
          <p:cNvPr id="22" name="Image 20" descr="preencoded.png"/>
          <p:cNvPicPr>
            <a:picLocks noChangeAspect="1"/>
          </p:cNvPicPr>
          <p:nvPr/>
        </p:nvPicPr>
        <p:blipFill>
          <a:blip r:embed="rId21"/>
          <a:stretch>
            <a:fillRect/>
          </a:stretch>
        </p:blipFill>
        <p:spPr>
          <a:xfrm>
            <a:off x="9296400" y="3543300"/>
            <a:ext cx="190500" cy="152400"/>
          </a:xfrm>
          <a:prstGeom prst="rect">
            <a:avLst/>
          </a:prstGeom>
        </p:spPr>
      </p:pic>
      <p:pic>
        <p:nvPicPr>
          <p:cNvPr id="23" name="Image 21" descr="preencoded.png"/>
          <p:cNvPicPr>
            <a:picLocks noChangeAspect="1"/>
          </p:cNvPicPr>
          <p:nvPr/>
        </p:nvPicPr>
        <p:blipFill>
          <a:blip r:embed="rId19"/>
          <a:stretch>
            <a:fillRect/>
          </a:stretch>
        </p:blipFill>
        <p:spPr>
          <a:xfrm>
            <a:off x="6553200" y="4419600"/>
            <a:ext cx="2476500" cy="876300"/>
          </a:xfrm>
          <a:prstGeom prst="rect">
            <a:avLst/>
          </a:prstGeom>
        </p:spPr>
      </p:pic>
      <p:pic>
        <p:nvPicPr>
          <p:cNvPr id="24" name="Image 22" descr="preencoded.png"/>
          <p:cNvPicPr>
            <a:picLocks noChangeAspect="1"/>
          </p:cNvPicPr>
          <p:nvPr/>
        </p:nvPicPr>
        <p:blipFill>
          <a:blip r:embed="rId22"/>
          <a:stretch>
            <a:fillRect/>
          </a:stretch>
        </p:blipFill>
        <p:spPr>
          <a:xfrm>
            <a:off x="6667500" y="4572000"/>
            <a:ext cx="171450" cy="152400"/>
          </a:xfrm>
          <a:prstGeom prst="rect">
            <a:avLst/>
          </a:prstGeom>
        </p:spPr>
      </p:pic>
      <p:pic>
        <p:nvPicPr>
          <p:cNvPr id="25" name="Image 23" descr="preencoded.png"/>
          <p:cNvPicPr>
            <a:picLocks noChangeAspect="1"/>
          </p:cNvPicPr>
          <p:nvPr/>
        </p:nvPicPr>
        <p:blipFill>
          <a:blip r:embed="rId19"/>
          <a:stretch>
            <a:fillRect/>
          </a:stretch>
        </p:blipFill>
        <p:spPr>
          <a:xfrm>
            <a:off x="9182100" y="4419600"/>
            <a:ext cx="2476500" cy="876300"/>
          </a:xfrm>
          <a:prstGeom prst="rect">
            <a:avLst/>
          </a:prstGeom>
        </p:spPr>
      </p:pic>
      <p:pic>
        <p:nvPicPr>
          <p:cNvPr id="26" name="Image 24" descr="preencoded.png"/>
          <p:cNvPicPr>
            <a:picLocks noChangeAspect="1"/>
          </p:cNvPicPr>
          <p:nvPr/>
        </p:nvPicPr>
        <p:blipFill>
          <a:blip r:embed="rId23"/>
          <a:stretch>
            <a:fillRect/>
          </a:stretch>
        </p:blipFill>
        <p:spPr>
          <a:xfrm>
            <a:off x="9296400" y="4572000"/>
            <a:ext cx="152400" cy="152400"/>
          </a:xfrm>
          <a:prstGeom prst="rect">
            <a:avLst/>
          </a:prstGeom>
        </p:spPr>
      </p:pic>
      <p:pic>
        <p:nvPicPr>
          <p:cNvPr id="27" name="Image 25" descr="preencoded.png"/>
          <p:cNvPicPr>
            <a:picLocks noChangeAspect="1"/>
          </p:cNvPicPr>
          <p:nvPr/>
        </p:nvPicPr>
        <p:blipFill>
          <a:blip r:embed="rId24"/>
          <a:stretch>
            <a:fillRect/>
          </a:stretch>
        </p:blipFill>
        <p:spPr>
          <a:xfrm>
            <a:off x="0" y="7162800"/>
            <a:ext cx="12192000" cy="457200"/>
          </a:xfrm>
          <a:prstGeom prst="rect">
            <a:avLst/>
          </a:prstGeom>
        </p:spPr>
      </p:pic>
      <p:sp>
        <p:nvSpPr>
          <p:cNvPr id="28"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Post-Audit Phase: Remediation Planning</a:t>
            </a:r>
            <a:endParaRPr lang="en-US" sz="2700" dirty="0"/>
          </a:p>
        </p:txBody>
      </p:sp>
      <p:sp>
        <p:nvSpPr>
          <p:cNvPr id="29"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Corrective Action Plans (CAPs)</a:t>
            </a:r>
            <a:endParaRPr lang="en-US" sz="1800" dirty="0"/>
          </a:p>
        </p:txBody>
      </p:sp>
      <p:sp>
        <p:nvSpPr>
          <p:cNvPr id="30" name="Text 2"/>
          <p:cNvSpPr/>
          <p:nvPr/>
        </p:nvSpPr>
        <p:spPr>
          <a:xfrm>
            <a:off x="533400" y="1828800"/>
            <a:ext cx="5105400"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Management is responsible for developing detailed CAPs in response to audit findings and recommendations. These plans outline specific actions to address non-compliance issues and mitigate associated risks.</a:t>
            </a:r>
            <a:endParaRPr lang="en-US" sz="1200" dirty="0"/>
          </a:p>
        </p:txBody>
      </p:sp>
      <p:sp>
        <p:nvSpPr>
          <p:cNvPr id="31" name="Text 3"/>
          <p:cNvSpPr/>
          <p:nvPr/>
        </p:nvSpPr>
        <p:spPr>
          <a:xfrm>
            <a:off x="533400" y="2895600"/>
            <a:ext cx="5105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Key CAP Components:</a:t>
            </a:r>
            <a:endParaRPr lang="en-US" sz="1500" dirty="0"/>
          </a:p>
        </p:txBody>
      </p:sp>
      <p:sp>
        <p:nvSpPr>
          <p:cNvPr id="32" name="Text 4"/>
          <p:cNvSpPr/>
          <p:nvPr/>
        </p:nvSpPr>
        <p:spPr>
          <a:xfrm>
            <a:off x="819150" y="3276600"/>
            <a:ext cx="4819650" cy="4572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Specific Actions:</a:t>
            </a:r>
            <a:r>
              <a:rPr lang="en-US" sz="1200" dirty="0">
                <a:solidFill>
                  <a:srgbClr val="000000"/>
                </a:solidFill>
                <a:latin typeface="ui-sans-serif" pitchFamily="34" charset="0"/>
                <a:ea typeface="ui-sans-serif" pitchFamily="34" charset="-122"/>
                <a:cs typeface="ui-sans-serif" pitchFamily="34" charset="-120"/>
              </a:rPr>
              <a:t> Clear, actionable steps to address each finding</a:t>
            </a:r>
            <a:endParaRPr lang="en-US" sz="1200" dirty="0"/>
          </a:p>
        </p:txBody>
      </p:sp>
      <p:sp>
        <p:nvSpPr>
          <p:cNvPr id="33" name="Text 5"/>
          <p:cNvSpPr/>
          <p:nvPr/>
        </p:nvSpPr>
        <p:spPr>
          <a:xfrm>
            <a:off x="866775" y="3848100"/>
            <a:ext cx="4772025" cy="4572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Assigned Responsibilities:</a:t>
            </a:r>
            <a:r>
              <a:rPr lang="en-US" sz="1200" dirty="0">
                <a:solidFill>
                  <a:srgbClr val="000000"/>
                </a:solidFill>
                <a:latin typeface="ui-sans-serif" pitchFamily="34" charset="0"/>
                <a:ea typeface="ui-sans-serif" pitchFamily="34" charset="-122"/>
                <a:cs typeface="ui-sans-serif" pitchFamily="34" charset="-120"/>
              </a:rPr>
              <a:t> Clear ownership for implementation</a:t>
            </a:r>
            <a:endParaRPr lang="en-US" sz="1200" dirty="0"/>
          </a:p>
        </p:txBody>
      </p:sp>
      <p:sp>
        <p:nvSpPr>
          <p:cNvPr id="34" name="Text 6"/>
          <p:cNvSpPr/>
          <p:nvPr/>
        </p:nvSpPr>
        <p:spPr>
          <a:xfrm>
            <a:off x="800100" y="4419600"/>
            <a:ext cx="4838700" cy="4572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Target Completion Dates:</a:t>
            </a:r>
            <a:r>
              <a:rPr lang="en-US" sz="1200" dirty="0">
                <a:solidFill>
                  <a:srgbClr val="000000"/>
                </a:solidFill>
                <a:latin typeface="ui-sans-serif" pitchFamily="34" charset="0"/>
                <a:ea typeface="ui-sans-serif" pitchFamily="34" charset="-122"/>
                <a:cs typeface="ui-sans-serif" pitchFamily="34" charset="-120"/>
              </a:rPr>
              <a:t> Realistic timelines for remediation</a:t>
            </a:r>
            <a:endParaRPr lang="en-US" sz="1200" dirty="0"/>
          </a:p>
        </p:txBody>
      </p:sp>
      <p:sp>
        <p:nvSpPr>
          <p:cNvPr id="35" name="Text 7"/>
          <p:cNvSpPr/>
          <p:nvPr/>
        </p:nvSpPr>
        <p:spPr>
          <a:xfrm>
            <a:off x="819150" y="4991100"/>
            <a:ext cx="5140464" cy="228600"/>
          </a:xfrm>
          <a:prstGeom prst="rect">
            <a:avLst/>
          </a:prstGeom>
          <a:noFill/>
          <a:ln/>
        </p:spPr>
        <p:txBody>
          <a:bodyPr vert="horz" wrap="square" lIns="0" tIns="0" rIns="0" bIns="0" rtlCol="0" anchor="t"/>
          <a:lstStyle/>
          <a:p>
            <a:pPr marL="0" indent="0" algn="l">
              <a:lnSpc>
                <a:spcPts val="1800"/>
              </a:lnSpc>
              <a:buNone/>
            </a:pPr>
            <a:r>
              <a:rPr lang="en-US" sz="1200" b="1" dirty="0">
                <a:solidFill>
                  <a:srgbClr val="000000"/>
                </a:solidFill>
                <a:latin typeface="ui-sans-serif" pitchFamily="34" charset="0"/>
                <a:ea typeface="ui-sans-serif" pitchFamily="34" charset="-122"/>
                <a:cs typeface="ui-sans-serif" pitchFamily="34" charset="-120"/>
              </a:rPr>
              <a:t>Metrics:</a:t>
            </a:r>
            <a:r>
              <a:rPr lang="en-US" sz="1200" dirty="0">
                <a:solidFill>
                  <a:srgbClr val="000000"/>
                </a:solidFill>
                <a:latin typeface="ui-sans-serif" pitchFamily="34" charset="0"/>
                <a:ea typeface="ui-sans-serif" pitchFamily="34" charset="-122"/>
                <a:cs typeface="ui-sans-serif" pitchFamily="34" charset="-120"/>
              </a:rPr>
              <a:t> Quantifiable measures to assess effectiveness</a:t>
            </a:r>
            <a:endParaRPr lang="en-US" sz="1200" dirty="0"/>
          </a:p>
        </p:txBody>
      </p:sp>
      <p:sp>
        <p:nvSpPr>
          <p:cNvPr id="36" name="Text 8"/>
          <p:cNvSpPr/>
          <p:nvPr/>
        </p:nvSpPr>
        <p:spPr>
          <a:xfrm>
            <a:off x="685800" y="5676900"/>
            <a:ext cx="48006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F766E"/>
                </a:solidFill>
                <a:latin typeface="ui-sans-serif" pitchFamily="34" charset="0"/>
                <a:ea typeface="ui-sans-serif" pitchFamily="34" charset="-122"/>
                <a:cs typeface="ui-sans-serif" pitchFamily="34" charset="-120"/>
              </a:rPr>
              <a:t>Auditor's Role</a:t>
            </a:r>
            <a:endParaRPr lang="en-US" sz="1200" dirty="0"/>
          </a:p>
        </p:txBody>
      </p:sp>
      <p:sp>
        <p:nvSpPr>
          <p:cNvPr id="37" name="Text 9"/>
          <p:cNvSpPr/>
          <p:nvPr/>
        </p:nvSpPr>
        <p:spPr>
          <a:xfrm>
            <a:off x="685800" y="5905500"/>
            <a:ext cx="4800600" cy="571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Auditors play a vital role in tracking CAP implementation progress and verifying that corrective actions have been effectively implemented to resolve underlying issues.</a:t>
            </a:r>
            <a:endParaRPr lang="en-US" sz="1050" dirty="0"/>
          </a:p>
        </p:txBody>
      </p:sp>
      <p:sp>
        <p:nvSpPr>
          <p:cNvPr id="38" name="Text 10"/>
          <p:cNvSpPr/>
          <p:nvPr/>
        </p:nvSpPr>
        <p:spPr>
          <a:xfrm>
            <a:off x="65532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CAP Development Process</a:t>
            </a:r>
            <a:endParaRPr lang="en-US" sz="1800" dirty="0"/>
          </a:p>
        </p:txBody>
      </p:sp>
      <p:sp>
        <p:nvSpPr>
          <p:cNvPr id="39" name="Text 11"/>
          <p:cNvSpPr/>
          <p:nvPr/>
        </p:nvSpPr>
        <p:spPr>
          <a:xfrm>
            <a:off x="6534507" y="2514600"/>
            <a:ext cx="1313736"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Identify Findings</a:t>
            </a:r>
            <a:endParaRPr lang="en-US" sz="1050" dirty="0"/>
          </a:p>
        </p:txBody>
      </p:sp>
      <p:sp>
        <p:nvSpPr>
          <p:cNvPr id="40" name="Text 12"/>
          <p:cNvSpPr/>
          <p:nvPr/>
        </p:nvSpPr>
        <p:spPr>
          <a:xfrm>
            <a:off x="7953926" y="2514600"/>
            <a:ext cx="102745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Develop CAP</a:t>
            </a:r>
            <a:endParaRPr lang="en-US" sz="1050" dirty="0"/>
          </a:p>
        </p:txBody>
      </p:sp>
      <p:sp>
        <p:nvSpPr>
          <p:cNvPr id="41" name="Text 13"/>
          <p:cNvSpPr/>
          <p:nvPr/>
        </p:nvSpPr>
        <p:spPr>
          <a:xfrm>
            <a:off x="9310985" y="2514600"/>
            <a:ext cx="866180"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Implement</a:t>
            </a:r>
            <a:endParaRPr lang="en-US" sz="1050" dirty="0"/>
          </a:p>
        </p:txBody>
      </p:sp>
      <p:sp>
        <p:nvSpPr>
          <p:cNvPr id="42" name="Text 14"/>
          <p:cNvSpPr/>
          <p:nvPr/>
        </p:nvSpPr>
        <p:spPr>
          <a:xfrm>
            <a:off x="10793432" y="2514600"/>
            <a:ext cx="453985"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000000"/>
                </a:solidFill>
                <a:latin typeface="ui-sans-serif" pitchFamily="34" charset="0"/>
                <a:ea typeface="ui-sans-serif" pitchFamily="34" charset="-122"/>
                <a:cs typeface="ui-sans-serif" pitchFamily="34" charset="-120"/>
              </a:rPr>
              <a:t>Verify</a:t>
            </a:r>
            <a:endParaRPr lang="en-US" sz="1050" dirty="0"/>
          </a:p>
        </p:txBody>
      </p:sp>
      <p:sp>
        <p:nvSpPr>
          <p:cNvPr id="43" name="Text 15"/>
          <p:cNvSpPr/>
          <p:nvPr/>
        </p:nvSpPr>
        <p:spPr>
          <a:xfrm>
            <a:off x="6553200" y="3009900"/>
            <a:ext cx="61264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6B21A8"/>
                </a:solidFill>
                <a:latin typeface="ui-sans-serif" pitchFamily="34" charset="0"/>
                <a:ea typeface="ui-sans-serif" pitchFamily="34" charset="-122"/>
                <a:cs typeface="ui-sans-serif" pitchFamily="34" charset="-120"/>
              </a:rPr>
              <a:t>Best Practices for CAP Development</a:t>
            </a:r>
            <a:endParaRPr lang="en-US" sz="1500" dirty="0"/>
          </a:p>
        </p:txBody>
      </p:sp>
      <p:sp>
        <p:nvSpPr>
          <p:cNvPr id="44" name="Text 16"/>
          <p:cNvSpPr/>
          <p:nvPr/>
        </p:nvSpPr>
        <p:spPr>
          <a:xfrm>
            <a:off x="6896100" y="3505200"/>
            <a:ext cx="1128891"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Be Specific</a:t>
            </a:r>
            <a:endParaRPr lang="en-US" sz="1200" dirty="0"/>
          </a:p>
        </p:txBody>
      </p:sp>
      <p:sp>
        <p:nvSpPr>
          <p:cNvPr id="45" name="Text 17"/>
          <p:cNvSpPr/>
          <p:nvPr/>
        </p:nvSpPr>
        <p:spPr>
          <a:xfrm>
            <a:off x="6667500" y="3771900"/>
            <a:ext cx="22479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Clearly define actions and expected outcomes</a:t>
            </a:r>
            <a:endParaRPr lang="en-US" sz="1050" dirty="0"/>
          </a:p>
        </p:txBody>
      </p:sp>
      <p:sp>
        <p:nvSpPr>
          <p:cNvPr id="46" name="Text 18"/>
          <p:cNvSpPr/>
          <p:nvPr/>
        </p:nvSpPr>
        <p:spPr>
          <a:xfrm>
            <a:off x="9563100" y="3505200"/>
            <a:ext cx="1208187"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Be Realistic</a:t>
            </a:r>
            <a:endParaRPr lang="en-US" sz="1200" dirty="0"/>
          </a:p>
        </p:txBody>
      </p:sp>
      <p:sp>
        <p:nvSpPr>
          <p:cNvPr id="47" name="Text 19"/>
          <p:cNvSpPr/>
          <p:nvPr/>
        </p:nvSpPr>
        <p:spPr>
          <a:xfrm>
            <a:off x="9296400" y="3771900"/>
            <a:ext cx="22479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Establish achievable timelines and resources</a:t>
            </a:r>
            <a:endParaRPr lang="en-US" sz="1050" dirty="0"/>
          </a:p>
        </p:txBody>
      </p:sp>
      <p:sp>
        <p:nvSpPr>
          <p:cNvPr id="48" name="Text 20"/>
          <p:cNvSpPr/>
          <p:nvPr/>
        </p:nvSpPr>
        <p:spPr>
          <a:xfrm>
            <a:off x="6915150" y="4533900"/>
            <a:ext cx="1630382"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Be Documented</a:t>
            </a:r>
            <a:endParaRPr lang="en-US" sz="1200" dirty="0"/>
          </a:p>
        </p:txBody>
      </p:sp>
      <p:sp>
        <p:nvSpPr>
          <p:cNvPr id="49" name="Text 21"/>
          <p:cNvSpPr/>
          <p:nvPr/>
        </p:nvSpPr>
        <p:spPr>
          <a:xfrm>
            <a:off x="6667500" y="4800600"/>
            <a:ext cx="22479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Maintain records of all CAP activities</a:t>
            </a:r>
            <a:endParaRPr lang="en-US" sz="1050" dirty="0"/>
          </a:p>
        </p:txBody>
      </p:sp>
      <p:sp>
        <p:nvSpPr>
          <p:cNvPr id="50" name="Text 22"/>
          <p:cNvSpPr/>
          <p:nvPr/>
        </p:nvSpPr>
        <p:spPr>
          <a:xfrm>
            <a:off x="9525000" y="4533900"/>
            <a:ext cx="1526798" cy="228600"/>
          </a:xfrm>
          <a:prstGeom prst="rect">
            <a:avLst/>
          </a:prstGeom>
          <a:noFill/>
          <a:ln/>
        </p:spPr>
        <p:txBody>
          <a:bodyPr vert="horz" wrap="square" lIns="0" tIns="0" rIns="0" bIns="0" rtlCol="0" anchor="t"/>
          <a:lstStyle/>
          <a:p>
            <a:pPr marL="0" indent="0">
              <a:lnSpc>
                <a:spcPts val="1800"/>
              </a:lnSpc>
              <a:buNone/>
            </a:pPr>
            <a:r>
              <a:rPr lang="en-US" sz="1200" b="1" dirty="0">
                <a:solidFill>
                  <a:srgbClr val="000000"/>
                </a:solidFill>
                <a:latin typeface="ui-sans-serif" pitchFamily="34" charset="0"/>
                <a:ea typeface="ui-sans-serif" pitchFamily="34" charset="-122"/>
                <a:cs typeface="ui-sans-serif" pitchFamily="34" charset="-120"/>
              </a:rPr>
              <a:t>Be Measurable</a:t>
            </a:r>
            <a:endParaRPr lang="en-US" sz="1200" dirty="0"/>
          </a:p>
        </p:txBody>
      </p:sp>
      <p:sp>
        <p:nvSpPr>
          <p:cNvPr id="51" name="Text 23"/>
          <p:cNvSpPr/>
          <p:nvPr/>
        </p:nvSpPr>
        <p:spPr>
          <a:xfrm>
            <a:off x="9296400" y="4800600"/>
            <a:ext cx="2247900" cy="381000"/>
          </a:xfrm>
          <a:prstGeom prst="rect">
            <a:avLst/>
          </a:prstGeom>
          <a:noFill/>
          <a:ln/>
        </p:spPr>
        <p:txBody>
          <a:bodyPr vert="horz" wrap="square" lIns="0" tIns="0" rIns="0" bIns="0" rtlCol="0" anchor="t"/>
          <a:lstStyle/>
          <a:p>
            <a:pPr marL="0" indent="0">
              <a:lnSpc>
                <a:spcPts val="1500"/>
              </a:lnSpc>
              <a:buNone/>
            </a:pPr>
            <a:r>
              <a:rPr lang="en-US" sz="1050" dirty="0">
                <a:solidFill>
                  <a:srgbClr val="4B5563"/>
                </a:solidFill>
                <a:latin typeface="ui-sans-serif" pitchFamily="34" charset="0"/>
                <a:ea typeface="ui-sans-serif" pitchFamily="34" charset="-122"/>
                <a:cs typeface="ui-sans-serif" pitchFamily="34" charset="-120"/>
              </a:rPr>
              <a:t>Include metrics to assess progress and completion</a:t>
            </a:r>
            <a:endParaRPr lang="en-US" sz="1050" dirty="0"/>
          </a:p>
        </p:txBody>
      </p:sp>
      <p:sp>
        <p:nvSpPr>
          <p:cNvPr id="52" name="Text 24"/>
          <p:cNvSpPr/>
          <p:nvPr/>
        </p:nvSpPr>
        <p:spPr>
          <a:xfrm>
            <a:off x="381000" y="7277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53" name="Text 25"/>
          <p:cNvSpPr/>
          <p:nvPr/>
        </p:nvSpPr>
        <p:spPr>
          <a:xfrm>
            <a:off x="11371808" y="7277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18/26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562600" cy="4953000"/>
          </a:xfrm>
          <a:prstGeom prst="rect">
            <a:avLst/>
          </a:prstGeom>
        </p:spPr>
      </p:pic>
      <p:pic>
        <p:nvPicPr>
          <p:cNvPr id="5" name="Image 3" descr="preencoded.png"/>
          <p:cNvPicPr>
            <a:picLocks noChangeAspect="1"/>
          </p:cNvPicPr>
          <p:nvPr/>
        </p:nvPicPr>
        <p:blipFill>
          <a:blip r:embed="rId6"/>
          <a:stretch>
            <a:fillRect/>
          </a:stretch>
        </p:blipFill>
        <p:spPr>
          <a:xfrm>
            <a:off x="533400" y="1828800"/>
            <a:ext cx="342900" cy="419100"/>
          </a:xfrm>
          <a:prstGeom prst="rect">
            <a:avLst/>
          </a:prstGeom>
        </p:spPr>
      </p:pic>
      <p:pic>
        <p:nvPicPr>
          <p:cNvPr id="6" name="Image 4" descr="preencoded.png"/>
          <p:cNvPicPr>
            <a:picLocks noChangeAspect="1"/>
          </p:cNvPicPr>
          <p:nvPr/>
        </p:nvPicPr>
        <p:blipFill>
          <a:blip r:embed="rId7"/>
          <a:stretch>
            <a:fillRect/>
          </a:stretch>
        </p:blipFill>
        <p:spPr>
          <a:xfrm>
            <a:off x="609600" y="1905000"/>
            <a:ext cx="190500" cy="266700"/>
          </a:xfrm>
          <a:prstGeom prst="rect">
            <a:avLst/>
          </a:prstGeom>
        </p:spPr>
      </p:pic>
      <p:pic>
        <p:nvPicPr>
          <p:cNvPr id="7" name="Image 5" descr="preencoded.png"/>
          <p:cNvPicPr>
            <a:picLocks noChangeAspect="1"/>
          </p:cNvPicPr>
          <p:nvPr/>
        </p:nvPicPr>
        <p:blipFill>
          <a:blip r:embed="rId8"/>
          <a:stretch>
            <a:fillRect/>
          </a:stretch>
        </p:blipFill>
        <p:spPr>
          <a:xfrm>
            <a:off x="533400" y="2705100"/>
            <a:ext cx="295275" cy="419100"/>
          </a:xfrm>
          <a:prstGeom prst="rect">
            <a:avLst/>
          </a:prstGeom>
        </p:spPr>
      </p:pic>
      <p:pic>
        <p:nvPicPr>
          <p:cNvPr id="8" name="Image 6" descr="preencoded.png"/>
          <p:cNvPicPr>
            <a:picLocks noChangeAspect="1"/>
          </p:cNvPicPr>
          <p:nvPr/>
        </p:nvPicPr>
        <p:blipFill>
          <a:blip r:embed="rId9"/>
          <a:stretch>
            <a:fillRect/>
          </a:stretch>
        </p:blipFill>
        <p:spPr>
          <a:xfrm>
            <a:off x="609600" y="2781300"/>
            <a:ext cx="142875" cy="266700"/>
          </a:xfrm>
          <a:prstGeom prst="rect">
            <a:avLst/>
          </a:prstGeom>
        </p:spPr>
      </p:pic>
      <p:pic>
        <p:nvPicPr>
          <p:cNvPr id="9" name="Image 7" descr="preencoded.png"/>
          <p:cNvPicPr>
            <a:picLocks noChangeAspect="1"/>
          </p:cNvPicPr>
          <p:nvPr/>
        </p:nvPicPr>
        <p:blipFill>
          <a:blip r:embed="rId10"/>
          <a:stretch>
            <a:fillRect/>
          </a:stretch>
        </p:blipFill>
        <p:spPr>
          <a:xfrm>
            <a:off x="533400" y="3352800"/>
            <a:ext cx="342900" cy="419100"/>
          </a:xfrm>
          <a:prstGeom prst="rect">
            <a:avLst/>
          </a:prstGeom>
        </p:spPr>
      </p:pic>
      <p:pic>
        <p:nvPicPr>
          <p:cNvPr id="10" name="Image 8" descr="preencoded.png"/>
          <p:cNvPicPr>
            <a:picLocks noChangeAspect="1"/>
          </p:cNvPicPr>
          <p:nvPr/>
        </p:nvPicPr>
        <p:blipFill>
          <a:blip r:embed="rId11"/>
          <a:stretch>
            <a:fillRect/>
          </a:stretch>
        </p:blipFill>
        <p:spPr>
          <a:xfrm>
            <a:off x="609600" y="3429000"/>
            <a:ext cx="190500" cy="266700"/>
          </a:xfrm>
          <a:prstGeom prst="rect">
            <a:avLst/>
          </a:prstGeom>
        </p:spPr>
      </p:pic>
      <p:pic>
        <p:nvPicPr>
          <p:cNvPr id="11" name="Image 9" descr="preencoded.png"/>
          <p:cNvPicPr>
            <a:picLocks noChangeAspect="1"/>
          </p:cNvPicPr>
          <p:nvPr/>
        </p:nvPicPr>
        <p:blipFill>
          <a:blip r:embed="rId12"/>
          <a:stretch>
            <a:fillRect/>
          </a:stretch>
        </p:blipFill>
        <p:spPr>
          <a:xfrm>
            <a:off x="533400" y="4076700"/>
            <a:ext cx="5105400" cy="1104900"/>
          </a:xfrm>
          <a:prstGeom prst="rect">
            <a:avLst/>
          </a:prstGeom>
        </p:spPr>
      </p:pic>
      <p:pic>
        <p:nvPicPr>
          <p:cNvPr id="12" name="Image 10" descr="preencoded.png"/>
          <p:cNvPicPr>
            <a:picLocks noChangeAspect="1"/>
          </p:cNvPicPr>
          <p:nvPr/>
        </p:nvPicPr>
        <p:blipFill>
          <a:blip r:embed="rId5"/>
          <a:stretch>
            <a:fillRect/>
          </a:stretch>
        </p:blipFill>
        <p:spPr>
          <a:xfrm>
            <a:off x="6324600" y="1143000"/>
            <a:ext cx="5562600" cy="4953000"/>
          </a:xfrm>
          <a:prstGeom prst="rect">
            <a:avLst/>
          </a:prstGeom>
        </p:spPr>
      </p:pic>
      <p:pic>
        <p:nvPicPr>
          <p:cNvPr id="13" name="Image 11" descr="preencoded.png"/>
          <p:cNvPicPr>
            <a:picLocks noChangeAspect="1"/>
          </p:cNvPicPr>
          <p:nvPr/>
        </p:nvPicPr>
        <p:blipFill>
          <a:blip r:embed="rId13"/>
          <a:stretch>
            <a:fillRect/>
          </a:stretch>
        </p:blipFill>
        <p:spPr>
          <a:xfrm>
            <a:off x="6553200" y="1828800"/>
            <a:ext cx="1701701" cy="1371600"/>
          </a:xfrm>
          <a:prstGeom prst="rect">
            <a:avLst/>
          </a:prstGeom>
        </p:spPr>
      </p:pic>
      <p:pic>
        <p:nvPicPr>
          <p:cNvPr id="14" name="Image 12" descr="preencoded.png"/>
          <p:cNvPicPr>
            <a:picLocks noChangeAspect="1"/>
          </p:cNvPicPr>
          <p:nvPr/>
        </p:nvPicPr>
        <p:blipFill>
          <a:blip r:embed="rId14"/>
          <a:stretch>
            <a:fillRect/>
          </a:stretch>
        </p:blipFill>
        <p:spPr>
          <a:xfrm>
            <a:off x="8340626" y="2400300"/>
            <a:ext cx="200025" cy="228600"/>
          </a:xfrm>
          <a:prstGeom prst="rect">
            <a:avLst/>
          </a:prstGeom>
        </p:spPr>
      </p:pic>
      <p:pic>
        <p:nvPicPr>
          <p:cNvPr id="15" name="Image 13" descr="preencoded.png"/>
          <p:cNvPicPr>
            <a:picLocks noChangeAspect="1"/>
          </p:cNvPicPr>
          <p:nvPr/>
        </p:nvPicPr>
        <p:blipFill>
          <a:blip r:embed="rId15"/>
          <a:stretch>
            <a:fillRect/>
          </a:stretch>
        </p:blipFill>
        <p:spPr>
          <a:xfrm>
            <a:off x="8255050" y="1828800"/>
            <a:ext cx="1701701" cy="1371600"/>
          </a:xfrm>
          <a:prstGeom prst="rect">
            <a:avLst/>
          </a:prstGeom>
        </p:spPr>
      </p:pic>
      <p:pic>
        <p:nvPicPr>
          <p:cNvPr id="16" name="Image 14" descr="preencoded.png"/>
          <p:cNvPicPr>
            <a:picLocks noChangeAspect="1"/>
          </p:cNvPicPr>
          <p:nvPr/>
        </p:nvPicPr>
        <p:blipFill>
          <a:blip r:embed="rId14"/>
          <a:stretch>
            <a:fillRect/>
          </a:stretch>
        </p:blipFill>
        <p:spPr>
          <a:xfrm>
            <a:off x="10042475" y="2400300"/>
            <a:ext cx="200025" cy="228600"/>
          </a:xfrm>
          <a:prstGeom prst="rect">
            <a:avLst/>
          </a:prstGeom>
        </p:spPr>
      </p:pic>
      <p:pic>
        <p:nvPicPr>
          <p:cNvPr id="17" name="Image 15" descr="preencoded.png"/>
          <p:cNvPicPr>
            <a:picLocks noChangeAspect="1"/>
          </p:cNvPicPr>
          <p:nvPr/>
        </p:nvPicPr>
        <p:blipFill>
          <a:blip r:embed="rId16"/>
          <a:stretch>
            <a:fillRect/>
          </a:stretch>
        </p:blipFill>
        <p:spPr>
          <a:xfrm>
            <a:off x="9956899" y="1828800"/>
            <a:ext cx="1701701" cy="1371600"/>
          </a:xfrm>
          <a:prstGeom prst="rect">
            <a:avLst/>
          </a:prstGeom>
        </p:spPr>
      </p:pic>
      <p:pic>
        <p:nvPicPr>
          <p:cNvPr id="18" name="Image 16" descr="preencoded.png"/>
          <p:cNvPicPr>
            <a:picLocks noChangeAspect="1"/>
          </p:cNvPicPr>
          <p:nvPr/>
        </p:nvPicPr>
        <p:blipFill>
          <a:blip r:embed="rId17"/>
          <a:stretch>
            <a:fillRect/>
          </a:stretch>
        </p:blipFill>
        <p:spPr>
          <a:xfrm>
            <a:off x="6553200" y="3581400"/>
            <a:ext cx="5105400" cy="1219200"/>
          </a:xfrm>
          <a:prstGeom prst="rect">
            <a:avLst/>
          </a:prstGeom>
        </p:spPr>
      </p:pic>
      <p:pic>
        <p:nvPicPr>
          <p:cNvPr id="19" name="Image 17" descr="preencoded.png"/>
          <p:cNvPicPr>
            <a:picLocks noChangeAspect="1"/>
          </p:cNvPicPr>
          <p:nvPr/>
        </p:nvPicPr>
        <p:blipFill>
          <a:blip r:embed="rId18"/>
          <a:stretch>
            <a:fillRect/>
          </a:stretch>
        </p:blipFill>
        <p:spPr>
          <a:xfrm>
            <a:off x="6705600" y="4114800"/>
            <a:ext cx="114300" cy="152400"/>
          </a:xfrm>
          <a:prstGeom prst="rect">
            <a:avLst/>
          </a:prstGeom>
        </p:spPr>
      </p:pic>
      <p:pic>
        <p:nvPicPr>
          <p:cNvPr id="20" name="Image 18" descr="preencoded.png"/>
          <p:cNvPicPr>
            <a:picLocks noChangeAspect="1"/>
          </p:cNvPicPr>
          <p:nvPr/>
        </p:nvPicPr>
        <p:blipFill>
          <a:blip r:embed="rId19"/>
          <a:stretch>
            <a:fillRect/>
          </a:stretch>
        </p:blipFill>
        <p:spPr>
          <a:xfrm>
            <a:off x="9163050" y="4114800"/>
            <a:ext cx="190500" cy="152400"/>
          </a:xfrm>
          <a:prstGeom prst="rect">
            <a:avLst/>
          </a:prstGeom>
        </p:spPr>
      </p:pic>
      <p:pic>
        <p:nvPicPr>
          <p:cNvPr id="21" name="Image 19" descr="preencoded.png"/>
          <p:cNvPicPr>
            <a:picLocks noChangeAspect="1"/>
          </p:cNvPicPr>
          <p:nvPr/>
        </p:nvPicPr>
        <p:blipFill>
          <a:blip r:embed="rId20"/>
          <a:stretch>
            <a:fillRect/>
          </a:stretch>
        </p:blipFill>
        <p:spPr>
          <a:xfrm>
            <a:off x="6705600" y="4457700"/>
            <a:ext cx="171450" cy="152400"/>
          </a:xfrm>
          <a:prstGeom prst="rect">
            <a:avLst/>
          </a:prstGeom>
        </p:spPr>
      </p:pic>
      <p:pic>
        <p:nvPicPr>
          <p:cNvPr id="22" name="Image 20" descr="preencoded.png"/>
          <p:cNvPicPr>
            <a:picLocks noChangeAspect="1"/>
          </p:cNvPicPr>
          <p:nvPr/>
        </p:nvPicPr>
        <p:blipFill>
          <a:blip r:embed="rId21"/>
          <a:stretch>
            <a:fillRect/>
          </a:stretch>
        </p:blipFill>
        <p:spPr>
          <a:xfrm>
            <a:off x="9163050" y="4457700"/>
            <a:ext cx="133350" cy="152400"/>
          </a:xfrm>
          <a:prstGeom prst="rect">
            <a:avLst/>
          </a:prstGeom>
        </p:spPr>
      </p:pic>
      <p:pic>
        <p:nvPicPr>
          <p:cNvPr id="23" name="Image 21" descr="preencoded.png"/>
          <p:cNvPicPr>
            <a:picLocks noChangeAspect="1"/>
          </p:cNvPicPr>
          <p:nvPr/>
        </p:nvPicPr>
        <p:blipFill>
          <a:blip r:embed="rId22"/>
          <a:stretch>
            <a:fillRect/>
          </a:stretch>
        </p:blipFill>
        <p:spPr>
          <a:xfrm>
            <a:off x="0" y="6400800"/>
            <a:ext cx="12192000" cy="457200"/>
          </a:xfrm>
          <a:prstGeom prst="rect">
            <a:avLst/>
          </a:prstGeom>
        </p:spPr>
      </p:pic>
      <p:sp>
        <p:nvSpPr>
          <p:cNvPr id="24"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Post-Audit Phase: Follow-up and Verification</a:t>
            </a:r>
            <a:endParaRPr lang="en-US" sz="2700" dirty="0"/>
          </a:p>
        </p:txBody>
      </p:sp>
      <p:sp>
        <p:nvSpPr>
          <p:cNvPr id="25" name="Text 1"/>
          <p:cNvSpPr/>
          <p:nvPr/>
        </p:nvSpPr>
        <p:spPr>
          <a:xfrm>
            <a:off x="5334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Auditor's Role in Follow-up</a:t>
            </a:r>
            <a:endParaRPr lang="en-US" sz="1800" dirty="0"/>
          </a:p>
        </p:txBody>
      </p:sp>
      <p:sp>
        <p:nvSpPr>
          <p:cNvPr id="26" name="Text 2"/>
          <p:cNvSpPr/>
          <p:nvPr/>
        </p:nvSpPr>
        <p:spPr>
          <a:xfrm>
            <a:off x="1028700" y="1828800"/>
            <a:ext cx="461010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Tracking Progress</a:t>
            </a:r>
            <a:endParaRPr lang="en-US" sz="1350" dirty="0"/>
          </a:p>
        </p:txBody>
      </p:sp>
      <p:sp>
        <p:nvSpPr>
          <p:cNvPr id="27" name="Text 3"/>
          <p:cNvSpPr/>
          <p:nvPr/>
        </p:nvSpPr>
        <p:spPr>
          <a:xfrm>
            <a:off x="1028700" y="2095500"/>
            <a:ext cx="46101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Regular check-ins and status updates to monitor CAP implementation</a:t>
            </a:r>
            <a:endParaRPr lang="en-US" sz="1200" dirty="0"/>
          </a:p>
        </p:txBody>
      </p:sp>
      <p:sp>
        <p:nvSpPr>
          <p:cNvPr id="28" name="Text 4"/>
          <p:cNvSpPr/>
          <p:nvPr/>
        </p:nvSpPr>
        <p:spPr>
          <a:xfrm>
            <a:off x="981075" y="2705100"/>
            <a:ext cx="4652367"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Verification</a:t>
            </a:r>
            <a:endParaRPr lang="en-US" sz="1350" dirty="0"/>
          </a:p>
        </p:txBody>
      </p:sp>
      <p:sp>
        <p:nvSpPr>
          <p:cNvPr id="29" name="Text 5"/>
          <p:cNvSpPr/>
          <p:nvPr/>
        </p:nvSpPr>
        <p:spPr>
          <a:xfrm>
            <a:off x="981075" y="2971800"/>
            <a:ext cx="5582841"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Reviewing evidence to confirm actions have been completed</a:t>
            </a:r>
            <a:endParaRPr lang="en-US" sz="1200" dirty="0"/>
          </a:p>
        </p:txBody>
      </p:sp>
      <p:sp>
        <p:nvSpPr>
          <p:cNvPr id="30" name="Text 6"/>
          <p:cNvSpPr/>
          <p:nvPr/>
        </p:nvSpPr>
        <p:spPr>
          <a:xfrm>
            <a:off x="1028700" y="3352800"/>
            <a:ext cx="4396383" cy="266700"/>
          </a:xfrm>
          <a:prstGeom prst="rect">
            <a:avLst/>
          </a:prstGeom>
          <a:noFill/>
          <a:ln/>
        </p:spPr>
        <p:txBody>
          <a:bodyPr vert="horz" wrap="square" lIns="0" tIns="0" rIns="0" bIns="0" rtlCol="0" anchor="t"/>
          <a:lstStyle/>
          <a:p>
            <a:pPr marL="0" indent="0">
              <a:lnSpc>
                <a:spcPts val="2100"/>
              </a:lnSpc>
              <a:buNone/>
            </a:pPr>
            <a:r>
              <a:rPr lang="en-US" sz="1350" b="1" dirty="0">
                <a:solidFill>
                  <a:srgbClr val="1F2937"/>
                </a:solidFill>
                <a:latin typeface="ui-sans-serif" pitchFamily="34" charset="0"/>
                <a:ea typeface="ui-sans-serif" pitchFamily="34" charset="-122"/>
                <a:cs typeface="ui-sans-serif" pitchFamily="34" charset="-120"/>
              </a:rPr>
              <a:t>Sustained Monitoring</a:t>
            </a:r>
            <a:endParaRPr lang="en-US" sz="1350" dirty="0"/>
          </a:p>
        </p:txBody>
      </p:sp>
      <p:sp>
        <p:nvSpPr>
          <p:cNvPr id="31" name="Text 7"/>
          <p:cNvSpPr/>
          <p:nvPr/>
        </p:nvSpPr>
        <p:spPr>
          <a:xfrm>
            <a:off x="1028700" y="3619500"/>
            <a:ext cx="5275659"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Confirming long-term effectiveness of remediation efforts</a:t>
            </a:r>
            <a:endParaRPr lang="en-US" sz="1200" dirty="0"/>
          </a:p>
        </p:txBody>
      </p:sp>
      <p:sp>
        <p:nvSpPr>
          <p:cNvPr id="32" name="Text 8"/>
          <p:cNvSpPr/>
          <p:nvPr/>
        </p:nvSpPr>
        <p:spPr>
          <a:xfrm>
            <a:off x="685800" y="42291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Key Objective</a:t>
            </a:r>
            <a:endParaRPr lang="en-US" sz="1500" dirty="0"/>
          </a:p>
        </p:txBody>
      </p:sp>
      <p:sp>
        <p:nvSpPr>
          <p:cNvPr id="33" name="Text 9"/>
          <p:cNvSpPr/>
          <p:nvPr/>
        </p:nvSpPr>
        <p:spPr>
          <a:xfrm>
            <a:off x="685800" y="4572000"/>
            <a:ext cx="4800600"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Ensure organization returns to or maintains compliance through systematic follow-up</a:t>
            </a:r>
            <a:endParaRPr lang="en-US" sz="1200" dirty="0"/>
          </a:p>
        </p:txBody>
      </p:sp>
      <p:sp>
        <p:nvSpPr>
          <p:cNvPr id="34" name="Text 10"/>
          <p:cNvSpPr/>
          <p:nvPr/>
        </p:nvSpPr>
        <p:spPr>
          <a:xfrm>
            <a:off x="6553200" y="1371600"/>
            <a:ext cx="6126480"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Verification Process</a:t>
            </a:r>
            <a:endParaRPr lang="en-US" sz="1800" dirty="0"/>
          </a:p>
        </p:txBody>
      </p:sp>
      <p:sp>
        <p:nvSpPr>
          <p:cNvPr id="35" name="Text 11"/>
          <p:cNvSpPr/>
          <p:nvPr/>
        </p:nvSpPr>
        <p:spPr>
          <a:xfrm>
            <a:off x="6565910" y="1981200"/>
            <a:ext cx="1676281"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0F766E"/>
                </a:solidFill>
                <a:latin typeface="ui-sans-serif" pitchFamily="34" charset="0"/>
                <a:ea typeface="ui-sans-serif" pitchFamily="34" charset="-122"/>
                <a:cs typeface="ui-sans-serif" pitchFamily="34" charset="-120"/>
              </a:rPr>
              <a:t>Track CAPs</a:t>
            </a:r>
            <a:endParaRPr lang="en-US" sz="1350" dirty="0"/>
          </a:p>
        </p:txBody>
      </p:sp>
      <p:sp>
        <p:nvSpPr>
          <p:cNvPr id="36" name="Text 12"/>
          <p:cNvSpPr/>
          <p:nvPr/>
        </p:nvSpPr>
        <p:spPr>
          <a:xfrm>
            <a:off x="6705600" y="2324100"/>
            <a:ext cx="1396901"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Monitor progress and document status</a:t>
            </a:r>
            <a:endParaRPr lang="en-US" sz="1200" dirty="0"/>
          </a:p>
        </p:txBody>
      </p:sp>
      <p:sp>
        <p:nvSpPr>
          <p:cNvPr id="37" name="Text 13"/>
          <p:cNvSpPr/>
          <p:nvPr/>
        </p:nvSpPr>
        <p:spPr>
          <a:xfrm>
            <a:off x="8267760" y="1981200"/>
            <a:ext cx="1676281" cy="266700"/>
          </a:xfrm>
          <a:prstGeom prst="rect">
            <a:avLst/>
          </a:prstGeom>
          <a:noFill/>
          <a:ln/>
        </p:spPr>
        <p:txBody>
          <a:bodyPr vert="horz" wrap="square" lIns="0" tIns="0" rIns="0" bIns="0" rtlCol="0" anchor="t"/>
          <a:lstStyle/>
          <a:p>
            <a:pPr marL="0" indent="0" algn="ctr">
              <a:lnSpc>
                <a:spcPts val="2100"/>
              </a:lnSpc>
              <a:buNone/>
            </a:pPr>
            <a:r>
              <a:rPr lang="en-US" sz="1350" b="1" dirty="0">
                <a:solidFill>
                  <a:srgbClr val="7E22CE"/>
                </a:solidFill>
                <a:latin typeface="ui-sans-serif" pitchFamily="34" charset="0"/>
                <a:ea typeface="ui-sans-serif" pitchFamily="34" charset="-122"/>
                <a:cs typeface="ui-sans-serif" pitchFamily="34" charset="-120"/>
              </a:rPr>
              <a:t>Verify Actions</a:t>
            </a:r>
            <a:endParaRPr lang="en-US" sz="1350" dirty="0"/>
          </a:p>
        </p:txBody>
      </p:sp>
      <p:sp>
        <p:nvSpPr>
          <p:cNvPr id="38" name="Text 14"/>
          <p:cNvSpPr/>
          <p:nvPr/>
        </p:nvSpPr>
        <p:spPr>
          <a:xfrm>
            <a:off x="8407450" y="2324100"/>
            <a:ext cx="1396901"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Review evidence of completed actions</a:t>
            </a:r>
            <a:endParaRPr lang="en-US" sz="1200" dirty="0"/>
          </a:p>
        </p:txBody>
      </p:sp>
      <p:sp>
        <p:nvSpPr>
          <p:cNvPr id="39" name="Text 15"/>
          <p:cNvSpPr/>
          <p:nvPr/>
        </p:nvSpPr>
        <p:spPr>
          <a:xfrm>
            <a:off x="10109299" y="1981200"/>
            <a:ext cx="1396901" cy="533400"/>
          </a:xfrm>
          <a:prstGeom prst="rect">
            <a:avLst/>
          </a:prstGeom>
          <a:noFill/>
          <a:ln/>
        </p:spPr>
        <p:txBody>
          <a:bodyPr vert="horz" wrap="square" lIns="0" tIns="0" rIns="0" bIns="0" rtlCol="0" anchor="t"/>
          <a:lstStyle/>
          <a:p>
            <a:pPr marL="0" indent="0" algn="ctr">
              <a:lnSpc>
                <a:spcPts val="2100"/>
              </a:lnSpc>
              <a:buNone/>
            </a:pPr>
            <a:r>
              <a:rPr lang="en-US" sz="1350" b="1" dirty="0">
                <a:solidFill>
                  <a:srgbClr val="15803D"/>
                </a:solidFill>
                <a:latin typeface="ui-sans-serif" pitchFamily="34" charset="0"/>
                <a:ea typeface="ui-sans-serif" pitchFamily="34" charset="-122"/>
                <a:cs typeface="ui-sans-serif" pitchFamily="34" charset="-120"/>
              </a:rPr>
              <a:t>Confirm Compliance</a:t>
            </a:r>
            <a:endParaRPr lang="en-US" sz="1350" dirty="0"/>
          </a:p>
        </p:txBody>
      </p:sp>
      <p:sp>
        <p:nvSpPr>
          <p:cNvPr id="40" name="Text 16"/>
          <p:cNvSpPr/>
          <p:nvPr/>
        </p:nvSpPr>
        <p:spPr>
          <a:xfrm>
            <a:off x="10109299" y="2590800"/>
            <a:ext cx="1396901"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Ensure issues are resolved</a:t>
            </a:r>
            <a:endParaRPr lang="en-US" sz="1200" dirty="0"/>
          </a:p>
        </p:txBody>
      </p:sp>
      <p:sp>
        <p:nvSpPr>
          <p:cNvPr id="41" name="Text 17"/>
          <p:cNvSpPr/>
          <p:nvPr/>
        </p:nvSpPr>
        <p:spPr>
          <a:xfrm>
            <a:off x="6705600" y="37338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Follow-up Methods</a:t>
            </a:r>
            <a:endParaRPr lang="en-US" sz="1500" dirty="0"/>
          </a:p>
        </p:txBody>
      </p:sp>
      <p:sp>
        <p:nvSpPr>
          <p:cNvPr id="42" name="Text 18"/>
          <p:cNvSpPr/>
          <p:nvPr/>
        </p:nvSpPr>
        <p:spPr>
          <a:xfrm>
            <a:off x="6896100" y="4076700"/>
            <a:ext cx="1705749"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Document reviews</a:t>
            </a:r>
            <a:endParaRPr lang="en-US" sz="1200" dirty="0"/>
          </a:p>
        </p:txBody>
      </p:sp>
      <p:sp>
        <p:nvSpPr>
          <p:cNvPr id="43" name="Text 19"/>
          <p:cNvSpPr/>
          <p:nvPr/>
        </p:nvSpPr>
        <p:spPr>
          <a:xfrm>
            <a:off x="9429750" y="4076700"/>
            <a:ext cx="2205454"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Management interviews</a:t>
            </a:r>
            <a:endParaRPr lang="en-US" sz="1200" dirty="0"/>
          </a:p>
        </p:txBody>
      </p:sp>
      <p:sp>
        <p:nvSpPr>
          <p:cNvPr id="44" name="Text 20"/>
          <p:cNvSpPr/>
          <p:nvPr/>
        </p:nvSpPr>
        <p:spPr>
          <a:xfrm>
            <a:off x="6953250" y="4419600"/>
            <a:ext cx="1374100"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System testing</a:t>
            </a:r>
            <a:endParaRPr lang="en-US" sz="1200" dirty="0"/>
          </a:p>
        </p:txBody>
      </p:sp>
      <p:sp>
        <p:nvSpPr>
          <p:cNvPr id="45" name="Text 21"/>
          <p:cNvSpPr/>
          <p:nvPr/>
        </p:nvSpPr>
        <p:spPr>
          <a:xfrm>
            <a:off x="9372600" y="4419600"/>
            <a:ext cx="1714679"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Scheduled reviews</a:t>
            </a:r>
            <a:endParaRPr lang="en-US" sz="1200" dirty="0"/>
          </a:p>
        </p:txBody>
      </p:sp>
      <p:sp>
        <p:nvSpPr>
          <p:cNvPr id="46" name="Text 22"/>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7" name="Text 23"/>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19/26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676900" cy="1714500"/>
          </a:xfrm>
          <a:prstGeom prst="rect">
            <a:avLst/>
          </a:prstGeom>
        </p:spPr>
      </p:pic>
      <p:pic>
        <p:nvPicPr>
          <p:cNvPr id="5" name="Image 3" descr="preencoded.png"/>
          <p:cNvPicPr>
            <a:picLocks noChangeAspect="1"/>
          </p:cNvPicPr>
          <p:nvPr/>
        </p:nvPicPr>
        <p:blipFill>
          <a:blip r:embed="rId6"/>
          <a:stretch>
            <a:fillRect/>
          </a:stretch>
        </p:blipFill>
        <p:spPr>
          <a:xfrm>
            <a:off x="533400" y="1371600"/>
            <a:ext cx="609600" cy="609600"/>
          </a:xfrm>
          <a:prstGeom prst="rect">
            <a:avLst/>
          </a:prstGeom>
        </p:spPr>
      </p:pic>
      <p:pic>
        <p:nvPicPr>
          <p:cNvPr id="6" name="Image 4" descr="preencoded.png"/>
          <p:cNvPicPr>
            <a:picLocks noChangeAspect="1"/>
          </p:cNvPicPr>
          <p:nvPr/>
        </p:nvPicPr>
        <p:blipFill>
          <a:blip r:embed="rId7"/>
          <a:stretch>
            <a:fillRect/>
          </a:stretch>
        </p:blipFill>
        <p:spPr>
          <a:xfrm>
            <a:off x="647700" y="1409700"/>
            <a:ext cx="381000" cy="381000"/>
          </a:xfrm>
          <a:prstGeom prst="rect">
            <a:avLst/>
          </a:prstGeom>
        </p:spPr>
      </p:pic>
      <p:pic>
        <p:nvPicPr>
          <p:cNvPr id="7" name="Image 5" descr="preencoded.png"/>
          <p:cNvPicPr>
            <a:picLocks noChangeAspect="1"/>
          </p:cNvPicPr>
          <p:nvPr/>
        </p:nvPicPr>
        <p:blipFill>
          <a:blip r:embed="rId8"/>
          <a:stretch>
            <a:fillRect/>
          </a:stretch>
        </p:blipFill>
        <p:spPr>
          <a:xfrm>
            <a:off x="1333500" y="1828800"/>
            <a:ext cx="76200" cy="152400"/>
          </a:xfrm>
          <a:prstGeom prst="rect">
            <a:avLst/>
          </a:prstGeom>
        </p:spPr>
      </p:pic>
      <p:pic>
        <p:nvPicPr>
          <p:cNvPr id="8" name="Image 6" descr="preencoded.png"/>
          <p:cNvPicPr>
            <a:picLocks noChangeAspect="1"/>
          </p:cNvPicPr>
          <p:nvPr/>
        </p:nvPicPr>
        <p:blipFill>
          <a:blip r:embed="rId8"/>
          <a:stretch>
            <a:fillRect/>
          </a:stretch>
        </p:blipFill>
        <p:spPr>
          <a:xfrm>
            <a:off x="1333500" y="2133600"/>
            <a:ext cx="76200" cy="152400"/>
          </a:xfrm>
          <a:prstGeom prst="rect">
            <a:avLst/>
          </a:prstGeom>
        </p:spPr>
      </p:pic>
      <p:pic>
        <p:nvPicPr>
          <p:cNvPr id="9" name="Image 7" descr="preencoded.png"/>
          <p:cNvPicPr>
            <a:picLocks noChangeAspect="1"/>
          </p:cNvPicPr>
          <p:nvPr/>
        </p:nvPicPr>
        <p:blipFill>
          <a:blip r:embed="rId8"/>
          <a:stretch>
            <a:fillRect/>
          </a:stretch>
        </p:blipFill>
        <p:spPr>
          <a:xfrm>
            <a:off x="1333500" y="2438400"/>
            <a:ext cx="76200" cy="152400"/>
          </a:xfrm>
          <a:prstGeom prst="rect">
            <a:avLst/>
          </a:prstGeom>
        </p:spPr>
      </p:pic>
      <p:pic>
        <p:nvPicPr>
          <p:cNvPr id="10" name="Image 8" descr="preencoded.png"/>
          <p:cNvPicPr>
            <a:picLocks noChangeAspect="1"/>
          </p:cNvPicPr>
          <p:nvPr/>
        </p:nvPicPr>
        <p:blipFill>
          <a:blip r:embed="rId5"/>
          <a:stretch>
            <a:fillRect/>
          </a:stretch>
        </p:blipFill>
        <p:spPr>
          <a:xfrm>
            <a:off x="6210300" y="1143000"/>
            <a:ext cx="5676900" cy="1714500"/>
          </a:xfrm>
          <a:prstGeom prst="rect">
            <a:avLst/>
          </a:prstGeom>
        </p:spPr>
      </p:pic>
      <p:pic>
        <p:nvPicPr>
          <p:cNvPr id="11" name="Image 9" descr="preencoded.png"/>
          <p:cNvPicPr>
            <a:picLocks noChangeAspect="1"/>
          </p:cNvPicPr>
          <p:nvPr/>
        </p:nvPicPr>
        <p:blipFill>
          <a:blip r:embed="rId9"/>
          <a:stretch>
            <a:fillRect/>
          </a:stretch>
        </p:blipFill>
        <p:spPr>
          <a:xfrm>
            <a:off x="6438900" y="1371600"/>
            <a:ext cx="609600" cy="609600"/>
          </a:xfrm>
          <a:prstGeom prst="rect">
            <a:avLst/>
          </a:prstGeom>
        </p:spPr>
      </p:pic>
      <p:pic>
        <p:nvPicPr>
          <p:cNvPr id="12" name="Image 10" descr="preencoded.png"/>
          <p:cNvPicPr>
            <a:picLocks noChangeAspect="1"/>
          </p:cNvPicPr>
          <p:nvPr/>
        </p:nvPicPr>
        <p:blipFill>
          <a:blip r:embed="rId10"/>
          <a:stretch>
            <a:fillRect/>
          </a:stretch>
        </p:blipFill>
        <p:spPr>
          <a:xfrm>
            <a:off x="6600825" y="1409700"/>
            <a:ext cx="285750" cy="381000"/>
          </a:xfrm>
          <a:prstGeom prst="rect">
            <a:avLst/>
          </a:prstGeom>
        </p:spPr>
      </p:pic>
      <p:pic>
        <p:nvPicPr>
          <p:cNvPr id="13" name="Image 11" descr="preencoded.png"/>
          <p:cNvPicPr>
            <a:picLocks noChangeAspect="1"/>
          </p:cNvPicPr>
          <p:nvPr/>
        </p:nvPicPr>
        <p:blipFill>
          <a:blip r:embed="rId11"/>
          <a:stretch>
            <a:fillRect/>
          </a:stretch>
        </p:blipFill>
        <p:spPr>
          <a:xfrm>
            <a:off x="7239000" y="1828800"/>
            <a:ext cx="76200" cy="152400"/>
          </a:xfrm>
          <a:prstGeom prst="rect">
            <a:avLst/>
          </a:prstGeom>
        </p:spPr>
      </p:pic>
      <p:pic>
        <p:nvPicPr>
          <p:cNvPr id="14" name="Image 12" descr="preencoded.png"/>
          <p:cNvPicPr>
            <a:picLocks noChangeAspect="1"/>
          </p:cNvPicPr>
          <p:nvPr/>
        </p:nvPicPr>
        <p:blipFill>
          <a:blip r:embed="rId11"/>
          <a:stretch>
            <a:fillRect/>
          </a:stretch>
        </p:blipFill>
        <p:spPr>
          <a:xfrm>
            <a:off x="7239000" y="2133600"/>
            <a:ext cx="76200" cy="152400"/>
          </a:xfrm>
          <a:prstGeom prst="rect">
            <a:avLst/>
          </a:prstGeom>
        </p:spPr>
      </p:pic>
      <p:pic>
        <p:nvPicPr>
          <p:cNvPr id="15" name="Image 13" descr="preencoded.png"/>
          <p:cNvPicPr>
            <a:picLocks noChangeAspect="1"/>
          </p:cNvPicPr>
          <p:nvPr/>
        </p:nvPicPr>
        <p:blipFill>
          <a:blip r:embed="rId11"/>
          <a:stretch>
            <a:fillRect/>
          </a:stretch>
        </p:blipFill>
        <p:spPr>
          <a:xfrm>
            <a:off x="7239000" y="2438400"/>
            <a:ext cx="76200" cy="152400"/>
          </a:xfrm>
          <a:prstGeom prst="rect">
            <a:avLst/>
          </a:prstGeom>
        </p:spPr>
      </p:pic>
      <p:pic>
        <p:nvPicPr>
          <p:cNvPr id="16" name="Image 14" descr="preencoded.png"/>
          <p:cNvPicPr>
            <a:picLocks noChangeAspect="1"/>
          </p:cNvPicPr>
          <p:nvPr/>
        </p:nvPicPr>
        <p:blipFill>
          <a:blip r:embed="rId5"/>
          <a:stretch>
            <a:fillRect/>
          </a:stretch>
        </p:blipFill>
        <p:spPr>
          <a:xfrm>
            <a:off x="304800" y="3086100"/>
            <a:ext cx="5676900" cy="1714500"/>
          </a:xfrm>
          <a:prstGeom prst="rect">
            <a:avLst/>
          </a:prstGeom>
        </p:spPr>
      </p:pic>
      <p:pic>
        <p:nvPicPr>
          <p:cNvPr id="17" name="Image 15" descr="preencoded.png"/>
          <p:cNvPicPr>
            <a:picLocks noChangeAspect="1"/>
          </p:cNvPicPr>
          <p:nvPr/>
        </p:nvPicPr>
        <p:blipFill>
          <a:blip r:embed="rId12"/>
          <a:stretch>
            <a:fillRect/>
          </a:stretch>
        </p:blipFill>
        <p:spPr>
          <a:xfrm>
            <a:off x="533400" y="3314700"/>
            <a:ext cx="609600" cy="609600"/>
          </a:xfrm>
          <a:prstGeom prst="rect">
            <a:avLst/>
          </a:prstGeom>
        </p:spPr>
      </p:pic>
      <p:pic>
        <p:nvPicPr>
          <p:cNvPr id="18" name="Image 16" descr="preencoded.png"/>
          <p:cNvPicPr>
            <a:picLocks noChangeAspect="1"/>
          </p:cNvPicPr>
          <p:nvPr/>
        </p:nvPicPr>
        <p:blipFill>
          <a:blip r:embed="rId13"/>
          <a:stretch>
            <a:fillRect/>
          </a:stretch>
        </p:blipFill>
        <p:spPr>
          <a:xfrm>
            <a:off x="671513" y="3352800"/>
            <a:ext cx="333375" cy="381000"/>
          </a:xfrm>
          <a:prstGeom prst="rect">
            <a:avLst/>
          </a:prstGeom>
        </p:spPr>
      </p:pic>
      <p:pic>
        <p:nvPicPr>
          <p:cNvPr id="19" name="Image 17" descr="preencoded.png"/>
          <p:cNvPicPr>
            <a:picLocks noChangeAspect="1"/>
          </p:cNvPicPr>
          <p:nvPr/>
        </p:nvPicPr>
        <p:blipFill>
          <a:blip r:embed="rId14"/>
          <a:stretch>
            <a:fillRect/>
          </a:stretch>
        </p:blipFill>
        <p:spPr>
          <a:xfrm>
            <a:off x="1333500" y="3771900"/>
            <a:ext cx="76200" cy="152400"/>
          </a:xfrm>
          <a:prstGeom prst="rect">
            <a:avLst/>
          </a:prstGeom>
        </p:spPr>
      </p:pic>
      <p:pic>
        <p:nvPicPr>
          <p:cNvPr id="20" name="Image 18" descr="preencoded.png"/>
          <p:cNvPicPr>
            <a:picLocks noChangeAspect="1"/>
          </p:cNvPicPr>
          <p:nvPr/>
        </p:nvPicPr>
        <p:blipFill>
          <a:blip r:embed="rId14"/>
          <a:stretch>
            <a:fillRect/>
          </a:stretch>
        </p:blipFill>
        <p:spPr>
          <a:xfrm>
            <a:off x="1333500" y="4076700"/>
            <a:ext cx="76200" cy="152400"/>
          </a:xfrm>
          <a:prstGeom prst="rect">
            <a:avLst/>
          </a:prstGeom>
        </p:spPr>
      </p:pic>
      <p:pic>
        <p:nvPicPr>
          <p:cNvPr id="21" name="Image 19" descr="preencoded.png"/>
          <p:cNvPicPr>
            <a:picLocks noChangeAspect="1"/>
          </p:cNvPicPr>
          <p:nvPr/>
        </p:nvPicPr>
        <p:blipFill>
          <a:blip r:embed="rId14"/>
          <a:stretch>
            <a:fillRect/>
          </a:stretch>
        </p:blipFill>
        <p:spPr>
          <a:xfrm>
            <a:off x="1333500" y="4381500"/>
            <a:ext cx="76200" cy="152400"/>
          </a:xfrm>
          <a:prstGeom prst="rect">
            <a:avLst/>
          </a:prstGeom>
        </p:spPr>
      </p:pic>
      <p:pic>
        <p:nvPicPr>
          <p:cNvPr id="22" name="Image 20" descr="preencoded.png"/>
          <p:cNvPicPr>
            <a:picLocks noChangeAspect="1"/>
          </p:cNvPicPr>
          <p:nvPr/>
        </p:nvPicPr>
        <p:blipFill>
          <a:blip r:embed="rId5"/>
          <a:stretch>
            <a:fillRect/>
          </a:stretch>
        </p:blipFill>
        <p:spPr>
          <a:xfrm>
            <a:off x="6210300" y="3086100"/>
            <a:ext cx="5676900" cy="1714500"/>
          </a:xfrm>
          <a:prstGeom prst="rect">
            <a:avLst/>
          </a:prstGeom>
        </p:spPr>
      </p:pic>
      <p:pic>
        <p:nvPicPr>
          <p:cNvPr id="23" name="Image 21" descr="preencoded.png"/>
          <p:cNvPicPr>
            <a:picLocks noChangeAspect="1"/>
          </p:cNvPicPr>
          <p:nvPr/>
        </p:nvPicPr>
        <p:blipFill>
          <a:blip r:embed="rId15"/>
          <a:stretch>
            <a:fillRect/>
          </a:stretch>
        </p:blipFill>
        <p:spPr>
          <a:xfrm>
            <a:off x="6438900" y="3314700"/>
            <a:ext cx="609600" cy="609600"/>
          </a:xfrm>
          <a:prstGeom prst="rect">
            <a:avLst/>
          </a:prstGeom>
        </p:spPr>
      </p:pic>
      <p:pic>
        <p:nvPicPr>
          <p:cNvPr id="24" name="Image 22" descr="preencoded.png"/>
          <p:cNvPicPr>
            <a:picLocks noChangeAspect="1"/>
          </p:cNvPicPr>
          <p:nvPr/>
        </p:nvPicPr>
        <p:blipFill>
          <a:blip r:embed="rId16"/>
          <a:stretch>
            <a:fillRect/>
          </a:stretch>
        </p:blipFill>
        <p:spPr>
          <a:xfrm>
            <a:off x="6553200" y="3352800"/>
            <a:ext cx="381000" cy="381000"/>
          </a:xfrm>
          <a:prstGeom prst="rect">
            <a:avLst/>
          </a:prstGeom>
        </p:spPr>
      </p:pic>
      <p:pic>
        <p:nvPicPr>
          <p:cNvPr id="25" name="Image 23" descr="preencoded.png"/>
          <p:cNvPicPr>
            <a:picLocks noChangeAspect="1"/>
          </p:cNvPicPr>
          <p:nvPr/>
        </p:nvPicPr>
        <p:blipFill>
          <a:blip r:embed="rId17"/>
          <a:stretch>
            <a:fillRect/>
          </a:stretch>
        </p:blipFill>
        <p:spPr>
          <a:xfrm>
            <a:off x="7239000" y="3771900"/>
            <a:ext cx="76200" cy="152400"/>
          </a:xfrm>
          <a:prstGeom prst="rect">
            <a:avLst/>
          </a:prstGeom>
        </p:spPr>
      </p:pic>
      <p:pic>
        <p:nvPicPr>
          <p:cNvPr id="26" name="Image 24" descr="preencoded.png"/>
          <p:cNvPicPr>
            <a:picLocks noChangeAspect="1"/>
          </p:cNvPicPr>
          <p:nvPr/>
        </p:nvPicPr>
        <p:blipFill>
          <a:blip r:embed="rId17"/>
          <a:stretch>
            <a:fillRect/>
          </a:stretch>
        </p:blipFill>
        <p:spPr>
          <a:xfrm>
            <a:off x="7239000" y="4076700"/>
            <a:ext cx="76200" cy="152400"/>
          </a:xfrm>
          <a:prstGeom prst="rect">
            <a:avLst/>
          </a:prstGeom>
        </p:spPr>
      </p:pic>
      <p:pic>
        <p:nvPicPr>
          <p:cNvPr id="27" name="Image 25" descr="preencoded.png"/>
          <p:cNvPicPr>
            <a:picLocks noChangeAspect="1"/>
          </p:cNvPicPr>
          <p:nvPr/>
        </p:nvPicPr>
        <p:blipFill>
          <a:blip r:embed="rId17"/>
          <a:stretch>
            <a:fillRect/>
          </a:stretch>
        </p:blipFill>
        <p:spPr>
          <a:xfrm>
            <a:off x="7239000" y="4381500"/>
            <a:ext cx="76200" cy="152400"/>
          </a:xfrm>
          <a:prstGeom prst="rect">
            <a:avLst/>
          </a:prstGeom>
        </p:spPr>
      </p:pic>
      <p:pic>
        <p:nvPicPr>
          <p:cNvPr id="28" name="Image 26" descr="preencoded.png"/>
          <p:cNvPicPr>
            <a:picLocks noChangeAspect="1"/>
          </p:cNvPicPr>
          <p:nvPr/>
        </p:nvPicPr>
        <p:blipFill>
          <a:blip r:embed="rId18"/>
          <a:stretch>
            <a:fillRect/>
          </a:stretch>
        </p:blipFill>
        <p:spPr>
          <a:xfrm>
            <a:off x="0" y="6400800"/>
            <a:ext cx="12192000" cy="457200"/>
          </a:xfrm>
          <a:prstGeom prst="rect">
            <a:avLst/>
          </a:prstGeom>
        </p:spPr>
      </p:pic>
      <p:sp>
        <p:nvSpPr>
          <p:cNvPr id="29"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Common Challenges in Compliance Audits</a:t>
            </a:r>
            <a:endParaRPr lang="en-US" sz="2700" dirty="0"/>
          </a:p>
        </p:txBody>
      </p:sp>
      <p:sp>
        <p:nvSpPr>
          <p:cNvPr id="30" name="Text 1"/>
          <p:cNvSpPr/>
          <p:nvPr/>
        </p:nvSpPr>
        <p:spPr>
          <a:xfrm>
            <a:off x="1333500" y="1371600"/>
            <a:ext cx="5188863"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Resistance to Change</a:t>
            </a:r>
            <a:endParaRPr lang="en-US" sz="1800" dirty="0"/>
          </a:p>
        </p:txBody>
      </p:sp>
      <p:sp>
        <p:nvSpPr>
          <p:cNvPr id="31" name="Text 2"/>
          <p:cNvSpPr/>
          <p:nvPr/>
        </p:nvSpPr>
        <p:spPr>
          <a:xfrm>
            <a:off x="1485900" y="1790700"/>
            <a:ext cx="500598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Employees and management may resist audit findings</a:t>
            </a:r>
            <a:endParaRPr lang="en-US" sz="1200" dirty="0"/>
          </a:p>
        </p:txBody>
      </p:sp>
      <p:sp>
        <p:nvSpPr>
          <p:cNvPr id="32" name="Text 3"/>
          <p:cNvSpPr/>
          <p:nvPr/>
        </p:nvSpPr>
        <p:spPr>
          <a:xfrm>
            <a:off x="1485900" y="2095500"/>
            <a:ext cx="382297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Culture of compliance not yet established</a:t>
            </a:r>
            <a:endParaRPr lang="en-US" sz="1200" dirty="0"/>
          </a:p>
        </p:txBody>
      </p:sp>
      <p:sp>
        <p:nvSpPr>
          <p:cNvPr id="33" name="Text 4"/>
          <p:cNvSpPr/>
          <p:nvPr/>
        </p:nvSpPr>
        <p:spPr>
          <a:xfrm>
            <a:off x="1485900" y="2400300"/>
            <a:ext cx="404586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Change management processes inadequate</a:t>
            </a:r>
            <a:endParaRPr lang="en-US" sz="1200" dirty="0"/>
          </a:p>
        </p:txBody>
      </p:sp>
      <p:sp>
        <p:nvSpPr>
          <p:cNvPr id="34" name="Text 5"/>
          <p:cNvSpPr/>
          <p:nvPr/>
        </p:nvSpPr>
        <p:spPr>
          <a:xfrm>
            <a:off x="7239000" y="1371600"/>
            <a:ext cx="374171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Resource Constraints</a:t>
            </a:r>
            <a:endParaRPr lang="en-US" sz="1800" dirty="0"/>
          </a:p>
        </p:txBody>
      </p:sp>
      <p:sp>
        <p:nvSpPr>
          <p:cNvPr id="35" name="Text 6"/>
          <p:cNvSpPr/>
          <p:nvPr/>
        </p:nvSpPr>
        <p:spPr>
          <a:xfrm>
            <a:off x="7391400" y="1790700"/>
            <a:ext cx="264908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Limited audit team expertise</a:t>
            </a:r>
            <a:endParaRPr lang="en-US" sz="1200" dirty="0"/>
          </a:p>
        </p:txBody>
      </p:sp>
      <p:sp>
        <p:nvSpPr>
          <p:cNvPr id="36" name="Text 7"/>
          <p:cNvSpPr/>
          <p:nvPr/>
        </p:nvSpPr>
        <p:spPr>
          <a:xfrm>
            <a:off x="7391400" y="2095500"/>
            <a:ext cx="350490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Time constraints affecting audit scope</a:t>
            </a:r>
            <a:endParaRPr lang="en-US" sz="1200" dirty="0"/>
          </a:p>
        </p:txBody>
      </p:sp>
      <p:sp>
        <p:nvSpPr>
          <p:cNvPr id="37" name="Text 8"/>
          <p:cNvSpPr/>
          <p:nvPr/>
        </p:nvSpPr>
        <p:spPr>
          <a:xfrm>
            <a:off x="7391400" y="2400300"/>
            <a:ext cx="3558838"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Budget limitations for technology tools</a:t>
            </a:r>
            <a:endParaRPr lang="en-US" sz="1200" dirty="0"/>
          </a:p>
        </p:txBody>
      </p:sp>
      <p:sp>
        <p:nvSpPr>
          <p:cNvPr id="38" name="Text 9"/>
          <p:cNvSpPr/>
          <p:nvPr/>
        </p:nvSpPr>
        <p:spPr>
          <a:xfrm>
            <a:off x="1333500" y="3314700"/>
            <a:ext cx="5194756"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Complex Regulatory Environment</a:t>
            </a:r>
            <a:endParaRPr lang="en-US" sz="1800" dirty="0"/>
          </a:p>
        </p:txBody>
      </p:sp>
      <p:sp>
        <p:nvSpPr>
          <p:cNvPr id="39" name="Text 10"/>
          <p:cNvSpPr/>
          <p:nvPr/>
        </p:nvSpPr>
        <p:spPr>
          <a:xfrm>
            <a:off x="1485900" y="3733800"/>
            <a:ext cx="301073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Multiple, overlapping regulations</a:t>
            </a:r>
            <a:endParaRPr lang="en-US" sz="1200" dirty="0"/>
          </a:p>
        </p:txBody>
      </p:sp>
      <p:sp>
        <p:nvSpPr>
          <p:cNvPr id="40" name="Text 11"/>
          <p:cNvSpPr/>
          <p:nvPr/>
        </p:nvSpPr>
        <p:spPr>
          <a:xfrm>
            <a:off x="1485900" y="4038600"/>
            <a:ext cx="396799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Rapidly changing compliance requirements</a:t>
            </a:r>
            <a:endParaRPr lang="en-US" sz="1200" dirty="0"/>
          </a:p>
        </p:txBody>
      </p:sp>
      <p:sp>
        <p:nvSpPr>
          <p:cNvPr id="41" name="Text 12"/>
          <p:cNvSpPr/>
          <p:nvPr/>
        </p:nvSpPr>
        <p:spPr>
          <a:xfrm>
            <a:off x="1485900" y="4343400"/>
            <a:ext cx="312235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Geographic compliance variations</a:t>
            </a:r>
            <a:endParaRPr lang="en-US" sz="1200" dirty="0"/>
          </a:p>
        </p:txBody>
      </p:sp>
      <p:sp>
        <p:nvSpPr>
          <p:cNvPr id="42" name="Text 13"/>
          <p:cNvSpPr/>
          <p:nvPr/>
        </p:nvSpPr>
        <p:spPr>
          <a:xfrm>
            <a:off x="7239000" y="3314700"/>
            <a:ext cx="3655814" cy="304800"/>
          </a:xfrm>
          <a:prstGeom prst="rect">
            <a:avLst/>
          </a:prstGeom>
          <a:noFill/>
          <a:ln/>
        </p:spPr>
        <p:txBody>
          <a:bodyPr vert="horz" wrap="square" lIns="0" tIns="0" rIns="0" bIns="0" rtlCol="0" anchor="t"/>
          <a:lstStyle/>
          <a:p>
            <a:pPr marL="0" indent="0">
              <a:lnSpc>
                <a:spcPts val="2400"/>
              </a:lnSpc>
              <a:buNone/>
            </a:pPr>
            <a:r>
              <a:rPr lang="en-US" sz="1800" b="1" dirty="0">
                <a:solidFill>
                  <a:srgbClr val="1F2937"/>
                </a:solidFill>
                <a:latin typeface="ui-sans-serif" pitchFamily="34" charset="0"/>
                <a:ea typeface="ui-sans-serif" pitchFamily="34" charset="-122"/>
                <a:cs typeface="ui-sans-serif" pitchFamily="34" charset="-120"/>
              </a:rPr>
              <a:t>Evidence Limitations</a:t>
            </a:r>
            <a:endParaRPr lang="en-US" sz="1800" dirty="0"/>
          </a:p>
        </p:txBody>
      </p:sp>
      <p:sp>
        <p:nvSpPr>
          <p:cNvPr id="43" name="Text 14"/>
          <p:cNvSpPr/>
          <p:nvPr/>
        </p:nvSpPr>
        <p:spPr>
          <a:xfrm>
            <a:off x="7391400" y="3733800"/>
            <a:ext cx="347293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Incomplete or missing documentation</a:t>
            </a:r>
            <a:endParaRPr lang="en-US" sz="1200" dirty="0"/>
          </a:p>
        </p:txBody>
      </p:sp>
      <p:sp>
        <p:nvSpPr>
          <p:cNvPr id="44" name="Text 15"/>
          <p:cNvSpPr/>
          <p:nvPr/>
        </p:nvSpPr>
        <p:spPr>
          <a:xfrm>
            <a:off x="7391400" y="4038600"/>
            <a:ext cx="276338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Access restrictions to systems</a:t>
            </a:r>
            <a:endParaRPr lang="en-US" sz="1200" dirty="0"/>
          </a:p>
        </p:txBody>
      </p:sp>
      <p:sp>
        <p:nvSpPr>
          <p:cNvPr id="45" name="Text 16"/>
          <p:cNvSpPr/>
          <p:nvPr/>
        </p:nvSpPr>
        <p:spPr>
          <a:xfrm>
            <a:off x="7391400" y="4343400"/>
            <a:ext cx="332595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Volume of data exceeding resources</a:t>
            </a:r>
            <a:endParaRPr lang="en-US" sz="1200" dirty="0"/>
          </a:p>
        </p:txBody>
      </p:sp>
      <p:sp>
        <p:nvSpPr>
          <p:cNvPr id="46" name="Text 17"/>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7" name="Text 18"/>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20/26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5676900" cy="2286000"/>
          </a:xfrm>
          <a:prstGeom prst="rect">
            <a:avLst/>
          </a:prstGeom>
        </p:spPr>
      </p:pic>
      <p:pic>
        <p:nvPicPr>
          <p:cNvPr id="5" name="Image 3" descr="preencoded.png"/>
          <p:cNvPicPr>
            <a:picLocks noChangeAspect="1"/>
          </p:cNvPicPr>
          <p:nvPr/>
        </p:nvPicPr>
        <p:blipFill>
          <a:blip r:embed="rId6"/>
          <a:stretch>
            <a:fillRect/>
          </a:stretch>
        </p:blipFill>
        <p:spPr>
          <a:xfrm>
            <a:off x="533400" y="1371600"/>
            <a:ext cx="381000" cy="304800"/>
          </a:xfrm>
          <a:prstGeom prst="rect">
            <a:avLst/>
          </a:prstGeom>
        </p:spPr>
      </p:pic>
      <p:pic>
        <p:nvPicPr>
          <p:cNvPr id="6" name="Image 4" descr="preencoded.png"/>
          <p:cNvPicPr>
            <a:picLocks noChangeAspect="1"/>
          </p:cNvPicPr>
          <p:nvPr/>
        </p:nvPicPr>
        <p:blipFill>
          <a:blip r:embed="rId7"/>
          <a:stretch>
            <a:fillRect/>
          </a:stretch>
        </p:blipFill>
        <p:spPr>
          <a:xfrm>
            <a:off x="533400" y="1943100"/>
            <a:ext cx="152400" cy="152400"/>
          </a:xfrm>
          <a:prstGeom prst="rect">
            <a:avLst/>
          </a:prstGeom>
        </p:spPr>
      </p:pic>
      <p:pic>
        <p:nvPicPr>
          <p:cNvPr id="7" name="Image 5" descr="preencoded.png"/>
          <p:cNvPicPr>
            <a:picLocks noChangeAspect="1"/>
          </p:cNvPicPr>
          <p:nvPr/>
        </p:nvPicPr>
        <p:blipFill>
          <a:blip r:embed="rId7"/>
          <a:stretch>
            <a:fillRect/>
          </a:stretch>
        </p:blipFill>
        <p:spPr>
          <a:xfrm>
            <a:off x="533400" y="2476500"/>
            <a:ext cx="152400" cy="152400"/>
          </a:xfrm>
          <a:prstGeom prst="rect">
            <a:avLst/>
          </a:prstGeom>
        </p:spPr>
      </p:pic>
      <p:pic>
        <p:nvPicPr>
          <p:cNvPr id="8" name="Image 6" descr="preencoded.png"/>
          <p:cNvPicPr>
            <a:picLocks noChangeAspect="1"/>
          </p:cNvPicPr>
          <p:nvPr/>
        </p:nvPicPr>
        <p:blipFill>
          <a:blip r:embed="rId7"/>
          <a:stretch>
            <a:fillRect/>
          </a:stretch>
        </p:blipFill>
        <p:spPr>
          <a:xfrm>
            <a:off x="533400" y="2781300"/>
            <a:ext cx="152400" cy="152400"/>
          </a:xfrm>
          <a:prstGeom prst="rect">
            <a:avLst/>
          </a:prstGeom>
        </p:spPr>
      </p:pic>
      <p:pic>
        <p:nvPicPr>
          <p:cNvPr id="9" name="Image 7" descr="preencoded.png"/>
          <p:cNvPicPr>
            <a:picLocks noChangeAspect="1"/>
          </p:cNvPicPr>
          <p:nvPr/>
        </p:nvPicPr>
        <p:blipFill>
          <a:blip r:embed="rId8"/>
          <a:stretch>
            <a:fillRect/>
          </a:stretch>
        </p:blipFill>
        <p:spPr>
          <a:xfrm>
            <a:off x="6210300" y="1143000"/>
            <a:ext cx="5676900" cy="2286000"/>
          </a:xfrm>
          <a:prstGeom prst="rect">
            <a:avLst/>
          </a:prstGeom>
        </p:spPr>
      </p:pic>
      <p:pic>
        <p:nvPicPr>
          <p:cNvPr id="10" name="Image 8" descr="preencoded.png"/>
          <p:cNvPicPr>
            <a:picLocks noChangeAspect="1"/>
          </p:cNvPicPr>
          <p:nvPr/>
        </p:nvPicPr>
        <p:blipFill>
          <a:blip r:embed="rId9"/>
          <a:stretch>
            <a:fillRect/>
          </a:stretch>
        </p:blipFill>
        <p:spPr>
          <a:xfrm>
            <a:off x="6438900" y="1371600"/>
            <a:ext cx="381000" cy="304800"/>
          </a:xfrm>
          <a:prstGeom prst="rect">
            <a:avLst/>
          </a:prstGeom>
        </p:spPr>
      </p:pic>
      <p:pic>
        <p:nvPicPr>
          <p:cNvPr id="11" name="Image 9" descr="preencoded.png"/>
          <p:cNvPicPr>
            <a:picLocks noChangeAspect="1"/>
          </p:cNvPicPr>
          <p:nvPr/>
        </p:nvPicPr>
        <p:blipFill>
          <a:blip r:embed="rId10"/>
          <a:stretch>
            <a:fillRect/>
          </a:stretch>
        </p:blipFill>
        <p:spPr>
          <a:xfrm>
            <a:off x="6438900" y="1943100"/>
            <a:ext cx="152400" cy="152400"/>
          </a:xfrm>
          <a:prstGeom prst="rect">
            <a:avLst/>
          </a:prstGeom>
        </p:spPr>
      </p:pic>
      <p:pic>
        <p:nvPicPr>
          <p:cNvPr id="12" name="Image 10" descr="preencoded.png"/>
          <p:cNvPicPr>
            <a:picLocks noChangeAspect="1"/>
          </p:cNvPicPr>
          <p:nvPr/>
        </p:nvPicPr>
        <p:blipFill>
          <a:blip r:embed="rId10"/>
          <a:stretch>
            <a:fillRect/>
          </a:stretch>
        </p:blipFill>
        <p:spPr>
          <a:xfrm>
            <a:off x="6438900" y="247650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6438900" y="3009900"/>
            <a:ext cx="152400" cy="152400"/>
          </a:xfrm>
          <a:prstGeom prst="rect">
            <a:avLst/>
          </a:prstGeom>
        </p:spPr>
      </p:pic>
      <p:pic>
        <p:nvPicPr>
          <p:cNvPr id="14" name="Image 12" descr="preencoded.png"/>
          <p:cNvPicPr>
            <a:picLocks noChangeAspect="1"/>
          </p:cNvPicPr>
          <p:nvPr/>
        </p:nvPicPr>
        <p:blipFill>
          <a:blip r:embed="rId11"/>
          <a:stretch>
            <a:fillRect/>
          </a:stretch>
        </p:blipFill>
        <p:spPr>
          <a:xfrm>
            <a:off x="304800" y="3657600"/>
            <a:ext cx="5676900" cy="1828800"/>
          </a:xfrm>
          <a:prstGeom prst="rect">
            <a:avLst/>
          </a:prstGeom>
        </p:spPr>
      </p:pic>
      <p:pic>
        <p:nvPicPr>
          <p:cNvPr id="15" name="Image 13" descr="preencoded.png"/>
          <p:cNvPicPr>
            <a:picLocks noChangeAspect="1"/>
          </p:cNvPicPr>
          <p:nvPr/>
        </p:nvPicPr>
        <p:blipFill>
          <a:blip r:embed="rId12"/>
          <a:stretch>
            <a:fillRect/>
          </a:stretch>
        </p:blipFill>
        <p:spPr>
          <a:xfrm>
            <a:off x="533400" y="3886200"/>
            <a:ext cx="304800" cy="304800"/>
          </a:xfrm>
          <a:prstGeom prst="rect">
            <a:avLst/>
          </a:prstGeom>
        </p:spPr>
      </p:pic>
      <p:pic>
        <p:nvPicPr>
          <p:cNvPr id="16" name="Image 14" descr="preencoded.png"/>
          <p:cNvPicPr>
            <a:picLocks noChangeAspect="1"/>
          </p:cNvPicPr>
          <p:nvPr/>
        </p:nvPicPr>
        <p:blipFill>
          <a:blip r:embed="rId13"/>
          <a:stretch>
            <a:fillRect/>
          </a:stretch>
        </p:blipFill>
        <p:spPr>
          <a:xfrm>
            <a:off x="533400" y="4457700"/>
            <a:ext cx="152400" cy="152400"/>
          </a:xfrm>
          <a:prstGeom prst="rect">
            <a:avLst/>
          </a:prstGeom>
        </p:spPr>
      </p:pic>
      <p:pic>
        <p:nvPicPr>
          <p:cNvPr id="17" name="Image 15" descr="preencoded.png"/>
          <p:cNvPicPr>
            <a:picLocks noChangeAspect="1"/>
          </p:cNvPicPr>
          <p:nvPr/>
        </p:nvPicPr>
        <p:blipFill>
          <a:blip r:embed="rId13"/>
          <a:stretch>
            <a:fillRect/>
          </a:stretch>
        </p:blipFill>
        <p:spPr>
          <a:xfrm>
            <a:off x="533400" y="4762500"/>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533400" y="5067300"/>
            <a:ext cx="152400" cy="152400"/>
          </a:xfrm>
          <a:prstGeom prst="rect">
            <a:avLst/>
          </a:prstGeom>
        </p:spPr>
      </p:pic>
      <p:pic>
        <p:nvPicPr>
          <p:cNvPr id="19" name="Image 17" descr="preencoded.png"/>
          <p:cNvPicPr>
            <a:picLocks noChangeAspect="1"/>
          </p:cNvPicPr>
          <p:nvPr/>
        </p:nvPicPr>
        <p:blipFill>
          <a:blip r:embed="rId14"/>
          <a:stretch>
            <a:fillRect/>
          </a:stretch>
        </p:blipFill>
        <p:spPr>
          <a:xfrm>
            <a:off x="6210300" y="3657600"/>
            <a:ext cx="5676900" cy="1828800"/>
          </a:xfrm>
          <a:prstGeom prst="rect">
            <a:avLst/>
          </a:prstGeom>
        </p:spPr>
      </p:pic>
      <p:pic>
        <p:nvPicPr>
          <p:cNvPr id="20" name="Image 18" descr="preencoded.png"/>
          <p:cNvPicPr>
            <a:picLocks noChangeAspect="1"/>
          </p:cNvPicPr>
          <p:nvPr/>
        </p:nvPicPr>
        <p:blipFill>
          <a:blip r:embed="rId15"/>
          <a:stretch>
            <a:fillRect/>
          </a:stretch>
        </p:blipFill>
        <p:spPr>
          <a:xfrm>
            <a:off x="6438900" y="3886200"/>
            <a:ext cx="381000" cy="304800"/>
          </a:xfrm>
          <a:prstGeom prst="rect">
            <a:avLst/>
          </a:prstGeom>
        </p:spPr>
      </p:pic>
      <p:pic>
        <p:nvPicPr>
          <p:cNvPr id="21" name="Image 19" descr="preencoded.png"/>
          <p:cNvPicPr>
            <a:picLocks noChangeAspect="1"/>
          </p:cNvPicPr>
          <p:nvPr/>
        </p:nvPicPr>
        <p:blipFill>
          <a:blip r:embed="rId16"/>
          <a:stretch>
            <a:fillRect/>
          </a:stretch>
        </p:blipFill>
        <p:spPr>
          <a:xfrm>
            <a:off x="6438900" y="4457700"/>
            <a:ext cx="152400" cy="152400"/>
          </a:xfrm>
          <a:prstGeom prst="rect">
            <a:avLst/>
          </a:prstGeom>
        </p:spPr>
      </p:pic>
      <p:pic>
        <p:nvPicPr>
          <p:cNvPr id="22" name="Image 20" descr="preencoded.png"/>
          <p:cNvPicPr>
            <a:picLocks noChangeAspect="1"/>
          </p:cNvPicPr>
          <p:nvPr/>
        </p:nvPicPr>
        <p:blipFill>
          <a:blip r:embed="rId16"/>
          <a:stretch>
            <a:fillRect/>
          </a:stretch>
        </p:blipFill>
        <p:spPr>
          <a:xfrm>
            <a:off x="6438900" y="4762500"/>
            <a:ext cx="152400" cy="152400"/>
          </a:xfrm>
          <a:prstGeom prst="rect">
            <a:avLst/>
          </a:prstGeom>
        </p:spPr>
      </p:pic>
      <p:pic>
        <p:nvPicPr>
          <p:cNvPr id="23" name="Image 21" descr="preencoded.png"/>
          <p:cNvPicPr>
            <a:picLocks noChangeAspect="1"/>
          </p:cNvPicPr>
          <p:nvPr/>
        </p:nvPicPr>
        <p:blipFill>
          <a:blip r:embed="rId16"/>
          <a:stretch>
            <a:fillRect/>
          </a:stretch>
        </p:blipFill>
        <p:spPr>
          <a:xfrm>
            <a:off x="6438900" y="5067300"/>
            <a:ext cx="152400" cy="152400"/>
          </a:xfrm>
          <a:prstGeom prst="rect">
            <a:avLst/>
          </a:prstGeom>
        </p:spPr>
      </p:pic>
      <p:pic>
        <p:nvPicPr>
          <p:cNvPr id="24" name="Image 22" descr="preencoded.png"/>
          <p:cNvPicPr>
            <a:picLocks noChangeAspect="1"/>
          </p:cNvPicPr>
          <p:nvPr/>
        </p:nvPicPr>
        <p:blipFill>
          <a:blip r:embed="rId17"/>
          <a:stretch>
            <a:fillRect/>
          </a:stretch>
        </p:blipFill>
        <p:spPr>
          <a:xfrm>
            <a:off x="0" y="6400800"/>
            <a:ext cx="12192000" cy="457200"/>
          </a:xfrm>
          <a:prstGeom prst="rect">
            <a:avLst/>
          </a:prstGeom>
        </p:spPr>
      </p:pic>
      <p:sp>
        <p:nvSpPr>
          <p:cNvPr id="25"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Best Practices for Effective Compliance Audits</a:t>
            </a:r>
            <a:endParaRPr lang="en-US" sz="2700" dirty="0"/>
          </a:p>
        </p:txBody>
      </p:sp>
      <p:sp>
        <p:nvSpPr>
          <p:cNvPr id="26" name="Text 1"/>
          <p:cNvSpPr/>
          <p:nvPr/>
        </p:nvSpPr>
        <p:spPr>
          <a:xfrm>
            <a:off x="1066800" y="1409700"/>
            <a:ext cx="3910846" cy="304800"/>
          </a:xfrm>
          <a:prstGeom prst="rect">
            <a:avLst/>
          </a:prstGeom>
          <a:noFill/>
          <a:ln/>
        </p:spPr>
        <p:txBody>
          <a:bodyPr vert="horz" wrap="square" lIns="0" tIns="0" rIns="0" bIns="0" rtlCol="0" anchor="t"/>
          <a:lstStyle/>
          <a:p>
            <a:pPr marL="0" indent="0">
              <a:lnSpc>
                <a:spcPts val="2400"/>
              </a:lnSpc>
              <a:buNone/>
            </a:pPr>
            <a:r>
              <a:rPr lang="en-US" sz="1800" b="1" dirty="0">
                <a:solidFill>
                  <a:srgbClr val="0D9488"/>
                </a:solidFill>
                <a:latin typeface="ui-sans-serif" pitchFamily="34" charset="0"/>
                <a:ea typeface="ui-sans-serif" pitchFamily="34" charset="-122"/>
                <a:cs typeface="ui-sans-serif" pitchFamily="34" charset="-120"/>
              </a:rPr>
              <a:t>Stakeholder Engagement</a:t>
            </a:r>
            <a:endParaRPr lang="en-US" sz="1800" dirty="0"/>
          </a:p>
        </p:txBody>
      </p:sp>
      <p:sp>
        <p:nvSpPr>
          <p:cNvPr id="27" name="Text 2"/>
          <p:cNvSpPr/>
          <p:nvPr/>
        </p:nvSpPr>
        <p:spPr>
          <a:xfrm>
            <a:off x="800100" y="1905000"/>
            <a:ext cx="4953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Involve key stakeholders during planning to ensure audit relevance</a:t>
            </a:r>
            <a:endParaRPr lang="en-US" sz="1200" dirty="0"/>
          </a:p>
        </p:txBody>
      </p:sp>
      <p:sp>
        <p:nvSpPr>
          <p:cNvPr id="28" name="Text 3"/>
          <p:cNvSpPr/>
          <p:nvPr/>
        </p:nvSpPr>
        <p:spPr>
          <a:xfrm>
            <a:off x="800100" y="2438400"/>
            <a:ext cx="568231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Establish clear expectations and roles at the opening meeting</a:t>
            </a:r>
            <a:endParaRPr lang="en-US" sz="1200" dirty="0"/>
          </a:p>
        </p:txBody>
      </p:sp>
      <p:sp>
        <p:nvSpPr>
          <p:cNvPr id="29" name="Text 4"/>
          <p:cNvSpPr/>
          <p:nvPr/>
        </p:nvSpPr>
        <p:spPr>
          <a:xfrm>
            <a:off x="800100" y="2743200"/>
            <a:ext cx="4953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Schedule timely meetings to review findings and recommendations</a:t>
            </a:r>
            <a:endParaRPr lang="en-US" sz="1200" dirty="0"/>
          </a:p>
        </p:txBody>
      </p:sp>
      <p:sp>
        <p:nvSpPr>
          <p:cNvPr id="30" name="Text 5"/>
          <p:cNvSpPr/>
          <p:nvPr/>
        </p:nvSpPr>
        <p:spPr>
          <a:xfrm>
            <a:off x="6972300" y="1409700"/>
            <a:ext cx="3300055" cy="304800"/>
          </a:xfrm>
          <a:prstGeom prst="rect">
            <a:avLst/>
          </a:prstGeom>
          <a:noFill/>
          <a:ln/>
        </p:spPr>
        <p:txBody>
          <a:bodyPr vert="horz" wrap="square" lIns="0" tIns="0" rIns="0" bIns="0" rtlCol="0" anchor="t"/>
          <a:lstStyle/>
          <a:p>
            <a:pPr marL="0" indent="0">
              <a:lnSpc>
                <a:spcPts val="2400"/>
              </a:lnSpc>
              <a:buNone/>
            </a:pPr>
            <a:r>
              <a:rPr lang="en-US" sz="1800" b="1" dirty="0">
                <a:solidFill>
                  <a:srgbClr val="9333EA"/>
                </a:solidFill>
                <a:latin typeface="ui-sans-serif" pitchFamily="34" charset="0"/>
                <a:ea typeface="ui-sans-serif" pitchFamily="34" charset="-122"/>
                <a:cs typeface="ui-sans-serif" pitchFamily="34" charset="-120"/>
              </a:rPr>
              <a:t>Clear Communication</a:t>
            </a:r>
            <a:endParaRPr lang="en-US" sz="1800" dirty="0"/>
          </a:p>
        </p:txBody>
      </p:sp>
      <p:sp>
        <p:nvSpPr>
          <p:cNvPr id="31" name="Text 6"/>
          <p:cNvSpPr/>
          <p:nvPr/>
        </p:nvSpPr>
        <p:spPr>
          <a:xfrm>
            <a:off x="6705600" y="1905000"/>
            <a:ext cx="4953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Use plain language in audit reports for non-technical stakeholders</a:t>
            </a:r>
            <a:endParaRPr lang="en-US" sz="1200" dirty="0"/>
          </a:p>
        </p:txBody>
      </p:sp>
      <p:sp>
        <p:nvSpPr>
          <p:cNvPr id="32" name="Text 7"/>
          <p:cNvSpPr/>
          <p:nvPr/>
        </p:nvSpPr>
        <p:spPr>
          <a:xfrm>
            <a:off x="6705600" y="2438400"/>
            <a:ext cx="495300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Provide executive summary with key findings and recommendations</a:t>
            </a:r>
            <a:endParaRPr lang="en-US" sz="1200" dirty="0"/>
          </a:p>
        </p:txBody>
      </p:sp>
      <p:sp>
        <p:nvSpPr>
          <p:cNvPr id="33" name="Text 8"/>
          <p:cNvSpPr/>
          <p:nvPr/>
        </p:nvSpPr>
        <p:spPr>
          <a:xfrm>
            <a:off x="6705600" y="2971800"/>
            <a:ext cx="533388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Document audit procedures to demonstrate thoroughness</a:t>
            </a:r>
            <a:endParaRPr lang="en-US" sz="1200" dirty="0"/>
          </a:p>
        </p:txBody>
      </p:sp>
      <p:sp>
        <p:nvSpPr>
          <p:cNvPr id="34" name="Text 9"/>
          <p:cNvSpPr/>
          <p:nvPr/>
        </p:nvSpPr>
        <p:spPr>
          <a:xfrm>
            <a:off x="990600" y="3924300"/>
            <a:ext cx="3272016" cy="304800"/>
          </a:xfrm>
          <a:prstGeom prst="rect">
            <a:avLst/>
          </a:prstGeom>
          <a:noFill/>
          <a:ln/>
        </p:spPr>
        <p:txBody>
          <a:bodyPr vert="horz" wrap="square" lIns="0" tIns="0" rIns="0" bIns="0" rtlCol="0" anchor="t"/>
          <a:lstStyle/>
          <a:p>
            <a:pPr marL="0" indent="0">
              <a:lnSpc>
                <a:spcPts val="2400"/>
              </a:lnSpc>
              <a:buNone/>
            </a:pPr>
            <a:r>
              <a:rPr lang="en-US" sz="1800" b="1" dirty="0">
                <a:solidFill>
                  <a:srgbClr val="FF6666"/>
                </a:solidFill>
                <a:latin typeface="ui-sans-serif" pitchFamily="34" charset="0"/>
                <a:ea typeface="ui-sans-serif" pitchFamily="34" charset="-122"/>
                <a:cs typeface="ui-sans-serif" pitchFamily="34" charset="-120"/>
              </a:rPr>
              <a:t>Risk-Based Approach</a:t>
            </a:r>
            <a:endParaRPr lang="en-US" sz="1800" dirty="0"/>
          </a:p>
        </p:txBody>
      </p:sp>
      <p:sp>
        <p:nvSpPr>
          <p:cNvPr id="35" name="Text 10"/>
          <p:cNvSpPr/>
          <p:nvPr/>
        </p:nvSpPr>
        <p:spPr>
          <a:xfrm>
            <a:off x="800100" y="4419600"/>
            <a:ext cx="502402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Focus resources on high-risk areas and critical controls</a:t>
            </a:r>
            <a:endParaRPr lang="en-US" sz="1200" dirty="0"/>
          </a:p>
        </p:txBody>
      </p:sp>
      <p:sp>
        <p:nvSpPr>
          <p:cNvPr id="36" name="Text 11"/>
          <p:cNvSpPr/>
          <p:nvPr/>
        </p:nvSpPr>
        <p:spPr>
          <a:xfrm>
            <a:off x="800100" y="4724400"/>
            <a:ext cx="495436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Consider both quantitative and qualitative risk factors</a:t>
            </a:r>
            <a:endParaRPr lang="en-US" sz="1200" dirty="0"/>
          </a:p>
        </p:txBody>
      </p:sp>
      <p:sp>
        <p:nvSpPr>
          <p:cNvPr id="37" name="Text 12"/>
          <p:cNvSpPr/>
          <p:nvPr/>
        </p:nvSpPr>
        <p:spPr>
          <a:xfrm>
            <a:off x="800100" y="5029200"/>
            <a:ext cx="486221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Update risk assessment as new information emerges</a:t>
            </a:r>
            <a:endParaRPr lang="en-US" sz="1200" dirty="0"/>
          </a:p>
        </p:txBody>
      </p:sp>
      <p:sp>
        <p:nvSpPr>
          <p:cNvPr id="38" name="Text 13"/>
          <p:cNvSpPr/>
          <p:nvPr/>
        </p:nvSpPr>
        <p:spPr>
          <a:xfrm>
            <a:off x="6972300" y="3924300"/>
            <a:ext cx="3421320" cy="304800"/>
          </a:xfrm>
          <a:prstGeom prst="rect">
            <a:avLst/>
          </a:prstGeom>
          <a:noFill/>
          <a:ln/>
        </p:spPr>
        <p:txBody>
          <a:bodyPr vert="horz" wrap="square" lIns="0" tIns="0" rIns="0" bIns="0" rtlCol="0" anchor="t"/>
          <a:lstStyle/>
          <a:p>
            <a:pPr marL="0" indent="0">
              <a:lnSpc>
                <a:spcPts val="2400"/>
              </a:lnSpc>
              <a:buNone/>
            </a:pPr>
            <a:r>
              <a:rPr lang="en-US" sz="1800" b="1" dirty="0">
                <a:solidFill>
                  <a:srgbClr val="16A34A"/>
                </a:solidFill>
                <a:latin typeface="ui-sans-serif" pitchFamily="34" charset="0"/>
                <a:ea typeface="ui-sans-serif" pitchFamily="34" charset="-122"/>
                <a:cs typeface="ui-sans-serif" pitchFamily="34" charset="-120"/>
              </a:rPr>
              <a:t>Technology Utilization</a:t>
            </a:r>
            <a:endParaRPr lang="en-US" sz="1800" dirty="0"/>
          </a:p>
        </p:txBody>
      </p:sp>
      <p:sp>
        <p:nvSpPr>
          <p:cNvPr id="39" name="Text 14"/>
          <p:cNvSpPr/>
          <p:nvPr/>
        </p:nvSpPr>
        <p:spPr>
          <a:xfrm>
            <a:off x="6705600" y="4419600"/>
            <a:ext cx="505402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Employ data analytics to identify anomalies and trends</a:t>
            </a:r>
            <a:endParaRPr lang="en-US" sz="1200" dirty="0"/>
          </a:p>
        </p:txBody>
      </p:sp>
      <p:sp>
        <p:nvSpPr>
          <p:cNvPr id="40" name="Text 15"/>
          <p:cNvSpPr/>
          <p:nvPr/>
        </p:nvSpPr>
        <p:spPr>
          <a:xfrm>
            <a:off x="6705600" y="4724400"/>
            <a:ext cx="553283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Use continuous monitoring for real-time compliance insights</a:t>
            </a:r>
            <a:endParaRPr lang="en-US" sz="1200" dirty="0"/>
          </a:p>
        </p:txBody>
      </p:sp>
      <p:sp>
        <p:nvSpPr>
          <p:cNvPr id="41" name="Text 16"/>
          <p:cNvSpPr/>
          <p:nvPr/>
        </p:nvSpPr>
        <p:spPr>
          <a:xfrm>
            <a:off x="6705600" y="5029200"/>
            <a:ext cx="588466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Implement audit management software to streamline workflows</a:t>
            </a:r>
            <a:endParaRPr lang="en-US" sz="1200" dirty="0"/>
          </a:p>
        </p:txBody>
      </p:sp>
      <p:sp>
        <p:nvSpPr>
          <p:cNvPr id="42" name="Text 17"/>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3" name="Text 18"/>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21/26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86487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5676900" cy="2247900"/>
          </a:xfrm>
          <a:prstGeom prst="rect">
            <a:avLst/>
          </a:prstGeom>
        </p:spPr>
      </p:pic>
      <p:pic>
        <p:nvPicPr>
          <p:cNvPr id="5" name="Image 3" descr="preencoded.png"/>
          <p:cNvPicPr>
            <a:picLocks noChangeAspect="1"/>
          </p:cNvPicPr>
          <p:nvPr/>
        </p:nvPicPr>
        <p:blipFill>
          <a:blip r:embed="rId6"/>
          <a:stretch>
            <a:fillRect/>
          </a:stretch>
        </p:blipFill>
        <p:spPr>
          <a:xfrm>
            <a:off x="533400" y="2133600"/>
            <a:ext cx="428625" cy="381000"/>
          </a:xfrm>
          <a:prstGeom prst="rect">
            <a:avLst/>
          </a:prstGeom>
        </p:spPr>
      </p:pic>
      <p:pic>
        <p:nvPicPr>
          <p:cNvPr id="6" name="Image 4" descr="preencoded.png"/>
          <p:cNvPicPr>
            <a:picLocks noChangeAspect="1"/>
          </p:cNvPicPr>
          <p:nvPr/>
        </p:nvPicPr>
        <p:blipFill>
          <a:blip r:embed="rId7"/>
          <a:stretch>
            <a:fillRect/>
          </a:stretch>
        </p:blipFill>
        <p:spPr>
          <a:xfrm>
            <a:off x="1114425" y="3124200"/>
            <a:ext cx="152400" cy="152400"/>
          </a:xfrm>
          <a:prstGeom prst="rect">
            <a:avLst/>
          </a:prstGeom>
        </p:spPr>
      </p:pic>
      <p:pic>
        <p:nvPicPr>
          <p:cNvPr id="7" name="Image 5" descr="preencoded.png"/>
          <p:cNvPicPr>
            <a:picLocks noChangeAspect="1"/>
          </p:cNvPicPr>
          <p:nvPr/>
        </p:nvPicPr>
        <p:blipFill>
          <a:blip r:embed="rId7"/>
          <a:stretch>
            <a:fillRect/>
          </a:stretch>
        </p:blipFill>
        <p:spPr>
          <a:xfrm>
            <a:off x="1114425" y="3429000"/>
            <a:ext cx="152400" cy="152400"/>
          </a:xfrm>
          <a:prstGeom prst="rect">
            <a:avLst/>
          </a:prstGeom>
        </p:spPr>
      </p:pic>
      <p:pic>
        <p:nvPicPr>
          <p:cNvPr id="8" name="Image 6" descr="preencoded.png"/>
          <p:cNvPicPr>
            <a:picLocks noChangeAspect="1"/>
          </p:cNvPicPr>
          <p:nvPr/>
        </p:nvPicPr>
        <p:blipFill>
          <a:blip r:embed="rId7"/>
          <a:stretch>
            <a:fillRect/>
          </a:stretch>
        </p:blipFill>
        <p:spPr>
          <a:xfrm>
            <a:off x="1114425" y="3733800"/>
            <a:ext cx="152400" cy="152400"/>
          </a:xfrm>
          <a:prstGeom prst="rect">
            <a:avLst/>
          </a:prstGeom>
        </p:spPr>
      </p:pic>
      <p:pic>
        <p:nvPicPr>
          <p:cNvPr id="9" name="Image 7" descr="preencoded.png"/>
          <p:cNvPicPr>
            <a:picLocks noChangeAspect="1"/>
          </p:cNvPicPr>
          <p:nvPr/>
        </p:nvPicPr>
        <p:blipFill>
          <a:blip r:embed="rId8"/>
          <a:stretch>
            <a:fillRect/>
          </a:stretch>
        </p:blipFill>
        <p:spPr>
          <a:xfrm>
            <a:off x="6210300" y="1905000"/>
            <a:ext cx="5676900" cy="2247900"/>
          </a:xfrm>
          <a:prstGeom prst="rect">
            <a:avLst/>
          </a:prstGeom>
        </p:spPr>
      </p:pic>
      <p:pic>
        <p:nvPicPr>
          <p:cNvPr id="10" name="Image 8" descr="preencoded.png"/>
          <p:cNvPicPr>
            <a:picLocks noChangeAspect="1"/>
          </p:cNvPicPr>
          <p:nvPr/>
        </p:nvPicPr>
        <p:blipFill>
          <a:blip r:embed="rId7"/>
          <a:stretch>
            <a:fillRect/>
          </a:stretch>
        </p:blipFill>
        <p:spPr>
          <a:xfrm>
            <a:off x="6591300" y="3124200"/>
            <a:ext cx="152400" cy="152400"/>
          </a:xfrm>
          <a:prstGeom prst="rect">
            <a:avLst/>
          </a:prstGeom>
        </p:spPr>
      </p:pic>
      <p:pic>
        <p:nvPicPr>
          <p:cNvPr id="11" name="Image 9" descr="preencoded.png"/>
          <p:cNvPicPr>
            <a:picLocks noChangeAspect="1"/>
          </p:cNvPicPr>
          <p:nvPr/>
        </p:nvPicPr>
        <p:blipFill>
          <a:blip r:embed="rId7"/>
          <a:stretch>
            <a:fillRect/>
          </a:stretch>
        </p:blipFill>
        <p:spPr>
          <a:xfrm>
            <a:off x="6591300" y="3429000"/>
            <a:ext cx="152400" cy="152400"/>
          </a:xfrm>
          <a:prstGeom prst="rect">
            <a:avLst/>
          </a:prstGeom>
        </p:spPr>
      </p:pic>
      <p:pic>
        <p:nvPicPr>
          <p:cNvPr id="12" name="Image 10" descr="preencoded.png"/>
          <p:cNvPicPr>
            <a:picLocks noChangeAspect="1"/>
          </p:cNvPicPr>
          <p:nvPr/>
        </p:nvPicPr>
        <p:blipFill>
          <a:blip r:embed="rId7"/>
          <a:stretch>
            <a:fillRect/>
          </a:stretch>
        </p:blipFill>
        <p:spPr>
          <a:xfrm>
            <a:off x="6591300" y="3733800"/>
            <a:ext cx="152400" cy="152400"/>
          </a:xfrm>
          <a:prstGeom prst="rect">
            <a:avLst/>
          </a:prstGeom>
        </p:spPr>
      </p:pic>
      <p:pic>
        <p:nvPicPr>
          <p:cNvPr id="13" name="Image 11" descr="preencoded.png"/>
          <p:cNvPicPr>
            <a:picLocks noChangeAspect="1"/>
          </p:cNvPicPr>
          <p:nvPr/>
        </p:nvPicPr>
        <p:blipFill>
          <a:blip r:embed="rId9"/>
          <a:stretch>
            <a:fillRect/>
          </a:stretch>
        </p:blipFill>
        <p:spPr>
          <a:xfrm>
            <a:off x="304800" y="4381500"/>
            <a:ext cx="5676900" cy="2247900"/>
          </a:xfrm>
          <a:prstGeom prst="rect">
            <a:avLst/>
          </a:prstGeom>
        </p:spPr>
      </p:pic>
      <p:pic>
        <p:nvPicPr>
          <p:cNvPr id="14" name="Image 12" descr="preencoded.png"/>
          <p:cNvPicPr>
            <a:picLocks noChangeAspect="1"/>
          </p:cNvPicPr>
          <p:nvPr/>
        </p:nvPicPr>
        <p:blipFill>
          <a:blip r:embed="rId10"/>
          <a:stretch>
            <a:fillRect/>
          </a:stretch>
        </p:blipFill>
        <p:spPr>
          <a:xfrm>
            <a:off x="533400" y="4610100"/>
            <a:ext cx="476250" cy="381000"/>
          </a:xfrm>
          <a:prstGeom prst="rect">
            <a:avLst/>
          </a:prstGeom>
        </p:spPr>
      </p:pic>
      <p:pic>
        <p:nvPicPr>
          <p:cNvPr id="15" name="Image 13" descr="preencoded.png"/>
          <p:cNvPicPr>
            <a:picLocks noChangeAspect="1"/>
          </p:cNvPicPr>
          <p:nvPr/>
        </p:nvPicPr>
        <p:blipFill>
          <a:blip r:embed="rId7"/>
          <a:stretch>
            <a:fillRect/>
          </a:stretch>
        </p:blipFill>
        <p:spPr>
          <a:xfrm>
            <a:off x="1162050" y="5600700"/>
            <a:ext cx="152400" cy="152400"/>
          </a:xfrm>
          <a:prstGeom prst="rect">
            <a:avLst/>
          </a:prstGeom>
        </p:spPr>
      </p:pic>
      <p:pic>
        <p:nvPicPr>
          <p:cNvPr id="16" name="Image 14" descr="preencoded.png"/>
          <p:cNvPicPr>
            <a:picLocks noChangeAspect="1"/>
          </p:cNvPicPr>
          <p:nvPr/>
        </p:nvPicPr>
        <p:blipFill>
          <a:blip r:embed="rId7"/>
          <a:stretch>
            <a:fillRect/>
          </a:stretch>
        </p:blipFill>
        <p:spPr>
          <a:xfrm>
            <a:off x="1162050" y="5905500"/>
            <a:ext cx="152400" cy="152400"/>
          </a:xfrm>
          <a:prstGeom prst="rect">
            <a:avLst/>
          </a:prstGeom>
        </p:spPr>
      </p:pic>
      <p:pic>
        <p:nvPicPr>
          <p:cNvPr id="17" name="Image 15" descr="preencoded.png"/>
          <p:cNvPicPr>
            <a:picLocks noChangeAspect="1"/>
          </p:cNvPicPr>
          <p:nvPr/>
        </p:nvPicPr>
        <p:blipFill>
          <a:blip r:embed="rId7"/>
          <a:stretch>
            <a:fillRect/>
          </a:stretch>
        </p:blipFill>
        <p:spPr>
          <a:xfrm>
            <a:off x="1162050" y="6210300"/>
            <a:ext cx="152400" cy="152400"/>
          </a:xfrm>
          <a:prstGeom prst="rect">
            <a:avLst/>
          </a:prstGeom>
        </p:spPr>
      </p:pic>
      <p:pic>
        <p:nvPicPr>
          <p:cNvPr id="18" name="Image 16" descr="preencoded.png"/>
          <p:cNvPicPr>
            <a:picLocks noChangeAspect="1"/>
          </p:cNvPicPr>
          <p:nvPr/>
        </p:nvPicPr>
        <p:blipFill>
          <a:blip r:embed="rId11"/>
          <a:stretch>
            <a:fillRect/>
          </a:stretch>
        </p:blipFill>
        <p:spPr>
          <a:xfrm>
            <a:off x="6210300" y="4381500"/>
            <a:ext cx="5676900" cy="2247900"/>
          </a:xfrm>
          <a:prstGeom prst="rect">
            <a:avLst/>
          </a:prstGeom>
        </p:spPr>
      </p:pic>
      <p:pic>
        <p:nvPicPr>
          <p:cNvPr id="19" name="Image 17" descr="preencoded.png"/>
          <p:cNvPicPr>
            <a:picLocks noChangeAspect="1"/>
          </p:cNvPicPr>
          <p:nvPr/>
        </p:nvPicPr>
        <p:blipFill>
          <a:blip r:embed="rId12"/>
          <a:stretch>
            <a:fillRect/>
          </a:stretch>
        </p:blipFill>
        <p:spPr>
          <a:xfrm>
            <a:off x="6438900" y="4610100"/>
            <a:ext cx="381000" cy="381000"/>
          </a:xfrm>
          <a:prstGeom prst="rect">
            <a:avLst/>
          </a:prstGeom>
        </p:spPr>
      </p:pic>
      <p:pic>
        <p:nvPicPr>
          <p:cNvPr id="20" name="Image 18" descr="preencoded.png"/>
          <p:cNvPicPr>
            <a:picLocks noChangeAspect="1"/>
          </p:cNvPicPr>
          <p:nvPr/>
        </p:nvPicPr>
        <p:blipFill>
          <a:blip r:embed="rId7"/>
          <a:stretch>
            <a:fillRect/>
          </a:stretch>
        </p:blipFill>
        <p:spPr>
          <a:xfrm>
            <a:off x="6972300" y="5600700"/>
            <a:ext cx="152400" cy="152400"/>
          </a:xfrm>
          <a:prstGeom prst="rect">
            <a:avLst/>
          </a:prstGeom>
        </p:spPr>
      </p:pic>
      <p:pic>
        <p:nvPicPr>
          <p:cNvPr id="21" name="Image 19" descr="preencoded.png"/>
          <p:cNvPicPr>
            <a:picLocks noChangeAspect="1"/>
          </p:cNvPicPr>
          <p:nvPr/>
        </p:nvPicPr>
        <p:blipFill>
          <a:blip r:embed="rId7"/>
          <a:stretch>
            <a:fillRect/>
          </a:stretch>
        </p:blipFill>
        <p:spPr>
          <a:xfrm>
            <a:off x="6972300" y="5905500"/>
            <a:ext cx="152400" cy="152400"/>
          </a:xfrm>
          <a:prstGeom prst="rect">
            <a:avLst/>
          </a:prstGeom>
        </p:spPr>
      </p:pic>
      <p:pic>
        <p:nvPicPr>
          <p:cNvPr id="22" name="Image 20" descr="preencoded.png"/>
          <p:cNvPicPr>
            <a:picLocks noChangeAspect="1"/>
          </p:cNvPicPr>
          <p:nvPr/>
        </p:nvPicPr>
        <p:blipFill>
          <a:blip r:embed="rId7"/>
          <a:stretch>
            <a:fillRect/>
          </a:stretch>
        </p:blipFill>
        <p:spPr>
          <a:xfrm>
            <a:off x="6972300" y="6210300"/>
            <a:ext cx="152400" cy="152400"/>
          </a:xfrm>
          <a:prstGeom prst="rect">
            <a:avLst/>
          </a:prstGeom>
        </p:spPr>
      </p:pic>
      <p:pic>
        <p:nvPicPr>
          <p:cNvPr id="23" name="Image 21" descr="preencoded.png"/>
          <p:cNvPicPr>
            <a:picLocks noChangeAspect="1"/>
          </p:cNvPicPr>
          <p:nvPr/>
        </p:nvPicPr>
        <p:blipFill>
          <a:blip r:embed="rId13"/>
          <a:stretch>
            <a:fillRect/>
          </a:stretch>
        </p:blipFill>
        <p:spPr>
          <a:xfrm>
            <a:off x="304800" y="6858000"/>
            <a:ext cx="11582400" cy="952500"/>
          </a:xfrm>
          <a:prstGeom prst="rect">
            <a:avLst/>
          </a:prstGeom>
        </p:spPr>
      </p:pic>
      <p:pic>
        <p:nvPicPr>
          <p:cNvPr id="24" name="Image 22" descr="preencoded.png"/>
          <p:cNvPicPr>
            <a:picLocks noChangeAspect="1"/>
          </p:cNvPicPr>
          <p:nvPr/>
        </p:nvPicPr>
        <p:blipFill>
          <a:blip r:embed="rId14"/>
          <a:stretch>
            <a:fillRect/>
          </a:stretch>
        </p:blipFill>
        <p:spPr>
          <a:xfrm>
            <a:off x="457200" y="7353300"/>
            <a:ext cx="257175" cy="304800"/>
          </a:xfrm>
          <a:prstGeom prst="rect">
            <a:avLst/>
          </a:prstGeom>
        </p:spPr>
      </p:pic>
      <p:pic>
        <p:nvPicPr>
          <p:cNvPr id="25" name="Image 23" descr="preencoded.png"/>
          <p:cNvPicPr>
            <a:picLocks noChangeAspect="1"/>
          </p:cNvPicPr>
          <p:nvPr/>
        </p:nvPicPr>
        <p:blipFill>
          <a:blip r:embed="rId15"/>
          <a:stretch>
            <a:fillRect/>
          </a:stretch>
        </p:blipFill>
        <p:spPr>
          <a:xfrm>
            <a:off x="3487341" y="7353300"/>
            <a:ext cx="228600" cy="304800"/>
          </a:xfrm>
          <a:prstGeom prst="rect">
            <a:avLst/>
          </a:prstGeom>
        </p:spPr>
      </p:pic>
      <p:pic>
        <p:nvPicPr>
          <p:cNvPr id="26" name="Image 24" descr="preencoded.png"/>
          <p:cNvPicPr>
            <a:picLocks noChangeAspect="1"/>
          </p:cNvPicPr>
          <p:nvPr/>
        </p:nvPicPr>
        <p:blipFill>
          <a:blip r:embed="rId16"/>
          <a:stretch>
            <a:fillRect/>
          </a:stretch>
        </p:blipFill>
        <p:spPr>
          <a:xfrm>
            <a:off x="6456908" y="7353300"/>
            <a:ext cx="228600" cy="304800"/>
          </a:xfrm>
          <a:prstGeom prst="rect">
            <a:avLst/>
          </a:prstGeom>
        </p:spPr>
      </p:pic>
      <p:pic>
        <p:nvPicPr>
          <p:cNvPr id="27" name="Image 25" descr="preencoded.png"/>
          <p:cNvPicPr>
            <a:picLocks noChangeAspect="1"/>
          </p:cNvPicPr>
          <p:nvPr/>
        </p:nvPicPr>
        <p:blipFill>
          <a:blip r:embed="rId17"/>
          <a:stretch>
            <a:fillRect/>
          </a:stretch>
        </p:blipFill>
        <p:spPr>
          <a:xfrm>
            <a:off x="9296400" y="7353300"/>
            <a:ext cx="228600" cy="304800"/>
          </a:xfrm>
          <a:prstGeom prst="rect">
            <a:avLst/>
          </a:prstGeom>
        </p:spPr>
      </p:pic>
      <p:pic>
        <p:nvPicPr>
          <p:cNvPr id="28" name="Image 26" descr="preencoded.png"/>
          <p:cNvPicPr>
            <a:picLocks noChangeAspect="1"/>
          </p:cNvPicPr>
          <p:nvPr/>
        </p:nvPicPr>
        <p:blipFill>
          <a:blip r:embed="rId18"/>
          <a:stretch>
            <a:fillRect/>
          </a:stretch>
        </p:blipFill>
        <p:spPr>
          <a:xfrm>
            <a:off x="0" y="8191500"/>
            <a:ext cx="12192000" cy="457200"/>
          </a:xfrm>
          <a:prstGeom prst="rect">
            <a:avLst/>
          </a:prstGeom>
        </p:spPr>
      </p:pic>
      <p:sp>
        <p:nvSpPr>
          <p:cNvPr id="29"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Technology in Compliance Auditing</a:t>
            </a:r>
            <a:endParaRPr lang="en-US" sz="2700" dirty="0"/>
          </a:p>
        </p:txBody>
      </p:sp>
      <p:sp>
        <p:nvSpPr>
          <p:cNvPr id="30"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Modern compliance auditing is increasingly leveraging technology to enhance efficiency, accuracy, and coverage while reducing manual effort and human error.</a:t>
            </a:r>
            <a:endParaRPr lang="en-US" sz="1350" dirty="0"/>
          </a:p>
        </p:txBody>
      </p:sp>
      <p:sp>
        <p:nvSpPr>
          <p:cNvPr id="31" name="Text 2"/>
          <p:cNvSpPr/>
          <p:nvPr/>
        </p:nvSpPr>
        <p:spPr>
          <a:xfrm>
            <a:off x="1114425" y="2133600"/>
            <a:ext cx="4638675" cy="304800"/>
          </a:xfrm>
          <a:prstGeom prst="rect">
            <a:avLst/>
          </a:prstGeom>
          <a:noFill/>
          <a:ln/>
        </p:spPr>
        <p:txBody>
          <a:bodyPr vert="horz" wrap="square" lIns="0" tIns="0" rIns="0" bIns="0" rtlCol="0" anchor="t"/>
          <a:lstStyle/>
          <a:p>
            <a:pPr marL="0" indent="0">
              <a:lnSpc>
                <a:spcPts val="2400"/>
              </a:lnSpc>
              <a:buNone/>
            </a:pPr>
            <a:r>
              <a:rPr lang="en-US" sz="1800" b="1" dirty="0">
                <a:solidFill>
                  <a:srgbClr val="0F766E"/>
                </a:solidFill>
                <a:latin typeface="ui-sans-serif" pitchFamily="34" charset="0"/>
                <a:ea typeface="ui-sans-serif" pitchFamily="34" charset="-122"/>
                <a:cs typeface="ui-sans-serif" pitchFamily="34" charset="-120"/>
              </a:rPr>
              <a:t>GRC Platforms</a:t>
            </a:r>
            <a:endParaRPr lang="en-US" sz="1800" dirty="0"/>
          </a:p>
        </p:txBody>
      </p:sp>
      <p:sp>
        <p:nvSpPr>
          <p:cNvPr id="32" name="Text 3"/>
          <p:cNvSpPr/>
          <p:nvPr/>
        </p:nvSpPr>
        <p:spPr>
          <a:xfrm>
            <a:off x="1114425" y="2514600"/>
            <a:ext cx="4638675"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Integrated solutions that centralize governance, risk, and compliance activities.</a:t>
            </a:r>
            <a:endParaRPr lang="en-US" sz="1200" dirty="0"/>
          </a:p>
        </p:txBody>
      </p:sp>
      <p:sp>
        <p:nvSpPr>
          <p:cNvPr id="33" name="Text 4"/>
          <p:cNvSpPr/>
          <p:nvPr/>
        </p:nvSpPr>
        <p:spPr>
          <a:xfrm>
            <a:off x="1343025" y="3086100"/>
            <a:ext cx="476648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Centralized policy management and documentation</a:t>
            </a:r>
            <a:endParaRPr lang="en-US" sz="1200" dirty="0"/>
          </a:p>
        </p:txBody>
      </p:sp>
      <p:sp>
        <p:nvSpPr>
          <p:cNvPr id="34" name="Text 5"/>
          <p:cNvSpPr/>
          <p:nvPr/>
        </p:nvSpPr>
        <p:spPr>
          <a:xfrm>
            <a:off x="1343025" y="3390900"/>
            <a:ext cx="375296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Workflow automation for audit processes</a:t>
            </a:r>
            <a:endParaRPr lang="en-US" sz="1200" dirty="0"/>
          </a:p>
        </p:txBody>
      </p:sp>
      <p:sp>
        <p:nvSpPr>
          <p:cNvPr id="35" name="Text 6"/>
          <p:cNvSpPr/>
          <p:nvPr/>
        </p:nvSpPr>
        <p:spPr>
          <a:xfrm>
            <a:off x="1343025" y="3695700"/>
            <a:ext cx="372189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Real-time compliance status dashboards</a:t>
            </a:r>
            <a:endParaRPr lang="en-US" sz="1200" dirty="0"/>
          </a:p>
        </p:txBody>
      </p:sp>
      <p:sp>
        <p:nvSpPr>
          <p:cNvPr id="36" name="Text 7"/>
          <p:cNvSpPr/>
          <p:nvPr/>
        </p:nvSpPr>
        <p:spPr>
          <a:xfrm>
            <a:off x="6591300" y="2133600"/>
            <a:ext cx="5067300" cy="304800"/>
          </a:xfrm>
          <a:prstGeom prst="rect">
            <a:avLst/>
          </a:prstGeom>
          <a:noFill/>
          <a:ln/>
        </p:spPr>
        <p:txBody>
          <a:bodyPr vert="horz" wrap="square" lIns="0" tIns="0" rIns="0" bIns="0" rtlCol="0" anchor="t"/>
          <a:lstStyle/>
          <a:p>
            <a:pPr marL="0" indent="0">
              <a:lnSpc>
                <a:spcPts val="2400"/>
              </a:lnSpc>
              <a:buNone/>
            </a:pPr>
            <a:r>
              <a:rPr lang="en-US" sz="1800" b="1" dirty="0">
                <a:solidFill>
                  <a:srgbClr val="7E22CE"/>
                </a:solidFill>
                <a:latin typeface="ui-sans-serif" pitchFamily="34" charset="0"/>
                <a:ea typeface="ui-sans-serif" pitchFamily="34" charset="-122"/>
                <a:cs typeface="ui-sans-serif" pitchFamily="34" charset="-120"/>
              </a:rPr>
              <a:t>Data Analytics</a:t>
            </a:r>
            <a:endParaRPr lang="en-US" sz="1800" dirty="0"/>
          </a:p>
        </p:txBody>
      </p:sp>
      <p:sp>
        <p:nvSpPr>
          <p:cNvPr id="37" name="Text 8"/>
          <p:cNvSpPr/>
          <p:nvPr/>
        </p:nvSpPr>
        <p:spPr>
          <a:xfrm>
            <a:off x="6591300" y="2514600"/>
            <a:ext cx="5067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Tools to process vast amounts of information and identify anomalies.</a:t>
            </a:r>
            <a:endParaRPr lang="en-US" sz="1200" dirty="0"/>
          </a:p>
        </p:txBody>
      </p:sp>
      <p:sp>
        <p:nvSpPr>
          <p:cNvPr id="38" name="Text 9"/>
          <p:cNvSpPr/>
          <p:nvPr/>
        </p:nvSpPr>
        <p:spPr>
          <a:xfrm>
            <a:off x="6819900" y="3086100"/>
            <a:ext cx="471166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Pattern recognition for detecting compliance issues</a:t>
            </a:r>
            <a:endParaRPr lang="en-US" sz="1200" dirty="0"/>
          </a:p>
        </p:txBody>
      </p:sp>
      <p:sp>
        <p:nvSpPr>
          <p:cNvPr id="39" name="Text 10"/>
          <p:cNvSpPr/>
          <p:nvPr/>
        </p:nvSpPr>
        <p:spPr>
          <a:xfrm>
            <a:off x="6819900" y="3390900"/>
            <a:ext cx="3691176"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Risk-based sampling for efficient testing</a:t>
            </a:r>
            <a:endParaRPr lang="en-US" sz="1200" dirty="0"/>
          </a:p>
        </p:txBody>
      </p:sp>
      <p:sp>
        <p:nvSpPr>
          <p:cNvPr id="40" name="Text 11"/>
          <p:cNvSpPr/>
          <p:nvPr/>
        </p:nvSpPr>
        <p:spPr>
          <a:xfrm>
            <a:off x="6819900" y="3695700"/>
            <a:ext cx="428232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Visualization of compliance trends and metrics</a:t>
            </a:r>
            <a:endParaRPr lang="en-US" sz="1200" dirty="0"/>
          </a:p>
        </p:txBody>
      </p:sp>
      <p:sp>
        <p:nvSpPr>
          <p:cNvPr id="41" name="Text 12"/>
          <p:cNvSpPr/>
          <p:nvPr/>
        </p:nvSpPr>
        <p:spPr>
          <a:xfrm>
            <a:off x="1162050" y="4610100"/>
            <a:ext cx="55092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E55555"/>
                </a:solidFill>
                <a:latin typeface="ui-sans-serif" pitchFamily="34" charset="0"/>
                <a:ea typeface="ui-sans-serif" pitchFamily="34" charset="-122"/>
                <a:cs typeface="ui-sans-serif" pitchFamily="34" charset="-120"/>
              </a:rPr>
              <a:t>Automated Testing</a:t>
            </a:r>
            <a:endParaRPr lang="en-US" sz="1800" dirty="0"/>
          </a:p>
        </p:txBody>
      </p:sp>
      <p:sp>
        <p:nvSpPr>
          <p:cNvPr id="42" name="Text 13"/>
          <p:cNvSpPr/>
          <p:nvPr/>
        </p:nvSpPr>
        <p:spPr>
          <a:xfrm>
            <a:off x="1162050" y="4991100"/>
            <a:ext cx="45910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Solutions that automate control testing and validation processes.</a:t>
            </a:r>
            <a:endParaRPr lang="en-US" sz="1200" dirty="0"/>
          </a:p>
        </p:txBody>
      </p:sp>
      <p:sp>
        <p:nvSpPr>
          <p:cNvPr id="43" name="Text 14"/>
          <p:cNvSpPr/>
          <p:nvPr/>
        </p:nvSpPr>
        <p:spPr>
          <a:xfrm>
            <a:off x="1390650" y="5562600"/>
            <a:ext cx="414212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Continuous control monitoring and validation</a:t>
            </a:r>
            <a:endParaRPr lang="en-US" sz="1200" dirty="0"/>
          </a:p>
        </p:txBody>
      </p:sp>
      <p:sp>
        <p:nvSpPr>
          <p:cNvPr id="44" name="Text 15"/>
          <p:cNvSpPr/>
          <p:nvPr/>
        </p:nvSpPr>
        <p:spPr>
          <a:xfrm>
            <a:off x="1390650" y="5867400"/>
            <a:ext cx="468344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Automated evidence collection and documentation</a:t>
            </a:r>
            <a:endParaRPr lang="en-US" sz="1200" dirty="0"/>
          </a:p>
        </p:txBody>
      </p:sp>
      <p:sp>
        <p:nvSpPr>
          <p:cNvPr id="45" name="Text 16"/>
          <p:cNvSpPr/>
          <p:nvPr/>
        </p:nvSpPr>
        <p:spPr>
          <a:xfrm>
            <a:off x="1390650" y="6172200"/>
            <a:ext cx="466361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Exception-based reporting for focused remediation</a:t>
            </a:r>
            <a:endParaRPr lang="en-US" sz="1200" dirty="0"/>
          </a:p>
        </p:txBody>
      </p:sp>
      <p:sp>
        <p:nvSpPr>
          <p:cNvPr id="46" name="Text 17"/>
          <p:cNvSpPr/>
          <p:nvPr/>
        </p:nvSpPr>
        <p:spPr>
          <a:xfrm>
            <a:off x="6972300" y="4610100"/>
            <a:ext cx="5623560" cy="304800"/>
          </a:xfrm>
          <a:prstGeom prst="rect">
            <a:avLst/>
          </a:prstGeom>
          <a:noFill/>
          <a:ln/>
        </p:spPr>
        <p:txBody>
          <a:bodyPr vert="horz" wrap="square" lIns="0" tIns="0" rIns="0" bIns="0" rtlCol="0" anchor="t"/>
          <a:lstStyle/>
          <a:p>
            <a:pPr marL="0" indent="0">
              <a:lnSpc>
                <a:spcPts val="2400"/>
              </a:lnSpc>
              <a:buNone/>
            </a:pPr>
            <a:r>
              <a:rPr lang="en-US" sz="1800" b="1" dirty="0">
                <a:solidFill>
                  <a:srgbClr val="88BB88"/>
                </a:solidFill>
                <a:latin typeface="ui-sans-serif" pitchFamily="34" charset="0"/>
                <a:ea typeface="ui-sans-serif" pitchFamily="34" charset="-122"/>
                <a:cs typeface="ui-sans-serif" pitchFamily="34" charset="-120"/>
              </a:rPr>
              <a:t>AI &amp; Continuous Auditing</a:t>
            </a:r>
            <a:endParaRPr lang="en-US" sz="1800" dirty="0"/>
          </a:p>
        </p:txBody>
      </p:sp>
      <p:sp>
        <p:nvSpPr>
          <p:cNvPr id="47" name="Text 18"/>
          <p:cNvSpPr/>
          <p:nvPr/>
        </p:nvSpPr>
        <p:spPr>
          <a:xfrm>
            <a:off x="6972300" y="4991100"/>
            <a:ext cx="46863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Advanced technologies providing real-time insights into compliance posture.</a:t>
            </a:r>
            <a:endParaRPr lang="en-US" sz="1200" dirty="0"/>
          </a:p>
        </p:txBody>
      </p:sp>
      <p:sp>
        <p:nvSpPr>
          <p:cNvPr id="48" name="Text 19"/>
          <p:cNvSpPr/>
          <p:nvPr/>
        </p:nvSpPr>
        <p:spPr>
          <a:xfrm>
            <a:off x="7200900" y="5562600"/>
            <a:ext cx="4582894"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Predictive analysis for compliance risk forecasting</a:t>
            </a:r>
            <a:endParaRPr lang="en-US" sz="1200" dirty="0"/>
          </a:p>
        </p:txBody>
      </p:sp>
      <p:sp>
        <p:nvSpPr>
          <p:cNvPr id="49" name="Text 20"/>
          <p:cNvSpPr/>
          <p:nvPr/>
        </p:nvSpPr>
        <p:spPr>
          <a:xfrm>
            <a:off x="7200900" y="5867400"/>
            <a:ext cx="364849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Machine learning for anomaly detection</a:t>
            </a:r>
            <a:endParaRPr lang="en-US" sz="1200" dirty="0"/>
          </a:p>
        </p:txBody>
      </p:sp>
      <p:sp>
        <p:nvSpPr>
          <p:cNvPr id="50" name="Text 21"/>
          <p:cNvSpPr/>
          <p:nvPr/>
        </p:nvSpPr>
        <p:spPr>
          <a:xfrm>
            <a:off x="7200900" y="6172200"/>
            <a:ext cx="420284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000000"/>
                </a:solidFill>
                <a:latin typeface="ui-sans-serif" pitchFamily="34" charset="0"/>
                <a:ea typeface="ui-sans-serif" pitchFamily="34" charset="-122"/>
                <a:cs typeface="ui-sans-serif" pitchFamily="34" charset="-120"/>
              </a:rPr>
              <a:t>Real-time compliance monitoring and alerting</a:t>
            </a:r>
            <a:endParaRPr lang="en-US" sz="1200" dirty="0"/>
          </a:p>
        </p:txBody>
      </p:sp>
      <p:sp>
        <p:nvSpPr>
          <p:cNvPr id="51" name="Text 22"/>
          <p:cNvSpPr/>
          <p:nvPr/>
        </p:nvSpPr>
        <p:spPr>
          <a:xfrm>
            <a:off x="457200" y="7010400"/>
            <a:ext cx="11277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Technology Benefits in Compliance Auditing</a:t>
            </a:r>
            <a:endParaRPr lang="en-US" sz="1500" dirty="0"/>
          </a:p>
        </p:txBody>
      </p:sp>
      <p:sp>
        <p:nvSpPr>
          <p:cNvPr id="52" name="Text 23"/>
          <p:cNvSpPr/>
          <p:nvPr/>
        </p:nvSpPr>
        <p:spPr>
          <a:xfrm>
            <a:off x="828675" y="7391400"/>
            <a:ext cx="1826121"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Increased efficiency</a:t>
            </a:r>
            <a:endParaRPr lang="en-US" sz="1200" dirty="0"/>
          </a:p>
        </p:txBody>
      </p:sp>
      <p:sp>
        <p:nvSpPr>
          <p:cNvPr id="53" name="Text 24"/>
          <p:cNvSpPr/>
          <p:nvPr/>
        </p:nvSpPr>
        <p:spPr>
          <a:xfrm>
            <a:off x="3830241" y="7391400"/>
            <a:ext cx="1787723"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Enhanced accuracy</a:t>
            </a:r>
            <a:endParaRPr lang="en-US" sz="1200" dirty="0"/>
          </a:p>
        </p:txBody>
      </p:sp>
      <p:sp>
        <p:nvSpPr>
          <p:cNvPr id="54" name="Text 25"/>
          <p:cNvSpPr/>
          <p:nvPr/>
        </p:nvSpPr>
        <p:spPr>
          <a:xfrm>
            <a:off x="6799808" y="7391400"/>
            <a:ext cx="1631633"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Broader coverage</a:t>
            </a:r>
            <a:endParaRPr lang="en-US" sz="1200" dirty="0"/>
          </a:p>
        </p:txBody>
      </p:sp>
      <p:sp>
        <p:nvSpPr>
          <p:cNvPr id="55" name="Text 26"/>
          <p:cNvSpPr/>
          <p:nvPr/>
        </p:nvSpPr>
        <p:spPr>
          <a:xfrm>
            <a:off x="9639300" y="7391400"/>
            <a:ext cx="2514600" cy="228600"/>
          </a:xfrm>
          <a:prstGeom prst="rect">
            <a:avLst/>
          </a:prstGeom>
          <a:noFill/>
          <a:ln/>
        </p:spPr>
        <p:txBody>
          <a:bodyPr vert="horz" wrap="square" lIns="0" tIns="0" rIns="0" bIns="0" rtlCol="0" anchor="t"/>
          <a:lstStyle/>
          <a:p>
            <a:pPr marL="0" indent="0">
              <a:lnSpc>
                <a:spcPts val="1800"/>
              </a:lnSpc>
              <a:buNone/>
            </a:pPr>
            <a:r>
              <a:rPr lang="en-US" sz="1200" dirty="0">
                <a:solidFill>
                  <a:srgbClr val="000000"/>
                </a:solidFill>
                <a:latin typeface="ui-sans-serif" pitchFamily="34" charset="0"/>
                <a:ea typeface="ui-sans-serif" pitchFamily="34" charset="-122"/>
                <a:cs typeface="ui-sans-serif" pitchFamily="34" charset="-120"/>
              </a:rPr>
              <a:t>Proactive risk management</a:t>
            </a:r>
            <a:endParaRPr lang="en-US" sz="1200" dirty="0"/>
          </a:p>
        </p:txBody>
      </p:sp>
      <p:sp>
        <p:nvSpPr>
          <p:cNvPr id="56" name="Text 27"/>
          <p:cNvSpPr/>
          <p:nvPr/>
        </p:nvSpPr>
        <p:spPr>
          <a:xfrm>
            <a:off x="381000" y="8305800"/>
            <a:ext cx="2573893"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Compliance Audit Processes</a:t>
            </a:r>
            <a:endParaRPr lang="en-US" sz="1200" dirty="0"/>
          </a:p>
        </p:txBody>
      </p:sp>
      <p:sp>
        <p:nvSpPr>
          <p:cNvPr id="57" name="Text 28"/>
          <p:cNvSpPr/>
          <p:nvPr/>
        </p:nvSpPr>
        <p:spPr>
          <a:xfrm>
            <a:off x="11371808" y="83058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22/26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905000"/>
            <a:ext cx="3708350" cy="2628900"/>
          </a:xfrm>
          <a:prstGeom prst="rect">
            <a:avLst/>
          </a:prstGeom>
        </p:spPr>
      </p:pic>
      <p:pic>
        <p:nvPicPr>
          <p:cNvPr id="5" name="Image 3" descr="preencoded.png"/>
          <p:cNvPicPr>
            <a:picLocks noChangeAspect="1"/>
          </p:cNvPicPr>
          <p:nvPr/>
        </p:nvPicPr>
        <p:blipFill>
          <a:blip r:embed="rId6"/>
          <a:stretch>
            <a:fillRect/>
          </a:stretch>
        </p:blipFill>
        <p:spPr>
          <a:xfrm>
            <a:off x="533400" y="3048000"/>
            <a:ext cx="152400" cy="152400"/>
          </a:xfrm>
          <a:prstGeom prst="rect">
            <a:avLst/>
          </a:prstGeom>
        </p:spPr>
      </p:pic>
      <p:pic>
        <p:nvPicPr>
          <p:cNvPr id="6" name="Image 4" descr="preencoded.png"/>
          <p:cNvPicPr>
            <a:picLocks noChangeAspect="1"/>
          </p:cNvPicPr>
          <p:nvPr/>
        </p:nvPicPr>
        <p:blipFill>
          <a:blip r:embed="rId6"/>
          <a:stretch>
            <a:fillRect/>
          </a:stretch>
        </p:blipFill>
        <p:spPr>
          <a:xfrm>
            <a:off x="533400" y="3581400"/>
            <a:ext cx="152400" cy="152400"/>
          </a:xfrm>
          <a:prstGeom prst="rect">
            <a:avLst/>
          </a:prstGeom>
        </p:spPr>
      </p:pic>
      <p:pic>
        <p:nvPicPr>
          <p:cNvPr id="7" name="Image 5" descr="preencoded.png"/>
          <p:cNvPicPr>
            <a:picLocks noChangeAspect="1"/>
          </p:cNvPicPr>
          <p:nvPr/>
        </p:nvPicPr>
        <p:blipFill>
          <a:blip r:embed="rId6"/>
          <a:stretch>
            <a:fillRect/>
          </a:stretch>
        </p:blipFill>
        <p:spPr>
          <a:xfrm>
            <a:off x="533400" y="3886200"/>
            <a:ext cx="152400" cy="152400"/>
          </a:xfrm>
          <a:prstGeom prst="rect">
            <a:avLst/>
          </a:prstGeom>
        </p:spPr>
      </p:pic>
      <p:pic>
        <p:nvPicPr>
          <p:cNvPr id="8" name="Image 6" descr="preencoded.png"/>
          <p:cNvPicPr>
            <a:picLocks noChangeAspect="1"/>
          </p:cNvPicPr>
          <p:nvPr/>
        </p:nvPicPr>
        <p:blipFill>
          <a:blip r:embed="rId7"/>
          <a:stretch>
            <a:fillRect/>
          </a:stretch>
        </p:blipFill>
        <p:spPr>
          <a:xfrm>
            <a:off x="4241750" y="1905000"/>
            <a:ext cx="3708350" cy="2628900"/>
          </a:xfrm>
          <a:prstGeom prst="rect">
            <a:avLst/>
          </a:prstGeom>
        </p:spPr>
      </p:pic>
      <p:pic>
        <p:nvPicPr>
          <p:cNvPr id="9" name="Image 7" descr="preencoded.png"/>
          <p:cNvPicPr>
            <a:picLocks noChangeAspect="1"/>
          </p:cNvPicPr>
          <p:nvPr/>
        </p:nvPicPr>
        <p:blipFill>
          <a:blip r:embed="rId8"/>
          <a:stretch>
            <a:fillRect/>
          </a:stretch>
        </p:blipFill>
        <p:spPr>
          <a:xfrm>
            <a:off x="5905351" y="2133600"/>
            <a:ext cx="381000" cy="381000"/>
          </a:xfrm>
          <a:prstGeom prst="rect">
            <a:avLst/>
          </a:prstGeom>
        </p:spPr>
      </p:pic>
      <p:pic>
        <p:nvPicPr>
          <p:cNvPr id="10" name="Image 8" descr="preencoded.png"/>
          <p:cNvPicPr>
            <a:picLocks noChangeAspect="1"/>
          </p:cNvPicPr>
          <p:nvPr/>
        </p:nvPicPr>
        <p:blipFill>
          <a:blip r:embed="rId9"/>
          <a:stretch>
            <a:fillRect/>
          </a:stretch>
        </p:blipFill>
        <p:spPr>
          <a:xfrm>
            <a:off x="4470350" y="3124200"/>
            <a:ext cx="152400" cy="152400"/>
          </a:xfrm>
          <a:prstGeom prst="rect">
            <a:avLst/>
          </a:prstGeom>
        </p:spPr>
      </p:pic>
      <p:pic>
        <p:nvPicPr>
          <p:cNvPr id="11" name="Image 9" descr="preencoded.png"/>
          <p:cNvPicPr>
            <a:picLocks noChangeAspect="1"/>
          </p:cNvPicPr>
          <p:nvPr/>
        </p:nvPicPr>
        <p:blipFill>
          <a:blip r:embed="rId9"/>
          <a:stretch>
            <a:fillRect/>
          </a:stretch>
        </p:blipFill>
        <p:spPr>
          <a:xfrm>
            <a:off x="4470350" y="3429000"/>
            <a:ext cx="152400" cy="152400"/>
          </a:xfrm>
          <a:prstGeom prst="rect">
            <a:avLst/>
          </a:prstGeom>
        </p:spPr>
      </p:pic>
      <p:pic>
        <p:nvPicPr>
          <p:cNvPr id="12" name="Image 10" descr="preencoded.png"/>
          <p:cNvPicPr>
            <a:picLocks noChangeAspect="1"/>
          </p:cNvPicPr>
          <p:nvPr/>
        </p:nvPicPr>
        <p:blipFill>
          <a:blip r:embed="rId9"/>
          <a:stretch>
            <a:fillRect/>
          </a:stretch>
        </p:blipFill>
        <p:spPr>
          <a:xfrm>
            <a:off x="4470350" y="3733800"/>
            <a:ext cx="152400" cy="152400"/>
          </a:xfrm>
          <a:prstGeom prst="rect">
            <a:avLst/>
          </a:prstGeom>
        </p:spPr>
      </p:pic>
      <p:pic>
        <p:nvPicPr>
          <p:cNvPr id="13" name="Image 11" descr="preencoded.png"/>
          <p:cNvPicPr>
            <a:picLocks noChangeAspect="1"/>
          </p:cNvPicPr>
          <p:nvPr/>
        </p:nvPicPr>
        <p:blipFill>
          <a:blip r:embed="rId10"/>
          <a:stretch>
            <a:fillRect/>
          </a:stretch>
        </p:blipFill>
        <p:spPr>
          <a:xfrm>
            <a:off x="8178701" y="1905000"/>
            <a:ext cx="3708499" cy="2628900"/>
          </a:xfrm>
          <a:prstGeom prst="rect">
            <a:avLst/>
          </a:prstGeom>
        </p:spPr>
      </p:pic>
      <p:pic>
        <p:nvPicPr>
          <p:cNvPr id="14" name="Image 12" descr="preencoded.png"/>
          <p:cNvPicPr>
            <a:picLocks noChangeAspect="1"/>
          </p:cNvPicPr>
          <p:nvPr/>
        </p:nvPicPr>
        <p:blipFill>
          <a:blip r:embed="rId11"/>
          <a:stretch>
            <a:fillRect/>
          </a:stretch>
        </p:blipFill>
        <p:spPr>
          <a:xfrm>
            <a:off x="9842450" y="2133600"/>
            <a:ext cx="381000" cy="381000"/>
          </a:xfrm>
          <a:prstGeom prst="rect">
            <a:avLst/>
          </a:prstGeom>
        </p:spPr>
      </p:pic>
      <p:pic>
        <p:nvPicPr>
          <p:cNvPr id="15" name="Image 13" descr="preencoded.png"/>
          <p:cNvPicPr>
            <a:picLocks noChangeAspect="1"/>
          </p:cNvPicPr>
          <p:nvPr/>
        </p:nvPicPr>
        <p:blipFill>
          <a:blip r:embed="rId12"/>
          <a:stretch>
            <a:fillRect/>
          </a:stretch>
        </p:blipFill>
        <p:spPr>
          <a:xfrm>
            <a:off x="8407301" y="3124200"/>
            <a:ext cx="152400" cy="152400"/>
          </a:xfrm>
          <a:prstGeom prst="rect">
            <a:avLst/>
          </a:prstGeom>
        </p:spPr>
      </p:pic>
      <p:pic>
        <p:nvPicPr>
          <p:cNvPr id="16" name="Image 14" descr="preencoded.png"/>
          <p:cNvPicPr>
            <a:picLocks noChangeAspect="1"/>
          </p:cNvPicPr>
          <p:nvPr/>
        </p:nvPicPr>
        <p:blipFill>
          <a:blip r:embed="rId12"/>
          <a:stretch>
            <a:fillRect/>
          </a:stretch>
        </p:blipFill>
        <p:spPr>
          <a:xfrm>
            <a:off x="8407301" y="3429000"/>
            <a:ext cx="152400" cy="152400"/>
          </a:xfrm>
          <a:prstGeom prst="rect">
            <a:avLst/>
          </a:prstGeom>
        </p:spPr>
      </p:pic>
      <p:pic>
        <p:nvPicPr>
          <p:cNvPr id="17" name="Image 15" descr="preencoded.png"/>
          <p:cNvPicPr>
            <a:picLocks noChangeAspect="1"/>
          </p:cNvPicPr>
          <p:nvPr/>
        </p:nvPicPr>
        <p:blipFill>
          <a:blip r:embed="rId12"/>
          <a:stretch>
            <a:fillRect/>
          </a:stretch>
        </p:blipFill>
        <p:spPr>
          <a:xfrm>
            <a:off x="8407301" y="3733800"/>
            <a:ext cx="152400" cy="152400"/>
          </a:xfrm>
          <a:prstGeom prst="rect">
            <a:avLst/>
          </a:prstGeom>
        </p:spPr>
      </p:pic>
      <p:pic>
        <p:nvPicPr>
          <p:cNvPr id="18" name="Image 16" descr="preencoded.png"/>
          <p:cNvPicPr>
            <a:picLocks noChangeAspect="1"/>
          </p:cNvPicPr>
          <p:nvPr/>
        </p:nvPicPr>
        <p:blipFill>
          <a:blip r:embed="rId13"/>
          <a:stretch>
            <a:fillRect/>
          </a:stretch>
        </p:blipFill>
        <p:spPr>
          <a:xfrm>
            <a:off x="304800" y="4762500"/>
            <a:ext cx="11582400" cy="762000"/>
          </a:xfrm>
          <a:prstGeom prst="rect">
            <a:avLst/>
          </a:prstGeom>
        </p:spPr>
      </p:pic>
      <p:pic>
        <p:nvPicPr>
          <p:cNvPr id="19" name="Image 17" descr="preencoded.png"/>
          <p:cNvPicPr>
            <a:picLocks noChangeAspect="1"/>
          </p:cNvPicPr>
          <p:nvPr/>
        </p:nvPicPr>
        <p:blipFill>
          <a:blip r:embed="rId14"/>
          <a:stretch>
            <a:fillRect/>
          </a:stretch>
        </p:blipFill>
        <p:spPr>
          <a:xfrm>
            <a:off x="457200" y="4953000"/>
            <a:ext cx="142875" cy="266700"/>
          </a:xfrm>
          <a:prstGeom prst="rect">
            <a:avLst/>
          </a:prstGeom>
        </p:spPr>
      </p:pic>
      <p:pic>
        <p:nvPicPr>
          <p:cNvPr id="20" name="Image 18" descr="preencoded.png"/>
          <p:cNvPicPr>
            <a:picLocks noChangeAspect="1"/>
          </p:cNvPicPr>
          <p:nvPr/>
        </p:nvPicPr>
        <p:blipFill>
          <a:blip r:embed="rId15"/>
          <a:stretch>
            <a:fillRect/>
          </a:stretch>
        </p:blipFill>
        <p:spPr>
          <a:xfrm>
            <a:off x="0" y="6400800"/>
            <a:ext cx="12192000" cy="457200"/>
          </a:xfrm>
          <a:prstGeom prst="rect">
            <a:avLst/>
          </a:prstGeom>
        </p:spPr>
      </p:pic>
      <p:sp>
        <p:nvSpPr>
          <p:cNvPr id="21"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Future Trends in Compliance Auditing</a:t>
            </a:r>
            <a:endParaRPr lang="en-US" sz="2700" dirty="0"/>
          </a:p>
        </p:txBody>
      </p:sp>
      <p:sp>
        <p:nvSpPr>
          <p:cNvPr id="22" name="Text 1"/>
          <p:cNvSpPr/>
          <p:nvPr/>
        </p:nvSpPr>
        <p:spPr>
          <a:xfrm>
            <a:off x="304800" y="1143000"/>
            <a:ext cx="11582400" cy="533400"/>
          </a:xfrm>
          <a:prstGeom prst="rect">
            <a:avLst/>
          </a:prstGeom>
          <a:noFill/>
          <a:ln/>
        </p:spPr>
        <p:txBody>
          <a:bodyPr vert="horz" wrap="square" lIns="0" tIns="0" rIns="0" bIns="0" rtlCol="0" anchor="t"/>
          <a:lstStyle/>
          <a:p>
            <a:pPr marL="0" indent="0">
              <a:lnSpc>
                <a:spcPts val="2100"/>
              </a:lnSpc>
              <a:buNone/>
            </a:pPr>
            <a:r>
              <a:rPr lang="en-US" sz="1350" dirty="0">
                <a:solidFill>
                  <a:srgbClr val="374151"/>
                </a:solidFill>
                <a:latin typeface="ui-sans-serif" pitchFamily="34" charset="0"/>
                <a:ea typeface="ui-sans-serif" pitchFamily="34" charset="-122"/>
                <a:cs typeface="ui-sans-serif" pitchFamily="34" charset="-120"/>
              </a:rPr>
              <a:t>The landscape of compliance auditing is continuously evolving, driven by technological advancements and increasing regulatory complexity. These emerging approaches promise to enhance the efficiency, effectiveness, and proactive nature of compliance audits:</a:t>
            </a:r>
            <a:endParaRPr lang="en-US" sz="1350" dirty="0"/>
          </a:p>
        </p:txBody>
      </p:sp>
      <p:sp>
        <p:nvSpPr>
          <p:cNvPr id="23" name="Text 2"/>
          <p:cNvSpPr/>
          <p:nvPr/>
        </p:nvSpPr>
        <p:spPr>
          <a:xfrm>
            <a:off x="533400" y="2286000"/>
            <a:ext cx="3251150" cy="609600"/>
          </a:xfrm>
          <a:prstGeom prst="rect">
            <a:avLst/>
          </a:prstGeom>
          <a:noFill/>
          <a:ln/>
        </p:spPr>
        <p:txBody>
          <a:bodyPr vert="horz" wrap="square" lIns="0" tIns="0" rIns="0" bIns="0" rtlCol="0" anchor="t"/>
          <a:lstStyle/>
          <a:p>
            <a:pPr marL="0" indent="0" algn="ctr">
              <a:lnSpc>
                <a:spcPts val="2400"/>
              </a:lnSpc>
              <a:buNone/>
            </a:pPr>
            <a:r>
              <a:rPr lang="en-US" sz="1800" b="1" dirty="0">
                <a:solidFill>
                  <a:srgbClr val="0D9488"/>
                </a:solidFill>
                <a:latin typeface="ui-sans-serif" pitchFamily="34" charset="0"/>
                <a:ea typeface="ui-sans-serif" pitchFamily="34" charset="-122"/>
                <a:cs typeface="ui-sans-serif" pitchFamily="34" charset="-120"/>
              </a:rPr>
              <a:t>Data Analytics Integration</a:t>
            </a:r>
            <a:endParaRPr lang="en-US" sz="1800" dirty="0"/>
          </a:p>
        </p:txBody>
      </p:sp>
      <p:sp>
        <p:nvSpPr>
          <p:cNvPr id="24" name="Text 3"/>
          <p:cNvSpPr/>
          <p:nvPr/>
        </p:nvSpPr>
        <p:spPr>
          <a:xfrm>
            <a:off x="762000" y="3009900"/>
            <a:ext cx="30225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Processing vast amounts of information</a:t>
            </a:r>
            <a:endParaRPr lang="en-US" sz="1200" dirty="0"/>
          </a:p>
        </p:txBody>
      </p:sp>
      <p:sp>
        <p:nvSpPr>
          <p:cNvPr id="25" name="Text 4"/>
          <p:cNvSpPr/>
          <p:nvPr/>
        </p:nvSpPr>
        <p:spPr>
          <a:xfrm>
            <a:off x="762000" y="3543300"/>
            <a:ext cx="3198435"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Identifying anomalies and patterns</a:t>
            </a:r>
            <a:endParaRPr lang="en-US" sz="1200" dirty="0"/>
          </a:p>
        </p:txBody>
      </p:sp>
      <p:sp>
        <p:nvSpPr>
          <p:cNvPr id="26" name="Text 5"/>
          <p:cNvSpPr/>
          <p:nvPr/>
        </p:nvSpPr>
        <p:spPr>
          <a:xfrm>
            <a:off x="762000" y="3848100"/>
            <a:ext cx="30225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Enhancing audit coverage and precision</a:t>
            </a:r>
            <a:endParaRPr lang="en-US" sz="1200" dirty="0"/>
          </a:p>
        </p:txBody>
      </p:sp>
      <p:sp>
        <p:nvSpPr>
          <p:cNvPr id="27" name="Text 6"/>
          <p:cNvSpPr/>
          <p:nvPr/>
        </p:nvSpPr>
        <p:spPr>
          <a:xfrm>
            <a:off x="4145235" y="2667000"/>
            <a:ext cx="390138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9333EA"/>
                </a:solidFill>
                <a:latin typeface="ui-sans-serif" pitchFamily="34" charset="0"/>
                <a:ea typeface="ui-sans-serif" pitchFamily="34" charset="-122"/>
                <a:cs typeface="ui-sans-serif" pitchFamily="34" charset="-120"/>
              </a:rPr>
              <a:t>AI Applications</a:t>
            </a:r>
            <a:endParaRPr lang="en-US" sz="1800" dirty="0"/>
          </a:p>
        </p:txBody>
      </p:sp>
      <p:sp>
        <p:nvSpPr>
          <p:cNvPr id="28" name="Text 7"/>
          <p:cNvSpPr/>
          <p:nvPr/>
        </p:nvSpPr>
        <p:spPr>
          <a:xfrm>
            <a:off x="4698950" y="3086100"/>
            <a:ext cx="353704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Predictive analysis for risk assessment</a:t>
            </a:r>
            <a:endParaRPr lang="en-US" sz="1200" dirty="0"/>
          </a:p>
        </p:txBody>
      </p:sp>
      <p:sp>
        <p:nvSpPr>
          <p:cNvPr id="29" name="Text 8"/>
          <p:cNvSpPr/>
          <p:nvPr/>
        </p:nvSpPr>
        <p:spPr>
          <a:xfrm>
            <a:off x="4698950" y="3390900"/>
            <a:ext cx="2399407"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Automated control testing</a:t>
            </a:r>
            <a:endParaRPr lang="en-US" sz="1200" dirty="0"/>
          </a:p>
        </p:txBody>
      </p:sp>
      <p:sp>
        <p:nvSpPr>
          <p:cNvPr id="30" name="Text 9"/>
          <p:cNvSpPr/>
          <p:nvPr/>
        </p:nvSpPr>
        <p:spPr>
          <a:xfrm>
            <a:off x="4698950" y="3695700"/>
            <a:ext cx="238637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Intelligent fraud detection</a:t>
            </a:r>
            <a:endParaRPr lang="en-US" sz="1200" dirty="0"/>
          </a:p>
        </p:txBody>
      </p:sp>
      <p:sp>
        <p:nvSpPr>
          <p:cNvPr id="31" name="Text 10"/>
          <p:cNvSpPr/>
          <p:nvPr/>
        </p:nvSpPr>
        <p:spPr>
          <a:xfrm>
            <a:off x="8082171" y="2667000"/>
            <a:ext cx="3901559"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16A34A"/>
                </a:solidFill>
                <a:latin typeface="ui-sans-serif" pitchFamily="34" charset="0"/>
                <a:ea typeface="ui-sans-serif" pitchFamily="34" charset="-122"/>
                <a:cs typeface="ui-sans-serif" pitchFamily="34" charset="-120"/>
              </a:rPr>
              <a:t>Continuous Auditing</a:t>
            </a:r>
            <a:endParaRPr lang="en-US" sz="1800" dirty="0"/>
          </a:p>
        </p:txBody>
      </p:sp>
      <p:sp>
        <p:nvSpPr>
          <p:cNvPr id="32" name="Text 11"/>
          <p:cNvSpPr/>
          <p:nvPr/>
        </p:nvSpPr>
        <p:spPr>
          <a:xfrm>
            <a:off x="8635901" y="3086100"/>
            <a:ext cx="275088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Real-time compliance insights</a:t>
            </a:r>
            <a:endParaRPr lang="en-US" sz="1200" dirty="0"/>
          </a:p>
        </p:txBody>
      </p:sp>
      <p:sp>
        <p:nvSpPr>
          <p:cNvPr id="33" name="Text 12"/>
          <p:cNvSpPr/>
          <p:nvPr/>
        </p:nvSpPr>
        <p:spPr>
          <a:xfrm>
            <a:off x="8635901" y="3390900"/>
            <a:ext cx="2488883"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24/7 monitoring of controls</a:t>
            </a:r>
            <a:endParaRPr lang="en-US" sz="1200" dirty="0"/>
          </a:p>
        </p:txBody>
      </p:sp>
      <p:sp>
        <p:nvSpPr>
          <p:cNvPr id="34" name="Text 13"/>
          <p:cNvSpPr/>
          <p:nvPr/>
        </p:nvSpPr>
        <p:spPr>
          <a:xfrm>
            <a:off x="8635901" y="3695700"/>
            <a:ext cx="2957691"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Proactive identification of issues</a:t>
            </a:r>
            <a:endParaRPr lang="en-US" sz="1200" dirty="0"/>
          </a:p>
        </p:txBody>
      </p:sp>
      <p:sp>
        <p:nvSpPr>
          <p:cNvPr id="35" name="Text 14"/>
          <p:cNvSpPr/>
          <p:nvPr/>
        </p:nvSpPr>
        <p:spPr>
          <a:xfrm>
            <a:off x="714375" y="4914900"/>
            <a:ext cx="11020425"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These innovations will transform compliance audits from reactive, periodic events into proactive, continuous processes that provide real-time assurance and insights.</a:t>
            </a:r>
            <a:endParaRPr lang="en-US" sz="1200" dirty="0"/>
          </a:p>
        </p:txBody>
      </p:sp>
      <p:sp>
        <p:nvSpPr>
          <p:cNvPr id="36" name="Text 15"/>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37" name="Text 16"/>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23/26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228600" y="1066800"/>
            <a:ext cx="11734800" cy="1104900"/>
          </a:xfrm>
          <a:prstGeom prst="rect">
            <a:avLst/>
          </a:prstGeom>
        </p:spPr>
      </p:pic>
      <p:pic>
        <p:nvPicPr>
          <p:cNvPr id="5" name="Image 3" descr="preencoded.png"/>
          <p:cNvPicPr>
            <a:picLocks noChangeAspect="1"/>
          </p:cNvPicPr>
          <p:nvPr/>
        </p:nvPicPr>
        <p:blipFill>
          <a:blip r:embed="rId6"/>
          <a:stretch>
            <a:fillRect/>
          </a:stretch>
        </p:blipFill>
        <p:spPr>
          <a:xfrm>
            <a:off x="381000" y="1257300"/>
            <a:ext cx="219075" cy="342900"/>
          </a:xfrm>
          <a:prstGeom prst="rect">
            <a:avLst/>
          </a:prstGeom>
        </p:spPr>
      </p:pic>
      <p:pic>
        <p:nvPicPr>
          <p:cNvPr id="6" name="Image 4" descr="preencoded.png"/>
          <p:cNvPicPr>
            <a:picLocks noChangeAspect="1"/>
          </p:cNvPicPr>
          <p:nvPr/>
        </p:nvPicPr>
        <p:blipFill>
          <a:blip r:embed="rId7"/>
          <a:stretch>
            <a:fillRect/>
          </a:stretch>
        </p:blipFill>
        <p:spPr>
          <a:xfrm>
            <a:off x="228600" y="2324100"/>
            <a:ext cx="3810000" cy="2217390"/>
          </a:xfrm>
          <a:prstGeom prst="rect">
            <a:avLst/>
          </a:prstGeom>
        </p:spPr>
      </p:pic>
      <p:pic>
        <p:nvPicPr>
          <p:cNvPr id="7" name="Image 5" descr="preencoded.png"/>
          <p:cNvPicPr>
            <a:picLocks noChangeAspect="1"/>
          </p:cNvPicPr>
          <p:nvPr/>
        </p:nvPicPr>
        <p:blipFill>
          <a:blip r:embed="rId8"/>
          <a:stretch>
            <a:fillRect/>
          </a:stretch>
        </p:blipFill>
        <p:spPr>
          <a:xfrm>
            <a:off x="381000" y="2476500"/>
            <a:ext cx="209550" cy="274290"/>
          </a:xfrm>
          <a:prstGeom prst="rect">
            <a:avLst/>
          </a:prstGeom>
        </p:spPr>
      </p:pic>
      <p:pic>
        <p:nvPicPr>
          <p:cNvPr id="8" name="Image 6" descr="preencoded.png"/>
          <p:cNvPicPr>
            <a:picLocks noChangeAspect="1"/>
          </p:cNvPicPr>
          <p:nvPr/>
        </p:nvPicPr>
        <p:blipFill>
          <a:blip r:embed="rId9"/>
          <a:stretch>
            <a:fillRect/>
          </a:stretch>
        </p:blipFill>
        <p:spPr>
          <a:xfrm>
            <a:off x="457200" y="2903190"/>
            <a:ext cx="133350" cy="190500"/>
          </a:xfrm>
          <a:prstGeom prst="rect">
            <a:avLst/>
          </a:prstGeom>
        </p:spPr>
      </p:pic>
      <p:pic>
        <p:nvPicPr>
          <p:cNvPr id="9" name="Image 7" descr="preencoded.png"/>
          <p:cNvPicPr>
            <a:picLocks noChangeAspect="1"/>
          </p:cNvPicPr>
          <p:nvPr/>
        </p:nvPicPr>
        <p:blipFill>
          <a:blip r:embed="rId9"/>
          <a:stretch>
            <a:fillRect/>
          </a:stretch>
        </p:blipFill>
        <p:spPr>
          <a:xfrm>
            <a:off x="457200" y="3436590"/>
            <a:ext cx="133350" cy="190500"/>
          </a:xfrm>
          <a:prstGeom prst="rect">
            <a:avLst/>
          </a:prstGeom>
        </p:spPr>
      </p:pic>
      <p:pic>
        <p:nvPicPr>
          <p:cNvPr id="10" name="Image 8" descr="preencoded.png"/>
          <p:cNvPicPr>
            <a:picLocks noChangeAspect="1"/>
          </p:cNvPicPr>
          <p:nvPr/>
        </p:nvPicPr>
        <p:blipFill>
          <a:blip r:embed="rId9"/>
          <a:stretch>
            <a:fillRect/>
          </a:stretch>
        </p:blipFill>
        <p:spPr>
          <a:xfrm>
            <a:off x="457200" y="3969990"/>
            <a:ext cx="133350" cy="190500"/>
          </a:xfrm>
          <a:prstGeom prst="rect">
            <a:avLst/>
          </a:prstGeom>
        </p:spPr>
      </p:pic>
      <p:pic>
        <p:nvPicPr>
          <p:cNvPr id="11" name="Image 9" descr="preencoded.png"/>
          <p:cNvPicPr>
            <a:picLocks noChangeAspect="1"/>
          </p:cNvPicPr>
          <p:nvPr/>
        </p:nvPicPr>
        <p:blipFill>
          <a:blip r:embed="rId7"/>
          <a:stretch>
            <a:fillRect/>
          </a:stretch>
        </p:blipFill>
        <p:spPr>
          <a:xfrm>
            <a:off x="4191000" y="2324100"/>
            <a:ext cx="3810000" cy="2217390"/>
          </a:xfrm>
          <a:prstGeom prst="rect">
            <a:avLst/>
          </a:prstGeom>
        </p:spPr>
      </p:pic>
      <p:pic>
        <p:nvPicPr>
          <p:cNvPr id="12" name="Image 10" descr="preencoded.png"/>
          <p:cNvPicPr>
            <a:picLocks noChangeAspect="1"/>
          </p:cNvPicPr>
          <p:nvPr/>
        </p:nvPicPr>
        <p:blipFill>
          <a:blip r:embed="rId10"/>
          <a:stretch>
            <a:fillRect/>
          </a:stretch>
        </p:blipFill>
        <p:spPr>
          <a:xfrm>
            <a:off x="4343400" y="2476500"/>
            <a:ext cx="276225" cy="274290"/>
          </a:xfrm>
          <a:prstGeom prst="rect">
            <a:avLst/>
          </a:prstGeom>
        </p:spPr>
      </p:pic>
      <p:pic>
        <p:nvPicPr>
          <p:cNvPr id="13" name="Image 11" descr="preencoded.png"/>
          <p:cNvPicPr>
            <a:picLocks noChangeAspect="1"/>
          </p:cNvPicPr>
          <p:nvPr/>
        </p:nvPicPr>
        <p:blipFill>
          <a:blip r:embed="rId11"/>
          <a:stretch>
            <a:fillRect/>
          </a:stretch>
        </p:blipFill>
        <p:spPr>
          <a:xfrm>
            <a:off x="4419600" y="2903190"/>
            <a:ext cx="133350" cy="190500"/>
          </a:xfrm>
          <a:prstGeom prst="rect">
            <a:avLst/>
          </a:prstGeom>
        </p:spPr>
      </p:pic>
      <p:pic>
        <p:nvPicPr>
          <p:cNvPr id="14" name="Image 12" descr="preencoded.png"/>
          <p:cNvPicPr>
            <a:picLocks noChangeAspect="1"/>
          </p:cNvPicPr>
          <p:nvPr/>
        </p:nvPicPr>
        <p:blipFill>
          <a:blip r:embed="rId11"/>
          <a:stretch>
            <a:fillRect/>
          </a:stretch>
        </p:blipFill>
        <p:spPr>
          <a:xfrm>
            <a:off x="4419600" y="3207990"/>
            <a:ext cx="133350" cy="190500"/>
          </a:xfrm>
          <a:prstGeom prst="rect">
            <a:avLst/>
          </a:prstGeom>
        </p:spPr>
      </p:pic>
      <p:pic>
        <p:nvPicPr>
          <p:cNvPr id="15" name="Image 13" descr="preencoded.png"/>
          <p:cNvPicPr>
            <a:picLocks noChangeAspect="1"/>
          </p:cNvPicPr>
          <p:nvPr/>
        </p:nvPicPr>
        <p:blipFill>
          <a:blip r:embed="rId11"/>
          <a:stretch>
            <a:fillRect/>
          </a:stretch>
        </p:blipFill>
        <p:spPr>
          <a:xfrm>
            <a:off x="4419600" y="3512790"/>
            <a:ext cx="133350" cy="190500"/>
          </a:xfrm>
          <a:prstGeom prst="rect">
            <a:avLst/>
          </a:prstGeom>
        </p:spPr>
      </p:pic>
      <p:pic>
        <p:nvPicPr>
          <p:cNvPr id="16" name="Image 14" descr="preencoded.png"/>
          <p:cNvPicPr>
            <a:picLocks noChangeAspect="1"/>
          </p:cNvPicPr>
          <p:nvPr/>
        </p:nvPicPr>
        <p:blipFill>
          <a:blip r:embed="rId7"/>
          <a:stretch>
            <a:fillRect/>
          </a:stretch>
        </p:blipFill>
        <p:spPr>
          <a:xfrm>
            <a:off x="8153400" y="2324100"/>
            <a:ext cx="3810000" cy="2217390"/>
          </a:xfrm>
          <a:prstGeom prst="rect">
            <a:avLst/>
          </a:prstGeom>
        </p:spPr>
      </p:pic>
      <p:pic>
        <p:nvPicPr>
          <p:cNvPr id="17" name="Image 15" descr="preencoded.png"/>
          <p:cNvPicPr>
            <a:picLocks noChangeAspect="1"/>
          </p:cNvPicPr>
          <p:nvPr/>
        </p:nvPicPr>
        <p:blipFill>
          <a:blip r:embed="rId12"/>
          <a:stretch>
            <a:fillRect/>
          </a:stretch>
        </p:blipFill>
        <p:spPr>
          <a:xfrm>
            <a:off x="8305800" y="2476500"/>
            <a:ext cx="209550" cy="274290"/>
          </a:xfrm>
          <a:prstGeom prst="rect">
            <a:avLst/>
          </a:prstGeom>
        </p:spPr>
      </p:pic>
      <p:pic>
        <p:nvPicPr>
          <p:cNvPr id="18" name="Image 16" descr="preencoded.png"/>
          <p:cNvPicPr>
            <a:picLocks noChangeAspect="1"/>
          </p:cNvPicPr>
          <p:nvPr/>
        </p:nvPicPr>
        <p:blipFill>
          <a:blip r:embed="rId9"/>
          <a:stretch>
            <a:fillRect/>
          </a:stretch>
        </p:blipFill>
        <p:spPr>
          <a:xfrm>
            <a:off x="8382000" y="2903190"/>
            <a:ext cx="133350" cy="190500"/>
          </a:xfrm>
          <a:prstGeom prst="rect">
            <a:avLst/>
          </a:prstGeom>
        </p:spPr>
      </p:pic>
      <p:pic>
        <p:nvPicPr>
          <p:cNvPr id="19" name="Image 17" descr="preencoded.png"/>
          <p:cNvPicPr>
            <a:picLocks noChangeAspect="1"/>
          </p:cNvPicPr>
          <p:nvPr/>
        </p:nvPicPr>
        <p:blipFill>
          <a:blip r:embed="rId9"/>
          <a:stretch>
            <a:fillRect/>
          </a:stretch>
        </p:blipFill>
        <p:spPr>
          <a:xfrm>
            <a:off x="8382000" y="3436590"/>
            <a:ext cx="133350" cy="190500"/>
          </a:xfrm>
          <a:prstGeom prst="rect">
            <a:avLst/>
          </a:prstGeom>
        </p:spPr>
      </p:pic>
      <p:pic>
        <p:nvPicPr>
          <p:cNvPr id="20" name="Image 18" descr="preencoded.png"/>
          <p:cNvPicPr>
            <a:picLocks noChangeAspect="1"/>
          </p:cNvPicPr>
          <p:nvPr/>
        </p:nvPicPr>
        <p:blipFill>
          <a:blip r:embed="rId9"/>
          <a:stretch>
            <a:fillRect/>
          </a:stretch>
        </p:blipFill>
        <p:spPr>
          <a:xfrm>
            <a:off x="8382000" y="3741390"/>
            <a:ext cx="133350" cy="190500"/>
          </a:xfrm>
          <a:prstGeom prst="rect">
            <a:avLst/>
          </a:prstGeom>
        </p:spPr>
      </p:pic>
      <p:pic>
        <p:nvPicPr>
          <p:cNvPr id="21" name="Image 19" descr="preencoded.png"/>
          <p:cNvPicPr>
            <a:picLocks noChangeAspect="1"/>
          </p:cNvPicPr>
          <p:nvPr/>
        </p:nvPicPr>
        <p:blipFill>
          <a:blip r:embed="rId13"/>
          <a:stretch>
            <a:fillRect/>
          </a:stretch>
        </p:blipFill>
        <p:spPr>
          <a:xfrm>
            <a:off x="228600" y="4693890"/>
            <a:ext cx="11734800" cy="1409700"/>
          </a:xfrm>
          <a:prstGeom prst="rect">
            <a:avLst/>
          </a:prstGeom>
        </p:spPr>
      </p:pic>
      <p:pic>
        <p:nvPicPr>
          <p:cNvPr id="22" name="Image 20" descr="preencoded.png"/>
          <p:cNvPicPr>
            <a:picLocks noChangeAspect="1"/>
          </p:cNvPicPr>
          <p:nvPr/>
        </p:nvPicPr>
        <p:blipFill>
          <a:blip r:embed="rId14"/>
          <a:stretch>
            <a:fillRect/>
          </a:stretch>
        </p:blipFill>
        <p:spPr>
          <a:xfrm>
            <a:off x="381000" y="4846290"/>
            <a:ext cx="171450" cy="304800"/>
          </a:xfrm>
          <a:prstGeom prst="rect">
            <a:avLst/>
          </a:prstGeom>
        </p:spPr>
      </p:pic>
      <p:pic>
        <p:nvPicPr>
          <p:cNvPr id="23" name="Image 21" descr="preencoded.png"/>
          <p:cNvPicPr>
            <a:picLocks noChangeAspect="1"/>
          </p:cNvPicPr>
          <p:nvPr/>
        </p:nvPicPr>
        <p:blipFill>
          <a:blip r:embed="rId15"/>
          <a:stretch>
            <a:fillRect/>
          </a:stretch>
        </p:blipFill>
        <p:spPr>
          <a:xfrm>
            <a:off x="381000" y="5265390"/>
            <a:ext cx="5638800" cy="685800"/>
          </a:xfrm>
          <a:prstGeom prst="rect">
            <a:avLst/>
          </a:prstGeom>
        </p:spPr>
      </p:pic>
      <p:pic>
        <p:nvPicPr>
          <p:cNvPr id="24" name="Image 22" descr="preencoded.png"/>
          <p:cNvPicPr>
            <a:picLocks noChangeAspect="1"/>
          </p:cNvPicPr>
          <p:nvPr/>
        </p:nvPicPr>
        <p:blipFill>
          <a:blip r:embed="rId16"/>
          <a:stretch>
            <a:fillRect/>
          </a:stretch>
        </p:blipFill>
        <p:spPr>
          <a:xfrm>
            <a:off x="6172200" y="5265390"/>
            <a:ext cx="5638800" cy="685800"/>
          </a:xfrm>
          <a:prstGeom prst="rect">
            <a:avLst/>
          </a:prstGeom>
        </p:spPr>
      </p:pic>
      <p:pic>
        <p:nvPicPr>
          <p:cNvPr id="25" name="Image 23" descr="preencoded.png"/>
          <p:cNvPicPr>
            <a:picLocks noChangeAspect="1"/>
          </p:cNvPicPr>
          <p:nvPr/>
        </p:nvPicPr>
        <p:blipFill>
          <a:blip r:embed="rId17"/>
          <a:stretch>
            <a:fillRect/>
          </a:stretch>
        </p:blipFill>
        <p:spPr>
          <a:xfrm>
            <a:off x="0" y="6400800"/>
            <a:ext cx="12192000" cy="457200"/>
          </a:xfrm>
          <a:prstGeom prst="rect">
            <a:avLst/>
          </a:prstGeom>
        </p:spPr>
      </p:pic>
      <p:sp>
        <p:nvSpPr>
          <p:cNvPr id="26" name="Text 0"/>
          <p:cNvSpPr/>
          <p:nvPr/>
        </p:nvSpPr>
        <p:spPr>
          <a:xfrm>
            <a:off x="381000" y="228600"/>
            <a:ext cx="13716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Case Study: Compliance Audit in Action</a:t>
            </a:r>
            <a:endParaRPr lang="en-US" sz="2700" dirty="0"/>
          </a:p>
        </p:txBody>
      </p:sp>
      <p:sp>
        <p:nvSpPr>
          <p:cNvPr id="27" name="Text 1"/>
          <p:cNvSpPr/>
          <p:nvPr/>
        </p:nvSpPr>
        <p:spPr>
          <a:xfrm>
            <a:off x="752475" y="1219200"/>
            <a:ext cx="11058525"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Scenario: TechGlobal Inc.</a:t>
            </a:r>
            <a:endParaRPr lang="en-US" sz="1500" dirty="0"/>
          </a:p>
        </p:txBody>
      </p:sp>
      <p:sp>
        <p:nvSpPr>
          <p:cNvPr id="28" name="Text 2"/>
          <p:cNvSpPr/>
          <p:nvPr/>
        </p:nvSpPr>
        <p:spPr>
          <a:xfrm>
            <a:off x="752475" y="1562100"/>
            <a:ext cx="11058525" cy="4572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A technology company facing increased regulatory scrutiny for data privacy practices. The board commissioned a compliance audit to assess adherence to relevant regulations and identify areas for improvement.</a:t>
            </a:r>
            <a:endParaRPr lang="en-US" sz="1200" dirty="0"/>
          </a:p>
        </p:txBody>
      </p:sp>
      <p:sp>
        <p:nvSpPr>
          <p:cNvPr id="29" name="Text 3"/>
          <p:cNvSpPr/>
          <p:nvPr/>
        </p:nvSpPr>
        <p:spPr>
          <a:xfrm>
            <a:off x="666750" y="2480221"/>
            <a:ext cx="2188131"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Pre-Audit Planning</a:t>
            </a:r>
            <a:endParaRPr lang="en-US" sz="1350" dirty="0"/>
          </a:p>
        </p:txBody>
      </p:sp>
      <p:sp>
        <p:nvSpPr>
          <p:cNvPr id="30" name="Text 4"/>
          <p:cNvSpPr/>
          <p:nvPr/>
        </p:nvSpPr>
        <p:spPr>
          <a:xfrm>
            <a:off x="666750" y="28650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Identified applicable regulations including GDPR and CCPA</a:t>
            </a:r>
            <a:endParaRPr lang="en-US" sz="1200" dirty="0"/>
          </a:p>
        </p:txBody>
      </p:sp>
      <p:sp>
        <p:nvSpPr>
          <p:cNvPr id="31" name="Text 5"/>
          <p:cNvSpPr/>
          <p:nvPr/>
        </p:nvSpPr>
        <p:spPr>
          <a:xfrm>
            <a:off x="666750" y="33984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Scoping focused on data handling processes</a:t>
            </a:r>
            <a:endParaRPr lang="en-US" sz="1200" dirty="0"/>
          </a:p>
        </p:txBody>
      </p:sp>
      <p:sp>
        <p:nvSpPr>
          <p:cNvPr id="32" name="Text 6"/>
          <p:cNvSpPr/>
          <p:nvPr/>
        </p:nvSpPr>
        <p:spPr>
          <a:xfrm>
            <a:off x="666750" y="39318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Risk assessment prioritized customer data exposure</a:t>
            </a:r>
            <a:endParaRPr lang="en-US" sz="1200" dirty="0"/>
          </a:p>
        </p:txBody>
      </p:sp>
      <p:sp>
        <p:nvSpPr>
          <p:cNvPr id="33" name="Text 7"/>
          <p:cNvSpPr/>
          <p:nvPr/>
        </p:nvSpPr>
        <p:spPr>
          <a:xfrm>
            <a:off x="4695825" y="2480221"/>
            <a:ext cx="1831479"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Audit Execution</a:t>
            </a:r>
            <a:endParaRPr lang="en-US" sz="1350" dirty="0"/>
          </a:p>
        </p:txBody>
      </p:sp>
      <p:sp>
        <p:nvSpPr>
          <p:cNvPr id="34" name="Text 8"/>
          <p:cNvSpPr/>
          <p:nvPr/>
        </p:nvSpPr>
        <p:spPr>
          <a:xfrm>
            <a:off x="4629150" y="2865090"/>
            <a:ext cx="3813512"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Opening meeting established audit scope</a:t>
            </a:r>
            <a:endParaRPr lang="en-US" sz="1200" dirty="0"/>
          </a:p>
        </p:txBody>
      </p:sp>
      <p:sp>
        <p:nvSpPr>
          <p:cNvPr id="35" name="Text 9"/>
          <p:cNvSpPr/>
          <p:nvPr/>
        </p:nvSpPr>
        <p:spPr>
          <a:xfrm>
            <a:off x="4629150" y="3169890"/>
            <a:ext cx="3558659"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Document review revealed policy gaps</a:t>
            </a:r>
            <a:endParaRPr lang="en-US" sz="1200" dirty="0"/>
          </a:p>
        </p:txBody>
      </p:sp>
      <p:sp>
        <p:nvSpPr>
          <p:cNvPr id="36" name="Text 10"/>
          <p:cNvSpPr/>
          <p:nvPr/>
        </p:nvSpPr>
        <p:spPr>
          <a:xfrm>
            <a:off x="4629150" y="34746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Interviews identified implementation challenges</a:t>
            </a:r>
            <a:endParaRPr lang="en-US" sz="1200" dirty="0"/>
          </a:p>
        </p:txBody>
      </p:sp>
      <p:sp>
        <p:nvSpPr>
          <p:cNvPr id="37" name="Text 11"/>
          <p:cNvSpPr/>
          <p:nvPr/>
        </p:nvSpPr>
        <p:spPr>
          <a:xfrm>
            <a:off x="8591550" y="2480221"/>
            <a:ext cx="1220331" cy="266700"/>
          </a:xfrm>
          <a:prstGeom prst="rect">
            <a:avLst/>
          </a:prstGeom>
          <a:noFill/>
          <a:ln/>
        </p:spPr>
        <p:txBody>
          <a:bodyPr vert="horz" wrap="square" lIns="0" tIns="0" rIns="0" bIns="0" rtlCol="0" anchor="t"/>
          <a:lstStyle/>
          <a:p>
            <a:pPr marL="0" indent="0">
              <a:lnSpc>
                <a:spcPts val="2100"/>
              </a:lnSpc>
              <a:buNone/>
            </a:pPr>
            <a:r>
              <a:rPr lang="en-US" sz="1350" b="1" dirty="0">
                <a:solidFill>
                  <a:srgbClr val="0F766E"/>
                </a:solidFill>
                <a:latin typeface="ui-sans-serif" pitchFamily="34" charset="0"/>
                <a:ea typeface="ui-sans-serif" pitchFamily="34" charset="-122"/>
                <a:cs typeface="ui-sans-serif" pitchFamily="34" charset="-120"/>
              </a:rPr>
              <a:t>Post-Audit</a:t>
            </a:r>
            <a:endParaRPr lang="en-US" sz="1350" dirty="0"/>
          </a:p>
        </p:txBody>
      </p:sp>
      <p:sp>
        <p:nvSpPr>
          <p:cNvPr id="38" name="Text 12"/>
          <p:cNvSpPr/>
          <p:nvPr/>
        </p:nvSpPr>
        <p:spPr>
          <a:xfrm>
            <a:off x="8591550" y="28650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Draft report identified 3 high-priority issues</a:t>
            </a:r>
            <a:endParaRPr lang="en-US" sz="1200" dirty="0"/>
          </a:p>
        </p:txBody>
      </p:sp>
      <p:sp>
        <p:nvSpPr>
          <p:cNvPr id="39" name="Text 13"/>
          <p:cNvSpPr/>
          <p:nvPr/>
        </p:nvSpPr>
        <p:spPr>
          <a:xfrm>
            <a:off x="8591550" y="3398490"/>
            <a:ext cx="3176290" cy="2286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Closing meeting validated findings</a:t>
            </a:r>
            <a:endParaRPr lang="en-US" sz="1200" dirty="0"/>
          </a:p>
        </p:txBody>
      </p:sp>
      <p:sp>
        <p:nvSpPr>
          <p:cNvPr id="40" name="Text 14"/>
          <p:cNvSpPr/>
          <p:nvPr/>
        </p:nvSpPr>
        <p:spPr>
          <a:xfrm>
            <a:off x="8591550" y="3703290"/>
            <a:ext cx="3219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Remediation plan developed with timelines</a:t>
            </a:r>
            <a:endParaRPr lang="en-US" sz="1200" dirty="0"/>
          </a:p>
        </p:txBody>
      </p:sp>
      <p:sp>
        <p:nvSpPr>
          <p:cNvPr id="41" name="Text 15"/>
          <p:cNvSpPr/>
          <p:nvPr/>
        </p:nvSpPr>
        <p:spPr>
          <a:xfrm>
            <a:off x="666750" y="4865340"/>
            <a:ext cx="2714268"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Key Lessons Learned</a:t>
            </a:r>
            <a:endParaRPr lang="en-US" sz="1500" dirty="0"/>
          </a:p>
        </p:txBody>
      </p:sp>
      <p:sp>
        <p:nvSpPr>
          <p:cNvPr id="42" name="Text 16"/>
          <p:cNvSpPr/>
          <p:nvPr/>
        </p:nvSpPr>
        <p:spPr>
          <a:xfrm>
            <a:off x="495300" y="5379690"/>
            <a:ext cx="54102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F766E"/>
                </a:solidFill>
                <a:latin typeface="ui-sans-serif" pitchFamily="34" charset="0"/>
                <a:ea typeface="ui-sans-serif" pitchFamily="34" charset="-122"/>
                <a:cs typeface="ui-sans-serif" pitchFamily="34" charset="-120"/>
              </a:rPr>
              <a:t>Early Engagement</a:t>
            </a:r>
            <a:endParaRPr lang="en-US" sz="1200" dirty="0"/>
          </a:p>
        </p:txBody>
      </p:sp>
      <p:sp>
        <p:nvSpPr>
          <p:cNvPr id="43" name="Text 17"/>
          <p:cNvSpPr/>
          <p:nvPr/>
        </p:nvSpPr>
        <p:spPr>
          <a:xfrm>
            <a:off x="495300" y="5646390"/>
            <a:ext cx="649224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Involving IT security teams during planning reduced implementation challenges</a:t>
            </a:r>
            <a:endParaRPr lang="en-US" sz="1050" dirty="0"/>
          </a:p>
        </p:txBody>
      </p:sp>
      <p:sp>
        <p:nvSpPr>
          <p:cNvPr id="44" name="Text 18"/>
          <p:cNvSpPr/>
          <p:nvPr/>
        </p:nvSpPr>
        <p:spPr>
          <a:xfrm>
            <a:off x="6286500" y="5379690"/>
            <a:ext cx="5410200" cy="228600"/>
          </a:xfrm>
          <a:prstGeom prst="rect">
            <a:avLst/>
          </a:prstGeom>
          <a:noFill/>
          <a:ln/>
        </p:spPr>
        <p:txBody>
          <a:bodyPr vert="horz" wrap="square" lIns="0" tIns="0" rIns="0" bIns="0" rtlCol="0" anchor="t"/>
          <a:lstStyle/>
          <a:p>
            <a:pPr marL="0" indent="0">
              <a:lnSpc>
                <a:spcPts val="1800"/>
              </a:lnSpc>
              <a:buNone/>
            </a:pPr>
            <a:r>
              <a:rPr lang="en-US" sz="1200" b="1" dirty="0">
                <a:solidFill>
                  <a:srgbClr val="0F766E"/>
                </a:solidFill>
                <a:latin typeface="ui-sans-serif" pitchFamily="34" charset="0"/>
                <a:ea typeface="ui-sans-serif" pitchFamily="34" charset="-122"/>
                <a:cs typeface="ui-sans-serif" pitchFamily="34" charset="-120"/>
              </a:rPr>
              <a:t>Clear Documentation</a:t>
            </a:r>
            <a:endParaRPr lang="en-US" sz="1200" dirty="0"/>
          </a:p>
        </p:txBody>
      </p:sp>
      <p:sp>
        <p:nvSpPr>
          <p:cNvPr id="45" name="Text 19"/>
          <p:cNvSpPr/>
          <p:nvPr/>
        </p:nvSpPr>
        <p:spPr>
          <a:xfrm>
            <a:off x="6286500" y="5646390"/>
            <a:ext cx="6492240" cy="190500"/>
          </a:xfrm>
          <a:prstGeom prst="rect">
            <a:avLst/>
          </a:prstGeom>
          <a:noFill/>
          <a:ln/>
        </p:spPr>
        <p:txBody>
          <a:bodyPr vert="horz" wrap="square" lIns="0" tIns="0" rIns="0" bIns="0" rtlCol="0" anchor="t"/>
          <a:lstStyle/>
          <a:p>
            <a:pPr marL="0" indent="0">
              <a:lnSpc>
                <a:spcPts val="1500"/>
              </a:lnSpc>
              <a:buNone/>
            </a:pPr>
            <a:r>
              <a:rPr lang="en-US" sz="1050" dirty="0">
                <a:solidFill>
                  <a:srgbClr val="374151"/>
                </a:solidFill>
                <a:latin typeface="ui-sans-serif" pitchFamily="34" charset="0"/>
                <a:ea typeface="ui-sans-serif" pitchFamily="34" charset="-122"/>
                <a:cs typeface="ui-sans-serif" pitchFamily="34" charset="-120"/>
              </a:rPr>
              <a:t>Well-maintained records facilitated faster audit execution</a:t>
            </a:r>
            <a:endParaRPr lang="en-US" sz="1050" dirty="0"/>
          </a:p>
        </p:txBody>
      </p:sp>
      <p:sp>
        <p:nvSpPr>
          <p:cNvPr id="46" name="Text 20"/>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7" name="Text 21"/>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24/26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304800" y="1143000"/>
            <a:ext cx="2395984" cy="1790700"/>
          </a:xfrm>
          <a:prstGeom prst="rect">
            <a:avLst/>
          </a:prstGeom>
        </p:spPr>
      </p:pic>
      <p:pic>
        <p:nvPicPr>
          <p:cNvPr id="5" name="Image 3" descr="preencoded.png"/>
          <p:cNvPicPr>
            <a:picLocks noChangeAspect="1"/>
          </p:cNvPicPr>
          <p:nvPr/>
        </p:nvPicPr>
        <p:blipFill>
          <a:blip r:embed="rId6"/>
          <a:stretch>
            <a:fillRect/>
          </a:stretch>
        </p:blipFill>
        <p:spPr>
          <a:xfrm>
            <a:off x="495300" y="1333500"/>
            <a:ext cx="171450" cy="304800"/>
          </a:xfrm>
          <a:prstGeom prst="rect">
            <a:avLst/>
          </a:prstGeom>
        </p:spPr>
      </p:pic>
      <p:pic>
        <p:nvPicPr>
          <p:cNvPr id="6" name="Image 4" descr="preencoded.png"/>
          <p:cNvPicPr>
            <a:picLocks noChangeAspect="1"/>
          </p:cNvPicPr>
          <p:nvPr/>
        </p:nvPicPr>
        <p:blipFill>
          <a:blip r:embed="rId7"/>
          <a:stretch>
            <a:fillRect/>
          </a:stretch>
        </p:blipFill>
        <p:spPr>
          <a:xfrm>
            <a:off x="495300" y="1790700"/>
            <a:ext cx="152400" cy="152400"/>
          </a:xfrm>
          <a:prstGeom prst="rect">
            <a:avLst/>
          </a:prstGeom>
        </p:spPr>
      </p:pic>
      <p:pic>
        <p:nvPicPr>
          <p:cNvPr id="7" name="Image 5" descr="preencoded.png"/>
          <p:cNvPicPr>
            <a:picLocks noChangeAspect="1"/>
          </p:cNvPicPr>
          <p:nvPr/>
        </p:nvPicPr>
        <p:blipFill>
          <a:blip r:embed="rId7"/>
          <a:stretch>
            <a:fillRect/>
          </a:stretch>
        </p:blipFill>
        <p:spPr>
          <a:xfrm>
            <a:off x="495300" y="2324100"/>
            <a:ext cx="152400" cy="152400"/>
          </a:xfrm>
          <a:prstGeom prst="rect">
            <a:avLst/>
          </a:prstGeom>
        </p:spPr>
      </p:pic>
      <p:pic>
        <p:nvPicPr>
          <p:cNvPr id="8" name="Image 6" descr="preencoded.png"/>
          <p:cNvPicPr>
            <a:picLocks noChangeAspect="1"/>
          </p:cNvPicPr>
          <p:nvPr/>
        </p:nvPicPr>
        <p:blipFill>
          <a:blip r:embed="rId8"/>
          <a:stretch>
            <a:fillRect/>
          </a:stretch>
        </p:blipFill>
        <p:spPr>
          <a:xfrm>
            <a:off x="2853184" y="1143000"/>
            <a:ext cx="2395984" cy="1790700"/>
          </a:xfrm>
          <a:prstGeom prst="rect">
            <a:avLst/>
          </a:prstGeom>
        </p:spPr>
      </p:pic>
      <p:pic>
        <p:nvPicPr>
          <p:cNvPr id="9" name="Image 7" descr="preencoded.png"/>
          <p:cNvPicPr>
            <a:picLocks noChangeAspect="1"/>
          </p:cNvPicPr>
          <p:nvPr/>
        </p:nvPicPr>
        <p:blipFill>
          <a:blip r:embed="rId9"/>
          <a:stretch>
            <a:fillRect/>
          </a:stretch>
        </p:blipFill>
        <p:spPr>
          <a:xfrm>
            <a:off x="3043684" y="1333500"/>
            <a:ext cx="228600" cy="304800"/>
          </a:xfrm>
          <a:prstGeom prst="rect">
            <a:avLst/>
          </a:prstGeom>
        </p:spPr>
      </p:pic>
      <p:pic>
        <p:nvPicPr>
          <p:cNvPr id="10" name="Image 8" descr="preencoded.png"/>
          <p:cNvPicPr>
            <a:picLocks noChangeAspect="1"/>
          </p:cNvPicPr>
          <p:nvPr/>
        </p:nvPicPr>
        <p:blipFill>
          <a:blip r:embed="rId10"/>
          <a:stretch>
            <a:fillRect/>
          </a:stretch>
        </p:blipFill>
        <p:spPr>
          <a:xfrm>
            <a:off x="3043684" y="1790700"/>
            <a:ext cx="152400" cy="152400"/>
          </a:xfrm>
          <a:prstGeom prst="rect">
            <a:avLst/>
          </a:prstGeom>
        </p:spPr>
      </p:pic>
      <p:pic>
        <p:nvPicPr>
          <p:cNvPr id="11" name="Image 9" descr="preencoded.png"/>
          <p:cNvPicPr>
            <a:picLocks noChangeAspect="1"/>
          </p:cNvPicPr>
          <p:nvPr/>
        </p:nvPicPr>
        <p:blipFill>
          <a:blip r:embed="rId10"/>
          <a:stretch>
            <a:fillRect/>
          </a:stretch>
        </p:blipFill>
        <p:spPr>
          <a:xfrm>
            <a:off x="3043684" y="2324100"/>
            <a:ext cx="152400" cy="152400"/>
          </a:xfrm>
          <a:prstGeom prst="rect">
            <a:avLst/>
          </a:prstGeom>
        </p:spPr>
      </p:pic>
      <p:pic>
        <p:nvPicPr>
          <p:cNvPr id="12" name="Image 10" descr="preencoded.png"/>
          <p:cNvPicPr>
            <a:picLocks noChangeAspect="1"/>
          </p:cNvPicPr>
          <p:nvPr/>
        </p:nvPicPr>
        <p:blipFill>
          <a:blip r:embed="rId11"/>
          <a:stretch>
            <a:fillRect/>
          </a:stretch>
        </p:blipFill>
        <p:spPr>
          <a:xfrm>
            <a:off x="5401568" y="1143000"/>
            <a:ext cx="2395984" cy="1790700"/>
          </a:xfrm>
          <a:prstGeom prst="rect">
            <a:avLst/>
          </a:prstGeom>
        </p:spPr>
      </p:pic>
      <p:pic>
        <p:nvPicPr>
          <p:cNvPr id="13" name="Image 11" descr="preencoded.png"/>
          <p:cNvPicPr>
            <a:picLocks noChangeAspect="1"/>
          </p:cNvPicPr>
          <p:nvPr/>
        </p:nvPicPr>
        <p:blipFill>
          <a:blip r:embed="rId12"/>
          <a:stretch>
            <a:fillRect/>
          </a:stretch>
        </p:blipFill>
        <p:spPr>
          <a:xfrm>
            <a:off x="5592068" y="1333500"/>
            <a:ext cx="171450" cy="304800"/>
          </a:xfrm>
          <a:prstGeom prst="rect">
            <a:avLst/>
          </a:prstGeom>
        </p:spPr>
      </p:pic>
      <p:pic>
        <p:nvPicPr>
          <p:cNvPr id="14" name="Image 12" descr="preencoded.png"/>
          <p:cNvPicPr>
            <a:picLocks noChangeAspect="1"/>
          </p:cNvPicPr>
          <p:nvPr/>
        </p:nvPicPr>
        <p:blipFill>
          <a:blip r:embed="rId13"/>
          <a:stretch>
            <a:fillRect/>
          </a:stretch>
        </p:blipFill>
        <p:spPr>
          <a:xfrm>
            <a:off x="5592068" y="1790700"/>
            <a:ext cx="152400" cy="152400"/>
          </a:xfrm>
          <a:prstGeom prst="rect">
            <a:avLst/>
          </a:prstGeom>
        </p:spPr>
      </p:pic>
      <p:pic>
        <p:nvPicPr>
          <p:cNvPr id="15" name="Image 13" descr="preencoded.png"/>
          <p:cNvPicPr>
            <a:picLocks noChangeAspect="1"/>
          </p:cNvPicPr>
          <p:nvPr/>
        </p:nvPicPr>
        <p:blipFill>
          <a:blip r:embed="rId13"/>
          <a:stretch>
            <a:fillRect/>
          </a:stretch>
        </p:blipFill>
        <p:spPr>
          <a:xfrm>
            <a:off x="5592068" y="2324100"/>
            <a:ext cx="152400" cy="152400"/>
          </a:xfrm>
          <a:prstGeom prst="rect">
            <a:avLst/>
          </a:prstGeom>
        </p:spPr>
      </p:pic>
      <p:pic>
        <p:nvPicPr>
          <p:cNvPr id="16" name="Image 14" descr="preencoded.png"/>
          <p:cNvPicPr>
            <a:picLocks noChangeAspect="1"/>
          </p:cNvPicPr>
          <p:nvPr/>
        </p:nvPicPr>
        <p:blipFill>
          <a:blip r:embed="rId14"/>
          <a:stretch>
            <a:fillRect/>
          </a:stretch>
        </p:blipFill>
        <p:spPr>
          <a:xfrm>
            <a:off x="304800" y="3162300"/>
            <a:ext cx="7492901" cy="1676400"/>
          </a:xfrm>
          <a:prstGeom prst="rect">
            <a:avLst/>
          </a:prstGeom>
        </p:spPr>
      </p:pic>
      <p:pic>
        <p:nvPicPr>
          <p:cNvPr id="17" name="Image 15" descr="preencoded.png"/>
          <p:cNvPicPr>
            <a:picLocks noChangeAspect="1"/>
          </p:cNvPicPr>
          <p:nvPr/>
        </p:nvPicPr>
        <p:blipFill>
          <a:blip r:embed="rId15"/>
          <a:stretch>
            <a:fillRect/>
          </a:stretch>
        </p:blipFill>
        <p:spPr>
          <a:xfrm>
            <a:off x="9213652" y="1504950"/>
            <a:ext cx="1714500" cy="1714500"/>
          </a:xfrm>
          <a:prstGeom prst="rect">
            <a:avLst/>
          </a:prstGeom>
        </p:spPr>
      </p:pic>
      <p:pic>
        <p:nvPicPr>
          <p:cNvPr id="18" name="Image 16" descr="preencoded.png"/>
          <p:cNvPicPr>
            <a:picLocks noChangeAspect="1"/>
          </p:cNvPicPr>
          <p:nvPr/>
        </p:nvPicPr>
        <p:blipFill>
          <a:blip r:embed="rId16"/>
          <a:stretch>
            <a:fillRect/>
          </a:stretch>
        </p:blipFill>
        <p:spPr>
          <a:xfrm>
            <a:off x="8254901" y="3371850"/>
            <a:ext cx="3632150" cy="2362200"/>
          </a:xfrm>
          <a:prstGeom prst="rect">
            <a:avLst/>
          </a:prstGeom>
        </p:spPr>
      </p:pic>
      <p:pic>
        <p:nvPicPr>
          <p:cNvPr id="19" name="Image 17" descr="preencoded.png"/>
          <p:cNvPicPr>
            <a:picLocks noChangeAspect="1"/>
          </p:cNvPicPr>
          <p:nvPr/>
        </p:nvPicPr>
        <p:blipFill>
          <a:blip r:embed="rId17"/>
          <a:stretch>
            <a:fillRect/>
          </a:stretch>
        </p:blipFill>
        <p:spPr>
          <a:xfrm>
            <a:off x="8445401" y="3981450"/>
            <a:ext cx="152400" cy="152400"/>
          </a:xfrm>
          <a:prstGeom prst="rect">
            <a:avLst/>
          </a:prstGeom>
        </p:spPr>
      </p:pic>
      <p:pic>
        <p:nvPicPr>
          <p:cNvPr id="20" name="Image 18" descr="preencoded.png"/>
          <p:cNvPicPr>
            <a:picLocks noChangeAspect="1"/>
          </p:cNvPicPr>
          <p:nvPr/>
        </p:nvPicPr>
        <p:blipFill>
          <a:blip r:embed="rId18"/>
          <a:stretch>
            <a:fillRect/>
          </a:stretch>
        </p:blipFill>
        <p:spPr>
          <a:xfrm>
            <a:off x="8445401" y="4552950"/>
            <a:ext cx="152400" cy="152400"/>
          </a:xfrm>
          <a:prstGeom prst="rect">
            <a:avLst/>
          </a:prstGeom>
        </p:spPr>
      </p:pic>
      <p:pic>
        <p:nvPicPr>
          <p:cNvPr id="21" name="Image 19" descr="preencoded.png"/>
          <p:cNvPicPr>
            <a:picLocks noChangeAspect="1"/>
          </p:cNvPicPr>
          <p:nvPr/>
        </p:nvPicPr>
        <p:blipFill>
          <a:blip r:embed="rId19"/>
          <a:stretch>
            <a:fillRect/>
          </a:stretch>
        </p:blipFill>
        <p:spPr>
          <a:xfrm>
            <a:off x="8445401" y="5124450"/>
            <a:ext cx="152400" cy="152400"/>
          </a:xfrm>
          <a:prstGeom prst="rect">
            <a:avLst/>
          </a:prstGeom>
        </p:spPr>
      </p:pic>
      <p:pic>
        <p:nvPicPr>
          <p:cNvPr id="22" name="Image 20" descr="preencoded.png"/>
          <p:cNvPicPr>
            <a:picLocks noChangeAspect="1"/>
          </p:cNvPicPr>
          <p:nvPr/>
        </p:nvPicPr>
        <p:blipFill>
          <a:blip r:embed="rId20"/>
          <a:stretch>
            <a:fillRect/>
          </a:stretch>
        </p:blipFill>
        <p:spPr>
          <a:xfrm>
            <a:off x="0" y="6400800"/>
            <a:ext cx="12192000" cy="457200"/>
          </a:xfrm>
          <a:prstGeom prst="rect">
            <a:avLst/>
          </a:prstGeom>
        </p:spPr>
      </p:pic>
      <p:sp>
        <p:nvSpPr>
          <p:cNvPr id="23" name="Text 0"/>
          <p:cNvSpPr/>
          <p:nvPr/>
        </p:nvSpPr>
        <p:spPr>
          <a:xfrm>
            <a:off x="381000" y="2286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Key Takeaways</a:t>
            </a:r>
            <a:endParaRPr lang="en-US" sz="2700" dirty="0"/>
          </a:p>
        </p:txBody>
      </p:sp>
      <p:sp>
        <p:nvSpPr>
          <p:cNvPr id="24" name="Text 1"/>
          <p:cNvSpPr/>
          <p:nvPr/>
        </p:nvSpPr>
        <p:spPr>
          <a:xfrm>
            <a:off x="781050" y="1352550"/>
            <a:ext cx="1221224"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Pre-Audit</a:t>
            </a:r>
            <a:endParaRPr lang="en-US" sz="1500" dirty="0"/>
          </a:p>
        </p:txBody>
      </p:sp>
      <p:sp>
        <p:nvSpPr>
          <p:cNvPr id="25" name="Text 2"/>
          <p:cNvSpPr/>
          <p:nvPr/>
        </p:nvSpPr>
        <p:spPr>
          <a:xfrm>
            <a:off x="723900" y="17526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Thorough planning and risk assessment</a:t>
            </a:r>
            <a:endParaRPr lang="en-US" sz="1200" dirty="0"/>
          </a:p>
        </p:txBody>
      </p:sp>
      <p:sp>
        <p:nvSpPr>
          <p:cNvPr id="26" name="Text 3"/>
          <p:cNvSpPr/>
          <p:nvPr/>
        </p:nvSpPr>
        <p:spPr>
          <a:xfrm>
            <a:off x="723900" y="22860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Assemble team with relevant expertise</a:t>
            </a:r>
            <a:endParaRPr lang="en-US" sz="1200" dirty="0"/>
          </a:p>
        </p:txBody>
      </p:sp>
      <p:sp>
        <p:nvSpPr>
          <p:cNvPr id="27" name="Text 4"/>
          <p:cNvSpPr/>
          <p:nvPr/>
        </p:nvSpPr>
        <p:spPr>
          <a:xfrm>
            <a:off x="3386584" y="1352550"/>
            <a:ext cx="1264444" cy="266700"/>
          </a:xfrm>
          <a:prstGeom prst="rect">
            <a:avLst/>
          </a:prstGeom>
          <a:noFill/>
          <a:ln/>
        </p:spPr>
        <p:txBody>
          <a:bodyPr vert="horz" wrap="square" lIns="0" tIns="0" rIns="0" bIns="0" rtlCol="0" anchor="t"/>
          <a:lstStyle/>
          <a:p>
            <a:pPr marL="0" indent="0">
              <a:lnSpc>
                <a:spcPts val="2100"/>
              </a:lnSpc>
              <a:buNone/>
            </a:pPr>
            <a:r>
              <a:rPr lang="en-US" sz="1500" b="1" dirty="0">
                <a:solidFill>
                  <a:srgbClr val="7E22CE"/>
                </a:solidFill>
                <a:latin typeface="ui-sans-serif" pitchFamily="34" charset="0"/>
                <a:ea typeface="ui-sans-serif" pitchFamily="34" charset="-122"/>
                <a:cs typeface="ui-sans-serif" pitchFamily="34" charset="-120"/>
              </a:rPr>
              <a:t>Execution</a:t>
            </a:r>
            <a:endParaRPr lang="en-US" sz="1500" dirty="0"/>
          </a:p>
        </p:txBody>
      </p:sp>
      <p:sp>
        <p:nvSpPr>
          <p:cNvPr id="28" name="Text 5"/>
          <p:cNvSpPr/>
          <p:nvPr/>
        </p:nvSpPr>
        <p:spPr>
          <a:xfrm>
            <a:off x="3272284" y="17526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Conduct opening meeting</a:t>
            </a:r>
            <a:endParaRPr lang="en-US" sz="1200" dirty="0"/>
          </a:p>
        </p:txBody>
      </p:sp>
      <p:sp>
        <p:nvSpPr>
          <p:cNvPr id="29" name="Text 6"/>
          <p:cNvSpPr/>
          <p:nvPr/>
        </p:nvSpPr>
        <p:spPr>
          <a:xfrm>
            <a:off x="3272284" y="22860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Document review and testing</a:t>
            </a:r>
            <a:endParaRPr lang="en-US" sz="1200" dirty="0"/>
          </a:p>
        </p:txBody>
      </p:sp>
      <p:sp>
        <p:nvSpPr>
          <p:cNvPr id="30" name="Text 7"/>
          <p:cNvSpPr/>
          <p:nvPr/>
        </p:nvSpPr>
        <p:spPr>
          <a:xfrm>
            <a:off x="5877818" y="1352550"/>
            <a:ext cx="1355884" cy="266700"/>
          </a:xfrm>
          <a:prstGeom prst="rect">
            <a:avLst/>
          </a:prstGeom>
          <a:noFill/>
          <a:ln/>
        </p:spPr>
        <p:txBody>
          <a:bodyPr vert="horz" wrap="square" lIns="0" tIns="0" rIns="0" bIns="0" rtlCol="0" anchor="t"/>
          <a:lstStyle/>
          <a:p>
            <a:pPr marL="0" indent="0">
              <a:lnSpc>
                <a:spcPts val="2100"/>
              </a:lnSpc>
              <a:buNone/>
            </a:pPr>
            <a:r>
              <a:rPr lang="en-US" sz="1500" b="1" dirty="0">
                <a:solidFill>
                  <a:srgbClr val="15803D"/>
                </a:solidFill>
                <a:latin typeface="ui-sans-serif" pitchFamily="34" charset="0"/>
                <a:ea typeface="ui-sans-serif" pitchFamily="34" charset="-122"/>
                <a:cs typeface="ui-sans-serif" pitchFamily="34" charset="-120"/>
              </a:rPr>
              <a:t>Post-Audit</a:t>
            </a:r>
            <a:endParaRPr lang="en-US" sz="1500" dirty="0"/>
          </a:p>
        </p:txBody>
      </p:sp>
      <p:sp>
        <p:nvSpPr>
          <p:cNvPr id="31" name="Text 8"/>
          <p:cNvSpPr/>
          <p:nvPr/>
        </p:nvSpPr>
        <p:spPr>
          <a:xfrm>
            <a:off x="5820668" y="17526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Draft comprehensive report</a:t>
            </a:r>
            <a:endParaRPr lang="en-US" sz="1200" dirty="0"/>
          </a:p>
        </p:txBody>
      </p:sp>
      <p:sp>
        <p:nvSpPr>
          <p:cNvPr id="32" name="Text 9"/>
          <p:cNvSpPr/>
          <p:nvPr/>
        </p:nvSpPr>
        <p:spPr>
          <a:xfrm>
            <a:off x="5820668" y="2286000"/>
            <a:ext cx="1786384"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Follow up on remediation</a:t>
            </a:r>
            <a:endParaRPr lang="en-US" sz="1200" dirty="0"/>
          </a:p>
        </p:txBody>
      </p:sp>
      <p:sp>
        <p:nvSpPr>
          <p:cNvPr id="33" name="Text 10"/>
          <p:cNvSpPr/>
          <p:nvPr/>
        </p:nvSpPr>
        <p:spPr>
          <a:xfrm>
            <a:off x="495300" y="3352800"/>
            <a:ext cx="7111901"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The Big Picture</a:t>
            </a:r>
            <a:endParaRPr lang="en-US" sz="1500" dirty="0"/>
          </a:p>
        </p:txBody>
      </p:sp>
      <p:sp>
        <p:nvSpPr>
          <p:cNvPr id="34" name="Text 11"/>
          <p:cNvSpPr/>
          <p:nvPr/>
        </p:nvSpPr>
        <p:spPr>
          <a:xfrm>
            <a:off x="495300" y="3733800"/>
            <a:ext cx="7111901" cy="9144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The compliance audit process is a multi-stage, cyclical, and continuous activity that begins with planning and moves through execution and reporting. Each stage is critical for ensuring an organization's adherence to laws, regulations, policies, and standards, ultimately mitigating risks and fostering a culture of compliance.</a:t>
            </a:r>
            <a:endParaRPr lang="en-US" sz="1200" dirty="0"/>
          </a:p>
        </p:txBody>
      </p:sp>
      <p:sp>
        <p:nvSpPr>
          <p:cNvPr id="35" name="Text 12"/>
          <p:cNvSpPr/>
          <p:nvPr/>
        </p:nvSpPr>
        <p:spPr>
          <a:xfrm>
            <a:off x="8445401" y="3562350"/>
            <a:ext cx="3901380" cy="266700"/>
          </a:xfrm>
          <a:prstGeom prst="rect">
            <a:avLst/>
          </a:prstGeom>
          <a:noFill/>
          <a:ln/>
        </p:spPr>
        <p:txBody>
          <a:bodyPr vert="horz" wrap="square" lIns="0" tIns="0" rIns="0" bIns="0" rtlCol="0" anchor="t"/>
          <a:lstStyle/>
          <a:p>
            <a:pPr marL="0" indent="0">
              <a:lnSpc>
                <a:spcPts val="2100"/>
              </a:lnSpc>
              <a:buNone/>
            </a:pPr>
            <a:r>
              <a:rPr lang="en-US" sz="1500" b="1" dirty="0">
                <a:solidFill>
                  <a:srgbClr val="0F766E"/>
                </a:solidFill>
                <a:latin typeface="ui-sans-serif" pitchFamily="34" charset="0"/>
                <a:ea typeface="ui-sans-serif" pitchFamily="34" charset="-122"/>
                <a:cs typeface="ui-sans-serif" pitchFamily="34" charset="-120"/>
              </a:rPr>
              <a:t>Cyclical Nature</a:t>
            </a:r>
            <a:endParaRPr lang="en-US" sz="1500" dirty="0"/>
          </a:p>
        </p:txBody>
      </p:sp>
      <p:sp>
        <p:nvSpPr>
          <p:cNvPr id="36" name="Text 13"/>
          <p:cNvSpPr/>
          <p:nvPr/>
        </p:nvSpPr>
        <p:spPr>
          <a:xfrm>
            <a:off x="8712101" y="394335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Continuous improvement through repeated cycles</a:t>
            </a:r>
            <a:endParaRPr lang="en-US" sz="1200" dirty="0"/>
          </a:p>
        </p:txBody>
      </p:sp>
      <p:sp>
        <p:nvSpPr>
          <p:cNvPr id="37" name="Text 14"/>
          <p:cNvSpPr/>
          <p:nvPr/>
        </p:nvSpPr>
        <p:spPr>
          <a:xfrm>
            <a:off x="8712101" y="451485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Maintains ongoing regulatory adherence</a:t>
            </a:r>
            <a:endParaRPr lang="en-US" sz="1200" dirty="0"/>
          </a:p>
        </p:txBody>
      </p:sp>
      <p:sp>
        <p:nvSpPr>
          <p:cNvPr id="38" name="Text 15"/>
          <p:cNvSpPr/>
          <p:nvPr/>
        </p:nvSpPr>
        <p:spPr>
          <a:xfrm>
            <a:off x="8712101" y="5086350"/>
            <a:ext cx="29844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374151"/>
                </a:solidFill>
                <a:latin typeface="ui-sans-serif" pitchFamily="34" charset="0"/>
                <a:ea typeface="ui-sans-serif" pitchFamily="34" charset="-122"/>
                <a:cs typeface="ui-sans-serif" pitchFamily="34" charset="-120"/>
              </a:rPr>
              <a:t>Enhances organizational compliance posture</a:t>
            </a:r>
            <a:endParaRPr lang="en-US" sz="1200" dirty="0"/>
          </a:p>
        </p:txBody>
      </p:sp>
      <p:sp>
        <p:nvSpPr>
          <p:cNvPr id="39" name="Text 16"/>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40" name="Text 17"/>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25/26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838200"/>
          </a:xfrm>
          <a:prstGeom prst="rect">
            <a:avLst/>
          </a:prstGeom>
        </p:spPr>
      </p:pic>
      <p:pic>
        <p:nvPicPr>
          <p:cNvPr id="4" name="Image 2" descr="preencoded.png"/>
          <p:cNvPicPr>
            <a:picLocks noChangeAspect="1"/>
          </p:cNvPicPr>
          <p:nvPr/>
        </p:nvPicPr>
        <p:blipFill>
          <a:blip r:embed="rId5"/>
          <a:stretch>
            <a:fillRect/>
          </a:stretch>
        </p:blipFill>
        <p:spPr>
          <a:xfrm>
            <a:off x="5619750" y="1143000"/>
            <a:ext cx="952500" cy="847725"/>
          </a:xfrm>
          <a:prstGeom prst="rect">
            <a:avLst/>
          </a:prstGeom>
        </p:spPr>
      </p:pic>
      <p:pic>
        <p:nvPicPr>
          <p:cNvPr id="5" name="Image 3" descr="preencoded.png"/>
          <p:cNvPicPr>
            <a:picLocks noChangeAspect="1"/>
          </p:cNvPicPr>
          <p:nvPr/>
        </p:nvPicPr>
        <p:blipFill>
          <a:blip r:embed="rId6"/>
          <a:stretch>
            <a:fillRect/>
          </a:stretch>
        </p:blipFill>
        <p:spPr>
          <a:xfrm>
            <a:off x="5810250" y="1333500"/>
            <a:ext cx="571500" cy="457200"/>
          </a:xfrm>
          <a:prstGeom prst="rect">
            <a:avLst/>
          </a:prstGeom>
        </p:spPr>
      </p:pic>
      <p:pic>
        <p:nvPicPr>
          <p:cNvPr id="6" name="Image 4" descr="preencoded.png"/>
          <p:cNvPicPr>
            <a:picLocks noChangeAspect="1"/>
          </p:cNvPicPr>
          <p:nvPr/>
        </p:nvPicPr>
        <p:blipFill>
          <a:blip r:embed="rId7"/>
          <a:stretch>
            <a:fillRect/>
          </a:stretch>
        </p:blipFill>
        <p:spPr>
          <a:xfrm>
            <a:off x="304800" y="3057525"/>
            <a:ext cx="3708350" cy="1181100"/>
          </a:xfrm>
          <a:prstGeom prst="rect">
            <a:avLst/>
          </a:prstGeom>
        </p:spPr>
      </p:pic>
      <p:pic>
        <p:nvPicPr>
          <p:cNvPr id="7" name="Image 5" descr="preencoded.png"/>
          <p:cNvPicPr>
            <a:picLocks noChangeAspect="1"/>
          </p:cNvPicPr>
          <p:nvPr/>
        </p:nvPicPr>
        <p:blipFill>
          <a:blip r:embed="rId8"/>
          <a:stretch>
            <a:fillRect/>
          </a:stretch>
        </p:blipFill>
        <p:spPr>
          <a:xfrm>
            <a:off x="495300" y="3286125"/>
            <a:ext cx="171450" cy="304800"/>
          </a:xfrm>
          <a:prstGeom prst="rect">
            <a:avLst/>
          </a:prstGeom>
        </p:spPr>
      </p:pic>
      <p:pic>
        <p:nvPicPr>
          <p:cNvPr id="8" name="Image 6" descr="preencoded.png"/>
          <p:cNvPicPr>
            <a:picLocks noChangeAspect="1"/>
          </p:cNvPicPr>
          <p:nvPr/>
        </p:nvPicPr>
        <p:blipFill>
          <a:blip r:embed="rId9"/>
          <a:stretch>
            <a:fillRect/>
          </a:stretch>
        </p:blipFill>
        <p:spPr>
          <a:xfrm>
            <a:off x="4241750" y="3057525"/>
            <a:ext cx="3708350" cy="1181100"/>
          </a:xfrm>
          <a:prstGeom prst="rect">
            <a:avLst/>
          </a:prstGeom>
        </p:spPr>
      </p:pic>
      <p:pic>
        <p:nvPicPr>
          <p:cNvPr id="9" name="Image 7" descr="preencoded.png"/>
          <p:cNvPicPr>
            <a:picLocks noChangeAspect="1"/>
          </p:cNvPicPr>
          <p:nvPr/>
        </p:nvPicPr>
        <p:blipFill>
          <a:blip r:embed="rId10"/>
          <a:stretch>
            <a:fillRect/>
          </a:stretch>
        </p:blipFill>
        <p:spPr>
          <a:xfrm>
            <a:off x="4432250" y="3286125"/>
            <a:ext cx="228600" cy="304800"/>
          </a:xfrm>
          <a:prstGeom prst="rect">
            <a:avLst/>
          </a:prstGeom>
        </p:spPr>
      </p:pic>
      <p:pic>
        <p:nvPicPr>
          <p:cNvPr id="10" name="Image 8" descr="preencoded.png"/>
          <p:cNvPicPr>
            <a:picLocks noChangeAspect="1"/>
          </p:cNvPicPr>
          <p:nvPr/>
        </p:nvPicPr>
        <p:blipFill>
          <a:blip r:embed="rId11"/>
          <a:stretch>
            <a:fillRect/>
          </a:stretch>
        </p:blipFill>
        <p:spPr>
          <a:xfrm>
            <a:off x="8178701" y="3057525"/>
            <a:ext cx="3708499" cy="1181100"/>
          </a:xfrm>
          <a:prstGeom prst="rect">
            <a:avLst/>
          </a:prstGeom>
        </p:spPr>
      </p:pic>
      <p:pic>
        <p:nvPicPr>
          <p:cNvPr id="11" name="Image 9" descr="preencoded.png"/>
          <p:cNvPicPr>
            <a:picLocks noChangeAspect="1"/>
          </p:cNvPicPr>
          <p:nvPr/>
        </p:nvPicPr>
        <p:blipFill>
          <a:blip r:embed="rId12"/>
          <a:stretch>
            <a:fillRect/>
          </a:stretch>
        </p:blipFill>
        <p:spPr>
          <a:xfrm>
            <a:off x="8369201" y="3286125"/>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304800" y="4543425"/>
            <a:ext cx="11582400" cy="990600"/>
          </a:xfrm>
          <a:prstGeom prst="rect">
            <a:avLst/>
          </a:prstGeom>
        </p:spPr>
      </p:pic>
      <p:pic>
        <p:nvPicPr>
          <p:cNvPr id="13" name="Image 11" descr="preencoded.png"/>
          <p:cNvPicPr>
            <a:picLocks noChangeAspect="1"/>
          </p:cNvPicPr>
          <p:nvPr/>
        </p:nvPicPr>
        <p:blipFill>
          <a:blip r:embed="rId14"/>
          <a:stretch>
            <a:fillRect/>
          </a:stretch>
        </p:blipFill>
        <p:spPr>
          <a:xfrm>
            <a:off x="495300" y="5153025"/>
            <a:ext cx="114300" cy="152400"/>
          </a:xfrm>
          <a:prstGeom prst="rect">
            <a:avLst/>
          </a:prstGeom>
        </p:spPr>
      </p:pic>
      <p:pic>
        <p:nvPicPr>
          <p:cNvPr id="14" name="Image 12" descr="preencoded.png"/>
          <p:cNvPicPr>
            <a:picLocks noChangeAspect="1"/>
          </p:cNvPicPr>
          <p:nvPr/>
        </p:nvPicPr>
        <p:blipFill>
          <a:blip r:embed="rId15"/>
          <a:stretch>
            <a:fillRect/>
          </a:stretch>
        </p:blipFill>
        <p:spPr>
          <a:xfrm>
            <a:off x="6172200" y="5153025"/>
            <a:ext cx="190500" cy="152400"/>
          </a:xfrm>
          <a:prstGeom prst="rect">
            <a:avLst/>
          </a:prstGeom>
        </p:spPr>
      </p:pic>
      <p:pic>
        <p:nvPicPr>
          <p:cNvPr id="15" name="Image 13" descr="preencoded.png"/>
          <p:cNvPicPr>
            <a:picLocks noChangeAspect="1"/>
          </p:cNvPicPr>
          <p:nvPr/>
        </p:nvPicPr>
        <p:blipFill>
          <a:blip r:embed="rId16"/>
          <a:stretch>
            <a:fillRect/>
          </a:stretch>
        </p:blipFill>
        <p:spPr>
          <a:xfrm>
            <a:off x="0" y="6400800"/>
            <a:ext cx="12192000" cy="457200"/>
          </a:xfrm>
          <a:prstGeom prst="rect">
            <a:avLst/>
          </a:prstGeom>
        </p:spPr>
      </p:pic>
      <p:sp>
        <p:nvSpPr>
          <p:cNvPr id="16" name="Text 0"/>
          <p:cNvSpPr/>
          <p:nvPr/>
        </p:nvSpPr>
        <p:spPr>
          <a:xfrm>
            <a:off x="381000" y="228600"/>
            <a:ext cx="114300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ui-sans-serif" pitchFamily="34" charset="0"/>
                <a:ea typeface="ui-sans-serif" pitchFamily="34" charset="-122"/>
                <a:cs typeface="ui-sans-serif" pitchFamily="34" charset="-120"/>
              </a:rPr>
              <a:t>Questions &amp; Discussion</a:t>
            </a:r>
            <a:endParaRPr lang="en-US" sz="2700" dirty="0"/>
          </a:p>
        </p:txBody>
      </p:sp>
      <p:sp>
        <p:nvSpPr>
          <p:cNvPr id="17" name="Text 1"/>
          <p:cNvSpPr/>
          <p:nvPr/>
        </p:nvSpPr>
        <p:spPr>
          <a:xfrm>
            <a:off x="304800" y="2143125"/>
            <a:ext cx="1158240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374151"/>
                </a:solidFill>
                <a:latin typeface="ui-sans-serif" pitchFamily="34" charset="0"/>
                <a:ea typeface="ui-sans-serif" pitchFamily="34" charset="-122"/>
                <a:cs typeface="ui-sans-serif" pitchFamily="34" charset="-120"/>
              </a:rPr>
              <a:t>Let's discuss compliance audit processes</a:t>
            </a:r>
            <a:endParaRPr lang="en-US" sz="1800" dirty="0"/>
          </a:p>
        </p:txBody>
      </p:sp>
      <p:sp>
        <p:nvSpPr>
          <p:cNvPr id="18" name="Text 2"/>
          <p:cNvSpPr/>
          <p:nvPr/>
        </p:nvSpPr>
        <p:spPr>
          <a:xfrm>
            <a:off x="304800" y="2524125"/>
            <a:ext cx="11582400"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4B5563"/>
                </a:solidFill>
                <a:latin typeface="ui-sans-serif" pitchFamily="34" charset="0"/>
                <a:ea typeface="ui-sans-serif" pitchFamily="34" charset="-122"/>
                <a:cs typeface="ui-sans-serif" pitchFamily="34" charset="-120"/>
              </a:rPr>
              <a:t>Share your experiences, challenges, and insights</a:t>
            </a:r>
            <a:endParaRPr lang="en-US" sz="1200" dirty="0"/>
          </a:p>
        </p:txBody>
      </p:sp>
      <p:sp>
        <p:nvSpPr>
          <p:cNvPr id="19" name="Text 3"/>
          <p:cNvSpPr/>
          <p:nvPr/>
        </p:nvSpPr>
        <p:spPr>
          <a:xfrm>
            <a:off x="781050" y="3248025"/>
            <a:ext cx="364992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Audit Planning</a:t>
            </a:r>
            <a:endParaRPr lang="en-US" sz="1500" dirty="0"/>
          </a:p>
        </p:txBody>
      </p:sp>
      <p:sp>
        <p:nvSpPr>
          <p:cNvPr id="20" name="Text 4"/>
          <p:cNvSpPr/>
          <p:nvPr/>
        </p:nvSpPr>
        <p:spPr>
          <a:xfrm>
            <a:off x="781050" y="3590925"/>
            <a:ext cx="304160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What challenges do you face in audit planning and scoping?</a:t>
            </a:r>
            <a:endParaRPr lang="en-US" sz="1200" dirty="0"/>
          </a:p>
        </p:txBody>
      </p:sp>
      <p:sp>
        <p:nvSpPr>
          <p:cNvPr id="21" name="Text 5"/>
          <p:cNvSpPr/>
          <p:nvPr/>
        </p:nvSpPr>
        <p:spPr>
          <a:xfrm>
            <a:off x="4775150" y="3248025"/>
            <a:ext cx="358134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Evidence Gathering</a:t>
            </a:r>
            <a:endParaRPr lang="en-US" sz="1500" dirty="0"/>
          </a:p>
        </p:txBody>
      </p:sp>
      <p:sp>
        <p:nvSpPr>
          <p:cNvPr id="22" name="Text 6"/>
          <p:cNvSpPr/>
          <p:nvPr/>
        </p:nvSpPr>
        <p:spPr>
          <a:xfrm>
            <a:off x="4775150" y="3590925"/>
            <a:ext cx="2984450"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Which evidence gathering techniques have worked best for you?</a:t>
            </a:r>
            <a:endParaRPr lang="en-US" sz="1200" dirty="0"/>
          </a:p>
        </p:txBody>
      </p:sp>
      <p:sp>
        <p:nvSpPr>
          <p:cNvPr id="23" name="Text 7"/>
          <p:cNvSpPr/>
          <p:nvPr/>
        </p:nvSpPr>
        <p:spPr>
          <a:xfrm>
            <a:off x="8712101" y="3248025"/>
            <a:ext cx="2984599"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Remediation</a:t>
            </a:r>
            <a:endParaRPr lang="en-US" sz="1500" dirty="0"/>
          </a:p>
        </p:txBody>
      </p:sp>
      <p:sp>
        <p:nvSpPr>
          <p:cNvPr id="24" name="Text 8"/>
          <p:cNvSpPr/>
          <p:nvPr/>
        </p:nvSpPr>
        <p:spPr>
          <a:xfrm>
            <a:off x="8712101" y="3590925"/>
            <a:ext cx="2984599" cy="4572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What approaches have you seen for effective CAP implementation?</a:t>
            </a:r>
            <a:endParaRPr lang="en-US" sz="1200" dirty="0"/>
          </a:p>
        </p:txBody>
      </p:sp>
      <p:sp>
        <p:nvSpPr>
          <p:cNvPr id="25" name="Text 9"/>
          <p:cNvSpPr/>
          <p:nvPr/>
        </p:nvSpPr>
        <p:spPr>
          <a:xfrm>
            <a:off x="495300" y="4733925"/>
            <a:ext cx="112014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F2937"/>
                </a:solidFill>
                <a:latin typeface="ui-sans-serif" pitchFamily="34" charset="0"/>
                <a:ea typeface="ui-sans-serif" pitchFamily="34" charset="-122"/>
                <a:cs typeface="ui-sans-serif" pitchFamily="34" charset="-120"/>
              </a:rPr>
              <a:t>Discussion Points:</a:t>
            </a:r>
            <a:endParaRPr lang="en-US" sz="1500" dirty="0"/>
          </a:p>
        </p:txBody>
      </p:sp>
      <p:sp>
        <p:nvSpPr>
          <p:cNvPr id="26" name="Text 10"/>
          <p:cNvSpPr/>
          <p:nvPr/>
        </p:nvSpPr>
        <p:spPr>
          <a:xfrm>
            <a:off x="723900" y="5114925"/>
            <a:ext cx="5845552"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How might emerging technologies impact compliance auditing?</a:t>
            </a:r>
            <a:endParaRPr lang="en-US" sz="1200" dirty="0"/>
          </a:p>
        </p:txBody>
      </p:sp>
      <p:sp>
        <p:nvSpPr>
          <p:cNvPr id="27" name="Text 11"/>
          <p:cNvSpPr/>
          <p:nvPr/>
        </p:nvSpPr>
        <p:spPr>
          <a:xfrm>
            <a:off x="6477000" y="5114925"/>
            <a:ext cx="5743396" cy="228600"/>
          </a:xfrm>
          <a:prstGeom prst="rect">
            <a:avLst/>
          </a:prstGeom>
          <a:noFill/>
          <a:ln/>
        </p:spPr>
        <p:txBody>
          <a:bodyPr vert="horz" wrap="square" lIns="0" tIns="0" rIns="0" bIns="0" rtlCol="0" anchor="t"/>
          <a:lstStyle/>
          <a:p>
            <a:pPr marL="0" indent="0">
              <a:lnSpc>
                <a:spcPts val="1800"/>
              </a:lnSpc>
              <a:buNone/>
            </a:pPr>
            <a:r>
              <a:rPr lang="en-US" sz="1200" dirty="0">
                <a:solidFill>
                  <a:srgbClr val="374151"/>
                </a:solidFill>
                <a:latin typeface="ui-sans-serif" pitchFamily="34" charset="0"/>
                <a:ea typeface="ui-sans-serif" pitchFamily="34" charset="-122"/>
                <a:cs typeface="ui-sans-serif" pitchFamily="34" charset="-120"/>
              </a:rPr>
              <a:t>What are your thoughts on the evolving regulatory landscape?</a:t>
            </a:r>
            <a:endParaRPr lang="en-US" sz="1200" dirty="0"/>
          </a:p>
        </p:txBody>
      </p:sp>
      <p:sp>
        <p:nvSpPr>
          <p:cNvPr id="28" name="Text 12"/>
          <p:cNvSpPr/>
          <p:nvPr/>
        </p:nvSpPr>
        <p:spPr>
          <a:xfrm>
            <a:off x="381000" y="6515100"/>
            <a:ext cx="5441037"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GRC104 - Compliance Frameworks and Legal Requirements</a:t>
            </a:r>
            <a:endParaRPr lang="en-US" sz="1200" dirty="0"/>
          </a:p>
        </p:txBody>
      </p:sp>
      <p:sp>
        <p:nvSpPr>
          <p:cNvPr id="29" name="Text 13"/>
          <p:cNvSpPr/>
          <p:nvPr/>
        </p:nvSpPr>
        <p:spPr>
          <a:xfrm>
            <a:off x="11371808" y="6515100"/>
            <a:ext cx="527030" cy="228600"/>
          </a:xfrm>
          <a:prstGeom prst="rect">
            <a:avLst/>
          </a:prstGeom>
          <a:noFill/>
          <a:ln/>
        </p:spPr>
        <p:txBody>
          <a:bodyPr vert="horz" wrap="square" lIns="0" tIns="0" rIns="0" bIns="0" rtlCol="0" anchor="t"/>
          <a:lstStyle/>
          <a:p>
            <a:pPr marL="0" indent="0">
              <a:lnSpc>
                <a:spcPts val="1800"/>
              </a:lnSpc>
              <a:buNone/>
            </a:pPr>
            <a:r>
              <a:rPr lang="en-US" sz="1200" dirty="0">
                <a:solidFill>
                  <a:srgbClr val="4B5563"/>
                </a:solidFill>
                <a:latin typeface="ui-sans-serif" pitchFamily="34" charset="0"/>
                <a:ea typeface="ui-sans-serif" pitchFamily="34" charset="-122"/>
                <a:cs typeface="ui-sans-serif" pitchFamily="34" charset="-120"/>
              </a:rPr>
              <a:t>26/26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3321</Words>
  <Application>Microsoft Office PowerPoint</Application>
  <PresentationFormat>Widescreen</PresentationFormat>
  <Paragraphs>575</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ui-sans-serif</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Aminu Idris</cp:lastModifiedBy>
  <cp:revision>4</cp:revision>
  <dcterms:created xsi:type="dcterms:W3CDTF">2025-10-31T08:15:11Z</dcterms:created>
  <dcterms:modified xsi:type="dcterms:W3CDTF">2025-10-31T08:28:54Z</dcterms:modified>
</cp:coreProperties>
</file>