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3" d="100"/>
          <a:sy n="83" d="100"/>
        </p:scale>
        <p:origin x="65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4665894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13" Type="http://schemas.openxmlformats.org/officeDocument/2006/relationships/image" Target="../media/image11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12" Type="http://schemas.openxmlformats.org/officeDocument/2006/relationships/image" Target="../media/image10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11" Type="http://schemas.openxmlformats.org/officeDocument/2006/relationships/image" Target="../media/image9.png"/><Relationship Id="rId5" Type="http://schemas.openxmlformats.org/officeDocument/2006/relationships/image" Target="../media/image3.png"/><Relationship Id="rId10" Type="http://schemas.openxmlformats.org/officeDocument/2006/relationships/image" Target="../media/image8.pn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13" Type="http://schemas.openxmlformats.org/officeDocument/2006/relationships/image" Target="../media/image22.png"/><Relationship Id="rId18" Type="http://schemas.openxmlformats.org/officeDocument/2006/relationships/image" Target="../media/image27.png"/><Relationship Id="rId3" Type="http://schemas.openxmlformats.org/officeDocument/2006/relationships/image" Target="../media/image12.png"/><Relationship Id="rId21" Type="http://schemas.openxmlformats.org/officeDocument/2006/relationships/image" Target="../media/image30.png"/><Relationship Id="rId7" Type="http://schemas.openxmlformats.org/officeDocument/2006/relationships/image" Target="../media/image16.png"/><Relationship Id="rId12" Type="http://schemas.openxmlformats.org/officeDocument/2006/relationships/image" Target="../media/image21.png"/><Relationship Id="rId17" Type="http://schemas.openxmlformats.org/officeDocument/2006/relationships/image" Target="../media/image26.png"/><Relationship Id="rId2" Type="http://schemas.openxmlformats.org/officeDocument/2006/relationships/notesSlide" Target="../notesSlides/notesSlide2.xml"/><Relationship Id="rId16" Type="http://schemas.openxmlformats.org/officeDocument/2006/relationships/image" Target="../media/image25.png"/><Relationship Id="rId20" Type="http://schemas.openxmlformats.org/officeDocument/2006/relationships/image" Target="../media/image29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11" Type="http://schemas.openxmlformats.org/officeDocument/2006/relationships/image" Target="../media/image20.png"/><Relationship Id="rId5" Type="http://schemas.openxmlformats.org/officeDocument/2006/relationships/image" Target="../media/image14.png"/><Relationship Id="rId15" Type="http://schemas.openxmlformats.org/officeDocument/2006/relationships/image" Target="../media/image24.png"/><Relationship Id="rId23" Type="http://schemas.openxmlformats.org/officeDocument/2006/relationships/image" Target="../media/image32.png"/><Relationship Id="rId10" Type="http://schemas.openxmlformats.org/officeDocument/2006/relationships/image" Target="../media/image19.png"/><Relationship Id="rId19" Type="http://schemas.openxmlformats.org/officeDocument/2006/relationships/image" Target="../media/image28.png"/><Relationship Id="rId4" Type="http://schemas.openxmlformats.org/officeDocument/2006/relationships/image" Target="../media/image13.png"/><Relationship Id="rId9" Type="http://schemas.openxmlformats.org/officeDocument/2006/relationships/image" Target="../media/image18.png"/><Relationship Id="rId14" Type="http://schemas.openxmlformats.org/officeDocument/2006/relationships/image" Target="../media/image23.png"/><Relationship Id="rId22" Type="http://schemas.openxmlformats.org/officeDocument/2006/relationships/image" Target="../media/image31.png"/></Relationships>
</file>

<file path=ppt/slides/_rels/slide3.xml.rels><?xml version="1.0" encoding="UTF-8" standalone="yes"?>
<Relationships xmlns="http://schemas.openxmlformats.org/package/2006/relationships"><Relationship Id="rId13" Type="http://schemas.openxmlformats.org/officeDocument/2006/relationships/image" Target="../media/image41.png"/><Relationship Id="rId18" Type="http://schemas.openxmlformats.org/officeDocument/2006/relationships/image" Target="../media/image46.png"/><Relationship Id="rId26" Type="http://schemas.openxmlformats.org/officeDocument/2006/relationships/image" Target="../media/image54.png"/><Relationship Id="rId3" Type="http://schemas.openxmlformats.org/officeDocument/2006/relationships/image" Target="../media/image12.png"/><Relationship Id="rId21" Type="http://schemas.openxmlformats.org/officeDocument/2006/relationships/image" Target="../media/image49.png"/><Relationship Id="rId7" Type="http://schemas.openxmlformats.org/officeDocument/2006/relationships/image" Target="../media/image35.png"/><Relationship Id="rId12" Type="http://schemas.openxmlformats.org/officeDocument/2006/relationships/image" Target="../media/image40.png"/><Relationship Id="rId17" Type="http://schemas.openxmlformats.org/officeDocument/2006/relationships/image" Target="../media/image45.png"/><Relationship Id="rId25" Type="http://schemas.openxmlformats.org/officeDocument/2006/relationships/image" Target="../media/image53.png"/><Relationship Id="rId33" Type="http://schemas.openxmlformats.org/officeDocument/2006/relationships/image" Target="../media/image32.png"/><Relationship Id="rId2" Type="http://schemas.openxmlformats.org/officeDocument/2006/relationships/notesSlide" Target="../notesSlides/notesSlide3.xml"/><Relationship Id="rId16" Type="http://schemas.openxmlformats.org/officeDocument/2006/relationships/image" Target="../media/image44.png"/><Relationship Id="rId20" Type="http://schemas.openxmlformats.org/officeDocument/2006/relationships/image" Target="../media/image48.png"/><Relationship Id="rId29" Type="http://schemas.openxmlformats.org/officeDocument/2006/relationships/image" Target="../media/image57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4.png"/><Relationship Id="rId11" Type="http://schemas.openxmlformats.org/officeDocument/2006/relationships/image" Target="../media/image39.png"/><Relationship Id="rId24" Type="http://schemas.openxmlformats.org/officeDocument/2006/relationships/image" Target="../media/image52.png"/><Relationship Id="rId32" Type="http://schemas.openxmlformats.org/officeDocument/2006/relationships/image" Target="../media/image60.png"/><Relationship Id="rId5" Type="http://schemas.openxmlformats.org/officeDocument/2006/relationships/image" Target="../media/image33.png"/><Relationship Id="rId15" Type="http://schemas.openxmlformats.org/officeDocument/2006/relationships/image" Target="../media/image43.png"/><Relationship Id="rId23" Type="http://schemas.openxmlformats.org/officeDocument/2006/relationships/image" Target="../media/image51.png"/><Relationship Id="rId28" Type="http://schemas.openxmlformats.org/officeDocument/2006/relationships/image" Target="../media/image56.png"/><Relationship Id="rId10" Type="http://schemas.openxmlformats.org/officeDocument/2006/relationships/image" Target="../media/image38.png"/><Relationship Id="rId19" Type="http://schemas.openxmlformats.org/officeDocument/2006/relationships/image" Target="../media/image47.png"/><Relationship Id="rId31" Type="http://schemas.openxmlformats.org/officeDocument/2006/relationships/image" Target="../media/image59.png"/><Relationship Id="rId4" Type="http://schemas.openxmlformats.org/officeDocument/2006/relationships/image" Target="../media/image13.png"/><Relationship Id="rId9" Type="http://schemas.openxmlformats.org/officeDocument/2006/relationships/image" Target="../media/image37.png"/><Relationship Id="rId14" Type="http://schemas.openxmlformats.org/officeDocument/2006/relationships/image" Target="../media/image42.png"/><Relationship Id="rId22" Type="http://schemas.openxmlformats.org/officeDocument/2006/relationships/image" Target="../media/image50.png"/><Relationship Id="rId27" Type="http://schemas.openxmlformats.org/officeDocument/2006/relationships/image" Target="../media/image55.png"/><Relationship Id="rId30" Type="http://schemas.openxmlformats.org/officeDocument/2006/relationships/image" Target="../media/image58.png"/><Relationship Id="rId8" Type="http://schemas.openxmlformats.org/officeDocument/2006/relationships/image" Target="../media/image36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62.png"/><Relationship Id="rId13" Type="http://schemas.openxmlformats.org/officeDocument/2006/relationships/image" Target="../media/image67.png"/><Relationship Id="rId18" Type="http://schemas.openxmlformats.org/officeDocument/2006/relationships/image" Target="../media/image32.png"/><Relationship Id="rId3" Type="http://schemas.openxmlformats.org/officeDocument/2006/relationships/image" Target="../media/image12.png"/><Relationship Id="rId7" Type="http://schemas.openxmlformats.org/officeDocument/2006/relationships/image" Target="../media/image61.png"/><Relationship Id="rId12" Type="http://schemas.openxmlformats.org/officeDocument/2006/relationships/image" Target="../media/image66.png"/><Relationship Id="rId17" Type="http://schemas.openxmlformats.org/officeDocument/2006/relationships/image" Target="../media/image71.png"/><Relationship Id="rId2" Type="http://schemas.openxmlformats.org/officeDocument/2006/relationships/notesSlide" Target="../notesSlides/notesSlide4.xml"/><Relationship Id="rId16" Type="http://schemas.openxmlformats.org/officeDocument/2006/relationships/image" Target="../media/image70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0.png"/><Relationship Id="rId11" Type="http://schemas.openxmlformats.org/officeDocument/2006/relationships/image" Target="../media/image65.png"/><Relationship Id="rId5" Type="http://schemas.openxmlformats.org/officeDocument/2006/relationships/image" Target="../media/image14.png"/><Relationship Id="rId15" Type="http://schemas.openxmlformats.org/officeDocument/2006/relationships/image" Target="../media/image69.png"/><Relationship Id="rId10" Type="http://schemas.openxmlformats.org/officeDocument/2006/relationships/image" Target="../media/image64.png"/><Relationship Id="rId4" Type="http://schemas.openxmlformats.org/officeDocument/2006/relationships/image" Target="../media/image13.png"/><Relationship Id="rId9" Type="http://schemas.openxmlformats.org/officeDocument/2006/relationships/image" Target="../media/image63.png"/><Relationship Id="rId14" Type="http://schemas.openxmlformats.org/officeDocument/2006/relationships/image" Target="../media/image68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74.png"/><Relationship Id="rId13" Type="http://schemas.openxmlformats.org/officeDocument/2006/relationships/image" Target="../media/image79.png"/><Relationship Id="rId18" Type="http://schemas.openxmlformats.org/officeDocument/2006/relationships/image" Target="../media/image32.png"/><Relationship Id="rId3" Type="http://schemas.openxmlformats.org/officeDocument/2006/relationships/image" Target="../media/image12.png"/><Relationship Id="rId7" Type="http://schemas.openxmlformats.org/officeDocument/2006/relationships/image" Target="../media/image73.png"/><Relationship Id="rId12" Type="http://schemas.openxmlformats.org/officeDocument/2006/relationships/image" Target="../media/image78.png"/><Relationship Id="rId17" Type="http://schemas.openxmlformats.org/officeDocument/2006/relationships/image" Target="../media/image83.png"/><Relationship Id="rId2" Type="http://schemas.openxmlformats.org/officeDocument/2006/relationships/notesSlide" Target="../notesSlides/notesSlide5.xml"/><Relationship Id="rId16" Type="http://schemas.openxmlformats.org/officeDocument/2006/relationships/image" Target="../media/image8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2.png"/><Relationship Id="rId11" Type="http://schemas.openxmlformats.org/officeDocument/2006/relationships/image" Target="../media/image77.png"/><Relationship Id="rId5" Type="http://schemas.openxmlformats.org/officeDocument/2006/relationships/image" Target="../media/image14.png"/><Relationship Id="rId15" Type="http://schemas.openxmlformats.org/officeDocument/2006/relationships/image" Target="../media/image81.png"/><Relationship Id="rId10" Type="http://schemas.openxmlformats.org/officeDocument/2006/relationships/image" Target="../media/image76.png"/><Relationship Id="rId4" Type="http://schemas.openxmlformats.org/officeDocument/2006/relationships/image" Target="../media/image13.png"/><Relationship Id="rId9" Type="http://schemas.openxmlformats.org/officeDocument/2006/relationships/image" Target="../media/image75.png"/><Relationship Id="rId14" Type="http://schemas.openxmlformats.org/officeDocument/2006/relationships/image" Target="../media/image80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86.png"/><Relationship Id="rId13" Type="http://schemas.openxmlformats.org/officeDocument/2006/relationships/image" Target="../media/image24.png"/><Relationship Id="rId18" Type="http://schemas.openxmlformats.org/officeDocument/2006/relationships/image" Target="../media/image94.png"/><Relationship Id="rId3" Type="http://schemas.openxmlformats.org/officeDocument/2006/relationships/image" Target="../media/image12.png"/><Relationship Id="rId7" Type="http://schemas.openxmlformats.org/officeDocument/2006/relationships/image" Target="../media/image85.png"/><Relationship Id="rId12" Type="http://schemas.openxmlformats.org/officeDocument/2006/relationships/image" Target="../media/image90.png"/><Relationship Id="rId17" Type="http://schemas.openxmlformats.org/officeDocument/2006/relationships/image" Target="../media/image93.png"/><Relationship Id="rId2" Type="http://schemas.openxmlformats.org/officeDocument/2006/relationships/notesSlide" Target="../notesSlides/notesSlide6.xml"/><Relationship Id="rId16" Type="http://schemas.openxmlformats.org/officeDocument/2006/relationships/image" Target="../media/image70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4.png"/><Relationship Id="rId11" Type="http://schemas.openxmlformats.org/officeDocument/2006/relationships/image" Target="../media/image89.png"/><Relationship Id="rId5" Type="http://schemas.openxmlformats.org/officeDocument/2006/relationships/image" Target="../media/image14.png"/><Relationship Id="rId15" Type="http://schemas.openxmlformats.org/officeDocument/2006/relationships/image" Target="../media/image92.png"/><Relationship Id="rId10" Type="http://schemas.openxmlformats.org/officeDocument/2006/relationships/image" Target="../media/image88.png"/><Relationship Id="rId19" Type="http://schemas.openxmlformats.org/officeDocument/2006/relationships/image" Target="../media/image32.png"/><Relationship Id="rId4" Type="http://schemas.openxmlformats.org/officeDocument/2006/relationships/image" Target="../media/image13.png"/><Relationship Id="rId9" Type="http://schemas.openxmlformats.org/officeDocument/2006/relationships/image" Target="../media/image87.png"/><Relationship Id="rId14" Type="http://schemas.openxmlformats.org/officeDocument/2006/relationships/image" Target="../media/image91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97.png"/><Relationship Id="rId13" Type="http://schemas.openxmlformats.org/officeDocument/2006/relationships/image" Target="../media/image101.png"/><Relationship Id="rId18" Type="http://schemas.openxmlformats.org/officeDocument/2006/relationships/image" Target="../media/image105.png"/><Relationship Id="rId3" Type="http://schemas.openxmlformats.org/officeDocument/2006/relationships/image" Target="../media/image12.png"/><Relationship Id="rId7" Type="http://schemas.openxmlformats.org/officeDocument/2006/relationships/image" Target="../media/image20.png"/><Relationship Id="rId12" Type="http://schemas.openxmlformats.org/officeDocument/2006/relationships/image" Target="../media/image17.png"/><Relationship Id="rId17" Type="http://schemas.openxmlformats.org/officeDocument/2006/relationships/image" Target="../media/image104.png"/><Relationship Id="rId2" Type="http://schemas.openxmlformats.org/officeDocument/2006/relationships/notesSlide" Target="../notesSlides/notesSlide7.xml"/><Relationship Id="rId16" Type="http://schemas.openxmlformats.org/officeDocument/2006/relationships/image" Target="../media/image9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6.png"/><Relationship Id="rId11" Type="http://schemas.openxmlformats.org/officeDocument/2006/relationships/image" Target="../media/image100.png"/><Relationship Id="rId5" Type="http://schemas.openxmlformats.org/officeDocument/2006/relationships/image" Target="../media/image95.png"/><Relationship Id="rId15" Type="http://schemas.openxmlformats.org/officeDocument/2006/relationships/image" Target="../media/image103.png"/><Relationship Id="rId10" Type="http://schemas.openxmlformats.org/officeDocument/2006/relationships/image" Target="../media/image99.png"/><Relationship Id="rId19" Type="http://schemas.openxmlformats.org/officeDocument/2006/relationships/image" Target="../media/image32.png"/><Relationship Id="rId4" Type="http://schemas.openxmlformats.org/officeDocument/2006/relationships/image" Target="../media/image13.png"/><Relationship Id="rId9" Type="http://schemas.openxmlformats.org/officeDocument/2006/relationships/image" Target="../media/image98.png"/><Relationship Id="rId14" Type="http://schemas.openxmlformats.org/officeDocument/2006/relationships/image" Target="../media/image102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7.png"/><Relationship Id="rId3" Type="http://schemas.openxmlformats.org/officeDocument/2006/relationships/image" Target="../media/image12.png"/><Relationship Id="rId7" Type="http://schemas.openxmlformats.org/officeDocument/2006/relationships/image" Target="../media/image106.png"/><Relationship Id="rId12" Type="http://schemas.openxmlformats.org/officeDocument/2006/relationships/image" Target="../media/image3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11" Type="http://schemas.openxmlformats.org/officeDocument/2006/relationships/image" Target="../media/image110.png"/><Relationship Id="rId5" Type="http://schemas.openxmlformats.org/officeDocument/2006/relationships/image" Target="../media/image14.png"/><Relationship Id="rId10" Type="http://schemas.openxmlformats.org/officeDocument/2006/relationships/image" Target="../media/image109.png"/><Relationship Id="rId4" Type="http://schemas.openxmlformats.org/officeDocument/2006/relationships/image" Target="../media/image13.png"/><Relationship Id="rId9" Type="http://schemas.openxmlformats.org/officeDocument/2006/relationships/image" Target="../media/image108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5.png"/><Relationship Id="rId13" Type="http://schemas.openxmlformats.org/officeDocument/2006/relationships/image" Target="../media/image120.png"/><Relationship Id="rId18" Type="http://schemas.openxmlformats.org/officeDocument/2006/relationships/image" Target="../media/image32.png"/><Relationship Id="rId3" Type="http://schemas.openxmlformats.org/officeDocument/2006/relationships/image" Target="../media/image12.png"/><Relationship Id="rId7" Type="http://schemas.openxmlformats.org/officeDocument/2006/relationships/image" Target="../media/image114.png"/><Relationship Id="rId12" Type="http://schemas.openxmlformats.org/officeDocument/2006/relationships/image" Target="../media/image119.png"/><Relationship Id="rId17" Type="http://schemas.openxmlformats.org/officeDocument/2006/relationships/image" Target="../media/image124.png"/><Relationship Id="rId2" Type="http://schemas.openxmlformats.org/officeDocument/2006/relationships/notesSlide" Target="../notesSlides/notesSlide9.xml"/><Relationship Id="rId16" Type="http://schemas.openxmlformats.org/officeDocument/2006/relationships/image" Target="../media/image12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3.png"/><Relationship Id="rId11" Type="http://schemas.openxmlformats.org/officeDocument/2006/relationships/image" Target="../media/image118.png"/><Relationship Id="rId5" Type="http://schemas.openxmlformats.org/officeDocument/2006/relationships/image" Target="../media/image112.png"/><Relationship Id="rId15" Type="http://schemas.openxmlformats.org/officeDocument/2006/relationships/image" Target="../media/image122.png"/><Relationship Id="rId10" Type="http://schemas.openxmlformats.org/officeDocument/2006/relationships/image" Target="../media/image117.png"/><Relationship Id="rId4" Type="http://schemas.openxmlformats.org/officeDocument/2006/relationships/image" Target="../media/image111.png"/><Relationship Id="rId9" Type="http://schemas.openxmlformats.org/officeDocument/2006/relationships/image" Target="../media/image116.png"/><Relationship Id="rId14" Type="http://schemas.openxmlformats.org/officeDocument/2006/relationships/image" Target="../media/image121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8.png"/><Relationship Id="rId13" Type="http://schemas.openxmlformats.org/officeDocument/2006/relationships/image" Target="../media/image133.png"/><Relationship Id="rId3" Type="http://schemas.openxmlformats.org/officeDocument/2006/relationships/image" Target="../media/image12.png"/><Relationship Id="rId7" Type="http://schemas.openxmlformats.org/officeDocument/2006/relationships/image" Target="../media/image127.png"/><Relationship Id="rId12" Type="http://schemas.openxmlformats.org/officeDocument/2006/relationships/image" Target="../media/image13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6.png"/><Relationship Id="rId11" Type="http://schemas.openxmlformats.org/officeDocument/2006/relationships/image" Target="../media/image131.png"/><Relationship Id="rId5" Type="http://schemas.openxmlformats.org/officeDocument/2006/relationships/image" Target="../media/image125.png"/><Relationship Id="rId15" Type="http://schemas.openxmlformats.org/officeDocument/2006/relationships/image" Target="../media/image32.png"/><Relationship Id="rId10" Type="http://schemas.openxmlformats.org/officeDocument/2006/relationships/image" Target="../media/image130.png"/><Relationship Id="rId4" Type="http://schemas.openxmlformats.org/officeDocument/2006/relationships/image" Target="../media/image13.png"/><Relationship Id="rId9" Type="http://schemas.openxmlformats.org/officeDocument/2006/relationships/image" Target="../media/image129.png"/><Relationship Id="rId14" Type="http://schemas.openxmlformats.org/officeDocument/2006/relationships/image" Target="../media/image13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62500" y="1371600"/>
            <a:ext cx="762000" cy="76200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972050" y="1562100"/>
            <a:ext cx="342900" cy="38100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715000" y="1371600"/>
            <a:ext cx="762000" cy="76200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924550" y="1562100"/>
            <a:ext cx="342900" cy="381000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667500" y="1371600"/>
            <a:ext cx="762000" cy="762000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919913" y="1562100"/>
            <a:ext cx="257175" cy="381000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204865" y="5029200"/>
            <a:ext cx="5782270" cy="457200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3433465" y="5172075"/>
            <a:ext cx="190500" cy="152400"/>
          </a:xfrm>
          <a:prstGeom prst="rect">
            <a:avLst/>
          </a:prstGeom>
        </p:spPr>
      </p:pic>
      <p:sp>
        <p:nvSpPr>
          <p:cNvPr id="13" name="Text 0"/>
          <p:cNvSpPr/>
          <p:nvPr/>
        </p:nvSpPr>
        <p:spPr>
          <a:xfrm>
            <a:off x="1218248" y="2438400"/>
            <a:ext cx="975550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3600"/>
              </a:lnSpc>
              <a:buNone/>
            </a:pPr>
            <a:r>
              <a:rPr lang="en-US" sz="3600" b="1" kern="0" spc="72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Quantitative Risk Calculations</a:t>
            </a:r>
            <a:endParaRPr lang="en-US" sz="3600" dirty="0"/>
          </a:p>
        </p:txBody>
      </p:sp>
      <p:sp>
        <p:nvSpPr>
          <p:cNvPr id="14" name="Text 1"/>
          <p:cNvSpPr/>
          <p:nvPr/>
        </p:nvSpPr>
        <p:spPr>
          <a:xfrm>
            <a:off x="3584272" y="3048000"/>
            <a:ext cx="5023306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for GRC Professionals</a:t>
            </a:r>
            <a:endParaRPr lang="en-US" sz="2700" dirty="0"/>
          </a:p>
        </p:txBody>
      </p:sp>
      <p:sp>
        <p:nvSpPr>
          <p:cNvPr id="15" name="Text 2"/>
          <p:cNvSpPr/>
          <p:nvPr/>
        </p:nvSpPr>
        <p:spPr>
          <a:xfrm>
            <a:off x="2438400" y="3810000"/>
            <a:ext cx="73152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500" dirty="0">
                <a:solidFill>
                  <a:srgbClr val="E5E7E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Master the essential formulas and techniques for quantifying cybersecurity risk in financial terms</a:t>
            </a:r>
            <a:endParaRPr lang="en-US" sz="1500" dirty="0"/>
          </a:p>
        </p:txBody>
      </p:sp>
      <p:sp>
        <p:nvSpPr>
          <p:cNvPr id="16" name="Text 3"/>
          <p:cNvSpPr/>
          <p:nvPr/>
        </p:nvSpPr>
        <p:spPr>
          <a:xfrm>
            <a:off x="2900958" y="5143500"/>
            <a:ext cx="63900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200" dirty="0">
                <a:solidFill>
                  <a:srgbClr val="FFA50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Speak the language of business</a:t>
            </a:r>
            <a:r>
              <a:rPr lang="en-US" sz="1200" dirty="0">
                <a:solidFill>
                  <a:srgbClr val="E5E7E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 with data-driven security metrics</a:t>
            </a:r>
            <a:endParaRPr lang="en-US" sz="1200" dirty="0"/>
          </a:p>
        </p:txBody>
      </p:sp>
      <p:sp>
        <p:nvSpPr>
          <p:cNvPr id="17" name="Text 4"/>
          <p:cNvSpPr/>
          <p:nvPr/>
        </p:nvSpPr>
        <p:spPr>
          <a:xfrm>
            <a:off x="8904878" y="6362700"/>
            <a:ext cx="3253442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050" dirty="0">
                <a:solidFill>
                  <a:srgbClr val="D1D5D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© 2025 | GRC Professional Development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62865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4800" y="857250"/>
            <a:ext cx="5638800" cy="542925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5300" y="1085850"/>
            <a:ext cx="228600" cy="22860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95300" y="1504950"/>
            <a:ext cx="476250" cy="47625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85800" y="1666875"/>
            <a:ext cx="95250" cy="15240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95300" y="2381250"/>
            <a:ext cx="476250" cy="476250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57225" y="2543175"/>
            <a:ext cx="152400" cy="152400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95300" y="3257550"/>
            <a:ext cx="476250" cy="476250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57225" y="3419475"/>
            <a:ext cx="152400" cy="152400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95300" y="4133850"/>
            <a:ext cx="476250" cy="476250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76275" y="4295775"/>
            <a:ext cx="114300" cy="152400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48400" y="857250"/>
            <a:ext cx="5638800" cy="5429250"/>
          </a:xfrm>
          <a:prstGeom prst="rect">
            <a:avLst/>
          </a:prstGeom>
        </p:spPr>
      </p:pic>
      <p:pic>
        <p:nvPicPr>
          <p:cNvPr id="15" name="Image 13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438900" y="1085850"/>
            <a:ext cx="228600" cy="228600"/>
          </a:xfrm>
          <a:prstGeom prst="rect">
            <a:avLst/>
          </a:prstGeom>
        </p:spPr>
      </p:pic>
      <p:pic>
        <p:nvPicPr>
          <p:cNvPr id="16" name="Image 14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438900" y="1562100"/>
            <a:ext cx="381000" cy="381000"/>
          </a:xfrm>
          <a:prstGeom prst="rect">
            <a:avLst/>
          </a:prstGeom>
        </p:spPr>
      </p:pic>
      <p:pic>
        <p:nvPicPr>
          <p:cNvPr id="17" name="Image 15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553200" y="1676400"/>
            <a:ext cx="152400" cy="152400"/>
          </a:xfrm>
          <a:prstGeom prst="rect">
            <a:avLst/>
          </a:prstGeom>
        </p:spPr>
      </p:pic>
      <p:pic>
        <p:nvPicPr>
          <p:cNvPr id="18" name="Image 16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6438900" y="2209800"/>
            <a:ext cx="381000" cy="381000"/>
          </a:xfrm>
          <a:prstGeom prst="rect">
            <a:avLst/>
          </a:prstGeom>
        </p:spPr>
      </p:pic>
      <p:pic>
        <p:nvPicPr>
          <p:cNvPr id="19" name="Image 17" descr="preencoded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6543675" y="2324100"/>
            <a:ext cx="171450" cy="152400"/>
          </a:xfrm>
          <a:prstGeom prst="rect">
            <a:avLst/>
          </a:prstGeom>
        </p:spPr>
      </p:pic>
      <p:pic>
        <p:nvPicPr>
          <p:cNvPr id="20" name="Image 18" descr="preencoded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6438900" y="2971800"/>
            <a:ext cx="381000" cy="381000"/>
          </a:xfrm>
          <a:prstGeom prst="rect">
            <a:avLst/>
          </a:prstGeom>
        </p:spPr>
      </p:pic>
      <p:pic>
        <p:nvPicPr>
          <p:cNvPr id="21" name="Image 19" descr="preencoded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6553200" y="3086100"/>
            <a:ext cx="152400" cy="152400"/>
          </a:xfrm>
          <a:prstGeom prst="rect">
            <a:avLst/>
          </a:prstGeom>
        </p:spPr>
      </p:pic>
      <p:pic>
        <p:nvPicPr>
          <p:cNvPr id="22" name="Image 20" descr="preencoded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6438900" y="3848100"/>
            <a:ext cx="381000" cy="381000"/>
          </a:xfrm>
          <a:prstGeom prst="rect">
            <a:avLst/>
          </a:prstGeom>
        </p:spPr>
      </p:pic>
      <p:pic>
        <p:nvPicPr>
          <p:cNvPr id="23" name="Image 21" descr="preencoded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6543675" y="3962400"/>
            <a:ext cx="171450" cy="152400"/>
          </a:xfrm>
          <a:prstGeom prst="rect">
            <a:avLst/>
          </a:prstGeom>
        </p:spPr>
      </p:pic>
      <p:pic>
        <p:nvPicPr>
          <p:cNvPr id="24" name="Image 22" descr="preencoded.png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0" y="6515100"/>
            <a:ext cx="12192000" cy="342900"/>
          </a:xfrm>
          <a:prstGeom prst="rect">
            <a:avLst/>
          </a:prstGeom>
        </p:spPr>
      </p:pic>
      <p:sp>
        <p:nvSpPr>
          <p:cNvPr id="25" name="Text 0"/>
          <p:cNvSpPr/>
          <p:nvPr/>
        </p:nvSpPr>
        <p:spPr>
          <a:xfrm>
            <a:off x="238125" y="142875"/>
            <a:ext cx="117157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700"/>
              </a:lnSpc>
              <a:buNone/>
            </a:pPr>
            <a:r>
              <a:rPr lang="en-US" sz="2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Introduction to Security Metrics</a:t>
            </a:r>
            <a:endParaRPr lang="en-US" sz="2250" dirty="0"/>
          </a:p>
        </p:txBody>
      </p:sp>
      <p:sp>
        <p:nvSpPr>
          <p:cNvPr id="26" name="Text 1"/>
          <p:cNvSpPr/>
          <p:nvPr/>
        </p:nvSpPr>
        <p:spPr>
          <a:xfrm>
            <a:off x="800100" y="1047750"/>
            <a:ext cx="52578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Quantify Risk</a:t>
            </a:r>
            <a:endParaRPr lang="en-US" sz="1800" dirty="0"/>
          </a:p>
        </p:txBody>
      </p:sp>
      <p:sp>
        <p:nvSpPr>
          <p:cNvPr id="27" name="Text 2"/>
          <p:cNvSpPr/>
          <p:nvPr/>
        </p:nvSpPr>
        <p:spPr>
          <a:xfrm>
            <a:off x="1085850" y="1504950"/>
            <a:ext cx="46672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166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Language</a:t>
            </a:r>
            <a:endParaRPr lang="en-US" sz="1350" dirty="0"/>
          </a:p>
        </p:txBody>
      </p:sp>
      <p:sp>
        <p:nvSpPr>
          <p:cNvPr id="28" name="Text 3"/>
          <p:cNvSpPr/>
          <p:nvPr/>
        </p:nvSpPr>
        <p:spPr>
          <a:xfrm>
            <a:off x="1085850" y="1771650"/>
            <a:ext cx="46672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Executives understand financial implications, not just "high/medium/low" risk ratings</a:t>
            </a:r>
            <a:endParaRPr lang="en-US" sz="1200" dirty="0"/>
          </a:p>
        </p:txBody>
      </p:sp>
      <p:sp>
        <p:nvSpPr>
          <p:cNvPr id="29" name="Text 4"/>
          <p:cNvSpPr/>
          <p:nvPr/>
        </p:nvSpPr>
        <p:spPr>
          <a:xfrm>
            <a:off x="1085850" y="2381250"/>
            <a:ext cx="46672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166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Budget Justification</a:t>
            </a:r>
            <a:endParaRPr lang="en-US" sz="1350" dirty="0"/>
          </a:p>
        </p:txBody>
      </p:sp>
      <p:sp>
        <p:nvSpPr>
          <p:cNvPr id="30" name="Text 5"/>
          <p:cNvSpPr/>
          <p:nvPr/>
        </p:nvSpPr>
        <p:spPr>
          <a:xfrm>
            <a:off x="1085850" y="2647950"/>
            <a:ext cx="46672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Quantitative analysis proves the necessity of security investments by demonstrating potential financial losses</a:t>
            </a:r>
            <a:endParaRPr lang="en-US" sz="1200" dirty="0"/>
          </a:p>
        </p:txBody>
      </p:sp>
      <p:sp>
        <p:nvSpPr>
          <p:cNvPr id="31" name="Text 6"/>
          <p:cNvSpPr/>
          <p:nvPr/>
        </p:nvSpPr>
        <p:spPr>
          <a:xfrm>
            <a:off x="1085850" y="3257550"/>
            <a:ext cx="56007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166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Performance Measurement</a:t>
            </a:r>
            <a:endParaRPr lang="en-US" sz="1350" dirty="0"/>
          </a:p>
        </p:txBody>
      </p:sp>
      <p:sp>
        <p:nvSpPr>
          <p:cNvPr id="32" name="Text 7"/>
          <p:cNvSpPr/>
          <p:nvPr/>
        </p:nvSpPr>
        <p:spPr>
          <a:xfrm>
            <a:off x="1085850" y="3524250"/>
            <a:ext cx="46672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Enables objective assessment of security controls, showing whether they effectively reduce risk</a:t>
            </a:r>
            <a:endParaRPr lang="en-US" sz="1200" dirty="0"/>
          </a:p>
        </p:txBody>
      </p:sp>
      <p:sp>
        <p:nvSpPr>
          <p:cNvPr id="33" name="Text 8"/>
          <p:cNvSpPr/>
          <p:nvPr/>
        </p:nvSpPr>
        <p:spPr>
          <a:xfrm>
            <a:off x="1085850" y="4133850"/>
            <a:ext cx="56007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166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Compliance Requirements</a:t>
            </a:r>
            <a:endParaRPr lang="en-US" sz="1350" dirty="0"/>
          </a:p>
        </p:txBody>
      </p:sp>
      <p:sp>
        <p:nvSpPr>
          <p:cNvPr id="34" name="Text 9"/>
          <p:cNvSpPr/>
          <p:nvPr/>
        </p:nvSpPr>
        <p:spPr>
          <a:xfrm>
            <a:off x="1085850" y="4400550"/>
            <a:ext cx="46672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Regulatory frameworks like FAIR mandate quantitative risk assessments for robust risk management</a:t>
            </a:r>
            <a:endParaRPr lang="en-US" sz="1200" dirty="0"/>
          </a:p>
        </p:txBody>
      </p:sp>
      <p:sp>
        <p:nvSpPr>
          <p:cNvPr id="35" name="Text 10"/>
          <p:cNvSpPr/>
          <p:nvPr/>
        </p:nvSpPr>
        <p:spPr>
          <a:xfrm>
            <a:off x="6743700" y="1047750"/>
            <a:ext cx="52578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Concepts</a:t>
            </a:r>
            <a:endParaRPr lang="en-US" sz="1800" dirty="0"/>
          </a:p>
        </p:txBody>
      </p:sp>
      <p:sp>
        <p:nvSpPr>
          <p:cNvPr id="36" name="Text 11"/>
          <p:cNvSpPr/>
          <p:nvPr/>
        </p:nvSpPr>
        <p:spPr>
          <a:xfrm>
            <a:off x="6934200" y="1504950"/>
            <a:ext cx="3812232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</a:t>
            </a:r>
            <a:endParaRPr lang="en-US" sz="1350" dirty="0"/>
          </a:p>
        </p:txBody>
      </p:sp>
      <p:sp>
        <p:nvSpPr>
          <p:cNvPr id="37" name="Text 12"/>
          <p:cNvSpPr/>
          <p:nvPr/>
        </p:nvSpPr>
        <p:spPr>
          <a:xfrm>
            <a:off x="6934200" y="1771650"/>
            <a:ext cx="457467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Potential for loss due to a threat exploiting a vulnerability</a:t>
            </a:r>
            <a:endParaRPr lang="en-US" sz="1200" dirty="0"/>
          </a:p>
        </p:txBody>
      </p:sp>
      <p:sp>
        <p:nvSpPr>
          <p:cNvPr id="38" name="Text 13"/>
          <p:cNvSpPr/>
          <p:nvPr/>
        </p:nvSpPr>
        <p:spPr>
          <a:xfrm>
            <a:off x="6934200" y="2152650"/>
            <a:ext cx="4451598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Vulnerability</a:t>
            </a:r>
            <a:endParaRPr lang="en-US" sz="1350" dirty="0"/>
          </a:p>
        </p:txBody>
      </p:sp>
      <p:sp>
        <p:nvSpPr>
          <p:cNvPr id="39" name="Text 14"/>
          <p:cNvSpPr/>
          <p:nvPr/>
        </p:nvSpPr>
        <p:spPr>
          <a:xfrm>
            <a:off x="6934200" y="2419350"/>
            <a:ext cx="534191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weakness in an organization's defenses that a threat can exploit</a:t>
            </a:r>
            <a:endParaRPr lang="en-US" sz="1200" dirty="0"/>
          </a:p>
        </p:txBody>
      </p:sp>
      <p:sp>
        <p:nvSpPr>
          <p:cNvPr id="40" name="Text 15"/>
          <p:cNvSpPr/>
          <p:nvPr/>
        </p:nvSpPr>
        <p:spPr>
          <a:xfrm>
            <a:off x="6934200" y="2800350"/>
            <a:ext cx="47625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Threat</a:t>
            </a:r>
            <a:endParaRPr lang="en-US" sz="1350" dirty="0"/>
          </a:p>
        </p:txBody>
      </p:sp>
      <p:sp>
        <p:nvSpPr>
          <p:cNvPr id="41" name="Text 16"/>
          <p:cNvSpPr/>
          <p:nvPr/>
        </p:nvSpPr>
        <p:spPr>
          <a:xfrm>
            <a:off x="6934200" y="3067050"/>
            <a:ext cx="47625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event or agent that can exploit a vulnerability, leading to potential harm</a:t>
            </a:r>
            <a:endParaRPr lang="en-US" sz="1200" dirty="0"/>
          </a:p>
        </p:txBody>
      </p:sp>
      <p:sp>
        <p:nvSpPr>
          <p:cNvPr id="42" name="Text 17"/>
          <p:cNvSpPr/>
          <p:nvPr/>
        </p:nvSpPr>
        <p:spPr>
          <a:xfrm>
            <a:off x="6934200" y="3676650"/>
            <a:ext cx="47625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Impact</a:t>
            </a:r>
            <a:endParaRPr lang="en-US" sz="1350" dirty="0"/>
          </a:p>
        </p:txBody>
      </p:sp>
      <p:sp>
        <p:nvSpPr>
          <p:cNvPr id="43" name="Text 18"/>
          <p:cNvSpPr/>
          <p:nvPr/>
        </p:nvSpPr>
        <p:spPr>
          <a:xfrm>
            <a:off x="6934200" y="3943350"/>
            <a:ext cx="47625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cost or consequence if a threat successfully exploits a vulnerability</a:t>
            </a:r>
            <a:endParaRPr lang="en-US" sz="1200" dirty="0"/>
          </a:p>
        </p:txBody>
      </p:sp>
      <p:sp>
        <p:nvSpPr>
          <p:cNvPr id="44" name="Text 19"/>
          <p:cNvSpPr/>
          <p:nvPr/>
        </p:nvSpPr>
        <p:spPr>
          <a:xfrm>
            <a:off x="190500" y="6591300"/>
            <a:ext cx="3762077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Quantitative Risk Calculations for GRC Professionals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62865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4800" y="857250"/>
            <a:ext cx="5638800" cy="550545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5300" y="1085850"/>
            <a:ext cx="171450" cy="22860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95300" y="2031206"/>
            <a:ext cx="381000" cy="38100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09600" y="2145506"/>
            <a:ext cx="152400" cy="15240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90600" y="2185988"/>
            <a:ext cx="1794272" cy="338138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95300" y="2750344"/>
            <a:ext cx="381000" cy="381000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38175" y="2864644"/>
            <a:ext cx="95250" cy="152400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90600" y="2905125"/>
            <a:ext cx="1868686" cy="338138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95300" y="3469481"/>
            <a:ext cx="381000" cy="381000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09600" y="3583781"/>
            <a:ext cx="152400" cy="152400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990600" y="3624263"/>
            <a:ext cx="2912418" cy="338138"/>
          </a:xfrm>
          <a:prstGeom prst="rect">
            <a:avLst/>
          </a:prstGeom>
        </p:spPr>
      </p:pic>
      <p:pic>
        <p:nvPicPr>
          <p:cNvPr id="15" name="Image 13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495300" y="4114800"/>
            <a:ext cx="5257800" cy="1257300"/>
          </a:xfrm>
          <a:prstGeom prst="rect">
            <a:avLst/>
          </a:prstGeom>
        </p:spPr>
      </p:pic>
      <p:pic>
        <p:nvPicPr>
          <p:cNvPr id="16" name="Image 14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09600" y="4276725"/>
            <a:ext cx="133350" cy="171450"/>
          </a:xfrm>
          <a:prstGeom prst="rect">
            <a:avLst/>
          </a:prstGeom>
        </p:spPr>
      </p:pic>
      <p:pic>
        <p:nvPicPr>
          <p:cNvPr id="17" name="Image 15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48400" y="857250"/>
            <a:ext cx="5638800" cy="5505450"/>
          </a:xfrm>
          <a:prstGeom prst="rect">
            <a:avLst/>
          </a:prstGeom>
        </p:spPr>
      </p:pic>
      <p:pic>
        <p:nvPicPr>
          <p:cNvPr id="18" name="Image 16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6438900" y="1085850"/>
            <a:ext cx="228600" cy="228600"/>
          </a:xfrm>
          <a:prstGeom prst="rect">
            <a:avLst/>
          </a:prstGeom>
        </p:spPr>
      </p:pic>
      <p:pic>
        <p:nvPicPr>
          <p:cNvPr id="19" name="Image 17" descr="preencoded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6438900" y="1921669"/>
            <a:ext cx="381000" cy="381000"/>
          </a:xfrm>
          <a:prstGeom prst="rect">
            <a:avLst/>
          </a:prstGeom>
        </p:spPr>
      </p:pic>
      <p:pic>
        <p:nvPicPr>
          <p:cNvPr id="20" name="Image 18" descr="preencoded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6562725" y="2035969"/>
            <a:ext cx="133350" cy="152400"/>
          </a:xfrm>
          <a:prstGeom prst="rect">
            <a:avLst/>
          </a:prstGeom>
        </p:spPr>
      </p:pic>
      <p:pic>
        <p:nvPicPr>
          <p:cNvPr id="21" name="Image 19" descr="preencoded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6934200" y="2076450"/>
            <a:ext cx="2017812" cy="338138"/>
          </a:xfrm>
          <a:prstGeom prst="rect">
            <a:avLst/>
          </a:prstGeom>
        </p:spPr>
      </p:pic>
      <p:pic>
        <p:nvPicPr>
          <p:cNvPr id="22" name="Image 20" descr="preencoded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6438900" y="2640806"/>
            <a:ext cx="381000" cy="381000"/>
          </a:xfrm>
          <a:prstGeom prst="rect">
            <a:avLst/>
          </a:prstGeom>
        </p:spPr>
      </p:pic>
      <p:pic>
        <p:nvPicPr>
          <p:cNvPr id="23" name="Image 21" descr="preencoded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6562725" y="2755106"/>
            <a:ext cx="133350" cy="152400"/>
          </a:xfrm>
          <a:prstGeom prst="rect">
            <a:avLst/>
          </a:prstGeom>
        </p:spPr>
      </p:pic>
      <p:pic>
        <p:nvPicPr>
          <p:cNvPr id="24" name="Image 22" descr="preencoded.png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6934200" y="2795588"/>
            <a:ext cx="3136106" cy="338138"/>
          </a:xfrm>
          <a:prstGeom prst="rect">
            <a:avLst/>
          </a:prstGeom>
        </p:spPr>
      </p:pic>
      <p:pic>
        <p:nvPicPr>
          <p:cNvPr id="25" name="Image 23" descr="preencoded.png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6438900" y="3619500"/>
            <a:ext cx="1100138" cy="552450"/>
          </a:xfrm>
          <a:prstGeom prst="rect">
            <a:avLst/>
          </a:prstGeom>
        </p:spPr>
      </p:pic>
      <p:pic>
        <p:nvPicPr>
          <p:cNvPr id="26" name="Image 24" descr="preencoded.png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6912769" y="3686175"/>
            <a:ext cx="152400" cy="152400"/>
          </a:xfrm>
          <a:prstGeom prst="rect">
            <a:avLst/>
          </a:prstGeom>
        </p:spPr>
      </p:pic>
      <p:pic>
        <p:nvPicPr>
          <p:cNvPr id="27" name="Image 25" descr="preencoded.png"/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7615238" y="3819525"/>
            <a:ext cx="133350" cy="152400"/>
          </a:xfrm>
          <a:prstGeom prst="rect">
            <a:avLst/>
          </a:prstGeom>
        </p:spPr>
      </p:pic>
      <p:pic>
        <p:nvPicPr>
          <p:cNvPr id="28" name="Image 26" descr="preencoded.png"/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7824787" y="3505200"/>
            <a:ext cx="1100138" cy="781050"/>
          </a:xfrm>
          <a:prstGeom prst="rect">
            <a:avLst/>
          </a:prstGeom>
        </p:spPr>
      </p:pic>
      <p:pic>
        <p:nvPicPr>
          <p:cNvPr id="29" name="Image 27" descr="preencoded.png"/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8298656" y="3571875"/>
            <a:ext cx="152400" cy="152400"/>
          </a:xfrm>
          <a:prstGeom prst="rect">
            <a:avLst/>
          </a:prstGeom>
        </p:spPr>
      </p:pic>
      <p:pic>
        <p:nvPicPr>
          <p:cNvPr id="30" name="Image 28" descr="preencoded.png"/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9001125" y="3819525"/>
            <a:ext cx="133350" cy="152400"/>
          </a:xfrm>
          <a:prstGeom prst="rect">
            <a:avLst/>
          </a:prstGeom>
        </p:spPr>
      </p:pic>
      <p:pic>
        <p:nvPicPr>
          <p:cNvPr id="31" name="Image 29" descr="preencoded.png"/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9210675" y="3619500"/>
            <a:ext cx="1100138" cy="552450"/>
          </a:xfrm>
          <a:prstGeom prst="rect">
            <a:avLst/>
          </a:prstGeom>
        </p:spPr>
      </p:pic>
      <p:pic>
        <p:nvPicPr>
          <p:cNvPr id="32" name="Image 30" descr="preencoded.png"/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9713119" y="3686175"/>
            <a:ext cx="95250" cy="152400"/>
          </a:xfrm>
          <a:prstGeom prst="rect">
            <a:avLst/>
          </a:prstGeom>
        </p:spPr>
      </p:pic>
      <p:pic>
        <p:nvPicPr>
          <p:cNvPr id="33" name="Image 31" descr="preencoded.png"/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10387013" y="3819525"/>
            <a:ext cx="133350" cy="152400"/>
          </a:xfrm>
          <a:prstGeom prst="rect">
            <a:avLst/>
          </a:prstGeom>
        </p:spPr>
      </p:pic>
      <p:pic>
        <p:nvPicPr>
          <p:cNvPr id="34" name="Image 32" descr="preencoded.png"/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10596563" y="3619500"/>
            <a:ext cx="1100138" cy="552450"/>
          </a:xfrm>
          <a:prstGeom prst="rect">
            <a:avLst/>
          </a:prstGeom>
        </p:spPr>
      </p:pic>
      <p:pic>
        <p:nvPicPr>
          <p:cNvPr id="35" name="Image 33" descr="preencoded.png"/>
          <p:cNvPicPr>
            <a:picLocks noChangeAspect="1"/>
          </p:cNvPicPr>
          <p:nvPr/>
        </p:nvPicPr>
        <p:blipFill>
          <a:blip r:embed="rId32"/>
          <a:stretch>
            <a:fillRect/>
          </a:stretch>
        </p:blipFill>
        <p:spPr>
          <a:xfrm>
            <a:off x="11070431" y="3686175"/>
            <a:ext cx="152400" cy="152400"/>
          </a:xfrm>
          <a:prstGeom prst="rect">
            <a:avLst/>
          </a:prstGeom>
        </p:spPr>
      </p:pic>
      <p:pic>
        <p:nvPicPr>
          <p:cNvPr id="36" name="Image 34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438900" y="4657725"/>
            <a:ext cx="5257800" cy="1257300"/>
          </a:xfrm>
          <a:prstGeom prst="rect">
            <a:avLst/>
          </a:prstGeom>
        </p:spPr>
      </p:pic>
      <p:pic>
        <p:nvPicPr>
          <p:cNvPr id="37" name="Image 35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553200" y="4819650"/>
            <a:ext cx="133350" cy="171450"/>
          </a:xfrm>
          <a:prstGeom prst="rect">
            <a:avLst/>
          </a:prstGeom>
        </p:spPr>
      </p:pic>
      <p:pic>
        <p:nvPicPr>
          <p:cNvPr id="38" name="Image 36" descr="preencoded.png"/>
          <p:cNvPicPr>
            <a:picLocks noChangeAspect="1"/>
          </p:cNvPicPr>
          <p:nvPr/>
        </p:nvPicPr>
        <p:blipFill>
          <a:blip r:embed="rId33"/>
          <a:stretch>
            <a:fillRect/>
          </a:stretch>
        </p:blipFill>
        <p:spPr>
          <a:xfrm>
            <a:off x="0" y="6515100"/>
            <a:ext cx="12192000" cy="342900"/>
          </a:xfrm>
          <a:prstGeom prst="rect">
            <a:avLst/>
          </a:prstGeom>
        </p:spPr>
      </p:pic>
      <p:sp>
        <p:nvSpPr>
          <p:cNvPr id="39" name="Text 0"/>
          <p:cNvSpPr/>
          <p:nvPr/>
        </p:nvSpPr>
        <p:spPr>
          <a:xfrm>
            <a:off x="238125" y="142875"/>
            <a:ext cx="117157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700"/>
              </a:lnSpc>
              <a:buNone/>
            </a:pPr>
            <a:r>
              <a:rPr lang="en-US" sz="2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Fundamental Phishing Metrics</a:t>
            </a:r>
            <a:endParaRPr lang="en-US" sz="2250" dirty="0"/>
          </a:p>
        </p:txBody>
      </p:sp>
      <p:sp>
        <p:nvSpPr>
          <p:cNvPr id="40" name="Text 1"/>
          <p:cNvSpPr/>
          <p:nvPr/>
        </p:nvSpPr>
        <p:spPr>
          <a:xfrm>
            <a:off x="742950" y="1047750"/>
            <a:ext cx="630936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Basic Rate Calculations</a:t>
            </a:r>
            <a:endParaRPr lang="en-US" sz="1800" dirty="0"/>
          </a:p>
        </p:txBody>
      </p:sp>
      <p:sp>
        <p:nvSpPr>
          <p:cNvPr id="41" name="Text 2"/>
          <p:cNvSpPr/>
          <p:nvPr/>
        </p:nvSpPr>
        <p:spPr>
          <a:xfrm>
            <a:off x="609600" y="1466850"/>
            <a:ext cx="5194578" cy="3381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63"/>
              </a:lnSpc>
              <a:buNone/>
            </a:pPr>
            <a:r>
              <a:rPr lang="en-US" sz="975" dirty="0">
                <a:solidFill>
                  <a:srgbClr val="4B5563"/>
                </a:solidFill>
                <a:highlight>
                  <a:srgbClr val="F0F0F0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Rate = (Number of Events ÷ Number of Emails Sent) × 100</a:t>
            </a:r>
            <a:endParaRPr lang="en-US" sz="975" dirty="0"/>
          </a:p>
        </p:txBody>
      </p:sp>
      <p:sp>
        <p:nvSpPr>
          <p:cNvPr id="42" name="Text 3"/>
          <p:cNvSpPr/>
          <p:nvPr/>
        </p:nvSpPr>
        <p:spPr>
          <a:xfrm>
            <a:off x="990600" y="1919288"/>
            <a:ext cx="2153126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166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Email Open Rate</a:t>
            </a:r>
            <a:endParaRPr lang="en-US" sz="1350" dirty="0"/>
          </a:p>
        </p:txBody>
      </p:sp>
      <p:sp>
        <p:nvSpPr>
          <p:cNvPr id="43" name="Text 4"/>
          <p:cNvSpPr/>
          <p:nvPr/>
        </p:nvSpPr>
        <p:spPr>
          <a:xfrm>
            <a:off x="1104900" y="2185988"/>
            <a:ext cx="2153126" cy="3381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63"/>
              </a:lnSpc>
              <a:buNone/>
            </a:pPr>
            <a:r>
              <a:rPr lang="en-US" sz="975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(Opened ÷ Sent) × 100</a:t>
            </a:r>
            <a:endParaRPr lang="en-US" sz="975" dirty="0"/>
          </a:p>
        </p:txBody>
      </p:sp>
      <p:sp>
        <p:nvSpPr>
          <p:cNvPr id="44" name="Text 5"/>
          <p:cNvSpPr/>
          <p:nvPr/>
        </p:nvSpPr>
        <p:spPr>
          <a:xfrm>
            <a:off x="990600" y="2638425"/>
            <a:ext cx="25146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166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Click-Through Rate (CTR)</a:t>
            </a:r>
            <a:endParaRPr lang="en-US" sz="1350" dirty="0"/>
          </a:p>
        </p:txBody>
      </p:sp>
      <p:sp>
        <p:nvSpPr>
          <p:cNvPr id="45" name="Text 6"/>
          <p:cNvSpPr/>
          <p:nvPr/>
        </p:nvSpPr>
        <p:spPr>
          <a:xfrm>
            <a:off x="1104900" y="2905125"/>
            <a:ext cx="2242423" cy="3381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63"/>
              </a:lnSpc>
              <a:buNone/>
            </a:pPr>
            <a:r>
              <a:rPr lang="en-US" sz="975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(Clicked ÷ Sent) × 100</a:t>
            </a:r>
            <a:endParaRPr lang="en-US" sz="975" dirty="0"/>
          </a:p>
        </p:txBody>
      </p:sp>
      <p:sp>
        <p:nvSpPr>
          <p:cNvPr id="46" name="Text 7"/>
          <p:cNvSpPr/>
          <p:nvPr/>
        </p:nvSpPr>
        <p:spPr>
          <a:xfrm>
            <a:off x="990600" y="3357563"/>
            <a:ext cx="3494901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166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Credential Submission Rate</a:t>
            </a:r>
            <a:endParaRPr lang="en-US" sz="1350" dirty="0"/>
          </a:p>
        </p:txBody>
      </p:sp>
      <p:sp>
        <p:nvSpPr>
          <p:cNvPr id="47" name="Text 8"/>
          <p:cNvSpPr/>
          <p:nvPr/>
        </p:nvSpPr>
        <p:spPr>
          <a:xfrm>
            <a:off x="1104900" y="3624263"/>
            <a:ext cx="3494901" cy="3381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63"/>
              </a:lnSpc>
              <a:buNone/>
            </a:pPr>
            <a:r>
              <a:rPr lang="en-US" sz="975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(Credentials Submitted ÷ Sent) × 100</a:t>
            </a:r>
            <a:endParaRPr lang="en-US" sz="975" dirty="0"/>
          </a:p>
        </p:txBody>
      </p:sp>
      <p:sp>
        <p:nvSpPr>
          <p:cNvPr id="48" name="Text 9"/>
          <p:cNvSpPr/>
          <p:nvPr/>
        </p:nvSpPr>
        <p:spPr>
          <a:xfrm>
            <a:off x="819150" y="4229100"/>
            <a:ext cx="50292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3645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</a:t>
            </a:r>
            <a:endParaRPr lang="en-US" sz="1350" dirty="0"/>
          </a:p>
        </p:txBody>
      </p:sp>
      <p:sp>
        <p:nvSpPr>
          <p:cNvPr id="49" name="Text 10"/>
          <p:cNvSpPr/>
          <p:nvPr/>
        </p:nvSpPr>
        <p:spPr>
          <a:xfrm>
            <a:off x="609600" y="4495800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Emails Sent: </a:t>
            </a:r>
            <a:r>
              <a:rPr lang="en-US" sz="1200" b="1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200</a:t>
            </a:r>
            <a:endParaRPr lang="en-US" sz="1200" dirty="0"/>
          </a:p>
        </p:txBody>
      </p:sp>
      <p:sp>
        <p:nvSpPr>
          <p:cNvPr id="50" name="Text 11"/>
          <p:cNvSpPr/>
          <p:nvPr/>
        </p:nvSpPr>
        <p:spPr>
          <a:xfrm>
            <a:off x="609600" y="4762500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Emails Opened: </a:t>
            </a:r>
            <a:r>
              <a:rPr lang="en-US" sz="1200" b="1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150</a:t>
            </a:r>
            <a:endParaRPr lang="en-US" sz="1200" dirty="0"/>
          </a:p>
        </p:txBody>
      </p:sp>
      <p:sp>
        <p:nvSpPr>
          <p:cNvPr id="51" name="Text 12"/>
          <p:cNvSpPr/>
          <p:nvPr/>
        </p:nvSpPr>
        <p:spPr>
          <a:xfrm>
            <a:off x="609600" y="5029200"/>
            <a:ext cx="6035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Rate = (150 ÷ 200) × 100 = 75%</a:t>
            </a:r>
            <a:endParaRPr lang="en-US" sz="1200" dirty="0"/>
          </a:p>
        </p:txBody>
      </p:sp>
      <p:sp>
        <p:nvSpPr>
          <p:cNvPr id="52" name="Text 13"/>
          <p:cNvSpPr/>
          <p:nvPr/>
        </p:nvSpPr>
        <p:spPr>
          <a:xfrm>
            <a:off x="6743700" y="1047750"/>
            <a:ext cx="52578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Conversion Metrics</a:t>
            </a:r>
            <a:endParaRPr lang="en-US" sz="1800" dirty="0"/>
          </a:p>
        </p:txBody>
      </p:sp>
      <p:sp>
        <p:nvSpPr>
          <p:cNvPr id="53" name="Text 14"/>
          <p:cNvSpPr/>
          <p:nvPr/>
        </p:nvSpPr>
        <p:spPr>
          <a:xfrm>
            <a:off x="6438900" y="1466850"/>
            <a:ext cx="6309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Measures effectiveness at each step of attack chain</a:t>
            </a:r>
            <a:endParaRPr lang="en-US" sz="1200" dirty="0"/>
          </a:p>
        </p:txBody>
      </p:sp>
      <p:sp>
        <p:nvSpPr>
          <p:cNvPr id="54" name="Text 15"/>
          <p:cNvSpPr/>
          <p:nvPr/>
        </p:nvSpPr>
        <p:spPr>
          <a:xfrm>
            <a:off x="6934200" y="1809750"/>
            <a:ext cx="2537817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Open-to-Click Conversion</a:t>
            </a:r>
            <a:endParaRPr lang="en-US" sz="1350" dirty="0"/>
          </a:p>
        </p:txBody>
      </p:sp>
      <p:sp>
        <p:nvSpPr>
          <p:cNvPr id="55" name="Text 16"/>
          <p:cNvSpPr/>
          <p:nvPr/>
        </p:nvSpPr>
        <p:spPr>
          <a:xfrm>
            <a:off x="7048500" y="2076450"/>
            <a:ext cx="2421374" cy="3381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63"/>
              </a:lnSpc>
              <a:buNone/>
            </a:pPr>
            <a:r>
              <a:rPr lang="en-US" sz="975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(Clicked ÷ Opened) × 100</a:t>
            </a:r>
            <a:endParaRPr lang="en-US" sz="975" dirty="0"/>
          </a:p>
        </p:txBody>
      </p:sp>
      <p:sp>
        <p:nvSpPr>
          <p:cNvPr id="56" name="Text 17"/>
          <p:cNvSpPr/>
          <p:nvPr/>
        </p:nvSpPr>
        <p:spPr>
          <a:xfrm>
            <a:off x="6934200" y="2528888"/>
            <a:ext cx="3763328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Post-Click Submission</a:t>
            </a:r>
            <a:endParaRPr lang="en-US" sz="1350" dirty="0"/>
          </a:p>
        </p:txBody>
      </p:sp>
      <p:sp>
        <p:nvSpPr>
          <p:cNvPr id="57" name="Text 18"/>
          <p:cNvSpPr/>
          <p:nvPr/>
        </p:nvSpPr>
        <p:spPr>
          <a:xfrm>
            <a:off x="7048500" y="2795588"/>
            <a:ext cx="3763328" cy="3381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63"/>
              </a:lnSpc>
              <a:buNone/>
            </a:pPr>
            <a:r>
              <a:rPr lang="en-US" sz="975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(Credentials Submitted ÷ Clicked) × 100</a:t>
            </a:r>
            <a:endParaRPr lang="en-US" sz="975" dirty="0"/>
          </a:p>
        </p:txBody>
      </p:sp>
      <p:sp>
        <p:nvSpPr>
          <p:cNvPr id="58" name="Text 19"/>
          <p:cNvSpPr/>
          <p:nvPr/>
        </p:nvSpPr>
        <p:spPr>
          <a:xfrm>
            <a:off x="6443186" y="3895725"/>
            <a:ext cx="109156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200" dirty="0">
                <a:solidFill>
                  <a:srgbClr val="3645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Email Sent</a:t>
            </a:r>
            <a:endParaRPr lang="en-US" sz="1200" dirty="0"/>
          </a:p>
        </p:txBody>
      </p:sp>
      <p:sp>
        <p:nvSpPr>
          <p:cNvPr id="59" name="Text 20"/>
          <p:cNvSpPr/>
          <p:nvPr/>
        </p:nvSpPr>
        <p:spPr>
          <a:xfrm>
            <a:off x="7920038" y="3781425"/>
            <a:ext cx="90963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200" dirty="0">
                <a:solidFill>
                  <a:srgbClr val="3645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Email Opened</a:t>
            </a:r>
            <a:endParaRPr lang="en-US" sz="1200" dirty="0"/>
          </a:p>
        </p:txBody>
      </p:sp>
      <p:sp>
        <p:nvSpPr>
          <p:cNvPr id="60" name="Text 21"/>
          <p:cNvSpPr/>
          <p:nvPr/>
        </p:nvSpPr>
        <p:spPr>
          <a:xfrm>
            <a:off x="9214961" y="3895725"/>
            <a:ext cx="109156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200" dirty="0">
                <a:solidFill>
                  <a:srgbClr val="3645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Clicked Link</a:t>
            </a:r>
            <a:endParaRPr lang="en-US" sz="1200" dirty="0"/>
          </a:p>
        </p:txBody>
      </p:sp>
      <p:sp>
        <p:nvSpPr>
          <p:cNvPr id="61" name="Text 22"/>
          <p:cNvSpPr/>
          <p:nvPr/>
        </p:nvSpPr>
        <p:spPr>
          <a:xfrm>
            <a:off x="10600849" y="3895725"/>
            <a:ext cx="109156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200" dirty="0">
                <a:solidFill>
                  <a:srgbClr val="3645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Credentials</a:t>
            </a:r>
            <a:endParaRPr lang="en-US" sz="1200" dirty="0"/>
          </a:p>
        </p:txBody>
      </p:sp>
      <p:sp>
        <p:nvSpPr>
          <p:cNvPr id="62" name="Text 23"/>
          <p:cNvSpPr/>
          <p:nvPr/>
        </p:nvSpPr>
        <p:spPr>
          <a:xfrm>
            <a:off x="6762750" y="4772025"/>
            <a:ext cx="50292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3645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 Calculations</a:t>
            </a:r>
            <a:endParaRPr lang="en-US" sz="1350" dirty="0"/>
          </a:p>
        </p:txBody>
      </p:sp>
      <p:sp>
        <p:nvSpPr>
          <p:cNvPr id="63" name="Text 24"/>
          <p:cNvSpPr/>
          <p:nvPr/>
        </p:nvSpPr>
        <p:spPr>
          <a:xfrm>
            <a:off x="6553200" y="5038725"/>
            <a:ext cx="6035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Opened: </a:t>
            </a:r>
            <a:r>
              <a:rPr lang="en-US" sz="1200" b="1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150</a:t>
            </a:r>
            <a:r>
              <a:rPr lang="en-US" sz="12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| Clicked: </a:t>
            </a:r>
            <a:r>
              <a:rPr lang="en-US" sz="1200" b="1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90</a:t>
            </a:r>
            <a:r>
              <a:rPr lang="en-US" sz="12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| Credentials: </a:t>
            </a:r>
            <a:r>
              <a:rPr lang="en-US" sz="1200" b="1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45</a:t>
            </a:r>
            <a:endParaRPr lang="en-US" sz="1200" dirty="0"/>
          </a:p>
        </p:txBody>
      </p:sp>
      <p:sp>
        <p:nvSpPr>
          <p:cNvPr id="64" name="Text 25"/>
          <p:cNvSpPr/>
          <p:nvPr/>
        </p:nvSpPr>
        <p:spPr>
          <a:xfrm>
            <a:off x="6553200" y="5305425"/>
            <a:ext cx="6035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Open-to-Click = (90 ÷ 150) × 100 = 60%</a:t>
            </a:r>
            <a:endParaRPr lang="en-US" sz="1200" dirty="0"/>
          </a:p>
        </p:txBody>
      </p:sp>
      <p:sp>
        <p:nvSpPr>
          <p:cNvPr id="65" name="Text 26"/>
          <p:cNvSpPr/>
          <p:nvPr/>
        </p:nvSpPr>
        <p:spPr>
          <a:xfrm>
            <a:off x="6553200" y="5572125"/>
            <a:ext cx="6035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Post-Click = (45 ÷ 90) × 100 = 50%</a:t>
            </a:r>
            <a:endParaRPr lang="en-US" sz="1200" dirty="0"/>
          </a:p>
        </p:txBody>
      </p:sp>
      <p:sp>
        <p:nvSpPr>
          <p:cNvPr id="66" name="Text 27"/>
          <p:cNvSpPr/>
          <p:nvPr/>
        </p:nvSpPr>
        <p:spPr>
          <a:xfrm>
            <a:off x="190500" y="6591300"/>
            <a:ext cx="3762077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Quantitative Risk Calculations for GRC Professionals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62865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4800" y="857250"/>
            <a:ext cx="5638800" cy="542925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5300" y="1047750"/>
            <a:ext cx="476250" cy="47625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7700" y="1171575"/>
            <a:ext cx="171450" cy="22860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95300" y="1638300"/>
            <a:ext cx="5257800" cy="49530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95300" y="2667000"/>
            <a:ext cx="95250" cy="152400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95300" y="3200400"/>
            <a:ext cx="152400" cy="152400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95300" y="4572000"/>
            <a:ext cx="5257800" cy="1524000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09600" y="5029200"/>
            <a:ext cx="266700" cy="266700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09600" y="5372100"/>
            <a:ext cx="266700" cy="266700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09600" y="5715000"/>
            <a:ext cx="266700" cy="266700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48400" y="857250"/>
            <a:ext cx="5638800" cy="5429250"/>
          </a:xfrm>
          <a:prstGeom prst="rect">
            <a:avLst/>
          </a:prstGeom>
        </p:spPr>
      </p:pic>
      <p:pic>
        <p:nvPicPr>
          <p:cNvPr id="15" name="Image 13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438900" y="1047750"/>
            <a:ext cx="476250" cy="476250"/>
          </a:xfrm>
          <a:prstGeom prst="rect">
            <a:avLst/>
          </a:prstGeom>
        </p:spPr>
      </p:pic>
      <p:pic>
        <p:nvPicPr>
          <p:cNvPr id="16" name="Image 14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534150" y="1171575"/>
            <a:ext cx="285750" cy="228600"/>
          </a:xfrm>
          <a:prstGeom prst="rect">
            <a:avLst/>
          </a:prstGeom>
        </p:spPr>
      </p:pic>
      <p:pic>
        <p:nvPicPr>
          <p:cNvPr id="17" name="Image 15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438900" y="1638300"/>
            <a:ext cx="5257800" cy="762000"/>
          </a:xfrm>
          <a:prstGeom prst="rect">
            <a:avLst/>
          </a:prstGeom>
        </p:spPr>
      </p:pic>
      <p:pic>
        <p:nvPicPr>
          <p:cNvPr id="18" name="Image 16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438900" y="3848100"/>
            <a:ext cx="152400" cy="152400"/>
          </a:xfrm>
          <a:prstGeom prst="rect">
            <a:avLst/>
          </a:prstGeom>
        </p:spPr>
      </p:pic>
      <p:pic>
        <p:nvPicPr>
          <p:cNvPr id="19" name="Image 17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438900" y="4114800"/>
            <a:ext cx="152400" cy="152400"/>
          </a:xfrm>
          <a:prstGeom prst="rect">
            <a:avLst/>
          </a:prstGeom>
        </p:spPr>
      </p:pic>
      <p:pic>
        <p:nvPicPr>
          <p:cNvPr id="20" name="Image 1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438900" y="4572000"/>
            <a:ext cx="5257800" cy="1524000"/>
          </a:xfrm>
          <a:prstGeom prst="rect">
            <a:avLst/>
          </a:prstGeom>
        </p:spPr>
      </p:pic>
      <p:pic>
        <p:nvPicPr>
          <p:cNvPr id="21" name="Image 19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6553200" y="5029200"/>
            <a:ext cx="266700" cy="266700"/>
          </a:xfrm>
          <a:prstGeom prst="rect">
            <a:avLst/>
          </a:prstGeom>
        </p:spPr>
      </p:pic>
      <p:pic>
        <p:nvPicPr>
          <p:cNvPr id="22" name="Image 20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6553200" y="5372100"/>
            <a:ext cx="266700" cy="266700"/>
          </a:xfrm>
          <a:prstGeom prst="rect">
            <a:avLst/>
          </a:prstGeom>
        </p:spPr>
      </p:pic>
      <p:pic>
        <p:nvPicPr>
          <p:cNvPr id="23" name="Image 21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6553200" y="5715000"/>
            <a:ext cx="266700" cy="266700"/>
          </a:xfrm>
          <a:prstGeom prst="rect">
            <a:avLst/>
          </a:prstGeom>
        </p:spPr>
      </p:pic>
      <p:pic>
        <p:nvPicPr>
          <p:cNvPr id="24" name="Image 22" descr="preencoded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0" y="6515100"/>
            <a:ext cx="12192000" cy="342900"/>
          </a:xfrm>
          <a:prstGeom prst="rect">
            <a:avLst/>
          </a:prstGeom>
        </p:spPr>
      </p:pic>
      <p:sp>
        <p:nvSpPr>
          <p:cNvPr id="25" name="Text 0"/>
          <p:cNvSpPr/>
          <p:nvPr/>
        </p:nvSpPr>
        <p:spPr>
          <a:xfrm>
            <a:off x="238125" y="142875"/>
            <a:ext cx="117157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700"/>
              </a:lnSpc>
              <a:buNone/>
            </a:pPr>
            <a:r>
              <a:rPr lang="en-US" sz="2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Financial Risk Calculations</a:t>
            </a:r>
            <a:endParaRPr lang="en-US" sz="2250" dirty="0"/>
          </a:p>
        </p:txBody>
      </p:sp>
      <p:sp>
        <p:nvSpPr>
          <p:cNvPr id="26" name="Text 1"/>
          <p:cNvSpPr/>
          <p:nvPr/>
        </p:nvSpPr>
        <p:spPr>
          <a:xfrm>
            <a:off x="1085850" y="1047750"/>
            <a:ext cx="630936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Annualized Loss Expectancy (ALE)</a:t>
            </a:r>
            <a:endParaRPr lang="en-US" sz="1800" dirty="0"/>
          </a:p>
        </p:txBody>
      </p:sp>
      <p:sp>
        <p:nvSpPr>
          <p:cNvPr id="27" name="Text 2"/>
          <p:cNvSpPr/>
          <p:nvPr/>
        </p:nvSpPr>
        <p:spPr>
          <a:xfrm>
            <a:off x="609600" y="1752600"/>
            <a:ext cx="50292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66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ALE = SLE × ARO</a:t>
            </a:r>
            <a:endParaRPr lang="en-US" sz="1500" dirty="0"/>
          </a:p>
        </p:txBody>
      </p:sp>
      <p:sp>
        <p:nvSpPr>
          <p:cNvPr id="28" name="Text 3"/>
          <p:cNvSpPr/>
          <p:nvPr/>
        </p:nvSpPr>
        <p:spPr>
          <a:xfrm>
            <a:off x="495300" y="2286000"/>
            <a:ext cx="52578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166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Components:</a:t>
            </a:r>
            <a:endParaRPr lang="en-US" sz="1350" dirty="0"/>
          </a:p>
        </p:txBody>
      </p:sp>
      <p:sp>
        <p:nvSpPr>
          <p:cNvPr id="29" name="Text 4"/>
          <p:cNvSpPr/>
          <p:nvPr/>
        </p:nvSpPr>
        <p:spPr>
          <a:xfrm>
            <a:off x="666750" y="2657475"/>
            <a:ext cx="2683014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3645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SLE (Single Loss Expectancy):</a:t>
            </a:r>
            <a:endParaRPr lang="en-US" sz="1200" dirty="0"/>
          </a:p>
        </p:txBody>
      </p:sp>
      <p:sp>
        <p:nvSpPr>
          <p:cNvPr id="30" name="Text 5"/>
          <p:cNvSpPr/>
          <p:nvPr/>
        </p:nvSpPr>
        <p:spPr>
          <a:xfrm>
            <a:off x="666750" y="2857500"/>
            <a:ext cx="268301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of one successful breach</a:t>
            </a:r>
            <a:endParaRPr lang="en-US" sz="1200" dirty="0"/>
          </a:p>
        </p:txBody>
      </p:sp>
      <p:sp>
        <p:nvSpPr>
          <p:cNvPr id="31" name="Text 6"/>
          <p:cNvSpPr/>
          <p:nvPr/>
        </p:nvSpPr>
        <p:spPr>
          <a:xfrm>
            <a:off x="723900" y="3190875"/>
            <a:ext cx="2997696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3645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ARO (Annual Rate of Occurrence):</a:t>
            </a:r>
            <a:endParaRPr lang="en-US" sz="1200" dirty="0"/>
          </a:p>
        </p:txBody>
      </p:sp>
      <p:sp>
        <p:nvSpPr>
          <p:cNvPr id="32" name="Text 7"/>
          <p:cNvSpPr/>
          <p:nvPr/>
        </p:nvSpPr>
        <p:spPr>
          <a:xfrm>
            <a:off x="723900" y="3390900"/>
            <a:ext cx="35981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many times per year an incident occurs</a:t>
            </a:r>
            <a:endParaRPr lang="en-US" sz="1200" dirty="0"/>
          </a:p>
        </p:txBody>
      </p:sp>
      <p:sp>
        <p:nvSpPr>
          <p:cNvPr id="33" name="Text 8"/>
          <p:cNvSpPr/>
          <p:nvPr/>
        </p:nvSpPr>
        <p:spPr>
          <a:xfrm>
            <a:off x="609600" y="4686300"/>
            <a:ext cx="50292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EA58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 Calculation:</a:t>
            </a:r>
            <a:endParaRPr lang="en-US" sz="1350" dirty="0"/>
          </a:p>
        </p:txBody>
      </p:sp>
      <p:sp>
        <p:nvSpPr>
          <p:cNvPr id="34" name="Text 9"/>
          <p:cNvSpPr/>
          <p:nvPr/>
        </p:nvSpPr>
        <p:spPr>
          <a:xfrm>
            <a:off x="705743" y="5029200"/>
            <a:ext cx="2667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050" dirty="0"/>
          </a:p>
        </p:txBody>
      </p:sp>
      <p:sp>
        <p:nvSpPr>
          <p:cNvPr id="35" name="Text 10"/>
          <p:cNvSpPr/>
          <p:nvPr/>
        </p:nvSpPr>
        <p:spPr>
          <a:xfrm>
            <a:off x="952500" y="5048250"/>
            <a:ext cx="348722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3645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of one data breach (SLE): $5,000,000</a:t>
            </a:r>
            <a:endParaRPr lang="en-US" sz="1200" dirty="0"/>
          </a:p>
        </p:txBody>
      </p:sp>
      <p:sp>
        <p:nvSpPr>
          <p:cNvPr id="36" name="Text 11"/>
          <p:cNvSpPr/>
          <p:nvPr/>
        </p:nvSpPr>
        <p:spPr>
          <a:xfrm>
            <a:off x="705743" y="5372100"/>
            <a:ext cx="2667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050" dirty="0"/>
          </a:p>
        </p:txBody>
      </p:sp>
      <p:sp>
        <p:nvSpPr>
          <p:cNvPr id="37" name="Text 12"/>
          <p:cNvSpPr/>
          <p:nvPr/>
        </p:nvSpPr>
        <p:spPr>
          <a:xfrm>
            <a:off x="952500" y="5391150"/>
            <a:ext cx="30596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3645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Expected breaches per year (ARO): 2</a:t>
            </a:r>
            <a:endParaRPr lang="en-US" sz="1200" dirty="0"/>
          </a:p>
        </p:txBody>
      </p:sp>
      <p:sp>
        <p:nvSpPr>
          <p:cNvPr id="38" name="Text 13"/>
          <p:cNvSpPr/>
          <p:nvPr/>
        </p:nvSpPr>
        <p:spPr>
          <a:xfrm>
            <a:off x="705743" y="5715000"/>
            <a:ext cx="2667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050" dirty="0"/>
          </a:p>
        </p:txBody>
      </p:sp>
      <p:sp>
        <p:nvSpPr>
          <p:cNvPr id="39" name="Text 14"/>
          <p:cNvSpPr/>
          <p:nvPr/>
        </p:nvSpPr>
        <p:spPr>
          <a:xfrm>
            <a:off x="952500" y="5734050"/>
            <a:ext cx="302502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3645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ALE = $5,000,000 × 2 = $10,000,000</a:t>
            </a:r>
            <a:endParaRPr lang="en-US" sz="1200" dirty="0"/>
          </a:p>
        </p:txBody>
      </p:sp>
      <p:sp>
        <p:nvSpPr>
          <p:cNvPr id="40" name="Text 15"/>
          <p:cNvSpPr/>
          <p:nvPr/>
        </p:nvSpPr>
        <p:spPr>
          <a:xfrm>
            <a:off x="7029450" y="1047750"/>
            <a:ext cx="630936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Projecting Organizational Risk</a:t>
            </a:r>
            <a:endParaRPr lang="en-US" sz="1800" dirty="0"/>
          </a:p>
        </p:txBody>
      </p:sp>
      <p:sp>
        <p:nvSpPr>
          <p:cNvPr id="41" name="Text 16"/>
          <p:cNvSpPr/>
          <p:nvPr/>
        </p:nvSpPr>
        <p:spPr>
          <a:xfrm>
            <a:off x="6553200" y="1752600"/>
            <a:ext cx="50292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66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Projected Victims = Total Employees × Phishing Success Rate</a:t>
            </a:r>
            <a:endParaRPr lang="en-US" sz="1500" dirty="0"/>
          </a:p>
        </p:txBody>
      </p:sp>
      <p:sp>
        <p:nvSpPr>
          <p:cNvPr id="42" name="Text 17"/>
          <p:cNvSpPr/>
          <p:nvPr/>
        </p:nvSpPr>
        <p:spPr>
          <a:xfrm>
            <a:off x="6438900" y="2552700"/>
            <a:ext cx="52578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166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When to Use:</a:t>
            </a:r>
            <a:endParaRPr lang="en-US" sz="1350" dirty="0"/>
          </a:p>
        </p:txBody>
      </p:sp>
      <p:sp>
        <p:nvSpPr>
          <p:cNvPr id="43" name="Text 18"/>
          <p:cNvSpPr/>
          <p:nvPr/>
        </p:nvSpPr>
        <p:spPr>
          <a:xfrm>
            <a:off x="6438900" y="2895600"/>
            <a:ext cx="5257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Scale phishing simulation results to understand potential impact across the entire organization.</a:t>
            </a:r>
            <a:endParaRPr lang="en-US" sz="1200" dirty="0"/>
          </a:p>
        </p:txBody>
      </p:sp>
      <p:sp>
        <p:nvSpPr>
          <p:cNvPr id="44" name="Text 19"/>
          <p:cNvSpPr/>
          <p:nvPr/>
        </p:nvSpPr>
        <p:spPr>
          <a:xfrm>
            <a:off x="6438900" y="3467100"/>
            <a:ext cx="52578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166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Benefits:</a:t>
            </a:r>
            <a:endParaRPr lang="en-US" sz="1350" dirty="0"/>
          </a:p>
        </p:txBody>
      </p:sp>
      <p:sp>
        <p:nvSpPr>
          <p:cNvPr id="45" name="Text 20"/>
          <p:cNvSpPr/>
          <p:nvPr/>
        </p:nvSpPr>
        <p:spPr>
          <a:xfrm>
            <a:off x="6667500" y="3810000"/>
            <a:ext cx="382154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3645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Estimates total employees who might fall victim</a:t>
            </a:r>
            <a:endParaRPr lang="en-US" sz="1200" dirty="0"/>
          </a:p>
        </p:txBody>
      </p:sp>
      <p:sp>
        <p:nvSpPr>
          <p:cNvPr id="46" name="Text 21"/>
          <p:cNvSpPr/>
          <p:nvPr/>
        </p:nvSpPr>
        <p:spPr>
          <a:xfrm>
            <a:off x="6667500" y="4076700"/>
            <a:ext cx="270390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3645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Enables broader risk assessment</a:t>
            </a:r>
            <a:endParaRPr lang="en-US" sz="1200" dirty="0"/>
          </a:p>
        </p:txBody>
      </p:sp>
      <p:sp>
        <p:nvSpPr>
          <p:cNvPr id="47" name="Text 22"/>
          <p:cNvSpPr/>
          <p:nvPr/>
        </p:nvSpPr>
        <p:spPr>
          <a:xfrm>
            <a:off x="6553200" y="4686300"/>
            <a:ext cx="50292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EA58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 Calculation:</a:t>
            </a:r>
            <a:endParaRPr lang="en-US" sz="1350" dirty="0"/>
          </a:p>
        </p:txBody>
      </p:sp>
      <p:sp>
        <p:nvSpPr>
          <p:cNvPr id="48" name="Text 23"/>
          <p:cNvSpPr/>
          <p:nvPr/>
        </p:nvSpPr>
        <p:spPr>
          <a:xfrm>
            <a:off x="6649343" y="5029200"/>
            <a:ext cx="2667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050" dirty="0"/>
          </a:p>
        </p:txBody>
      </p:sp>
      <p:sp>
        <p:nvSpPr>
          <p:cNvPr id="49" name="Text 24"/>
          <p:cNvSpPr/>
          <p:nvPr/>
        </p:nvSpPr>
        <p:spPr>
          <a:xfrm>
            <a:off x="6896100" y="5048250"/>
            <a:ext cx="190113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3645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Employees: 2,000</a:t>
            </a:r>
            <a:endParaRPr lang="en-US" sz="1200" dirty="0"/>
          </a:p>
        </p:txBody>
      </p:sp>
      <p:sp>
        <p:nvSpPr>
          <p:cNvPr id="50" name="Text 25"/>
          <p:cNvSpPr/>
          <p:nvPr/>
        </p:nvSpPr>
        <p:spPr>
          <a:xfrm>
            <a:off x="6649343" y="5372100"/>
            <a:ext cx="2667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050" dirty="0"/>
          </a:p>
        </p:txBody>
      </p:sp>
      <p:sp>
        <p:nvSpPr>
          <p:cNvPr id="51" name="Text 26"/>
          <p:cNvSpPr/>
          <p:nvPr/>
        </p:nvSpPr>
        <p:spPr>
          <a:xfrm>
            <a:off x="6896100" y="5391150"/>
            <a:ext cx="38017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3645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Phishing Success Rate: 15% (0.15 as decimal)</a:t>
            </a:r>
            <a:endParaRPr lang="en-US" sz="1200" dirty="0"/>
          </a:p>
        </p:txBody>
      </p:sp>
      <p:sp>
        <p:nvSpPr>
          <p:cNvPr id="52" name="Text 27"/>
          <p:cNvSpPr/>
          <p:nvPr/>
        </p:nvSpPr>
        <p:spPr>
          <a:xfrm>
            <a:off x="6649343" y="5715000"/>
            <a:ext cx="2667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050" dirty="0"/>
          </a:p>
        </p:txBody>
      </p:sp>
      <p:sp>
        <p:nvSpPr>
          <p:cNvPr id="53" name="Text 28"/>
          <p:cNvSpPr/>
          <p:nvPr/>
        </p:nvSpPr>
        <p:spPr>
          <a:xfrm>
            <a:off x="6896100" y="5734050"/>
            <a:ext cx="427160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3645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Projected Victims = 2,000 × 0.15 = 300 employees</a:t>
            </a:r>
            <a:endParaRPr lang="en-US" sz="1200" dirty="0"/>
          </a:p>
        </p:txBody>
      </p:sp>
      <p:sp>
        <p:nvSpPr>
          <p:cNvPr id="54" name="Text 29"/>
          <p:cNvSpPr/>
          <p:nvPr/>
        </p:nvSpPr>
        <p:spPr>
          <a:xfrm>
            <a:off x="190500" y="6591300"/>
            <a:ext cx="3762077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Quantitative Risk Calculations for GRC Professionals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62865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4800" y="857250"/>
            <a:ext cx="5638800" cy="542925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5300" y="1085850"/>
            <a:ext cx="228600" cy="22860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95300" y="2095500"/>
            <a:ext cx="152400" cy="15240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95300" y="2990850"/>
            <a:ext cx="5257800" cy="184785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48400" y="857250"/>
            <a:ext cx="5638800" cy="5429250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438900" y="1085850"/>
            <a:ext cx="171450" cy="228600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438900" y="2343150"/>
            <a:ext cx="476250" cy="476250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591300" y="2505075"/>
            <a:ext cx="171450" cy="152400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438900" y="2933700"/>
            <a:ext cx="476250" cy="476250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629400" y="3095625"/>
            <a:ext cx="95250" cy="152400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438900" y="3524250"/>
            <a:ext cx="476250" cy="476250"/>
          </a:xfrm>
          <a:prstGeom prst="rect">
            <a:avLst/>
          </a:prstGeom>
        </p:spPr>
      </p:pic>
      <p:pic>
        <p:nvPicPr>
          <p:cNvPr id="15" name="Image 13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605588" y="3686175"/>
            <a:ext cx="142875" cy="152400"/>
          </a:xfrm>
          <a:prstGeom prst="rect">
            <a:avLst/>
          </a:prstGeom>
        </p:spPr>
      </p:pic>
      <p:pic>
        <p:nvPicPr>
          <p:cNvPr id="16" name="Image 14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438900" y="4152900"/>
            <a:ext cx="5257800" cy="1428750"/>
          </a:xfrm>
          <a:prstGeom prst="rect">
            <a:avLst/>
          </a:prstGeom>
        </p:spPr>
      </p:pic>
      <p:pic>
        <p:nvPicPr>
          <p:cNvPr id="17" name="Image 15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6602313" y="5610225"/>
            <a:ext cx="133350" cy="133350"/>
          </a:xfrm>
          <a:prstGeom prst="rect">
            <a:avLst/>
          </a:prstGeom>
        </p:spPr>
      </p:pic>
      <p:pic>
        <p:nvPicPr>
          <p:cNvPr id="18" name="Image 16" descr="preencoded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0" y="6515100"/>
            <a:ext cx="12192000" cy="342900"/>
          </a:xfrm>
          <a:prstGeom prst="rect">
            <a:avLst/>
          </a:prstGeom>
        </p:spPr>
      </p:pic>
      <p:sp>
        <p:nvSpPr>
          <p:cNvPr id="19" name="Text 0"/>
          <p:cNvSpPr/>
          <p:nvPr/>
        </p:nvSpPr>
        <p:spPr>
          <a:xfrm>
            <a:off x="238125" y="142875"/>
            <a:ext cx="117157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700"/>
              </a:lnSpc>
              <a:buNone/>
            </a:pPr>
            <a:r>
              <a:rPr lang="en-US" sz="2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Statistical Analysis for GRC</a:t>
            </a:r>
            <a:endParaRPr lang="en-US" sz="2250" dirty="0"/>
          </a:p>
        </p:txBody>
      </p:sp>
      <p:sp>
        <p:nvSpPr>
          <p:cNvPr id="20" name="Text 1"/>
          <p:cNvSpPr/>
          <p:nvPr/>
        </p:nvSpPr>
        <p:spPr>
          <a:xfrm>
            <a:off x="800100" y="1047750"/>
            <a:ext cx="630936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Confidence Intervals</a:t>
            </a:r>
            <a:endParaRPr lang="en-US" sz="1800" dirty="0"/>
          </a:p>
        </p:txBody>
      </p:sp>
      <p:sp>
        <p:nvSpPr>
          <p:cNvPr id="21" name="Text 2"/>
          <p:cNvSpPr/>
          <p:nvPr/>
        </p:nvSpPr>
        <p:spPr>
          <a:xfrm>
            <a:off x="495300" y="1504950"/>
            <a:ext cx="5257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confidence interval provides a range within which the true population parameter is likely to fall, given a certain level of confidence.</a:t>
            </a:r>
            <a:endParaRPr lang="en-US" sz="1200" dirty="0"/>
          </a:p>
        </p:txBody>
      </p:sp>
      <p:sp>
        <p:nvSpPr>
          <p:cNvPr id="22" name="Text 3"/>
          <p:cNvSpPr/>
          <p:nvPr/>
        </p:nvSpPr>
        <p:spPr>
          <a:xfrm>
            <a:off x="685800" y="2076450"/>
            <a:ext cx="5257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For a 95% confidence interval, if you repeated your sampling method many times, 95% of the calculated intervals would contain the true population parameter.</a:t>
            </a:r>
            <a:endParaRPr lang="en-US" sz="1200" dirty="0"/>
          </a:p>
        </p:txBody>
      </p:sp>
      <p:sp>
        <p:nvSpPr>
          <p:cNvPr id="23" name="Text 4"/>
          <p:cNvSpPr/>
          <p:nvPr/>
        </p:nvSpPr>
        <p:spPr>
          <a:xfrm>
            <a:off x="638175" y="3133725"/>
            <a:ext cx="596646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3645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95% Confidence Interval Formula:</a:t>
            </a:r>
            <a:endParaRPr lang="en-US" sz="1350" dirty="0"/>
          </a:p>
        </p:txBody>
      </p:sp>
      <p:sp>
        <p:nvSpPr>
          <p:cNvPr id="24" name="Text 5"/>
          <p:cNvSpPr/>
          <p:nvPr/>
        </p:nvSpPr>
        <p:spPr>
          <a:xfrm>
            <a:off x="140970" y="3476625"/>
            <a:ext cx="596646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500" dirty="0">
                <a:solidFill>
                  <a:srgbClr val="3645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 ± 1.96 × √[p(1-p)/n]</a:t>
            </a:r>
            <a:endParaRPr lang="en-US" sz="1500" dirty="0"/>
          </a:p>
        </p:txBody>
      </p:sp>
      <p:sp>
        <p:nvSpPr>
          <p:cNvPr id="25" name="Text 6"/>
          <p:cNvSpPr/>
          <p:nvPr/>
        </p:nvSpPr>
        <p:spPr>
          <a:xfrm>
            <a:off x="638175" y="3857625"/>
            <a:ext cx="111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0064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</a:t>
            </a:r>
            <a:endParaRPr lang="en-US" sz="1200" dirty="0"/>
          </a:p>
        </p:txBody>
      </p:sp>
      <p:sp>
        <p:nvSpPr>
          <p:cNvPr id="26" name="Text 7"/>
          <p:cNvSpPr/>
          <p:nvPr/>
        </p:nvSpPr>
        <p:spPr>
          <a:xfrm>
            <a:off x="807541" y="3857625"/>
            <a:ext cx="223099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= success rate (as decimal)</a:t>
            </a:r>
            <a:endParaRPr lang="en-US" sz="1200" dirty="0"/>
          </a:p>
        </p:txBody>
      </p:sp>
      <p:sp>
        <p:nvSpPr>
          <p:cNvPr id="27" name="Text 8"/>
          <p:cNvSpPr/>
          <p:nvPr/>
        </p:nvSpPr>
        <p:spPr>
          <a:xfrm>
            <a:off x="638175" y="4162425"/>
            <a:ext cx="111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0064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</a:t>
            </a:r>
            <a:endParaRPr lang="en-US" sz="1200" dirty="0"/>
          </a:p>
        </p:txBody>
      </p:sp>
      <p:sp>
        <p:nvSpPr>
          <p:cNvPr id="28" name="Text 9"/>
          <p:cNvSpPr/>
          <p:nvPr/>
        </p:nvSpPr>
        <p:spPr>
          <a:xfrm>
            <a:off x="807541" y="4162425"/>
            <a:ext cx="11231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= sample size</a:t>
            </a:r>
            <a:endParaRPr lang="en-US" sz="1200" dirty="0"/>
          </a:p>
        </p:txBody>
      </p:sp>
      <p:sp>
        <p:nvSpPr>
          <p:cNvPr id="29" name="Text 10"/>
          <p:cNvSpPr/>
          <p:nvPr/>
        </p:nvSpPr>
        <p:spPr>
          <a:xfrm>
            <a:off x="638175" y="4467225"/>
            <a:ext cx="35593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0064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1.96</a:t>
            </a:r>
            <a:endParaRPr lang="en-US" sz="1200" dirty="0"/>
          </a:p>
        </p:txBody>
      </p:sp>
      <p:sp>
        <p:nvSpPr>
          <p:cNvPr id="30" name="Text 11"/>
          <p:cNvSpPr/>
          <p:nvPr/>
        </p:nvSpPr>
        <p:spPr>
          <a:xfrm>
            <a:off x="1010989" y="4467225"/>
            <a:ext cx="246548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= constant for 95% confidence</a:t>
            </a:r>
            <a:endParaRPr lang="en-US" sz="1200" dirty="0"/>
          </a:p>
        </p:txBody>
      </p:sp>
      <p:sp>
        <p:nvSpPr>
          <p:cNvPr id="31" name="Text 12"/>
          <p:cNvSpPr/>
          <p:nvPr/>
        </p:nvSpPr>
        <p:spPr>
          <a:xfrm>
            <a:off x="6686550" y="1047750"/>
            <a:ext cx="52578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 Calculation</a:t>
            </a:r>
            <a:endParaRPr lang="en-US" sz="1800" dirty="0"/>
          </a:p>
        </p:txBody>
      </p:sp>
      <p:sp>
        <p:nvSpPr>
          <p:cNvPr id="32" name="Text 13"/>
          <p:cNvSpPr/>
          <p:nvPr/>
        </p:nvSpPr>
        <p:spPr>
          <a:xfrm>
            <a:off x="6438900" y="1504950"/>
            <a:ext cx="5257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3645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Scenario:</a:t>
            </a:r>
            <a:endParaRPr lang="en-US" sz="1200" dirty="0"/>
          </a:p>
        </p:txBody>
      </p:sp>
      <p:sp>
        <p:nvSpPr>
          <p:cNvPr id="33" name="Text 14"/>
          <p:cNvSpPr/>
          <p:nvPr/>
        </p:nvSpPr>
        <p:spPr>
          <a:xfrm>
            <a:off x="6438900" y="1733550"/>
            <a:ext cx="5257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Phishing success rate of 20% (p = 0.20) from a sample of 100 employees (n = 100)</a:t>
            </a:r>
            <a:endParaRPr lang="en-US" sz="1200" dirty="0"/>
          </a:p>
        </p:txBody>
      </p:sp>
      <p:sp>
        <p:nvSpPr>
          <p:cNvPr id="34" name="Text 15"/>
          <p:cNvSpPr/>
          <p:nvPr/>
        </p:nvSpPr>
        <p:spPr>
          <a:xfrm>
            <a:off x="7029450" y="2352675"/>
            <a:ext cx="410908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3645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Calculate the standard error:</a:t>
            </a:r>
            <a:endParaRPr lang="en-US" sz="1200" dirty="0"/>
          </a:p>
        </p:txBody>
      </p:sp>
      <p:sp>
        <p:nvSpPr>
          <p:cNvPr id="35" name="Text 16"/>
          <p:cNvSpPr/>
          <p:nvPr/>
        </p:nvSpPr>
        <p:spPr>
          <a:xfrm>
            <a:off x="7029450" y="2581275"/>
            <a:ext cx="410908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√[0.20(1-0.20)/100] = √[0.16/100] = √0.0016 = 0.04</a:t>
            </a:r>
            <a:endParaRPr lang="en-US" sz="1200" dirty="0"/>
          </a:p>
        </p:txBody>
      </p:sp>
      <p:sp>
        <p:nvSpPr>
          <p:cNvPr id="36" name="Text 17"/>
          <p:cNvSpPr/>
          <p:nvPr/>
        </p:nvSpPr>
        <p:spPr>
          <a:xfrm>
            <a:off x="7029450" y="2943225"/>
            <a:ext cx="225581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3645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Multiply by the Z-score:</a:t>
            </a:r>
            <a:endParaRPr lang="en-US" sz="1200" dirty="0"/>
          </a:p>
        </p:txBody>
      </p:sp>
      <p:sp>
        <p:nvSpPr>
          <p:cNvPr id="37" name="Text 18"/>
          <p:cNvSpPr/>
          <p:nvPr/>
        </p:nvSpPr>
        <p:spPr>
          <a:xfrm>
            <a:off x="7029450" y="3171825"/>
            <a:ext cx="225581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1.96 × 0.04 = 0.0784</a:t>
            </a:r>
            <a:endParaRPr lang="en-US" sz="1200" dirty="0"/>
          </a:p>
        </p:txBody>
      </p:sp>
      <p:sp>
        <p:nvSpPr>
          <p:cNvPr id="38" name="Text 19"/>
          <p:cNvSpPr/>
          <p:nvPr/>
        </p:nvSpPr>
        <p:spPr>
          <a:xfrm>
            <a:off x="7029450" y="3533775"/>
            <a:ext cx="312003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3645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Calculate the confidence interval:</a:t>
            </a:r>
            <a:endParaRPr lang="en-US" sz="1200" dirty="0"/>
          </a:p>
        </p:txBody>
      </p:sp>
      <p:sp>
        <p:nvSpPr>
          <p:cNvPr id="39" name="Text 20"/>
          <p:cNvSpPr/>
          <p:nvPr/>
        </p:nvSpPr>
        <p:spPr>
          <a:xfrm>
            <a:off x="7029450" y="3762375"/>
            <a:ext cx="312003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0.20 ± 0.0784 = 12.16% to 27.84%</a:t>
            </a:r>
            <a:endParaRPr lang="en-US" sz="1200" dirty="0"/>
          </a:p>
        </p:txBody>
      </p:sp>
      <p:sp>
        <p:nvSpPr>
          <p:cNvPr id="40" name="Text 21"/>
          <p:cNvSpPr/>
          <p:nvPr/>
        </p:nvSpPr>
        <p:spPr>
          <a:xfrm>
            <a:off x="6438900" y="5581650"/>
            <a:ext cx="52578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050" i="1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We're 95% confident the true phishing success rate for our entire organization is between 12.16% and 27.84%</a:t>
            </a:r>
            <a:endParaRPr lang="en-US" sz="1050" dirty="0"/>
          </a:p>
        </p:txBody>
      </p:sp>
      <p:sp>
        <p:nvSpPr>
          <p:cNvPr id="41" name="Text 22"/>
          <p:cNvSpPr/>
          <p:nvPr/>
        </p:nvSpPr>
        <p:spPr>
          <a:xfrm>
            <a:off x="190500" y="6591300"/>
            <a:ext cx="3762077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Quantitative Risk Calculations for GRC Professionals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62865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4800" y="857250"/>
            <a:ext cx="5638800" cy="542925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5300" y="1047750"/>
            <a:ext cx="381000" cy="38100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09600" y="1162050"/>
            <a:ext cx="152400" cy="15240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95300" y="1581150"/>
            <a:ext cx="5257800" cy="76200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95300" y="2876550"/>
            <a:ext cx="152400" cy="152400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95300" y="3181350"/>
            <a:ext cx="152400" cy="152400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95300" y="3524250"/>
            <a:ext cx="5257800" cy="1295400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09600" y="3686175"/>
            <a:ext cx="133350" cy="171450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09600" y="4438650"/>
            <a:ext cx="5029200" cy="38100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48400" y="857250"/>
            <a:ext cx="5638800" cy="5429250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438900" y="1047750"/>
            <a:ext cx="381000" cy="381000"/>
          </a:xfrm>
          <a:prstGeom prst="rect">
            <a:avLst/>
          </a:prstGeom>
        </p:spPr>
      </p:pic>
      <p:pic>
        <p:nvPicPr>
          <p:cNvPr id="15" name="Image 13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553200" y="1162050"/>
            <a:ext cx="152400" cy="152400"/>
          </a:xfrm>
          <a:prstGeom prst="rect">
            <a:avLst/>
          </a:prstGeom>
        </p:spPr>
      </p:pic>
      <p:pic>
        <p:nvPicPr>
          <p:cNvPr id="16" name="Image 14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438900" y="1581150"/>
            <a:ext cx="5257800" cy="1028700"/>
          </a:xfrm>
          <a:prstGeom prst="rect">
            <a:avLst/>
          </a:prstGeom>
        </p:spPr>
      </p:pic>
      <p:pic>
        <p:nvPicPr>
          <p:cNvPr id="17" name="Image 15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438900" y="3143250"/>
            <a:ext cx="152400" cy="152400"/>
          </a:xfrm>
          <a:prstGeom prst="rect">
            <a:avLst/>
          </a:prstGeom>
        </p:spPr>
      </p:pic>
      <p:pic>
        <p:nvPicPr>
          <p:cNvPr id="18" name="Image 16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438900" y="3448050"/>
            <a:ext cx="152400" cy="152400"/>
          </a:xfrm>
          <a:prstGeom prst="rect">
            <a:avLst/>
          </a:prstGeom>
        </p:spPr>
      </p:pic>
      <p:pic>
        <p:nvPicPr>
          <p:cNvPr id="19" name="Image 17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6438900" y="3790950"/>
            <a:ext cx="5257800" cy="1524000"/>
          </a:xfrm>
          <a:prstGeom prst="rect">
            <a:avLst/>
          </a:prstGeom>
        </p:spPr>
      </p:pic>
      <p:pic>
        <p:nvPicPr>
          <p:cNvPr id="20" name="Image 18" descr="preencoded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6553200" y="3952875"/>
            <a:ext cx="133350" cy="171450"/>
          </a:xfrm>
          <a:prstGeom prst="rect">
            <a:avLst/>
          </a:prstGeom>
        </p:spPr>
      </p:pic>
      <p:pic>
        <p:nvPicPr>
          <p:cNvPr id="21" name="Image 19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553200" y="4705350"/>
            <a:ext cx="5029200" cy="38100"/>
          </a:xfrm>
          <a:prstGeom prst="rect">
            <a:avLst/>
          </a:prstGeom>
        </p:spPr>
      </p:pic>
      <p:pic>
        <p:nvPicPr>
          <p:cNvPr id="22" name="Image 20" descr="preencoded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0" y="6515100"/>
            <a:ext cx="12192000" cy="342900"/>
          </a:xfrm>
          <a:prstGeom prst="rect">
            <a:avLst/>
          </a:prstGeom>
        </p:spPr>
      </p:pic>
      <p:sp>
        <p:nvSpPr>
          <p:cNvPr id="23" name="Text 0"/>
          <p:cNvSpPr/>
          <p:nvPr/>
        </p:nvSpPr>
        <p:spPr>
          <a:xfrm>
            <a:off x="238125" y="142875"/>
            <a:ext cx="140589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700"/>
              </a:lnSpc>
              <a:buNone/>
            </a:pPr>
            <a:r>
              <a:rPr lang="en-US" sz="2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Cost-Benefit Analysis for Security Controls</a:t>
            </a:r>
            <a:endParaRPr lang="en-US" sz="2250" dirty="0"/>
          </a:p>
        </p:txBody>
      </p:sp>
      <p:sp>
        <p:nvSpPr>
          <p:cNvPr id="24" name="Text 1"/>
          <p:cNvSpPr/>
          <p:nvPr/>
        </p:nvSpPr>
        <p:spPr>
          <a:xfrm>
            <a:off x="990600" y="1085850"/>
            <a:ext cx="3566339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166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Return on Investment (ROI)</a:t>
            </a:r>
            <a:endParaRPr lang="en-US" sz="1800" dirty="0"/>
          </a:p>
        </p:txBody>
      </p:sp>
      <p:sp>
        <p:nvSpPr>
          <p:cNvPr id="25" name="Text 2"/>
          <p:cNvSpPr/>
          <p:nvPr/>
        </p:nvSpPr>
        <p:spPr>
          <a:xfrm>
            <a:off x="638175" y="1676400"/>
            <a:ext cx="49720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3645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Formula</a:t>
            </a:r>
            <a:endParaRPr lang="en-US" sz="1350" dirty="0"/>
          </a:p>
        </p:txBody>
      </p:sp>
      <p:sp>
        <p:nvSpPr>
          <p:cNvPr id="26" name="Text 3"/>
          <p:cNvSpPr/>
          <p:nvPr/>
        </p:nvSpPr>
        <p:spPr>
          <a:xfrm>
            <a:off x="140970" y="2019300"/>
            <a:ext cx="59664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200" dirty="0">
                <a:solidFill>
                  <a:srgbClr val="3645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ROI = (Benefit - Cost) ÷ Cost × 100</a:t>
            </a:r>
            <a:endParaRPr lang="en-US" sz="1200" dirty="0"/>
          </a:p>
        </p:txBody>
      </p:sp>
      <p:sp>
        <p:nvSpPr>
          <p:cNvPr id="27" name="Text 4"/>
          <p:cNvSpPr/>
          <p:nvPr/>
        </p:nvSpPr>
        <p:spPr>
          <a:xfrm>
            <a:off x="495300" y="2495550"/>
            <a:ext cx="52578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Components:</a:t>
            </a:r>
            <a:endParaRPr lang="en-US" sz="1350" dirty="0"/>
          </a:p>
        </p:txBody>
      </p:sp>
      <p:sp>
        <p:nvSpPr>
          <p:cNvPr id="28" name="Text 5"/>
          <p:cNvSpPr/>
          <p:nvPr/>
        </p:nvSpPr>
        <p:spPr>
          <a:xfrm>
            <a:off x="723900" y="2838450"/>
            <a:ext cx="538710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3645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Benefit:</a:t>
            </a:r>
            <a:r>
              <a:rPr lang="en-US" sz="1200" dirty="0">
                <a:solidFill>
                  <a:srgbClr val="3645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Financial value gained from implementing security control</a:t>
            </a:r>
            <a:endParaRPr lang="en-US" sz="1200" dirty="0"/>
          </a:p>
        </p:txBody>
      </p:sp>
      <p:sp>
        <p:nvSpPr>
          <p:cNvPr id="29" name="Text 6"/>
          <p:cNvSpPr/>
          <p:nvPr/>
        </p:nvSpPr>
        <p:spPr>
          <a:xfrm>
            <a:off x="723900" y="3143250"/>
            <a:ext cx="481792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3645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Cost:</a:t>
            </a:r>
            <a:r>
              <a:rPr lang="en-US" sz="1200" dirty="0">
                <a:solidFill>
                  <a:srgbClr val="3645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Investment required to implement the security control</a:t>
            </a:r>
            <a:endParaRPr lang="en-US" sz="1200" dirty="0"/>
          </a:p>
        </p:txBody>
      </p:sp>
      <p:sp>
        <p:nvSpPr>
          <p:cNvPr id="30" name="Text 7"/>
          <p:cNvSpPr/>
          <p:nvPr/>
        </p:nvSpPr>
        <p:spPr>
          <a:xfrm>
            <a:off x="819150" y="3638550"/>
            <a:ext cx="50292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166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 Calculation</a:t>
            </a:r>
            <a:endParaRPr lang="en-US" sz="1350" dirty="0"/>
          </a:p>
        </p:txBody>
      </p:sp>
      <p:sp>
        <p:nvSpPr>
          <p:cNvPr id="31" name="Text 8"/>
          <p:cNvSpPr/>
          <p:nvPr/>
        </p:nvSpPr>
        <p:spPr>
          <a:xfrm>
            <a:off x="609600" y="3981450"/>
            <a:ext cx="155644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3645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Security Control Cost:</a:t>
            </a:r>
            <a:endParaRPr lang="en-US" sz="1050" dirty="0"/>
          </a:p>
        </p:txBody>
      </p:sp>
      <p:sp>
        <p:nvSpPr>
          <p:cNvPr id="32" name="Text 9"/>
          <p:cNvSpPr/>
          <p:nvPr/>
        </p:nvSpPr>
        <p:spPr>
          <a:xfrm>
            <a:off x="5082480" y="3981450"/>
            <a:ext cx="66758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b="1" dirty="0">
                <a:solidFill>
                  <a:srgbClr val="3645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$100,000</a:t>
            </a:r>
            <a:endParaRPr lang="en-US" sz="1050" dirty="0"/>
          </a:p>
        </p:txBody>
      </p:sp>
      <p:sp>
        <p:nvSpPr>
          <p:cNvPr id="33" name="Text 10"/>
          <p:cNvSpPr/>
          <p:nvPr/>
        </p:nvSpPr>
        <p:spPr>
          <a:xfrm>
            <a:off x="609600" y="4210050"/>
            <a:ext cx="1663422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3645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 Reduction Benefit:</a:t>
            </a:r>
            <a:endParaRPr lang="en-US" sz="1050" dirty="0"/>
          </a:p>
        </p:txBody>
      </p:sp>
      <p:sp>
        <p:nvSpPr>
          <p:cNvPr id="34" name="Text 11"/>
          <p:cNvSpPr/>
          <p:nvPr/>
        </p:nvSpPr>
        <p:spPr>
          <a:xfrm>
            <a:off x="4971306" y="4210050"/>
            <a:ext cx="80099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b="1" dirty="0">
                <a:solidFill>
                  <a:srgbClr val="3645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$2,000,000</a:t>
            </a:r>
            <a:endParaRPr lang="en-US" sz="1050" dirty="0"/>
          </a:p>
        </p:txBody>
      </p:sp>
      <p:sp>
        <p:nvSpPr>
          <p:cNvPr id="35" name="Text 12"/>
          <p:cNvSpPr/>
          <p:nvPr/>
        </p:nvSpPr>
        <p:spPr>
          <a:xfrm>
            <a:off x="609600" y="4514850"/>
            <a:ext cx="337899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b="1" dirty="0">
                <a:solidFill>
                  <a:srgbClr val="3645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ROI:</a:t>
            </a:r>
            <a:endParaRPr lang="en-US" sz="1050" dirty="0"/>
          </a:p>
        </p:txBody>
      </p:sp>
      <p:sp>
        <p:nvSpPr>
          <p:cNvPr id="36" name="Text 13"/>
          <p:cNvSpPr/>
          <p:nvPr/>
        </p:nvSpPr>
        <p:spPr>
          <a:xfrm>
            <a:off x="5186511" y="4514850"/>
            <a:ext cx="542746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b="1" dirty="0">
                <a:solidFill>
                  <a:srgbClr val="EA58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1,900%</a:t>
            </a:r>
            <a:endParaRPr lang="en-US" sz="1050" dirty="0"/>
          </a:p>
        </p:txBody>
      </p:sp>
      <p:sp>
        <p:nvSpPr>
          <p:cNvPr id="37" name="Text 14"/>
          <p:cNvSpPr/>
          <p:nvPr/>
        </p:nvSpPr>
        <p:spPr>
          <a:xfrm>
            <a:off x="6934200" y="1085850"/>
            <a:ext cx="1996857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 Reduction</a:t>
            </a:r>
            <a:endParaRPr lang="en-US" sz="1800" dirty="0"/>
          </a:p>
        </p:txBody>
      </p:sp>
      <p:sp>
        <p:nvSpPr>
          <p:cNvPr id="38" name="Text 15"/>
          <p:cNvSpPr/>
          <p:nvPr/>
        </p:nvSpPr>
        <p:spPr>
          <a:xfrm>
            <a:off x="6581775" y="1676400"/>
            <a:ext cx="49720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3645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Formulas</a:t>
            </a:r>
            <a:endParaRPr lang="en-US" sz="1350" dirty="0"/>
          </a:p>
        </p:txBody>
      </p:sp>
      <p:sp>
        <p:nvSpPr>
          <p:cNvPr id="39" name="Text 16"/>
          <p:cNvSpPr/>
          <p:nvPr/>
        </p:nvSpPr>
        <p:spPr>
          <a:xfrm>
            <a:off x="6084570" y="2019300"/>
            <a:ext cx="59664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200" dirty="0">
                <a:solidFill>
                  <a:srgbClr val="3645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 Risk = Current Risk × (1 - Control Effectiveness)</a:t>
            </a:r>
            <a:endParaRPr lang="en-US" sz="1200" dirty="0"/>
          </a:p>
        </p:txBody>
      </p:sp>
      <p:sp>
        <p:nvSpPr>
          <p:cNvPr id="40" name="Text 17"/>
          <p:cNvSpPr/>
          <p:nvPr/>
        </p:nvSpPr>
        <p:spPr>
          <a:xfrm>
            <a:off x="6084570" y="2286000"/>
            <a:ext cx="59664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200" dirty="0">
                <a:solidFill>
                  <a:srgbClr val="3645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 Reduction = Current Risk - New Risk</a:t>
            </a:r>
            <a:endParaRPr lang="en-US" sz="1200" dirty="0"/>
          </a:p>
        </p:txBody>
      </p:sp>
      <p:sp>
        <p:nvSpPr>
          <p:cNvPr id="41" name="Text 18"/>
          <p:cNvSpPr/>
          <p:nvPr/>
        </p:nvSpPr>
        <p:spPr>
          <a:xfrm>
            <a:off x="6438900" y="2762250"/>
            <a:ext cx="52578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Components:</a:t>
            </a:r>
            <a:endParaRPr lang="en-US" sz="1350" dirty="0"/>
          </a:p>
        </p:txBody>
      </p:sp>
      <p:sp>
        <p:nvSpPr>
          <p:cNvPr id="42" name="Text 19"/>
          <p:cNvSpPr/>
          <p:nvPr/>
        </p:nvSpPr>
        <p:spPr>
          <a:xfrm>
            <a:off x="6667500" y="3105150"/>
            <a:ext cx="471648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3645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Current Risk:</a:t>
            </a:r>
            <a:r>
              <a:rPr lang="en-US" sz="1200" dirty="0">
                <a:solidFill>
                  <a:srgbClr val="3645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Current Annualized Loss Expectancy (ALE)</a:t>
            </a:r>
            <a:endParaRPr lang="en-US" sz="1200" dirty="0"/>
          </a:p>
        </p:txBody>
      </p:sp>
      <p:sp>
        <p:nvSpPr>
          <p:cNvPr id="43" name="Text 20"/>
          <p:cNvSpPr/>
          <p:nvPr/>
        </p:nvSpPr>
        <p:spPr>
          <a:xfrm>
            <a:off x="6667500" y="3409950"/>
            <a:ext cx="520404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3645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Control Effectiveness:</a:t>
            </a:r>
            <a:r>
              <a:rPr lang="en-US" sz="1200" dirty="0">
                <a:solidFill>
                  <a:srgbClr val="3645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Percentage reduction in risk (e.g., 90%)</a:t>
            </a:r>
            <a:endParaRPr lang="en-US" sz="1200" dirty="0"/>
          </a:p>
        </p:txBody>
      </p:sp>
      <p:sp>
        <p:nvSpPr>
          <p:cNvPr id="44" name="Text 21"/>
          <p:cNvSpPr/>
          <p:nvPr/>
        </p:nvSpPr>
        <p:spPr>
          <a:xfrm>
            <a:off x="6762750" y="3905250"/>
            <a:ext cx="50292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 Calculation</a:t>
            </a:r>
            <a:endParaRPr lang="en-US" sz="1350" dirty="0"/>
          </a:p>
        </p:txBody>
      </p:sp>
      <p:sp>
        <p:nvSpPr>
          <p:cNvPr id="45" name="Text 22"/>
          <p:cNvSpPr/>
          <p:nvPr/>
        </p:nvSpPr>
        <p:spPr>
          <a:xfrm>
            <a:off x="6553200" y="4248150"/>
            <a:ext cx="916186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3645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Current ALE:</a:t>
            </a:r>
            <a:endParaRPr lang="en-US" sz="1050" dirty="0"/>
          </a:p>
        </p:txBody>
      </p:sp>
      <p:sp>
        <p:nvSpPr>
          <p:cNvPr id="46" name="Text 23"/>
          <p:cNvSpPr/>
          <p:nvPr/>
        </p:nvSpPr>
        <p:spPr>
          <a:xfrm>
            <a:off x="10840789" y="4248150"/>
            <a:ext cx="88993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b="1" dirty="0">
                <a:solidFill>
                  <a:srgbClr val="3645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$10,000,000</a:t>
            </a:r>
            <a:endParaRPr lang="en-US" sz="1050" dirty="0"/>
          </a:p>
        </p:txBody>
      </p:sp>
      <p:sp>
        <p:nvSpPr>
          <p:cNvPr id="47" name="Text 24"/>
          <p:cNvSpPr/>
          <p:nvPr/>
        </p:nvSpPr>
        <p:spPr>
          <a:xfrm>
            <a:off x="6553200" y="4476750"/>
            <a:ext cx="1553587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3645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Control Effectiveness:</a:t>
            </a:r>
            <a:endParaRPr lang="en-US" sz="1050" dirty="0"/>
          </a:p>
        </p:txBody>
      </p:sp>
      <p:sp>
        <p:nvSpPr>
          <p:cNvPr id="48" name="Text 25"/>
          <p:cNvSpPr/>
          <p:nvPr/>
        </p:nvSpPr>
        <p:spPr>
          <a:xfrm>
            <a:off x="11315402" y="4476750"/>
            <a:ext cx="320397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b="1" dirty="0">
                <a:solidFill>
                  <a:srgbClr val="3645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90%</a:t>
            </a:r>
            <a:endParaRPr lang="en-US" sz="1050" dirty="0"/>
          </a:p>
        </p:txBody>
      </p:sp>
      <p:sp>
        <p:nvSpPr>
          <p:cNvPr id="49" name="Text 26"/>
          <p:cNvSpPr/>
          <p:nvPr/>
        </p:nvSpPr>
        <p:spPr>
          <a:xfrm>
            <a:off x="6553200" y="4781550"/>
            <a:ext cx="702766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3645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 ALE:</a:t>
            </a:r>
            <a:endParaRPr lang="en-US" sz="1050" dirty="0"/>
          </a:p>
        </p:txBody>
      </p:sp>
      <p:sp>
        <p:nvSpPr>
          <p:cNvPr id="50" name="Text 27"/>
          <p:cNvSpPr/>
          <p:nvPr/>
        </p:nvSpPr>
        <p:spPr>
          <a:xfrm>
            <a:off x="10914906" y="4781550"/>
            <a:ext cx="80099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b="1" dirty="0">
                <a:solidFill>
                  <a:srgbClr val="3645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$1,000,000</a:t>
            </a:r>
            <a:endParaRPr lang="en-US" sz="1050" dirty="0"/>
          </a:p>
        </p:txBody>
      </p:sp>
      <p:sp>
        <p:nvSpPr>
          <p:cNvPr id="51" name="Text 28"/>
          <p:cNvSpPr/>
          <p:nvPr/>
        </p:nvSpPr>
        <p:spPr>
          <a:xfrm>
            <a:off x="6553200" y="5010150"/>
            <a:ext cx="121818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b="1" dirty="0">
                <a:solidFill>
                  <a:srgbClr val="3645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 Reduction:</a:t>
            </a:r>
            <a:endParaRPr lang="en-US" sz="1050" dirty="0"/>
          </a:p>
        </p:txBody>
      </p:sp>
      <p:sp>
        <p:nvSpPr>
          <p:cNvPr id="52" name="Text 29"/>
          <p:cNvSpPr/>
          <p:nvPr/>
        </p:nvSpPr>
        <p:spPr>
          <a:xfrm>
            <a:off x="10914906" y="5010150"/>
            <a:ext cx="80099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b="1" dirty="0">
                <a:solidFill>
                  <a:srgbClr val="1580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$9,000,000</a:t>
            </a:r>
            <a:endParaRPr lang="en-US" sz="1050" dirty="0"/>
          </a:p>
        </p:txBody>
      </p:sp>
      <p:sp>
        <p:nvSpPr>
          <p:cNvPr id="53" name="Text 30"/>
          <p:cNvSpPr/>
          <p:nvPr/>
        </p:nvSpPr>
        <p:spPr>
          <a:xfrm>
            <a:off x="190500" y="6591300"/>
            <a:ext cx="3762077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Quantitative Risk Calculations for GRC Professionals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62865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4800" y="1085850"/>
            <a:ext cx="3708350" cy="4619625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5300" y="1276350"/>
            <a:ext cx="266700" cy="26670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95300" y="1657350"/>
            <a:ext cx="476250" cy="47625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57225" y="1819275"/>
            <a:ext cx="152400" cy="15240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241750" y="1085850"/>
            <a:ext cx="3708350" cy="4619625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432250" y="1276350"/>
            <a:ext cx="266700" cy="266700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432250" y="1657350"/>
            <a:ext cx="476250" cy="476250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622750" y="1819275"/>
            <a:ext cx="95250" cy="152400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178701" y="1085850"/>
            <a:ext cx="3708499" cy="4619625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8369201" y="1276350"/>
            <a:ext cx="266700" cy="266700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8369201" y="1657350"/>
            <a:ext cx="476250" cy="476250"/>
          </a:xfrm>
          <a:prstGeom prst="rect">
            <a:avLst/>
          </a:prstGeom>
        </p:spPr>
      </p:pic>
      <p:pic>
        <p:nvPicPr>
          <p:cNvPr id="15" name="Image 13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531126" y="1819275"/>
            <a:ext cx="152400" cy="152400"/>
          </a:xfrm>
          <a:prstGeom prst="rect">
            <a:avLst/>
          </a:prstGeom>
        </p:spPr>
      </p:pic>
      <p:pic>
        <p:nvPicPr>
          <p:cNvPr id="16" name="Image 14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304800" y="5819775"/>
            <a:ext cx="11582400" cy="504825"/>
          </a:xfrm>
          <a:prstGeom prst="rect">
            <a:avLst/>
          </a:prstGeom>
        </p:spPr>
      </p:pic>
      <p:pic>
        <p:nvPicPr>
          <p:cNvPr id="17" name="Image 15" descr="preencoded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419100" y="5934075"/>
            <a:ext cx="142875" cy="266700"/>
          </a:xfrm>
          <a:prstGeom prst="rect">
            <a:avLst/>
          </a:prstGeom>
        </p:spPr>
      </p:pic>
      <p:pic>
        <p:nvPicPr>
          <p:cNvPr id="18" name="Image 16" descr="preencoded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0" y="6515100"/>
            <a:ext cx="12192000" cy="342900"/>
          </a:xfrm>
          <a:prstGeom prst="rect">
            <a:avLst/>
          </a:prstGeom>
        </p:spPr>
      </p:pic>
      <p:sp>
        <p:nvSpPr>
          <p:cNvPr id="19" name="Text 0"/>
          <p:cNvSpPr/>
          <p:nvPr/>
        </p:nvSpPr>
        <p:spPr>
          <a:xfrm>
            <a:off x="238125" y="142875"/>
            <a:ext cx="117157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700"/>
              </a:lnSpc>
              <a:buNone/>
            </a:pPr>
            <a:r>
              <a:rPr lang="en-US" sz="2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Practical Examples &amp; Exercises</a:t>
            </a:r>
            <a:endParaRPr lang="en-US" sz="2250" dirty="0"/>
          </a:p>
        </p:txBody>
      </p:sp>
      <p:sp>
        <p:nvSpPr>
          <p:cNvPr id="20" name="Text 1"/>
          <p:cNvSpPr/>
          <p:nvPr/>
        </p:nvSpPr>
        <p:spPr>
          <a:xfrm>
            <a:off x="304800" y="781050"/>
            <a:ext cx="1389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Apply the risk calculation formulas to these real-world scenarios to reinforce your quantitative risk assessment skills.</a:t>
            </a:r>
            <a:endParaRPr lang="en-US" sz="1200" dirty="0"/>
          </a:p>
        </p:txBody>
      </p:sp>
      <p:sp>
        <p:nvSpPr>
          <p:cNvPr id="21" name="Text 2"/>
          <p:cNvSpPr/>
          <p:nvPr/>
        </p:nvSpPr>
        <p:spPr>
          <a:xfrm>
            <a:off x="586234" y="1276350"/>
            <a:ext cx="32004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200" dirty="0"/>
          </a:p>
        </p:txBody>
      </p:sp>
      <p:sp>
        <p:nvSpPr>
          <p:cNvPr id="22" name="Text 3"/>
          <p:cNvSpPr/>
          <p:nvPr/>
        </p:nvSpPr>
        <p:spPr>
          <a:xfrm>
            <a:off x="857250" y="1276350"/>
            <a:ext cx="2502813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66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Basic Phishing Metrics</a:t>
            </a:r>
            <a:endParaRPr lang="en-US" sz="1500" dirty="0"/>
          </a:p>
        </p:txBody>
      </p:sp>
      <p:sp>
        <p:nvSpPr>
          <p:cNvPr id="23" name="Text 4"/>
          <p:cNvSpPr/>
          <p:nvPr/>
        </p:nvSpPr>
        <p:spPr>
          <a:xfrm>
            <a:off x="1085850" y="1800225"/>
            <a:ext cx="2160627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b="1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Phishing Simulation Results</a:t>
            </a:r>
            <a:endParaRPr lang="en-US" sz="1050" dirty="0"/>
          </a:p>
        </p:txBody>
      </p:sp>
      <p:sp>
        <p:nvSpPr>
          <p:cNvPr id="24" name="Text 5"/>
          <p:cNvSpPr/>
          <p:nvPr/>
        </p:nvSpPr>
        <p:spPr>
          <a:xfrm>
            <a:off x="495300" y="2247900"/>
            <a:ext cx="399282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b="1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Scenario:</a:t>
            </a:r>
            <a:r>
              <a:rPr lang="en-US" sz="105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You send a phishing test to 500 employees.</a:t>
            </a:r>
            <a:endParaRPr lang="en-US" sz="1050" dirty="0"/>
          </a:p>
        </p:txBody>
      </p:sp>
      <p:sp>
        <p:nvSpPr>
          <p:cNvPr id="25" name="Text 6"/>
          <p:cNvSpPr/>
          <p:nvPr/>
        </p:nvSpPr>
        <p:spPr>
          <a:xfrm>
            <a:off x="647700" y="2514600"/>
            <a:ext cx="380994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400 open the email</a:t>
            </a:r>
            <a:endParaRPr lang="en-US" sz="1050" dirty="0"/>
          </a:p>
        </p:txBody>
      </p:sp>
      <p:sp>
        <p:nvSpPr>
          <p:cNvPr id="26" name="Text 7"/>
          <p:cNvSpPr/>
          <p:nvPr/>
        </p:nvSpPr>
        <p:spPr>
          <a:xfrm>
            <a:off x="647700" y="2705100"/>
            <a:ext cx="380994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250 click the link</a:t>
            </a:r>
            <a:endParaRPr lang="en-US" sz="1050" dirty="0"/>
          </a:p>
        </p:txBody>
      </p:sp>
      <p:sp>
        <p:nvSpPr>
          <p:cNvPr id="27" name="Text 8"/>
          <p:cNvSpPr/>
          <p:nvPr/>
        </p:nvSpPr>
        <p:spPr>
          <a:xfrm>
            <a:off x="647700" y="2895600"/>
            <a:ext cx="380994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75 submit credentials</a:t>
            </a:r>
            <a:endParaRPr lang="en-US" sz="1050" dirty="0"/>
          </a:p>
        </p:txBody>
      </p:sp>
      <p:sp>
        <p:nvSpPr>
          <p:cNvPr id="28" name="Text 9"/>
          <p:cNvSpPr/>
          <p:nvPr/>
        </p:nvSpPr>
        <p:spPr>
          <a:xfrm>
            <a:off x="495300" y="3295650"/>
            <a:ext cx="764917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b="1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Calculate:</a:t>
            </a:r>
            <a:endParaRPr lang="en-US" sz="1050" dirty="0"/>
          </a:p>
        </p:txBody>
      </p:sp>
      <p:sp>
        <p:nvSpPr>
          <p:cNvPr id="29" name="Text 10"/>
          <p:cNvSpPr/>
          <p:nvPr/>
        </p:nvSpPr>
        <p:spPr>
          <a:xfrm>
            <a:off x="590550" y="3543300"/>
            <a:ext cx="960120" cy="2589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40"/>
              </a:lnSpc>
              <a:buNone/>
            </a:pPr>
            <a:r>
              <a:rPr lang="en-US" sz="960" b="1" dirty="0">
                <a:solidFill>
                  <a:srgbClr val="36454F"/>
                </a:solidFill>
                <a:highlight>
                  <a:srgbClr val="D3D3D3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Open Rate</a:t>
            </a:r>
            <a:endParaRPr lang="en-US" sz="960" dirty="0"/>
          </a:p>
        </p:txBody>
      </p:sp>
      <p:sp>
        <p:nvSpPr>
          <p:cNvPr id="30" name="Text 11"/>
          <p:cNvSpPr/>
          <p:nvPr/>
        </p:nvSpPr>
        <p:spPr>
          <a:xfrm>
            <a:off x="1480691" y="3543300"/>
            <a:ext cx="1577697" cy="2589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40"/>
              </a:lnSpc>
              <a:buNone/>
            </a:pPr>
            <a:r>
              <a:rPr lang="en-US" sz="960" b="1" dirty="0">
                <a:solidFill>
                  <a:srgbClr val="36454F"/>
                </a:solidFill>
                <a:highlight>
                  <a:srgbClr val="D3D3D3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Click-Through Rate</a:t>
            </a:r>
            <a:endParaRPr lang="en-US" sz="960" dirty="0"/>
          </a:p>
        </p:txBody>
      </p:sp>
      <p:sp>
        <p:nvSpPr>
          <p:cNvPr id="31" name="Text 12"/>
          <p:cNvSpPr/>
          <p:nvPr/>
        </p:nvSpPr>
        <p:spPr>
          <a:xfrm>
            <a:off x="590550" y="3849886"/>
            <a:ext cx="1301591" cy="2589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40"/>
              </a:lnSpc>
              <a:buNone/>
            </a:pPr>
            <a:r>
              <a:rPr lang="en-US" sz="960" b="1" dirty="0">
                <a:solidFill>
                  <a:srgbClr val="36454F"/>
                </a:solidFill>
                <a:highlight>
                  <a:srgbClr val="D3D3D3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Credential Rate</a:t>
            </a:r>
            <a:endParaRPr lang="en-US" sz="960" dirty="0"/>
          </a:p>
        </p:txBody>
      </p:sp>
      <p:sp>
        <p:nvSpPr>
          <p:cNvPr id="32" name="Text 13"/>
          <p:cNvSpPr/>
          <p:nvPr/>
        </p:nvSpPr>
        <p:spPr>
          <a:xfrm>
            <a:off x="1765250" y="3849886"/>
            <a:ext cx="1187648" cy="2589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40"/>
              </a:lnSpc>
              <a:buNone/>
            </a:pPr>
            <a:r>
              <a:rPr lang="en-US" sz="960" b="1" dirty="0">
                <a:solidFill>
                  <a:srgbClr val="36454F"/>
                </a:solidFill>
                <a:highlight>
                  <a:srgbClr val="D3D3D3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Open-to-Click</a:t>
            </a:r>
            <a:endParaRPr lang="en-US" sz="960" dirty="0"/>
          </a:p>
        </p:txBody>
      </p:sp>
      <p:sp>
        <p:nvSpPr>
          <p:cNvPr id="33" name="Text 14"/>
          <p:cNvSpPr/>
          <p:nvPr/>
        </p:nvSpPr>
        <p:spPr>
          <a:xfrm>
            <a:off x="1529060" y="5362575"/>
            <a:ext cx="2752308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200"/>
              </a:lnSpc>
              <a:buNone/>
            </a:pPr>
            <a:r>
              <a:rPr lang="en-US" sz="90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Solution: Open Rate = 80%, CTR = 50%, etc.</a:t>
            </a:r>
            <a:endParaRPr lang="en-US" sz="900" dirty="0"/>
          </a:p>
        </p:txBody>
      </p:sp>
      <p:sp>
        <p:nvSpPr>
          <p:cNvPr id="34" name="Text 15"/>
          <p:cNvSpPr/>
          <p:nvPr/>
        </p:nvSpPr>
        <p:spPr>
          <a:xfrm>
            <a:off x="4523184" y="1276350"/>
            <a:ext cx="32004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  <p:sp>
        <p:nvSpPr>
          <p:cNvPr id="35" name="Text 16"/>
          <p:cNvSpPr/>
          <p:nvPr/>
        </p:nvSpPr>
        <p:spPr>
          <a:xfrm>
            <a:off x="4794200" y="1276350"/>
            <a:ext cx="179129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66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Financial Impact</a:t>
            </a:r>
            <a:endParaRPr lang="en-US" sz="1500" dirty="0"/>
          </a:p>
        </p:txBody>
      </p:sp>
      <p:sp>
        <p:nvSpPr>
          <p:cNvPr id="36" name="Text 17"/>
          <p:cNvSpPr/>
          <p:nvPr/>
        </p:nvSpPr>
        <p:spPr>
          <a:xfrm>
            <a:off x="5022800" y="1800225"/>
            <a:ext cx="131641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b="1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Breach Risk</a:t>
            </a:r>
            <a:endParaRPr lang="en-US" sz="1050" dirty="0"/>
          </a:p>
        </p:txBody>
      </p:sp>
      <p:sp>
        <p:nvSpPr>
          <p:cNvPr id="37" name="Text 18"/>
          <p:cNvSpPr/>
          <p:nvPr/>
        </p:nvSpPr>
        <p:spPr>
          <a:xfrm>
            <a:off x="4432250" y="2247900"/>
            <a:ext cx="33273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b="1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Scenario:</a:t>
            </a:r>
            <a:r>
              <a:rPr lang="en-US" sz="105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Company with 5,000 employees has a phishing credential rate of 12%.</a:t>
            </a:r>
            <a:endParaRPr lang="en-US" sz="1050" dirty="0"/>
          </a:p>
        </p:txBody>
      </p:sp>
      <p:sp>
        <p:nvSpPr>
          <p:cNvPr id="38" name="Text 19"/>
          <p:cNvSpPr/>
          <p:nvPr/>
        </p:nvSpPr>
        <p:spPr>
          <a:xfrm>
            <a:off x="4584650" y="2705100"/>
            <a:ext cx="380994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per data breach: $8,000,000</a:t>
            </a:r>
            <a:endParaRPr lang="en-US" sz="1050" dirty="0"/>
          </a:p>
        </p:txBody>
      </p:sp>
      <p:sp>
        <p:nvSpPr>
          <p:cNvPr id="39" name="Text 20"/>
          <p:cNvSpPr/>
          <p:nvPr/>
        </p:nvSpPr>
        <p:spPr>
          <a:xfrm>
            <a:off x="4584650" y="2895600"/>
            <a:ext cx="380994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Probability of breach if credentials stolen: 30%</a:t>
            </a:r>
            <a:endParaRPr lang="en-US" sz="1050" dirty="0"/>
          </a:p>
        </p:txBody>
      </p:sp>
      <p:sp>
        <p:nvSpPr>
          <p:cNvPr id="40" name="Text 21"/>
          <p:cNvSpPr/>
          <p:nvPr/>
        </p:nvSpPr>
        <p:spPr>
          <a:xfrm>
            <a:off x="4432250" y="3295650"/>
            <a:ext cx="764917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b="1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Calculate:</a:t>
            </a:r>
            <a:endParaRPr lang="en-US" sz="1050" dirty="0"/>
          </a:p>
        </p:txBody>
      </p:sp>
      <p:sp>
        <p:nvSpPr>
          <p:cNvPr id="41" name="Text 22"/>
          <p:cNvSpPr/>
          <p:nvPr/>
        </p:nvSpPr>
        <p:spPr>
          <a:xfrm>
            <a:off x="4527500" y="3543300"/>
            <a:ext cx="2065615" cy="2589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40"/>
              </a:lnSpc>
              <a:buNone/>
            </a:pPr>
            <a:r>
              <a:rPr lang="en-US" sz="960" b="1" dirty="0">
                <a:solidFill>
                  <a:srgbClr val="36454F"/>
                </a:solidFill>
                <a:highlight>
                  <a:srgbClr val="D3D3D3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Projected credential thefts</a:t>
            </a:r>
            <a:endParaRPr lang="en-US" sz="960" dirty="0"/>
          </a:p>
        </p:txBody>
      </p:sp>
      <p:sp>
        <p:nvSpPr>
          <p:cNvPr id="42" name="Text 23"/>
          <p:cNvSpPr/>
          <p:nvPr/>
        </p:nvSpPr>
        <p:spPr>
          <a:xfrm>
            <a:off x="4527500" y="3849886"/>
            <a:ext cx="2171879" cy="2589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40"/>
              </a:lnSpc>
              <a:buNone/>
            </a:pPr>
            <a:r>
              <a:rPr lang="en-US" sz="960" b="1" dirty="0">
                <a:solidFill>
                  <a:srgbClr val="36454F"/>
                </a:solidFill>
                <a:highlight>
                  <a:srgbClr val="D3D3D3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Expected breaches per year</a:t>
            </a:r>
            <a:endParaRPr lang="en-US" sz="960" dirty="0"/>
          </a:p>
        </p:txBody>
      </p:sp>
      <p:sp>
        <p:nvSpPr>
          <p:cNvPr id="43" name="Text 24"/>
          <p:cNvSpPr/>
          <p:nvPr/>
        </p:nvSpPr>
        <p:spPr>
          <a:xfrm>
            <a:off x="4527500" y="4156472"/>
            <a:ext cx="2244566" cy="2589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40"/>
              </a:lnSpc>
              <a:buNone/>
            </a:pPr>
            <a:r>
              <a:rPr lang="en-US" sz="960" b="1" dirty="0">
                <a:solidFill>
                  <a:srgbClr val="36454F"/>
                </a:solidFill>
                <a:highlight>
                  <a:srgbClr val="D3D3D3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Annualized Loss Expectancy</a:t>
            </a:r>
            <a:endParaRPr lang="en-US" sz="960" dirty="0"/>
          </a:p>
        </p:txBody>
      </p:sp>
      <p:sp>
        <p:nvSpPr>
          <p:cNvPr id="44" name="Text 25"/>
          <p:cNvSpPr/>
          <p:nvPr/>
        </p:nvSpPr>
        <p:spPr>
          <a:xfrm>
            <a:off x="6305252" y="5362575"/>
            <a:ext cx="1745218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200"/>
              </a:lnSpc>
              <a:buNone/>
            </a:pPr>
            <a:r>
              <a:rPr lang="en-US" sz="90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Solution: ALE = $14,400,000</a:t>
            </a:r>
            <a:endParaRPr lang="en-US" sz="900" dirty="0"/>
          </a:p>
        </p:txBody>
      </p:sp>
      <p:sp>
        <p:nvSpPr>
          <p:cNvPr id="45" name="Text 26"/>
          <p:cNvSpPr/>
          <p:nvPr/>
        </p:nvSpPr>
        <p:spPr>
          <a:xfrm>
            <a:off x="8460135" y="1276350"/>
            <a:ext cx="32004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00" dirty="0"/>
          </a:p>
        </p:txBody>
      </p:sp>
      <p:sp>
        <p:nvSpPr>
          <p:cNvPr id="46" name="Text 27"/>
          <p:cNvSpPr/>
          <p:nvPr/>
        </p:nvSpPr>
        <p:spPr>
          <a:xfrm>
            <a:off x="8731151" y="1276350"/>
            <a:ext cx="2222599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66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Control Justification</a:t>
            </a:r>
            <a:endParaRPr lang="en-US" sz="1500" dirty="0"/>
          </a:p>
        </p:txBody>
      </p:sp>
      <p:sp>
        <p:nvSpPr>
          <p:cNvPr id="47" name="Text 28"/>
          <p:cNvSpPr/>
          <p:nvPr/>
        </p:nvSpPr>
        <p:spPr>
          <a:xfrm>
            <a:off x="8959751" y="1800225"/>
            <a:ext cx="207418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b="1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Multi-Factor Authentication</a:t>
            </a:r>
            <a:endParaRPr lang="en-US" sz="1050" dirty="0"/>
          </a:p>
        </p:txBody>
      </p:sp>
      <p:sp>
        <p:nvSpPr>
          <p:cNvPr id="48" name="Text 29"/>
          <p:cNvSpPr/>
          <p:nvPr/>
        </p:nvSpPr>
        <p:spPr>
          <a:xfrm>
            <a:off x="8369201" y="2247900"/>
            <a:ext cx="3992999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b="1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Scenario:</a:t>
            </a:r>
            <a:r>
              <a:rPr lang="en-US" sz="105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Current ALE is $15,000,000.</a:t>
            </a:r>
            <a:endParaRPr lang="en-US" sz="1050" dirty="0"/>
          </a:p>
        </p:txBody>
      </p:sp>
      <p:sp>
        <p:nvSpPr>
          <p:cNvPr id="49" name="Text 30"/>
          <p:cNvSpPr/>
          <p:nvPr/>
        </p:nvSpPr>
        <p:spPr>
          <a:xfrm>
            <a:off x="8521601" y="2514600"/>
            <a:ext cx="3810119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Proposed MFA Cost: $250,000</a:t>
            </a:r>
            <a:endParaRPr lang="en-US" sz="1050" dirty="0"/>
          </a:p>
        </p:txBody>
      </p:sp>
      <p:sp>
        <p:nvSpPr>
          <p:cNvPr id="50" name="Text 31"/>
          <p:cNvSpPr/>
          <p:nvPr/>
        </p:nvSpPr>
        <p:spPr>
          <a:xfrm>
            <a:off x="8521601" y="2705100"/>
            <a:ext cx="3810119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MFA Effectiveness: 99.9%</a:t>
            </a:r>
            <a:endParaRPr lang="en-US" sz="1050" dirty="0"/>
          </a:p>
        </p:txBody>
      </p:sp>
      <p:sp>
        <p:nvSpPr>
          <p:cNvPr id="51" name="Text 32"/>
          <p:cNvSpPr/>
          <p:nvPr/>
        </p:nvSpPr>
        <p:spPr>
          <a:xfrm>
            <a:off x="8369201" y="3105150"/>
            <a:ext cx="764917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b="1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Calculate:</a:t>
            </a:r>
            <a:endParaRPr lang="en-US" sz="1050" dirty="0"/>
          </a:p>
        </p:txBody>
      </p:sp>
      <p:sp>
        <p:nvSpPr>
          <p:cNvPr id="52" name="Text 33"/>
          <p:cNvSpPr/>
          <p:nvPr/>
        </p:nvSpPr>
        <p:spPr>
          <a:xfrm>
            <a:off x="8464451" y="3352800"/>
            <a:ext cx="1539657" cy="2589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40"/>
              </a:lnSpc>
              <a:buNone/>
            </a:pPr>
            <a:r>
              <a:rPr lang="en-US" sz="960" b="1" dirty="0">
                <a:solidFill>
                  <a:srgbClr val="36454F"/>
                </a:solidFill>
                <a:highlight>
                  <a:srgbClr val="D3D3D3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New ALE with MFA</a:t>
            </a:r>
            <a:endParaRPr lang="en-US" sz="960" dirty="0"/>
          </a:p>
        </p:txBody>
      </p:sp>
      <p:sp>
        <p:nvSpPr>
          <p:cNvPr id="53" name="Text 34"/>
          <p:cNvSpPr/>
          <p:nvPr/>
        </p:nvSpPr>
        <p:spPr>
          <a:xfrm>
            <a:off x="9837539" y="3352800"/>
            <a:ext cx="1293376" cy="2589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40"/>
              </a:lnSpc>
              <a:buNone/>
            </a:pPr>
            <a:r>
              <a:rPr lang="en-US" sz="960" b="1" dirty="0">
                <a:solidFill>
                  <a:srgbClr val="36454F"/>
                </a:solidFill>
                <a:highlight>
                  <a:srgbClr val="D3D3D3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Risk Reduction</a:t>
            </a:r>
            <a:endParaRPr lang="en-US" sz="960" dirty="0"/>
          </a:p>
        </p:txBody>
      </p:sp>
      <p:sp>
        <p:nvSpPr>
          <p:cNvPr id="54" name="Text 35"/>
          <p:cNvSpPr/>
          <p:nvPr/>
        </p:nvSpPr>
        <p:spPr>
          <a:xfrm>
            <a:off x="11005393" y="3352800"/>
            <a:ext cx="488811" cy="2589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40"/>
              </a:lnSpc>
              <a:buNone/>
            </a:pPr>
            <a:r>
              <a:rPr lang="en-US" sz="960" b="1" dirty="0">
                <a:solidFill>
                  <a:srgbClr val="36454F"/>
                </a:solidFill>
                <a:highlight>
                  <a:srgbClr val="D3D3D3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ROI</a:t>
            </a:r>
            <a:endParaRPr lang="en-US" sz="960" dirty="0"/>
          </a:p>
        </p:txBody>
      </p:sp>
      <p:sp>
        <p:nvSpPr>
          <p:cNvPr id="55" name="Text 36"/>
          <p:cNvSpPr/>
          <p:nvPr/>
        </p:nvSpPr>
        <p:spPr>
          <a:xfrm>
            <a:off x="10498931" y="5362575"/>
            <a:ext cx="1437323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200"/>
              </a:lnSpc>
              <a:buNone/>
            </a:pPr>
            <a:r>
              <a:rPr lang="en-US" sz="90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Solution: ROI = 5,900%</a:t>
            </a:r>
            <a:endParaRPr lang="en-US" sz="900" dirty="0"/>
          </a:p>
        </p:txBody>
      </p:sp>
      <p:sp>
        <p:nvSpPr>
          <p:cNvPr id="56" name="Text 37"/>
          <p:cNvSpPr/>
          <p:nvPr/>
        </p:nvSpPr>
        <p:spPr>
          <a:xfrm>
            <a:off x="676275" y="5976938"/>
            <a:ext cx="8043327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b="1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Tip:</a:t>
            </a:r>
            <a:r>
              <a:rPr lang="en-US" sz="105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Use a calculator for these exercises. Practice until you can perform these calculations quickly and accurately.</a:t>
            </a:r>
            <a:endParaRPr lang="en-US" sz="1050" dirty="0"/>
          </a:p>
        </p:txBody>
      </p:sp>
      <p:sp>
        <p:nvSpPr>
          <p:cNvPr id="57" name="Text 38"/>
          <p:cNvSpPr/>
          <p:nvPr/>
        </p:nvSpPr>
        <p:spPr>
          <a:xfrm>
            <a:off x="190500" y="6591300"/>
            <a:ext cx="3762077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Quantitative Risk Calculations for GRC Professionals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62865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4800" y="857250"/>
            <a:ext cx="5638800" cy="542925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5300" y="1085850"/>
            <a:ext cx="228600" cy="22860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95300" y="1504950"/>
            <a:ext cx="5257800" cy="171450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95300" y="3371850"/>
            <a:ext cx="5257800" cy="41910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09600" y="3514725"/>
            <a:ext cx="133350" cy="133350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48400" y="857250"/>
            <a:ext cx="5638800" cy="5429250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438900" y="1085850"/>
            <a:ext cx="228600" cy="228600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438900" y="1504950"/>
            <a:ext cx="5257800" cy="1714500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0" y="6515100"/>
            <a:ext cx="12192000" cy="342900"/>
          </a:xfrm>
          <a:prstGeom prst="rect">
            <a:avLst/>
          </a:prstGeom>
        </p:spPr>
      </p:pic>
      <p:sp>
        <p:nvSpPr>
          <p:cNvPr id="13" name="Text 0"/>
          <p:cNvSpPr/>
          <p:nvPr/>
        </p:nvSpPr>
        <p:spPr>
          <a:xfrm>
            <a:off x="238125" y="142875"/>
            <a:ext cx="117157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700"/>
              </a:lnSpc>
              <a:buNone/>
            </a:pPr>
            <a:r>
              <a:rPr lang="en-US" sz="2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Real-World Industry Benchmarks</a:t>
            </a:r>
            <a:endParaRPr lang="en-US" sz="2250" dirty="0"/>
          </a:p>
        </p:txBody>
      </p:sp>
      <p:sp>
        <p:nvSpPr>
          <p:cNvPr id="14" name="Text 1"/>
          <p:cNvSpPr/>
          <p:nvPr/>
        </p:nvSpPr>
        <p:spPr>
          <a:xfrm>
            <a:off x="800100" y="1047750"/>
            <a:ext cx="630936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Average Phishing Rates (2024 Data)</a:t>
            </a:r>
            <a:endParaRPr lang="en-US" sz="1800" dirty="0"/>
          </a:p>
        </p:txBody>
      </p:sp>
      <p:sp>
        <p:nvSpPr>
          <p:cNvPr id="15" name="Text 2"/>
          <p:cNvSpPr/>
          <p:nvPr/>
        </p:nvSpPr>
        <p:spPr>
          <a:xfrm>
            <a:off x="819150" y="3486150"/>
            <a:ext cx="2935367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3645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Breach Cost: </a:t>
            </a:r>
            <a:r>
              <a:rPr lang="en-US" sz="1050" b="1" dirty="0">
                <a:solidFill>
                  <a:srgbClr val="3645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$4.45 million</a:t>
            </a:r>
            <a:r>
              <a:rPr lang="en-US" sz="1050" dirty="0">
                <a:solidFill>
                  <a:srgbClr val="3645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average</a:t>
            </a:r>
            <a:endParaRPr lang="en-US" sz="1050" dirty="0"/>
          </a:p>
        </p:txBody>
      </p:sp>
      <p:sp>
        <p:nvSpPr>
          <p:cNvPr id="16" name="Text 3"/>
          <p:cNvSpPr/>
          <p:nvPr/>
        </p:nvSpPr>
        <p:spPr>
          <a:xfrm>
            <a:off x="495300" y="3943350"/>
            <a:ext cx="52578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i="1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2024 industry reports</a:t>
            </a:r>
            <a:endParaRPr lang="en-US" sz="1050" dirty="0"/>
          </a:p>
        </p:txBody>
      </p:sp>
      <p:sp>
        <p:nvSpPr>
          <p:cNvPr id="17" name="Text 4"/>
          <p:cNvSpPr/>
          <p:nvPr/>
        </p:nvSpPr>
        <p:spPr>
          <a:xfrm>
            <a:off x="6743700" y="1047750"/>
            <a:ext cx="630936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Control Effectiveness Benchmarks</a:t>
            </a:r>
            <a:endParaRPr lang="en-US" sz="1800" dirty="0"/>
          </a:p>
        </p:txBody>
      </p:sp>
      <p:sp>
        <p:nvSpPr>
          <p:cNvPr id="18" name="Text 5"/>
          <p:cNvSpPr/>
          <p:nvPr/>
        </p:nvSpPr>
        <p:spPr>
          <a:xfrm>
            <a:off x="6438900" y="3371850"/>
            <a:ext cx="630936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i="1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Independent security research</a:t>
            </a:r>
            <a:endParaRPr lang="en-US" sz="1050" dirty="0"/>
          </a:p>
        </p:txBody>
      </p:sp>
      <p:sp>
        <p:nvSpPr>
          <p:cNvPr id="19" name="Text 6"/>
          <p:cNvSpPr/>
          <p:nvPr/>
        </p:nvSpPr>
        <p:spPr>
          <a:xfrm>
            <a:off x="190500" y="6591300"/>
            <a:ext cx="3762077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Quantitative Risk Calculations for GRC Professionals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62865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38125" y="171450"/>
            <a:ext cx="285750" cy="28575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1000" y="857250"/>
            <a:ext cx="5600700" cy="140970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1500" y="1047750"/>
            <a:ext cx="571500" cy="57150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14375" y="1181100"/>
            <a:ext cx="285750" cy="30480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10300" y="857250"/>
            <a:ext cx="5600700" cy="1409700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400800" y="1047750"/>
            <a:ext cx="571500" cy="571500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572250" y="1181100"/>
            <a:ext cx="228600" cy="304800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81000" y="2495550"/>
            <a:ext cx="5600700" cy="1181100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71500" y="2686050"/>
            <a:ext cx="571500" cy="571500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42950" y="2819400"/>
            <a:ext cx="228600" cy="304800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210300" y="2495550"/>
            <a:ext cx="5600700" cy="1181100"/>
          </a:xfrm>
          <a:prstGeom prst="rect">
            <a:avLst/>
          </a:prstGeom>
        </p:spPr>
      </p:pic>
      <p:pic>
        <p:nvPicPr>
          <p:cNvPr id="15" name="Image 13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400800" y="2686050"/>
            <a:ext cx="571500" cy="571500"/>
          </a:xfrm>
          <a:prstGeom prst="rect">
            <a:avLst/>
          </a:prstGeom>
        </p:spPr>
      </p:pic>
      <p:pic>
        <p:nvPicPr>
          <p:cNvPr id="16" name="Image 14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572250" y="2819400"/>
            <a:ext cx="228600" cy="304800"/>
          </a:xfrm>
          <a:prstGeom prst="rect">
            <a:avLst/>
          </a:prstGeom>
        </p:spPr>
      </p:pic>
      <p:pic>
        <p:nvPicPr>
          <p:cNvPr id="17" name="Image 15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381000" y="3905250"/>
            <a:ext cx="11430000" cy="1181100"/>
          </a:xfrm>
          <a:prstGeom prst="rect">
            <a:avLst/>
          </a:prstGeom>
        </p:spPr>
      </p:pic>
      <p:pic>
        <p:nvPicPr>
          <p:cNvPr id="18" name="Image 16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1500" y="4095750"/>
            <a:ext cx="571500" cy="571500"/>
          </a:xfrm>
          <a:prstGeom prst="rect">
            <a:avLst/>
          </a:prstGeom>
        </p:spPr>
      </p:pic>
      <p:pic>
        <p:nvPicPr>
          <p:cNvPr id="19" name="Image 17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742950" y="4229100"/>
            <a:ext cx="228600" cy="304800"/>
          </a:xfrm>
          <a:prstGeom prst="rect">
            <a:avLst/>
          </a:prstGeom>
        </p:spPr>
      </p:pic>
      <p:pic>
        <p:nvPicPr>
          <p:cNvPr id="20" name="Image 18" descr="preencoded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0" y="6515100"/>
            <a:ext cx="12192000" cy="342900"/>
          </a:xfrm>
          <a:prstGeom prst="rect">
            <a:avLst/>
          </a:prstGeom>
        </p:spPr>
      </p:pic>
      <p:sp>
        <p:nvSpPr>
          <p:cNvPr id="21" name="Text 0"/>
          <p:cNvSpPr/>
          <p:nvPr/>
        </p:nvSpPr>
        <p:spPr>
          <a:xfrm>
            <a:off x="638175" y="142875"/>
            <a:ext cx="117157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700"/>
              </a:lnSpc>
              <a:buNone/>
            </a:pPr>
            <a:r>
              <a:rPr lang="en-US" sz="2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Mistakes to Avoid</a:t>
            </a:r>
            <a:endParaRPr lang="en-US" sz="2250" dirty="0"/>
          </a:p>
        </p:txBody>
      </p:sp>
      <p:sp>
        <p:nvSpPr>
          <p:cNvPr id="22" name="Text 1"/>
          <p:cNvSpPr/>
          <p:nvPr/>
        </p:nvSpPr>
        <p:spPr>
          <a:xfrm>
            <a:off x="1285875" y="1047750"/>
            <a:ext cx="540639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B9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Sample Size Too Small</a:t>
            </a:r>
            <a:endParaRPr lang="en-US" sz="1500" dirty="0"/>
          </a:p>
        </p:txBody>
      </p:sp>
      <p:sp>
        <p:nvSpPr>
          <p:cNvPr id="23" name="Text 2"/>
          <p:cNvSpPr/>
          <p:nvPr/>
        </p:nvSpPr>
        <p:spPr>
          <a:xfrm>
            <a:off x="1285875" y="1390650"/>
            <a:ext cx="450532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Drawing conclusions about a large population from an insufficient sample. Testing 50 people doesn't represent 5,000 employees.</a:t>
            </a:r>
            <a:endParaRPr lang="en-US" sz="1200" dirty="0"/>
          </a:p>
        </p:txBody>
      </p:sp>
      <p:sp>
        <p:nvSpPr>
          <p:cNvPr id="24" name="Text 3"/>
          <p:cNvSpPr/>
          <p:nvPr/>
        </p:nvSpPr>
        <p:spPr>
          <a:xfrm>
            <a:off x="7115175" y="1047750"/>
            <a:ext cx="540639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B9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Ignoring Statistical Significance</a:t>
            </a:r>
            <a:endParaRPr lang="en-US" sz="1500" dirty="0"/>
          </a:p>
        </p:txBody>
      </p:sp>
      <p:sp>
        <p:nvSpPr>
          <p:cNvPr id="25" name="Text 4"/>
          <p:cNvSpPr/>
          <p:nvPr/>
        </p:nvSpPr>
        <p:spPr>
          <a:xfrm>
            <a:off x="7115175" y="1390650"/>
            <a:ext cx="450532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Small variations might be random chance. Understand when results are statistically significant to avoid decisions based on noise.</a:t>
            </a:r>
            <a:endParaRPr lang="en-US" sz="1200" dirty="0"/>
          </a:p>
        </p:txBody>
      </p:sp>
      <p:sp>
        <p:nvSpPr>
          <p:cNvPr id="26" name="Text 5"/>
          <p:cNvSpPr/>
          <p:nvPr/>
        </p:nvSpPr>
        <p:spPr>
          <a:xfrm>
            <a:off x="1285875" y="2686050"/>
            <a:ext cx="540639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B9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Overestimating Control Effectiveness</a:t>
            </a:r>
            <a:endParaRPr lang="en-US" sz="1500" dirty="0"/>
          </a:p>
        </p:txBody>
      </p:sp>
      <p:sp>
        <p:nvSpPr>
          <p:cNvPr id="27" name="Text 6"/>
          <p:cNvSpPr/>
          <p:nvPr/>
        </p:nvSpPr>
        <p:spPr>
          <a:xfrm>
            <a:off x="1285875" y="3028950"/>
            <a:ext cx="450532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security control is 100% effective. Assuming perfect effectiveness can lead to underestimation of residual risk.</a:t>
            </a:r>
            <a:endParaRPr lang="en-US" sz="1200" dirty="0"/>
          </a:p>
        </p:txBody>
      </p:sp>
      <p:sp>
        <p:nvSpPr>
          <p:cNvPr id="28" name="Text 7"/>
          <p:cNvSpPr/>
          <p:nvPr/>
        </p:nvSpPr>
        <p:spPr>
          <a:xfrm>
            <a:off x="7115175" y="2686050"/>
            <a:ext cx="540639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B9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Forgetting Ongoing Costs</a:t>
            </a:r>
            <a:endParaRPr lang="en-US" sz="1500" dirty="0"/>
          </a:p>
        </p:txBody>
      </p:sp>
      <p:sp>
        <p:nvSpPr>
          <p:cNvPr id="29" name="Text 8"/>
          <p:cNvSpPr/>
          <p:nvPr/>
        </p:nvSpPr>
        <p:spPr>
          <a:xfrm>
            <a:off x="7115175" y="3028950"/>
            <a:ext cx="450532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Security investments require refreshers and renewals. Training needs updates, and software licenses need renewal.</a:t>
            </a:r>
            <a:endParaRPr lang="en-US" sz="1200" dirty="0"/>
          </a:p>
        </p:txBody>
      </p:sp>
      <p:sp>
        <p:nvSpPr>
          <p:cNvPr id="30" name="Text 9"/>
          <p:cNvSpPr/>
          <p:nvPr/>
        </p:nvSpPr>
        <p:spPr>
          <a:xfrm>
            <a:off x="1285875" y="4095750"/>
            <a:ext cx="103346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B9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Underestimating Indirect Costs</a:t>
            </a:r>
            <a:endParaRPr lang="en-US" sz="1500" dirty="0"/>
          </a:p>
        </p:txBody>
      </p:sp>
      <p:sp>
        <p:nvSpPr>
          <p:cNvPr id="31" name="Text 10"/>
          <p:cNvSpPr/>
          <p:nvPr/>
        </p:nvSpPr>
        <p:spPr>
          <a:xfrm>
            <a:off x="1285875" y="4438650"/>
            <a:ext cx="1033462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Financial impact extends beyond direct costs. Reputation damage, stock price impact, and customer churn can amount to millions and affect companies long after a breach.</a:t>
            </a:r>
            <a:endParaRPr lang="en-US" sz="1200" dirty="0"/>
          </a:p>
        </p:txBody>
      </p:sp>
      <p:sp>
        <p:nvSpPr>
          <p:cNvPr id="32" name="Text 11"/>
          <p:cNvSpPr/>
          <p:nvPr/>
        </p:nvSpPr>
        <p:spPr>
          <a:xfrm>
            <a:off x="190500" y="6591300"/>
            <a:ext cx="3762077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Quantitative Risk Calculations for GRC Professionals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62865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8600" y="781050"/>
            <a:ext cx="5753100" cy="565785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1000" y="971550"/>
            <a:ext cx="171450" cy="19050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81000" y="1314450"/>
            <a:ext cx="5448300" cy="100965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81000" y="2438400"/>
            <a:ext cx="5448300" cy="100965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81000" y="3562350"/>
            <a:ext cx="5448300" cy="590550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81000" y="4267200"/>
            <a:ext cx="5448300" cy="800100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10300" y="781050"/>
            <a:ext cx="5753100" cy="5657850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362700" y="971550"/>
            <a:ext cx="190500" cy="190500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362700" y="1314450"/>
            <a:ext cx="5448300" cy="342900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477000" y="1419225"/>
            <a:ext cx="133350" cy="133350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362700" y="1733550"/>
            <a:ext cx="5448300" cy="342900"/>
          </a:xfrm>
          <a:prstGeom prst="rect">
            <a:avLst/>
          </a:prstGeom>
        </p:spPr>
      </p:pic>
      <p:pic>
        <p:nvPicPr>
          <p:cNvPr id="15" name="Image 13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477000" y="1838325"/>
            <a:ext cx="133350" cy="133350"/>
          </a:xfrm>
          <a:prstGeom prst="rect">
            <a:avLst/>
          </a:prstGeom>
        </p:spPr>
      </p:pic>
      <p:pic>
        <p:nvPicPr>
          <p:cNvPr id="16" name="Image 14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362700" y="2152650"/>
            <a:ext cx="5448300" cy="342900"/>
          </a:xfrm>
          <a:prstGeom prst="rect">
            <a:avLst/>
          </a:prstGeom>
        </p:spPr>
      </p:pic>
      <p:pic>
        <p:nvPicPr>
          <p:cNvPr id="17" name="Image 15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477000" y="2257425"/>
            <a:ext cx="133350" cy="133350"/>
          </a:xfrm>
          <a:prstGeom prst="rect">
            <a:avLst/>
          </a:prstGeom>
        </p:spPr>
      </p:pic>
      <p:pic>
        <p:nvPicPr>
          <p:cNvPr id="18" name="Image 16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362700" y="2571750"/>
            <a:ext cx="5448300" cy="342900"/>
          </a:xfrm>
          <a:prstGeom prst="rect">
            <a:avLst/>
          </a:prstGeom>
        </p:spPr>
      </p:pic>
      <p:pic>
        <p:nvPicPr>
          <p:cNvPr id="19" name="Image 17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477000" y="2676525"/>
            <a:ext cx="133350" cy="133350"/>
          </a:xfrm>
          <a:prstGeom prst="rect">
            <a:avLst/>
          </a:prstGeom>
        </p:spPr>
      </p:pic>
      <p:pic>
        <p:nvPicPr>
          <p:cNvPr id="20" name="Image 1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362700" y="2990850"/>
            <a:ext cx="5448300" cy="342900"/>
          </a:xfrm>
          <a:prstGeom prst="rect">
            <a:avLst/>
          </a:prstGeom>
        </p:spPr>
      </p:pic>
      <p:pic>
        <p:nvPicPr>
          <p:cNvPr id="21" name="Image 19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477000" y="3095625"/>
            <a:ext cx="133350" cy="133350"/>
          </a:xfrm>
          <a:prstGeom prst="rect">
            <a:avLst/>
          </a:prstGeom>
        </p:spPr>
      </p:pic>
      <p:pic>
        <p:nvPicPr>
          <p:cNvPr id="22" name="Image 20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362700" y="3409950"/>
            <a:ext cx="5448300" cy="342900"/>
          </a:xfrm>
          <a:prstGeom prst="rect">
            <a:avLst/>
          </a:prstGeom>
        </p:spPr>
      </p:pic>
      <p:pic>
        <p:nvPicPr>
          <p:cNvPr id="23" name="Image 21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477000" y="3514725"/>
            <a:ext cx="133350" cy="133350"/>
          </a:xfrm>
          <a:prstGeom prst="rect">
            <a:avLst/>
          </a:prstGeom>
        </p:spPr>
      </p:pic>
      <p:pic>
        <p:nvPicPr>
          <p:cNvPr id="24" name="Image 22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362700" y="3829050"/>
            <a:ext cx="5448300" cy="342900"/>
          </a:xfrm>
          <a:prstGeom prst="rect">
            <a:avLst/>
          </a:prstGeom>
        </p:spPr>
      </p:pic>
      <p:pic>
        <p:nvPicPr>
          <p:cNvPr id="25" name="Image 23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477000" y="3933825"/>
            <a:ext cx="133350" cy="133350"/>
          </a:xfrm>
          <a:prstGeom prst="rect">
            <a:avLst/>
          </a:prstGeom>
        </p:spPr>
      </p:pic>
      <p:pic>
        <p:nvPicPr>
          <p:cNvPr id="26" name="Image 24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362700" y="4248150"/>
            <a:ext cx="5448300" cy="342900"/>
          </a:xfrm>
          <a:prstGeom prst="rect">
            <a:avLst/>
          </a:prstGeom>
        </p:spPr>
      </p:pic>
      <p:pic>
        <p:nvPicPr>
          <p:cNvPr id="27" name="Image 25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477000" y="4352925"/>
            <a:ext cx="133350" cy="133350"/>
          </a:xfrm>
          <a:prstGeom prst="rect">
            <a:avLst/>
          </a:prstGeom>
        </p:spPr>
      </p:pic>
      <p:pic>
        <p:nvPicPr>
          <p:cNvPr id="28" name="Image 26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362700" y="5600700"/>
            <a:ext cx="5448300" cy="685800"/>
          </a:xfrm>
          <a:prstGeom prst="rect">
            <a:avLst/>
          </a:prstGeom>
        </p:spPr>
      </p:pic>
      <p:pic>
        <p:nvPicPr>
          <p:cNvPr id="29" name="Image 27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477000" y="5867400"/>
            <a:ext cx="114300" cy="152400"/>
          </a:xfrm>
          <a:prstGeom prst="rect">
            <a:avLst/>
          </a:prstGeom>
        </p:spPr>
      </p:pic>
      <p:pic>
        <p:nvPicPr>
          <p:cNvPr id="30" name="Image 28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0" y="6515100"/>
            <a:ext cx="12192000" cy="342900"/>
          </a:xfrm>
          <a:prstGeom prst="rect">
            <a:avLst/>
          </a:prstGeom>
        </p:spPr>
      </p:pic>
      <p:sp>
        <p:nvSpPr>
          <p:cNvPr id="31" name="Text 0"/>
          <p:cNvSpPr/>
          <p:nvPr/>
        </p:nvSpPr>
        <p:spPr>
          <a:xfrm>
            <a:off x="238125" y="142875"/>
            <a:ext cx="117157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700"/>
              </a:lnSpc>
              <a:buNone/>
            </a:pPr>
            <a:r>
              <a:rPr lang="en-US" sz="2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Quick Reference &amp; Preparation</a:t>
            </a:r>
            <a:endParaRPr lang="en-US" sz="2250" dirty="0"/>
          </a:p>
        </p:txBody>
      </p:sp>
      <p:sp>
        <p:nvSpPr>
          <p:cNvPr id="32" name="Text 1"/>
          <p:cNvSpPr/>
          <p:nvPr/>
        </p:nvSpPr>
        <p:spPr>
          <a:xfrm>
            <a:off x="628650" y="933450"/>
            <a:ext cx="653796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66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Quick Reference Formulas</a:t>
            </a:r>
            <a:endParaRPr lang="en-US" sz="1500" dirty="0"/>
          </a:p>
        </p:txBody>
      </p:sp>
      <p:sp>
        <p:nvSpPr>
          <p:cNvPr id="33" name="Text 2"/>
          <p:cNvSpPr/>
          <p:nvPr/>
        </p:nvSpPr>
        <p:spPr>
          <a:xfrm>
            <a:off x="495300" y="1390650"/>
            <a:ext cx="52578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b="1" dirty="0">
                <a:solidFill>
                  <a:srgbClr val="166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Basic Metrics</a:t>
            </a:r>
            <a:endParaRPr lang="en-US" sz="1050" dirty="0"/>
          </a:p>
        </p:txBody>
      </p:sp>
      <p:sp>
        <p:nvSpPr>
          <p:cNvPr id="34" name="Text 3"/>
          <p:cNvSpPr/>
          <p:nvPr/>
        </p:nvSpPr>
        <p:spPr>
          <a:xfrm>
            <a:off x="495300" y="1657350"/>
            <a:ext cx="3168967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b="1" dirty="0">
                <a:solidFill>
                  <a:srgbClr val="36454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Open Rate = (Opened ÷ Sent) × 100</a:t>
            </a:r>
            <a:endParaRPr lang="en-US" sz="1050" dirty="0"/>
          </a:p>
        </p:txBody>
      </p:sp>
      <p:sp>
        <p:nvSpPr>
          <p:cNvPr id="35" name="Text 4"/>
          <p:cNvSpPr/>
          <p:nvPr/>
        </p:nvSpPr>
        <p:spPr>
          <a:xfrm>
            <a:off x="495300" y="1866900"/>
            <a:ext cx="2688908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b="1" dirty="0">
                <a:solidFill>
                  <a:srgbClr val="36454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CTR = (Clicked ÷ Sent) × 100</a:t>
            </a:r>
            <a:endParaRPr lang="en-US" sz="1050" dirty="0"/>
          </a:p>
        </p:txBody>
      </p:sp>
      <p:sp>
        <p:nvSpPr>
          <p:cNvPr id="36" name="Text 5"/>
          <p:cNvSpPr/>
          <p:nvPr/>
        </p:nvSpPr>
        <p:spPr>
          <a:xfrm>
            <a:off x="495300" y="2076450"/>
            <a:ext cx="422535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b="1" dirty="0">
                <a:solidFill>
                  <a:srgbClr val="36454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Credential Rate = (Credentials ÷ Sent) × 100</a:t>
            </a:r>
            <a:endParaRPr lang="en-US" sz="1050" dirty="0"/>
          </a:p>
        </p:txBody>
      </p:sp>
      <p:sp>
        <p:nvSpPr>
          <p:cNvPr id="37" name="Text 6"/>
          <p:cNvSpPr/>
          <p:nvPr/>
        </p:nvSpPr>
        <p:spPr>
          <a:xfrm>
            <a:off x="495300" y="2514600"/>
            <a:ext cx="52578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b="1" dirty="0">
                <a:solidFill>
                  <a:srgbClr val="166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Financial Risk</a:t>
            </a:r>
            <a:endParaRPr lang="en-US" sz="1050" dirty="0"/>
          </a:p>
        </p:txBody>
      </p:sp>
      <p:sp>
        <p:nvSpPr>
          <p:cNvPr id="38" name="Text 7"/>
          <p:cNvSpPr/>
          <p:nvPr/>
        </p:nvSpPr>
        <p:spPr>
          <a:xfrm>
            <a:off x="495300" y="2781300"/>
            <a:ext cx="1440537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b="1" dirty="0">
                <a:solidFill>
                  <a:srgbClr val="36454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ALE = SLE × ARO</a:t>
            </a:r>
            <a:endParaRPr lang="en-US" sz="1050" dirty="0"/>
          </a:p>
        </p:txBody>
      </p:sp>
      <p:sp>
        <p:nvSpPr>
          <p:cNvPr id="39" name="Text 8"/>
          <p:cNvSpPr/>
          <p:nvPr/>
        </p:nvSpPr>
        <p:spPr>
          <a:xfrm>
            <a:off x="495300" y="2990850"/>
            <a:ext cx="4801493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b="1" dirty="0">
                <a:solidFill>
                  <a:srgbClr val="36454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Projected Victims = Total Employees × Success Rate</a:t>
            </a:r>
            <a:endParaRPr lang="en-US" sz="1050" dirty="0"/>
          </a:p>
        </p:txBody>
      </p:sp>
      <p:sp>
        <p:nvSpPr>
          <p:cNvPr id="40" name="Text 9"/>
          <p:cNvSpPr/>
          <p:nvPr/>
        </p:nvSpPr>
        <p:spPr>
          <a:xfrm>
            <a:off x="495300" y="3200400"/>
            <a:ext cx="3361134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b="1" dirty="0">
                <a:solidFill>
                  <a:srgbClr val="36454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ROI = (Benefit - Cost) ÷ Cost × 100</a:t>
            </a:r>
            <a:endParaRPr lang="en-US" sz="1050" dirty="0"/>
          </a:p>
        </p:txBody>
      </p:sp>
      <p:sp>
        <p:nvSpPr>
          <p:cNvPr id="41" name="Text 10"/>
          <p:cNvSpPr/>
          <p:nvPr/>
        </p:nvSpPr>
        <p:spPr>
          <a:xfrm>
            <a:off x="495300" y="3638550"/>
            <a:ext cx="52578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b="1" dirty="0">
                <a:solidFill>
                  <a:srgbClr val="166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Statistical Reliability</a:t>
            </a:r>
            <a:endParaRPr lang="en-US" sz="1050" dirty="0"/>
          </a:p>
        </p:txBody>
      </p:sp>
      <p:sp>
        <p:nvSpPr>
          <p:cNvPr id="42" name="Text 11"/>
          <p:cNvSpPr/>
          <p:nvPr/>
        </p:nvSpPr>
        <p:spPr>
          <a:xfrm>
            <a:off x="495300" y="3905250"/>
            <a:ext cx="2976979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b="1" dirty="0">
                <a:solidFill>
                  <a:srgbClr val="36454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95% CI = p ± 1.96 × √[p(1-p)/n]</a:t>
            </a:r>
            <a:endParaRPr lang="en-US" sz="1050" dirty="0"/>
          </a:p>
        </p:txBody>
      </p:sp>
      <p:sp>
        <p:nvSpPr>
          <p:cNvPr id="43" name="Text 12"/>
          <p:cNvSpPr/>
          <p:nvPr/>
        </p:nvSpPr>
        <p:spPr>
          <a:xfrm>
            <a:off x="495300" y="4343400"/>
            <a:ext cx="52578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b="1" dirty="0">
                <a:solidFill>
                  <a:srgbClr val="166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 Reduction</a:t>
            </a:r>
            <a:endParaRPr lang="en-US" sz="1050" dirty="0"/>
          </a:p>
        </p:txBody>
      </p:sp>
      <p:sp>
        <p:nvSpPr>
          <p:cNvPr id="44" name="Text 13"/>
          <p:cNvSpPr/>
          <p:nvPr/>
        </p:nvSpPr>
        <p:spPr>
          <a:xfrm>
            <a:off x="495300" y="4610100"/>
            <a:ext cx="508956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b="1" dirty="0">
                <a:solidFill>
                  <a:srgbClr val="36454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New Risk = Current Risk × (1 - Control Effectiveness)</a:t>
            </a:r>
            <a:endParaRPr lang="en-US" sz="1050" dirty="0"/>
          </a:p>
        </p:txBody>
      </p:sp>
      <p:sp>
        <p:nvSpPr>
          <p:cNvPr id="45" name="Text 14"/>
          <p:cNvSpPr/>
          <p:nvPr/>
        </p:nvSpPr>
        <p:spPr>
          <a:xfrm>
            <a:off x="495300" y="4819650"/>
            <a:ext cx="3841194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b="1" dirty="0">
                <a:solidFill>
                  <a:srgbClr val="36454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Risk Reduction = Current Risk - New Risk</a:t>
            </a:r>
            <a:endParaRPr lang="en-US" sz="1050" dirty="0"/>
          </a:p>
        </p:txBody>
      </p:sp>
      <p:sp>
        <p:nvSpPr>
          <p:cNvPr id="46" name="Text 15"/>
          <p:cNvSpPr/>
          <p:nvPr/>
        </p:nvSpPr>
        <p:spPr>
          <a:xfrm>
            <a:off x="6629400" y="933450"/>
            <a:ext cx="54483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Preparation Checklist</a:t>
            </a:r>
            <a:endParaRPr lang="en-US" sz="1500" dirty="0"/>
          </a:p>
        </p:txBody>
      </p:sp>
      <p:sp>
        <p:nvSpPr>
          <p:cNvPr id="47" name="Text 16"/>
          <p:cNvSpPr/>
          <p:nvPr/>
        </p:nvSpPr>
        <p:spPr>
          <a:xfrm>
            <a:off x="6686550" y="1390650"/>
            <a:ext cx="2722126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3645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Calculate basic percentages and rates</a:t>
            </a:r>
            <a:endParaRPr lang="en-US" sz="1050" dirty="0"/>
          </a:p>
        </p:txBody>
      </p:sp>
      <p:sp>
        <p:nvSpPr>
          <p:cNvPr id="48" name="Text 17"/>
          <p:cNvSpPr/>
          <p:nvPr/>
        </p:nvSpPr>
        <p:spPr>
          <a:xfrm>
            <a:off x="6686550" y="1809750"/>
            <a:ext cx="416516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3645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Understand the difference between "rate" and "conversion"</a:t>
            </a:r>
            <a:endParaRPr lang="en-US" sz="1050" dirty="0"/>
          </a:p>
        </p:txBody>
      </p:sp>
      <p:sp>
        <p:nvSpPr>
          <p:cNvPr id="49" name="Text 18"/>
          <p:cNvSpPr/>
          <p:nvPr/>
        </p:nvSpPr>
        <p:spPr>
          <a:xfrm>
            <a:off x="6686550" y="2228850"/>
            <a:ext cx="3957816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3645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Perform multi-step calculations (A leads to B leads to C)</a:t>
            </a:r>
            <a:endParaRPr lang="en-US" sz="1050" dirty="0"/>
          </a:p>
        </p:txBody>
      </p:sp>
      <p:sp>
        <p:nvSpPr>
          <p:cNvPr id="50" name="Text 19"/>
          <p:cNvSpPr/>
          <p:nvPr/>
        </p:nvSpPr>
        <p:spPr>
          <a:xfrm>
            <a:off x="6686550" y="2647950"/>
            <a:ext cx="312235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3645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Convert between percentages and decimals</a:t>
            </a:r>
            <a:endParaRPr lang="en-US" sz="1050" dirty="0"/>
          </a:p>
        </p:txBody>
      </p:sp>
      <p:sp>
        <p:nvSpPr>
          <p:cNvPr id="51" name="Text 20"/>
          <p:cNvSpPr/>
          <p:nvPr/>
        </p:nvSpPr>
        <p:spPr>
          <a:xfrm>
            <a:off x="6686550" y="3067050"/>
            <a:ext cx="3406854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3645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a calculator for square roots and exponents</a:t>
            </a:r>
            <a:endParaRPr lang="en-US" sz="1050" dirty="0"/>
          </a:p>
        </p:txBody>
      </p:sp>
      <p:sp>
        <p:nvSpPr>
          <p:cNvPr id="52" name="Text 21"/>
          <p:cNvSpPr/>
          <p:nvPr/>
        </p:nvSpPr>
        <p:spPr>
          <a:xfrm>
            <a:off x="6686550" y="3486150"/>
            <a:ext cx="3982819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3645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Explain what "95% confidence" means in practical terms</a:t>
            </a:r>
            <a:endParaRPr lang="en-US" sz="1050" dirty="0"/>
          </a:p>
        </p:txBody>
      </p:sp>
      <p:sp>
        <p:nvSpPr>
          <p:cNvPr id="53" name="Text 22"/>
          <p:cNvSpPr/>
          <p:nvPr/>
        </p:nvSpPr>
        <p:spPr>
          <a:xfrm>
            <a:off x="6686550" y="3905250"/>
            <a:ext cx="267712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3645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Calculate Return on Investment (ROI)</a:t>
            </a:r>
            <a:endParaRPr lang="en-US" sz="1050" dirty="0"/>
          </a:p>
        </p:txBody>
      </p:sp>
      <p:sp>
        <p:nvSpPr>
          <p:cNvPr id="54" name="Text 23"/>
          <p:cNvSpPr/>
          <p:nvPr/>
        </p:nvSpPr>
        <p:spPr>
          <a:xfrm>
            <a:off x="6686550" y="4324350"/>
            <a:ext cx="352240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3645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Scale results from a sample to a larger population</a:t>
            </a:r>
            <a:endParaRPr lang="en-US" sz="1050" dirty="0"/>
          </a:p>
        </p:txBody>
      </p:sp>
      <p:sp>
        <p:nvSpPr>
          <p:cNvPr id="55" name="Text 24"/>
          <p:cNvSpPr/>
          <p:nvPr/>
        </p:nvSpPr>
        <p:spPr>
          <a:xfrm>
            <a:off x="6477000" y="5715000"/>
            <a:ext cx="52197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Remember: Speak the language of business with data-driven security metrics</a:t>
            </a:r>
            <a:endParaRPr lang="en-US" sz="1200" dirty="0"/>
          </a:p>
        </p:txBody>
      </p:sp>
      <p:sp>
        <p:nvSpPr>
          <p:cNvPr id="56" name="Text 25"/>
          <p:cNvSpPr/>
          <p:nvPr/>
        </p:nvSpPr>
        <p:spPr>
          <a:xfrm>
            <a:off x="190500" y="6591300"/>
            <a:ext cx="3762077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Quantitative Risk Calculations for GRC Professionals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1368</Words>
  <Application>Microsoft Office PowerPoint</Application>
  <PresentationFormat>Widescreen</PresentationFormat>
  <Paragraphs>231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ui-sans-serif</vt:lpstr>
      <vt:lpstr>Arial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Aminu Idris</cp:lastModifiedBy>
  <cp:revision>1</cp:revision>
  <dcterms:created xsi:type="dcterms:W3CDTF">2025-09-29T17:24:53Z</dcterms:created>
  <dcterms:modified xsi:type="dcterms:W3CDTF">2025-09-29T17:27:42Z</dcterms:modified>
</cp:coreProperties>
</file>