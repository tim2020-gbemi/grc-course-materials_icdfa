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0058400" cy="7772400"/>
  <p:notesSz cx="10058400" cy="77724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Trebuchet MS" panose="020B0603020202020204" pitchFamily="34" charset="0"/>
      <p:regular r:id="rId26"/>
      <p:bold r:id="rId27"/>
      <p:italic r:id="rId28"/>
      <p:boldItalic r:id="rId29"/>
    </p:embeddedFont>
    <p:embeddedFont>
      <p:font typeface="Carlito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7Z6LoAvR2Kz5L8mWLk9NPMDWB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81232-63B7-405D-A44E-A85002434349}">
  <a:tblStyle styleId="{07381232-63B7-405D-A44E-A850024343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758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50" b="0" i="0">
                <a:solidFill>
                  <a:srgbClr val="3C3C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858011" y="2456688"/>
            <a:ext cx="8385175" cy="33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4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50" b="0" i="0">
                <a:solidFill>
                  <a:srgbClr val="3C3C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2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50" b="0" i="0">
                <a:solidFill>
                  <a:srgbClr val="3C3C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ubTitle" idx="1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50" b="0" i="0">
                <a:solidFill>
                  <a:srgbClr val="3C3C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2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50" b="0" i="0" u="none" strike="noStrike" cap="none">
                <a:solidFill>
                  <a:srgbClr val="3C3C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body" idx="1"/>
          </p:nvPr>
        </p:nvSpPr>
        <p:spPr>
          <a:xfrm>
            <a:off x="858011" y="2456688"/>
            <a:ext cx="8385175" cy="33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"/>
          <p:cNvGrpSpPr/>
          <p:nvPr/>
        </p:nvGrpSpPr>
        <p:grpSpPr>
          <a:xfrm>
            <a:off x="0" y="6283452"/>
            <a:ext cx="10058272" cy="432689"/>
            <a:chOff x="0" y="6283452"/>
            <a:chExt cx="10058272" cy="432689"/>
          </a:xfrm>
        </p:grpSpPr>
        <p:sp>
          <p:nvSpPr>
            <p:cNvPr id="48" name="Google Shape;48;p1"/>
            <p:cNvSpPr/>
            <p:nvPr/>
          </p:nvSpPr>
          <p:spPr>
            <a:xfrm>
              <a:off x="3047" y="6338316"/>
              <a:ext cx="10055225" cy="377825"/>
            </a:xfrm>
            <a:custGeom>
              <a:avLst/>
              <a:gdLst/>
              <a:ahLst/>
              <a:cxnLst/>
              <a:rect l="l" t="t" r="r" b="b"/>
              <a:pathLst>
                <a:path w="10055225" h="377825" extrusionOk="0">
                  <a:moveTo>
                    <a:pt x="10054844" y="0"/>
                  </a:moveTo>
                  <a:lnTo>
                    <a:pt x="0" y="0"/>
                  </a:lnTo>
                  <a:lnTo>
                    <a:pt x="0" y="377444"/>
                  </a:lnTo>
                  <a:lnTo>
                    <a:pt x="10054844" y="377444"/>
                  </a:lnTo>
                  <a:lnTo>
                    <a:pt x="10054844" y="0"/>
                  </a:lnTo>
                  <a:close/>
                </a:path>
              </a:pathLst>
            </a:custGeom>
            <a:solidFill>
              <a:srgbClr val="BB562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0" y="6283452"/>
              <a:ext cx="10057130" cy="53340"/>
            </a:xfrm>
            <a:custGeom>
              <a:avLst/>
              <a:gdLst/>
              <a:ahLst/>
              <a:cxnLst/>
              <a:rect l="l" t="t" r="r" b="b"/>
              <a:pathLst>
                <a:path w="10057130" h="53339" extrusionOk="0">
                  <a:moveTo>
                    <a:pt x="10056622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10056622" y="53340"/>
                  </a:lnTo>
                  <a:lnTo>
                    <a:pt x="10056622" y="0"/>
                  </a:lnTo>
                  <a:close/>
                </a:path>
              </a:pathLst>
            </a:custGeom>
            <a:solidFill>
              <a:srgbClr val="E3831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1"/>
          <p:cNvSpPr txBox="1">
            <a:spLocks noGrp="1"/>
          </p:cNvSpPr>
          <p:nvPr>
            <p:ph type="title"/>
          </p:nvPr>
        </p:nvSpPr>
        <p:spPr>
          <a:xfrm>
            <a:off x="930824" y="730489"/>
            <a:ext cx="8373300" cy="23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12700" marR="5080" lvl="0" indent="22860" algn="ctr" rtl="0">
              <a:lnSpc>
                <a:spcPct val="1106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202020"/>
                </a:solidFill>
              </a:rPr>
              <a:t>Fundamentals </a:t>
            </a:r>
            <a:r>
              <a:rPr lang="en-US" sz="6600" dirty="0">
                <a:solidFill>
                  <a:srgbClr val="202020"/>
                </a:solidFill>
              </a:rPr>
              <a:t>of </a:t>
            </a:r>
            <a:r>
              <a:rPr lang="en-US" sz="6600" dirty="0" smtClean="0">
                <a:solidFill>
                  <a:srgbClr val="202020"/>
                </a:solidFill>
              </a:rPr>
              <a:t>Networking</a:t>
            </a:r>
            <a:endParaRPr sz="6600" dirty="0"/>
          </a:p>
        </p:txBody>
      </p:sp>
      <p:sp>
        <p:nvSpPr>
          <p:cNvPr id="51" name="Google Shape;51;p1"/>
          <p:cNvSpPr txBox="1"/>
          <p:nvPr/>
        </p:nvSpPr>
        <p:spPr>
          <a:xfrm>
            <a:off x="2091689" y="3824173"/>
            <a:ext cx="6051550" cy="218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rgbClr val="616F52"/>
                </a:solidFill>
                <a:latin typeface="Trebuchet MS"/>
                <a:ea typeface="Trebuchet MS"/>
                <a:cs typeface="Trebuchet MS"/>
                <a:sym typeface="Trebuchet MS"/>
              </a:rPr>
              <a:t>NETWORKING</a:t>
            </a:r>
            <a:endParaRPr sz="2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33655" lvl="0" indent="0" algn="ctr" rtl="0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rgbClr val="616F52"/>
                </a:solidFill>
                <a:latin typeface="Trebuchet MS"/>
                <a:ea typeface="Trebuchet MS"/>
                <a:cs typeface="Trebuchet MS"/>
                <a:sym typeface="Trebuchet MS"/>
              </a:rPr>
              <a:t>AND IP ADDRESSING</a:t>
            </a:r>
            <a:endParaRPr sz="2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None/>
            </a:pPr>
            <a:endParaRPr sz="2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7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616F52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PREPARED BY:</a:t>
            </a:r>
            <a:endParaRPr sz="165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65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616F52"/>
                </a:solidFill>
                <a:latin typeface="Trebuchet MS"/>
                <a:ea typeface="Trebuchet MS"/>
                <a:cs typeface="Trebuchet MS"/>
                <a:sym typeface="Trebuchet MS"/>
              </a:rPr>
              <a:t>AMINU  IDRIS</a:t>
            </a:r>
            <a:endParaRPr sz="165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616F52"/>
                </a:solidFill>
                <a:latin typeface="Trebuchet MS"/>
                <a:ea typeface="Trebuchet MS"/>
                <a:cs typeface="Trebuchet MS"/>
                <a:sym typeface="Trebuchet MS"/>
              </a:rPr>
              <a:t>(CCNA, CompTIA Security+, CEH, OSCP, CISSP, CISM </a:t>
            </a:r>
            <a:r>
              <a:rPr lang="en-US" sz="1650" dirty="0" smtClean="0">
                <a:solidFill>
                  <a:srgbClr val="616F52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65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Addressing Schemes</a:t>
            </a:r>
            <a:endParaRPr dirty="0"/>
          </a:p>
        </p:txBody>
      </p:sp>
      <p:sp>
        <p:nvSpPr>
          <p:cNvPr id="57" name="Google Shape;57;p2"/>
          <p:cNvSpPr txBox="1"/>
          <p:nvPr/>
        </p:nvSpPr>
        <p:spPr>
          <a:xfrm>
            <a:off x="892251" y="2523591"/>
            <a:ext cx="3691890" cy="322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750" rIns="0" bIns="0" anchor="t" anchorCtr="0">
            <a:spAutoFit/>
          </a:bodyPr>
          <a:lstStyle/>
          <a:p>
            <a:pPr marL="4083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u="sng">
                <a:solidFill>
                  <a:srgbClr val="616F52"/>
                </a:solidFill>
                <a:latin typeface="Carlito"/>
                <a:ea typeface="Carlito"/>
                <a:cs typeface="Carlito"/>
                <a:sym typeface="Carlito"/>
              </a:rPr>
              <a:t>FLAT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02565" lvl="0" indent="-200025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19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by </a:t>
            </a: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19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ntranetworks</a:t>
            </a:r>
            <a:endParaRPr sz="1950">
              <a:latin typeface="Carlito"/>
              <a:ea typeface="Carlito"/>
              <a:cs typeface="Carlito"/>
              <a:sym typeface="Carlito"/>
            </a:endParaRPr>
          </a:p>
          <a:p>
            <a:pPr marL="202565" lvl="0" indent="-200025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19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by Layer 2</a:t>
            </a:r>
            <a:endParaRPr sz="1950">
              <a:latin typeface="Carlito"/>
              <a:ea typeface="Carlito"/>
              <a:cs typeface="Carlito"/>
              <a:sym typeface="Carlito"/>
            </a:endParaRPr>
          </a:p>
          <a:p>
            <a:pPr marL="201930" lvl="0" indent="-2000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19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in MAC address</a:t>
            </a:r>
            <a:endParaRPr sz="1950">
              <a:latin typeface="Carlito"/>
              <a:ea typeface="Carlito"/>
              <a:cs typeface="Carlito"/>
              <a:sym typeface="Carlito"/>
            </a:endParaRPr>
          </a:p>
          <a:p>
            <a:pPr marL="203200" marR="5080" lvl="0" indent="-191135" algn="l" rtl="0">
              <a:lnSpc>
                <a:spcPct val="107692"/>
              </a:lnSpc>
              <a:spcBef>
                <a:spcPts val="16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9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Is assigned statically based on next 	available number or random</a:t>
            </a:r>
            <a:endParaRPr sz="1950">
              <a:latin typeface="Carlito"/>
              <a:ea typeface="Carlito"/>
              <a:cs typeface="Carlito"/>
              <a:sym typeface="Carlito"/>
            </a:endParaRPr>
          </a:p>
          <a:p>
            <a:pPr marL="328930" lvl="1" indent="-151764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Social Security Number</a:t>
            </a:r>
            <a:endParaRPr sz="1650">
              <a:latin typeface="Carlito"/>
              <a:ea typeface="Carlito"/>
              <a:cs typeface="Carlito"/>
              <a:sym typeface="Carlito"/>
            </a:endParaRPr>
          </a:p>
          <a:p>
            <a:pPr marL="328930" lvl="1" indent="-1517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Your Name</a:t>
            </a:r>
            <a:endParaRPr sz="1650">
              <a:latin typeface="Carlito"/>
              <a:ea typeface="Carlito"/>
              <a:cs typeface="Carlito"/>
              <a:sym typeface="Carlito"/>
            </a:endParaRPr>
          </a:p>
          <a:p>
            <a:pPr marL="328930" lvl="1" indent="-151764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MAC- C0:AD:00:23:4F:89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147155" y="2605218"/>
            <a:ext cx="4047490" cy="328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8575" rIns="0" bIns="0" anchor="t" anchorCtr="0">
            <a:spAutoFit/>
          </a:bodyPr>
          <a:lstStyle/>
          <a:p>
            <a:pPr marL="11601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u="sng" dirty="0">
                <a:solidFill>
                  <a:srgbClr val="616F52"/>
                </a:solidFill>
                <a:latin typeface="Carlito"/>
                <a:ea typeface="Carlito"/>
                <a:cs typeface="Carlito"/>
                <a:sym typeface="Carlito"/>
              </a:rPr>
              <a:t>HIERARCHICAL</a:t>
            </a:r>
            <a:endParaRPr sz="2300" dirty="0">
              <a:latin typeface="Carlito"/>
              <a:ea typeface="Carlito"/>
              <a:cs typeface="Carlito"/>
              <a:sym typeface="Carlito"/>
            </a:endParaRPr>
          </a:p>
          <a:p>
            <a:pPr marL="202565" lvl="0" indent="-200025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by Internetworks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02565" lvl="0" indent="-2000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by Layer 3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02565" lvl="0" indent="-200025" algn="l" rtl="0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by IP address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03200" marR="5080" lvl="0" indent="-191135" algn="l" rtl="0">
              <a:lnSpc>
                <a:spcPct val="97948"/>
              </a:lnSpc>
              <a:spcBef>
                <a:spcPts val="144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Is assigned dynamically based on your 	location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328930" lvl="1" indent="-151764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Phone System</a:t>
            </a:r>
            <a:endParaRPr sz="1650" dirty="0">
              <a:latin typeface="Carlito"/>
              <a:ea typeface="Carlito"/>
              <a:cs typeface="Carlito"/>
              <a:sym typeface="Carlito"/>
            </a:endParaRPr>
          </a:p>
          <a:p>
            <a:pPr marL="329565" lvl="1" indent="-1524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ZIP Code</a:t>
            </a:r>
            <a:endParaRPr sz="1650" dirty="0">
              <a:latin typeface="Carlito"/>
              <a:ea typeface="Carlito"/>
              <a:cs typeface="Carlito"/>
              <a:sym typeface="Carlito"/>
            </a:endParaRPr>
          </a:p>
          <a:p>
            <a:pPr marL="328930" lvl="1" indent="-151764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IP- 182.157.63.219</a:t>
            </a:r>
            <a:endParaRPr sz="1800" dirty="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56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Internet Protocol Address (</a:t>
            </a:r>
            <a:r>
              <a:rPr lang="en-US" sz="3600" dirty="0" err="1" smtClean="0"/>
              <a:t>IPAddress</a:t>
            </a:r>
            <a:r>
              <a:rPr lang="en-US" sz="3600" dirty="0"/>
              <a:t>)</a:t>
            </a:r>
            <a:endParaRPr sz="3600" dirty="0"/>
          </a:p>
        </p:txBody>
      </p:sp>
      <p:sp>
        <p:nvSpPr>
          <p:cNvPr id="66" name="Google Shape;66;p3"/>
          <p:cNvSpPr txBox="1"/>
          <p:nvPr/>
        </p:nvSpPr>
        <p:spPr>
          <a:xfrm>
            <a:off x="892251" y="2303327"/>
            <a:ext cx="7959725" cy="370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296545" lvl="0" indent="-2838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 unique numerical label </a:t>
            </a:r>
            <a:r>
              <a:rPr lang="en-US" sz="1950" dirty="0" smtClean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assigned </a:t>
            </a: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to each device participating in </a:t>
            </a:r>
            <a:r>
              <a:rPr lang="en-US" sz="1950" dirty="0" smtClean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 network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96545" lvl="0" indent="-283845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Every device on the Internet must have a unique IP address to identify itself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95910" lvl="0" indent="-283210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1950" b="1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Internet Assigned Numbers Authority </a:t>
            </a: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(IANA)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96545" lvl="0" indent="-283845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Manages the IP address space allocations globally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95910" marR="5080" lvl="0" indent="-283844" algn="l" rtl="0">
              <a:lnSpc>
                <a:spcPct val="97435"/>
              </a:lnSpc>
              <a:spcBef>
                <a:spcPts val="1235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Delegates five </a:t>
            </a:r>
            <a:r>
              <a:rPr lang="en-US" sz="1950" b="1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regional Internet registries </a:t>
            </a: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(RIRs) to allocate IP address blocks 	to local Internet registries (Internet service providers)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296545" lvl="0" indent="-28384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19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For an IP to be routable over the Internet, it must have:</a:t>
            </a:r>
            <a:endParaRPr sz="1950" dirty="0">
              <a:latin typeface="Carlito"/>
              <a:ea typeface="Carlito"/>
              <a:cs typeface="Carlito"/>
              <a:sym typeface="Carlito"/>
            </a:endParaRPr>
          </a:p>
          <a:p>
            <a:pPr marL="480059" lvl="1" indent="-150495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E38311"/>
              </a:buClr>
              <a:buSzPts val="1550"/>
              <a:buFont typeface="Arial"/>
              <a:buChar char="◦"/>
            </a:pPr>
            <a:r>
              <a:rPr lang="en-US" sz="15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IP address</a:t>
            </a:r>
            <a:endParaRPr sz="1550" dirty="0">
              <a:latin typeface="Carlito"/>
              <a:ea typeface="Carlito"/>
              <a:cs typeface="Carlito"/>
              <a:sym typeface="Carlito"/>
            </a:endParaRPr>
          </a:p>
          <a:p>
            <a:pPr marL="480059" lvl="1" indent="-150495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E38311"/>
              </a:buClr>
              <a:buSzPts val="1550"/>
              <a:buFont typeface="Arial"/>
              <a:buChar char="◦"/>
            </a:pPr>
            <a:r>
              <a:rPr lang="en-US" sz="15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Subnet Mask</a:t>
            </a:r>
            <a:endParaRPr sz="1550" dirty="0">
              <a:latin typeface="Carlito"/>
              <a:ea typeface="Carlito"/>
              <a:cs typeface="Carlito"/>
              <a:sym typeface="Carlito"/>
            </a:endParaRPr>
          </a:p>
          <a:p>
            <a:pPr marL="480059" lvl="1" indent="-15049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E38311"/>
              </a:buClr>
              <a:buSzPts val="1550"/>
              <a:buFont typeface="Arial"/>
              <a:buChar char="◦"/>
            </a:pPr>
            <a:r>
              <a:rPr lang="en-US" sz="15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Default Gateway</a:t>
            </a:r>
            <a:endParaRPr sz="1550" dirty="0">
              <a:latin typeface="Carlito"/>
              <a:ea typeface="Carlito"/>
              <a:cs typeface="Carlito"/>
              <a:sym typeface="Carlito"/>
            </a:endParaRPr>
          </a:p>
          <a:p>
            <a:pPr marL="480059" lvl="1" indent="-15049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E38311"/>
              </a:buClr>
              <a:buSzPts val="1550"/>
              <a:buFont typeface="Arial"/>
              <a:buChar char="◦"/>
            </a:pPr>
            <a:r>
              <a:rPr lang="en-US" sz="15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DNS address (only for address lookup, i.e. web sites)</a:t>
            </a:r>
            <a:endParaRPr sz="1550" dirty="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Types of Addressing</a:t>
            </a:r>
            <a:endParaRPr dirty="0"/>
          </a:p>
        </p:txBody>
      </p:sp>
      <p:sp>
        <p:nvSpPr>
          <p:cNvPr id="74" name="Google Shape;74;p4"/>
          <p:cNvSpPr txBox="1"/>
          <p:nvPr/>
        </p:nvSpPr>
        <p:spPr>
          <a:xfrm>
            <a:off x="892251" y="2360668"/>
            <a:ext cx="5151755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238759" lvl="0" indent="-2260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2100"/>
              <a:buFont typeface="Carlito"/>
              <a:buAutoNum type="arabicPeriod"/>
            </a:pPr>
            <a:r>
              <a:rPr lang="en-US" sz="23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Static IP address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Manually assigned to a device by an administrator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Constant and does not change.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8759" lvl="0" indent="-226059" algn="l" rtl="0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>
                <a:srgbClr val="E38311"/>
              </a:buClr>
              <a:buSzPts val="2100"/>
              <a:buFont typeface="Carlito"/>
              <a:buAutoNum type="arabicPeriod"/>
            </a:pPr>
            <a:r>
              <a:rPr lang="en-US" sz="23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Dynamic IP address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Assigned to device each time it starts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Requires less human intervention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Less administration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Uses Dynamic Host Configuration Protocol (DHCP)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Enabled by default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3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No user intervention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976076" y="805694"/>
            <a:ext cx="79191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Classful</a:t>
            </a:r>
            <a:r>
              <a:rPr lang="en-US" dirty="0"/>
              <a:t> vs Classless</a:t>
            </a:r>
            <a:endParaRPr dirty="0"/>
          </a:p>
        </p:txBody>
      </p:sp>
      <p:sp>
        <p:nvSpPr>
          <p:cNvPr id="80" name="Google Shape;80;p5"/>
          <p:cNvSpPr txBox="1"/>
          <p:nvPr/>
        </p:nvSpPr>
        <p:spPr>
          <a:xfrm>
            <a:off x="743349" y="1722005"/>
            <a:ext cx="4192277" cy="3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700" rIns="0" bIns="0" anchor="t" anchorCtr="0">
            <a:spAutoFit/>
          </a:bodyPr>
          <a:lstStyle/>
          <a:p>
            <a:pPr marL="869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616F52"/>
                </a:solidFill>
                <a:latin typeface="Carlito"/>
                <a:ea typeface="Carlito"/>
                <a:cs typeface="Carlito"/>
                <a:sym typeface="Carlito"/>
              </a:rPr>
              <a:t>CLASSFUL</a:t>
            </a:r>
            <a:endParaRPr sz="2400" dirty="0">
              <a:latin typeface="Carlito"/>
              <a:ea typeface="Carlito"/>
              <a:cs typeface="Carlito"/>
              <a:sym typeface="Carlito"/>
            </a:endParaRPr>
          </a:p>
          <a:p>
            <a:pPr marL="203834" lvl="0" indent="-200024" algn="l" rtl="0">
              <a:lnSpc>
                <a:spcPct val="113488"/>
              </a:lnSpc>
              <a:spcBef>
                <a:spcPts val="930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/>
            </a:pP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Divided into 5 classes A, B, C, D</a:t>
            </a:r>
            <a:endParaRPr sz="2400" dirty="0">
              <a:latin typeface="Carlito"/>
              <a:ea typeface="Carlito"/>
              <a:cs typeface="Carlito"/>
              <a:sym typeface="Carlito"/>
            </a:endParaRPr>
          </a:p>
          <a:p>
            <a:pPr marL="204470" lvl="0" indent="0" algn="l" rtl="0">
              <a:lnSpc>
                <a:spcPct val="1072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(multicast) </a:t>
            </a:r>
            <a:r>
              <a:rPr lang="en-US" sz="2400" dirty="0" smtClean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and</a:t>
            </a:r>
            <a:r>
              <a:rPr lang="en-US" sz="2400" dirty="0"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400" dirty="0" smtClean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 </a:t>
            </a: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(reserved)</a:t>
            </a:r>
            <a:endParaRPr sz="2400" dirty="0">
              <a:latin typeface="Carlito"/>
              <a:ea typeface="Carlito"/>
              <a:cs typeface="Carlito"/>
              <a:sym typeface="Carlito"/>
            </a:endParaRPr>
          </a:p>
          <a:p>
            <a:pPr marL="203200" marR="1010919" lvl="0" indent="-200025" algn="l" rtl="0">
              <a:lnSpc>
                <a:spcPct val="106976"/>
              </a:lnSpc>
              <a:spcBef>
                <a:spcPts val="1225"/>
              </a:spcBef>
              <a:spcAft>
                <a:spcPts val="0"/>
              </a:spcAft>
              <a:buClr>
                <a:srgbClr val="E38311"/>
              </a:buClr>
              <a:buSzPts val="1850"/>
              <a:buFont typeface="Carlito"/>
              <a:buAutoNum type="arabicPeriod" startAt="2"/>
            </a:pP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Does </a:t>
            </a:r>
            <a:r>
              <a:rPr lang="en-US" sz="20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not</a:t>
            </a: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 send </a:t>
            </a:r>
            <a:r>
              <a:rPr lang="en-US" sz="2400" dirty="0" smtClean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subnet information</a:t>
            </a:r>
            <a:endParaRPr sz="2400" dirty="0">
              <a:latin typeface="Carlito"/>
              <a:ea typeface="Carlito"/>
              <a:cs typeface="Carlito"/>
              <a:sym typeface="Carlito"/>
            </a:endParaRPr>
          </a:p>
          <a:p>
            <a:pPr marL="198120" lvl="0" indent="-19558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 startAt="2"/>
            </a:pP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All networks are the same size</a:t>
            </a:r>
            <a:endParaRPr sz="2400" dirty="0">
              <a:latin typeface="Carlito"/>
              <a:ea typeface="Carlito"/>
              <a:cs typeface="Carlito"/>
              <a:sym typeface="Carlito"/>
            </a:endParaRPr>
          </a:p>
          <a:p>
            <a:pPr marL="216534" lvl="0" indent="-214629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 startAt="2"/>
            </a:pPr>
            <a:r>
              <a:rPr lang="en-US" sz="24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Have the same subnet mask</a:t>
            </a:r>
            <a:endParaRPr sz="2400" dirty="0"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096614" y="1794139"/>
            <a:ext cx="3798600" cy="3194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350" rIns="0" bIns="0" anchor="t" anchorCtr="0">
            <a:spAutoFit/>
          </a:bodyPr>
          <a:lstStyle/>
          <a:p>
            <a:pPr marL="869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616F52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000" b="1" u="sng" dirty="0">
                <a:solidFill>
                  <a:srgbClr val="616F52"/>
                </a:solidFill>
                <a:latin typeface="Carlito"/>
                <a:ea typeface="Carlito"/>
                <a:cs typeface="Carlito"/>
                <a:sym typeface="Carlito"/>
              </a:rPr>
              <a:t>LASSLESS</a:t>
            </a:r>
            <a:endParaRPr sz="2000" dirty="0">
              <a:latin typeface="Carlito"/>
              <a:ea typeface="Carlito"/>
              <a:cs typeface="Carlito"/>
              <a:sym typeface="Carlito"/>
            </a:endParaRPr>
          </a:p>
          <a:p>
            <a:pPr marL="204470" marR="80010" lvl="0" indent="-203200" algn="l" rtl="0">
              <a:lnSpc>
                <a:spcPct val="108695"/>
              </a:lnSpc>
              <a:spcBef>
                <a:spcPts val="1250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2000" dirty="0" smtClean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Also </a:t>
            </a:r>
            <a:r>
              <a:rPr lang="en-US" sz="20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known as CIDR (Classless Inter-Domain Routing)</a:t>
            </a:r>
            <a:endParaRPr sz="2000" dirty="0">
              <a:latin typeface="Carlito"/>
              <a:ea typeface="Carlito"/>
              <a:cs typeface="Carlito"/>
              <a:sym typeface="Carlito"/>
            </a:endParaRPr>
          </a:p>
          <a:p>
            <a:pPr marL="213995" lvl="0" indent="-213995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/>
            </a:pPr>
            <a:r>
              <a:rPr lang="en-US" sz="20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Sends subnet information</a:t>
            </a:r>
            <a:endParaRPr sz="2000" dirty="0">
              <a:latin typeface="Carlito"/>
              <a:ea typeface="Carlito"/>
              <a:cs typeface="Carlito"/>
              <a:sym typeface="Carlito"/>
            </a:endParaRPr>
          </a:p>
          <a:p>
            <a:pPr marL="223520" lvl="0" indent="-22352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E38311"/>
              </a:buClr>
              <a:buSzPts val="2100"/>
              <a:buFont typeface="Carlito"/>
              <a:buAutoNum type="arabicPeriod"/>
            </a:pPr>
            <a:r>
              <a:rPr lang="en-US" sz="20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Network can be different sizes</a:t>
            </a:r>
            <a:endParaRPr sz="2000" dirty="0">
              <a:latin typeface="Carlito"/>
              <a:ea typeface="Carlito"/>
              <a:cs typeface="Carlito"/>
              <a:sym typeface="Carlito"/>
            </a:endParaRPr>
          </a:p>
          <a:p>
            <a:pPr marL="232409" lvl="0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E38311"/>
              </a:buClr>
              <a:buSzPts val="2150"/>
              <a:buFont typeface="Carlito"/>
              <a:buAutoNum type="arabicPeriod"/>
            </a:pPr>
            <a:r>
              <a:rPr lang="en-US" sz="20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Networks can have different</a:t>
            </a:r>
            <a:endParaRPr sz="2000" dirty="0">
              <a:latin typeface="Carlito"/>
              <a:ea typeface="Carlito"/>
              <a:cs typeface="Carlito"/>
              <a:sym typeface="Carlito"/>
            </a:endParaRPr>
          </a:p>
          <a:p>
            <a:pPr marL="204470" marR="5080" lvl="0" indent="0" algn="l" rtl="0">
              <a:lnSpc>
                <a:spcPct val="10869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subnet masks using VLSM (Variable Length Subnet Mask)</a:t>
            </a:r>
            <a:endParaRPr sz="2000" dirty="0"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9037446" y="6351523"/>
            <a:ext cx="149860" cy="32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Network&amp; Host Number Formulas</a:t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1622297" y="3854043"/>
            <a:ext cx="6692900" cy="213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The formulas are the default configuration for each class: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E38311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lang="en-US" sz="23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 = Network Number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532130" lvl="0" indent="-21209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Assigned by the American Registry for Internet Numbers (ARIN)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0" indent="-21209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Administrator has no control over this part of the address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E38311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lang="en-US" sz="23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H = Host Number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532130" lvl="0" indent="-21209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Assigned and controlled by the network administrator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7544" y="2499360"/>
            <a:ext cx="1018032" cy="8336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" name="Google Shape;92;p6"/>
          <p:cNvGraphicFramePr/>
          <p:nvPr/>
        </p:nvGraphicFramePr>
        <p:xfrm>
          <a:off x="2435860" y="2487676"/>
          <a:ext cx="5090775" cy="1445275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10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41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 Byte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  <a:p>
                      <a:pPr marL="2927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>
                  <a:txBody>
                    <a:bodyPr/>
                    <a:lstStyle/>
                    <a:p>
                      <a:pPr marL="2641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 Byte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  <a:p>
                      <a:pPr marL="2927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>
                  <a:txBody>
                    <a:bodyPr/>
                    <a:lstStyle/>
                    <a:p>
                      <a:pPr marL="2622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 Byte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  <a:p>
                      <a:pPr marL="2914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>
                  <a:txBody>
                    <a:bodyPr/>
                    <a:lstStyle/>
                    <a:p>
                      <a:pPr marL="2628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 Byte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  <a:p>
                      <a:pPr marL="2914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A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311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B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C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3" name="Google Shape;93;p6"/>
          <p:cNvGrpSpPr/>
          <p:nvPr/>
        </p:nvGrpSpPr>
        <p:grpSpPr>
          <a:xfrm>
            <a:off x="4248150" y="2854451"/>
            <a:ext cx="188341" cy="92710"/>
            <a:chOff x="4248150" y="2854451"/>
            <a:chExt cx="188341" cy="92710"/>
          </a:xfrm>
        </p:grpSpPr>
        <p:sp>
          <p:nvSpPr>
            <p:cNvPr id="94" name="Google Shape;94;p6"/>
            <p:cNvSpPr/>
            <p:nvPr/>
          </p:nvSpPr>
          <p:spPr>
            <a:xfrm>
              <a:off x="4248150" y="2902457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4341876" y="2854451"/>
              <a:ext cx="94615" cy="92710"/>
            </a:xfrm>
            <a:custGeom>
              <a:avLst/>
              <a:gdLst/>
              <a:ahLst/>
              <a:cxnLst/>
              <a:rect l="l" t="t" r="r" b="b"/>
              <a:pathLst>
                <a:path w="94614" h="92710" extrusionOk="0">
                  <a:moveTo>
                    <a:pt x="0" y="0"/>
                  </a:moveTo>
                  <a:lnTo>
                    <a:pt x="0" y="92583"/>
                  </a:lnTo>
                  <a:lnTo>
                    <a:pt x="94361" y="46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96;p6"/>
          <p:cNvGrpSpPr/>
          <p:nvPr/>
        </p:nvGrpSpPr>
        <p:grpSpPr>
          <a:xfrm>
            <a:off x="3529584" y="2854451"/>
            <a:ext cx="189611" cy="92710"/>
            <a:chOff x="3529584" y="2854451"/>
            <a:chExt cx="189611" cy="92710"/>
          </a:xfrm>
        </p:grpSpPr>
        <p:sp>
          <p:nvSpPr>
            <p:cNvPr id="97" name="Google Shape;97;p6"/>
            <p:cNvSpPr/>
            <p:nvPr/>
          </p:nvSpPr>
          <p:spPr>
            <a:xfrm>
              <a:off x="3608070" y="2902457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 h="120000" extrusionOk="0">
                  <a:moveTo>
                    <a:pt x="110743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529584" y="2854451"/>
              <a:ext cx="94615" cy="92710"/>
            </a:xfrm>
            <a:custGeom>
              <a:avLst/>
              <a:gdLst/>
              <a:ahLst/>
              <a:cxnLst/>
              <a:rect l="l" t="t" r="r" b="b"/>
              <a:pathLst>
                <a:path w="94614" h="92710" extrusionOk="0">
                  <a:moveTo>
                    <a:pt x="94361" y="0"/>
                  </a:moveTo>
                  <a:lnTo>
                    <a:pt x="0" y="46989"/>
                  </a:lnTo>
                  <a:lnTo>
                    <a:pt x="94361" y="92583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6"/>
          <p:cNvGrpSpPr/>
          <p:nvPr/>
        </p:nvGrpSpPr>
        <p:grpSpPr>
          <a:xfrm>
            <a:off x="7297673" y="2846832"/>
            <a:ext cx="186817" cy="94615"/>
            <a:chOff x="7297673" y="2846832"/>
            <a:chExt cx="186817" cy="94615"/>
          </a:xfrm>
        </p:grpSpPr>
        <p:sp>
          <p:nvSpPr>
            <p:cNvPr id="100" name="Google Shape;100;p6"/>
            <p:cNvSpPr/>
            <p:nvPr/>
          </p:nvSpPr>
          <p:spPr>
            <a:xfrm>
              <a:off x="7297673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7389875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 extrusionOk="0">
                  <a:moveTo>
                    <a:pt x="0" y="0"/>
                  </a:moveTo>
                  <a:lnTo>
                    <a:pt x="0" y="94360"/>
                  </a:lnTo>
                  <a:lnTo>
                    <a:pt x="94360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6"/>
          <p:cNvGrpSpPr/>
          <p:nvPr/>
        </p:nvGrpSpPr>
        <p:grpSpPr>
          <a:xfrm>
            <a:off x="6577583" y="2846832"/>
            <a:ext cx="189865" cy="94615"/>
            <a:chOff x="6577583" y="2846832"/>
            <a:chExt cx="189865" cy="94615"/>
          </a:xfrm>
        </p:grpSpPr>
        <p:sp>
          <p:nvSpPr>
            <p:cNvPr id="103" name="Google Shape;103;p6"/>
            <p:cNvSpPr/>
            <p:nvPr/>
          </p:nvSpPr>
          <p:spPr>
            <a:xfrm>
              <a:off x="6657593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577583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 extrusionOk="0">
                  <a:moveTo>
                    <a:pt x="94361" y="0"/>
                  </a:moveTo>
                  <a:lnTo>
                    <a:pt x="0" y="47243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6"/>
          <p:cNvGrpSpPr/>
          <p:nvPr/>
        </p:nvGrpSpPr>
        <p:grpSpPr>
          <a:xfrm>
            <a:off x="6278117" y="2846832"/>
            <a:ext cx="188341" cy="94615"/>
            <a:chOff x="6278117" y="2846832"/>
            <a:chExt cx="188341" cy="94615"/>
          </a:xfrm>
        </p:grpSpPr>
        <p:sp>
          <p:nvSpPr>
            <p:cNvPr id="106" name="Google Shape;106;p6"/>
            <p:cNvSpPr/>
            <p:nvPr/>
          </p:nvSpPr>
          <p:spPr>
            <a:xfrm>
              <a:off x="6278117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0" y="0"/>
                  </a:moveTo>
                  <a:lnTo>
                    <a:pt x="109601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371843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0" y="0"/>
                  </a:moveTo>
                  <a:lnTo>
                    <a:pt x="0" y="94360"/>
                  </a:lnTo>
                  <a:lnTo>
                    <a:pt x="94360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6"/>
          <p:cNvGrpSpPr/>
          <p:nvPr/>
        </p:nvGrpSpPr>
        <p:grpSpPr>
          <a:xfrm>
            <a:off x="5559552" y="2846832"/>
            <a:ext cx="189865" cy="94615"/>
            <a:chOff x="5559552" y="2846832"/>
            <a:chExt cx="189865" cy="94615"/>
          </a:xfrm>
        </p:grpSpPr>
        <p:sp>
          <p:nvSpPr>
            <p:cNvPr id="109" name="Google Shape;109;p6"/>
            <p:cNvSpPr/>
            <p:nvPr/>
          </p:nvSpPr>
          <p:spPr>
            <a:xfrm>
              <a:off x="5639562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5559552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243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6"/>
          <p:cNvGrpSpPr/>
          <p:nvPr/>
        </p:nvGrpSpPr>
        <p:grpSpPr>
          <a:xfrm>
            <a:off x="5258561" y="2846832"/>
            <a:ext cx="188341" cy="94615"/>
            <a:chOff x="5258561" y="2846832"/>
            <a:chExt cx="188341" cy="94615"/>
          </a:xfrm>
        </p:grpSpPr>
        <p:sp>
          <p:nvSpPr>
            <p:cNvPr id="112" name="Google Shape;112;p6"/>
            <p:cNvSpPr/>
            <p:nvPr/>
          </p:nvSpPr>
          <p:spPr>
            <a:xfrm>
              <a:off x="5258561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5352287" y="284683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0" y="0"/>
                  </a:moveTo>
                  <a:lnTo>
                    <a:pt x="0" y="94360"/>
                  </a:lnTo>
                  <a:lnTo>
                    <a:pt x="94361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" name="Google Shape;114;p6"/>
          <p:cNvGrpSpPr/>
          <p:nvPr/>
        </p:nvGrpSpPr>
        <p:grpSpPr>
          <a:xfrm>
            <a:off x="4552188" y="2846832"/>
            <a:ext cx="188341" cy="94615"/>
            <a:chOff x="4552188" y="2846832"/>
            <a:chExt cx="188341" cy="94615"/>
          </a:xfrm>
        </p:grpSpPr>
        <p:sp>
          <p:nvSpPr>
            <p:cNvPr id="115" name="Google Shape;115;p6"/>
            <p:cNvSpPr/>
            <p:nvPr/>
          </p:nvSpPr>
          <p:spPr>
            <a:xfrm>
              <a:off x="4630674" y="289483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52188" y="2846832"/>
              <a:ext cx="92710" cy="94615"/>
            </a:xfrm>
            <a:custGeom>
              <a:avLst/>
              <a:gdLst/>
              <a:ahLst/>
              <a:cxnLst/>
              <a:rect l="l" t="t" r="r" b="b"/>
              <a:pathLst>
                <a:path w="92710" h="94614" extrusionOk="0">
                  <a:moveTo>
                    <a:pt x="92583" y="0"/>
                  </a:moveTo>
                  <a:lnTo>
                    <a:pt x="0" y="47243"/>
                  </a:lnTo>
                  <a:lnTo>
                    <a:pt x="92583" y="94360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A Addresses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1595882" y="3382672"/>
            <a:ext cx="6640195" cy="254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229870" lvl="0" indent="-191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First octet only identifies the network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29870" lvl="0" indent="-191770" algn="l" rtl="0">
              <a:lnSpc>
                <a:spcPct val="115517"/>
              </a:lnSpc>
              <a:spcBef>
                <a:spcPts val="160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When written in a binary format, the first (leftmost) bit of a Class A address is always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0" algn="l" rtl="0">
              <a:lnSpc>
                <a:spcPct val="1155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0 (zero)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30504" lvl="0" indent="-192405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 startAt="3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Class A IP address example: 124.95.44.15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30504" lvl="0" indent="-192405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 startAt="3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Range from </a:t>
            </a:r>
            <a:r>
              <a:rPr lang="en-US" sz="145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1-126 </a:t>
            </a: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in their first octet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30504" lvl="0" indent="-19240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 startAt="3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127 is part of a class A range but has been reserved for loopback testing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29870" lvl="0" indent="-191770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 startAt="3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Zero (0) can’t be used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30504" lvl="0" indent="-192405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 startAt="3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Remaining three octets can be used for the host portion of the address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  <a:p>
            <a:pPr marL="230504" lvl="0" indent="-19240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38311"/>
              </a:buClr>
              <a:buSzPts val="1450"/>
              <a:buFont typeface="Carlito"/>
              <a:buAutoNum type="arabicPeriod" startAt="3"/>
            </a:pP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r>
              <a:rPr lang="en-US" sz="1500" baseline="300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24 </a:t>
            </a:r>
            <a:r>
              <a:rPr lang="en-US" sz="14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or 16,777,216, possible IP addresses per class A network</a:t>
            </a:r>
            <a:endParaRPr sz="1450">
              <a:latin typeface="Carlito"/>
              <a:ea typeface="Carlito"/>
              <a:cs typeface="Carlito"/>
              <a:sym typeface="Carlito"/>
            </a:endParaRPr>
          </a:p>
        </p:txBody>
      </p:sp>
      <p:graphicFrame>
        <p:nvGraphicFramePr>
          <p:cNvPr id="125" name="Google Shape;125;p7"/>
          <p:cNvGraphicFramePr/>
          <p:nvPr/>
        </p:nvGraphicFramePr>
        <p:xfrm>
          <a:off x="2624835" y="2487676"/>
          <a:ext cx="4526250" cy="916950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11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75">
                <a:tc gridSpan="4"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A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24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6" name="Google Shape;126;p7"/>
          <p:cNvGrpSpPr/>
          <p:nvPr/>
        </p:nvGrpSpPr>
        <p:grpSpPr>
          <a:xfrm>
            <a:off x="5848350" y="2897123"/>
            <a:ext cx="1194181" cy="94615"/>
            <a:chOff x="5848350" y="2897123"/>
            <a:chExt cx="1194181" cy="94615"/>
          </a:xfrm>
        </p:grpSpPr>
        <p:sp>
          <p:nvSpPr>
            <p:cNvPr id="127" name="Google Shape;127;p7"/>
            <p:cNvSpPr/>
            <p:nvPr/>
          </p:nvSpPr>
          <p:spPr>
            <a:xfrm>
              <a:off x="5848350" y="2945129"/>
              <a:ext cx="1115695" cy="0"/>
            </a:xfrm>
            <a:custGeom>
              <a:avLst/>
              <a:gdLst/>
              <a:ahLst/>
              <a:cxnLst/>
              <a:rect l="l" t="t" r="r" b="b"/>
              <a:pathLst>
                <a:path w="1115695" h="120000" extrusionOk="0">
                  <a:moveTo>
                    <a:pt x="0" y="0"/>
                  </a:moveTo>
                  <a:lnTo>
                    <a:pt x="1115441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947916" y="289712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4360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7"/>
          <p:cNvGrpSpPr/>
          <p:nvPr/>
        </p:nvGrpSpPr>
        <p:grpSpPr>
          <a:xfrm>
            <a:off x="3922776" y="2907792"/>
            <a:ext cx="1195705" cy="94615"/>
            <a:chOff x="3922776" y="2907792"/>
            <a:chExt cx="1195705" cy="94615"/>
          </a:xfrm>
        </p:grpSpPr>
        <p:sp>
          <p:nvSpPr>
            <p:cNvPr id="130" name="Google Shape;130;p7"/>
            <p:cNvSpPr/>
            <p:nvPr/>
          </p:nvSpPr>
          <p:spPr>
            <a:xfrm>
              <a:off x="4002786" y="2955798"/>
              <a:ext cx="1115695" cy="0"/>
            </a:xfrm>
            <a:custGeom>
              <a:avLst/>
              <a:gdLst/>
              <a:ahLst/>
              <a:cxnLst/>
              <a:rect l="l" t="t" r="r" b="b"/>
              <a:pathLst>
                <a:path w="1115695" h="120000" extrusionOk="0">
                  <a:moveTo>
                    <a:pt x="1115440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922776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244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3461765" y="2910839"/>
            <a:ext cx="188341" cy="94615"/>
            <a:chOff x="3461765" y="2910839"/>
            <a:chExt cx="188341" cy="94615"/>
          </a:xfrm>
        </p:grpSpPr>
        <p:sp>
          <p:nvSpPr>
            <p:cNvPr id="133" name="Google Shape;133;p7"/>
            <p:cNvSpPr/>
            <p:nvPr/>
          </p:nvSpPr>
          <p:spPr>
            <a:xfrm>
              <a:off x="3461765" y="295884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555491" y="2910839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4361" y="47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7"/>
          <p:cNvGrpSpPr/>
          <p:nvPr/>
        </p:nvGrpSpPr>
        <p:grpSpPr>
          <a:xfrm>
            <a:off x="2743200" y="2910839"/>
            <a:ext cx="189865" cy="94615"/>
            <a:chOff x="2743200" y="2910839"/>
            <a:chExt cx="189865" cy="94615"/>
          </a:xfrm>
        </p:grpSpPr>
        <p:sp>
          <p:nvSpPr>
            <p:cNvPr id="136" name="Google Shape;136;p7"/>
            <p:cNvSpPr/>
            <p:nvPr/>
          </p:nvSpPr>
          <p:spPr>
            <a:xfrm>
              <a:off x="2823210" y="295884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120000" extrusionOk="0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2743200" y="2910839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117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B Addresses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1595882" y="3510153"/>
            <a:ext cx="6660515" cy="215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075" rIns="0" bIns="0" anchor="t" anchorCtr="0">
            <a:spAutoFit/>
          </a:bodyPr>
          <a:lstStyle/>
          <a:p>
            <a:pPr marL="231140" marR="278130" lvl="0" indent="-193675" algn="l" rtl="0">
              <a:lnSpc>
                <a:spcPct val="711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When written in a binary format, the first (leftmost) bit of a Class B address is always </a:t>
            </a:r>
            <a:r>
              <a:rPr lang="en-US" sz="18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10 (one and zero)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775" lvl="0" indent="-1936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Class B IP address example: 151.10.13.28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-19304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The first two octets identify the network number assigned by ARIN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-19304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Range from </a:t>
            </a:r>
            <a:r>
              <a:rPr lang="en-US" sz="18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128 to 191 </a:t>
            </a: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in their first octet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-193040" algn="l" rtl="0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Remaining two octets can be used for the host portion of the address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18440" lvl="0" indent="-186055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r>
              <a:rPr lang="en-US" sz="1800" baseline="300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16 </a:t>
            </a: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or 65,536, possible IP addresses per class B network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  <p:graphicFrame>
        <p:nvGraphicFramePr>
          <p:cNvPr id="144" name="Google Shape;144;p8"/>
          <p:cNvGraphicFramePr/>
          <p:nvPr/>
        </p:nvGraphicFramePr>
        <p:xfrm>
          <a:off x="2624835" y="2487676"/>
          <a:ext cx="4526250" cy="916950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11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75">
                <a:tc gridSpan="4"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B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16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16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2336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2349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5" name="Google Shape;145;p8"/>
          <p:cNvGrpSpPr/>
          <p:nvPr/>
        </p:nvGrpSpPr>
        <p:grpSpPr>
          <a:xfrm>
            <a:off x="6351270" y="2939795"/>
            <a:ext cx="753745" cy="94615"/>
            <a:chOff x="6351270" y="2939795"/>
            <a:chExt cx="753745" cy="94615"/>
          </a:xfrm>
        </p:grpSpPr>
        <p:sp>
          <p:nvSpPr>
            <p:cNvPr id="146" name="Google Shape;146;p8"/>
            <p:cNvSpPr/>
            <p:nvPr/>
          </p:nvSpPr>
          <p:spPr>
            <a:xfrm>
              <a:off x="6351270" y="2987801"/>
              <a:ext cx="676910" cy="0"/>
            </a:xfrm>
            <a:custGeom>
              <a:avLst/>
              <a:gdLst/>
              <a:ahLst/>
              <a:cxnLst/>
              <a:rect l="l" t="t" r="r" b="b"/>
              <a:pathLst>
                <a:path w="676909" h="120000" extrusionOk="0">
                  <a:moveTo>
                    <a:pt x="0" y="0"/>
                  </a:moveTo>
                  <a:lnTo>
                    <a:pt x="676401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7010400" y="2939795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4360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Google Shape;148;p8"/>
          <p:cNvGrpSpPr/>
          <p:nvPr/>
        </p:nvGrpSpPr>
        <p:grpSpPr>
          <a:xfrm>
            <a:off x="4968240" y="2947416"/>
            <a:ext cx="755396" cy="94615"/>
            <a:chOff x="4968240" y="2947416"/>
            <a:chExt cx="755396" cy="94615"/>
          </a:xfrm>
        </p:grpSpPr>
        <p:sp>
          <p:nvSpPr>
            <p:cNvPr id="149" name="Google Shape;149;p8"/>
            <p:cNvSpPr/>
            <p:nvPr/>
          </p:nvSpPr>
          <p:spPr>
            <a:xfrm>
              <a:off x="5046726" y="2986278"/>
              <a:ext cx="676910" cy="8890"/>
            </a:xfrm>
            <a:custGeom>
              <a:avLst/>
              <a:gdLst/>
              <a:ahLst/>
              <a:cxnLst/>
              <a:rect l="l" t="t" r="r" b="b"/>
              <a:pathLst>
                <a:path w="676910" h="8889" extrusionOk="0">
                  <a:moveTo>
                    <a:pt x="676401" y="0"/>
                  </a:moveTo>
                  <a:lnTo>
                    <a:pt x="0" y="8762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4968240" y="294741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2837" y="0"/>
                  </a:moveTo>
                  <a:lnTo>
                    <a:pt x="0" y="47117"/>
                  </a:lnTo>
                  <a:lnTo>
                    <a:pt x="94361" y="94361"/>
                  </a:lnTo>
                  <a:lnTo>
                    <a:pt x="92837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4088130" y="2947416"/>
            <a:ext cx="741553" cy="94615"/>
            <a:chOff x="4088130" y="2947416"/>
            <a:chExt cx="741553" cy="94615"/>
          </a:xfrm>
        </p:grpSpPr>
        <p:sp>
          <p:nvSpPr>
            <p:cNvPr id="152" name="Google Shape;152;p8"/>
            <p:cNvSpPr/>
            <p:nvPr/>
          </p:nvSpPr>
          <p:spPr>
            <a:xfrm>
              <a:off x="4088130" y="2993898"/>
              <a:ext cx="664210" cy="1270"/>
            </a:xfrm>
            <a:custGeom>
              <a:avLst/>
              <a:gdLst/>
              <a:ahLst/>
              <a:cxnLst/>
              <a:rect l="l" t="t" r="r" b="b"/>
              <a:pathLst>
                <a:path w="664210" h="1269" extrusionOk="0">
                  <a:moveTo>
                    <a:pt x="0" y="0"/>
                  </a:moveTo>
                  <a:lnTo>
                    <a:pt x="664083" y="1269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4735068" y="294741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4361" y="47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2743200" y="2947416"/>
            <a:ext cx="716915" cy="94615"/>
            <a:chOff x="2743200" y="2947416"/>
            <a:chExt cx="716915" cy="94615"/>
          </a:xfrm>
        </p:grpSpPr>
        <p:sp>
          <p:nvSpPr>
            <p:cNvPr id="155" name="Google Shape;155;p8"/>
            <p:cNvSpPr/>
            <p:nvPr/>
          </p:nvSpPr>
          <p:spPr>
            <a:xfrm>
              <a:off x="2823210" y="2993898"/>
              <a:ext cx="636905" cy="1270"/>
            </a:xfrm>
            <a:custGeom>
              <a:avLst/>
              <a:gdLst/>
              <a:ahLst/>
              <a:cxnLst/>
              <a:rect l="l" t="t" r="r" b="b"/>
              <a:pathLst>
                <a:path w="636904" h="1269" extrusionOk="0">
                  <a:moveTo>
                    <a:pt x="636524" y="0"/>
                  </a:moveTo>
                  <a:lnTo>
                    <a:pt x="0" y="1269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2743200" y="294741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117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C Addresses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595882" y="3544570"/>
            <a:ext cx="6552565" cy="251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231140" marR="172720" lvl="0" indent="-193675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When written in a binary format, the first (leftmost) bit of a Class C address is always </a:t>
            </a:r>
            <a:r>
              <a:rPr lang="en-US" sz="18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110 (one, one and zero)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775" lvl="0" indent="-193675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Class C IP address example: 201.110.213.28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-19304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The first three octets identify the network number assigned by ARIN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-19304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Range from </a:t>
            </a:r>
            <a:r>
              <a:rPr lang="en-US" sz="18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192 to 223 </a:t>
            </a: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in their first octet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31140" lvl="0" indent="-19304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Last octet can be used for the host portion of the address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20979" lvl="0" indent="-18542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r>
              <a:rPr lang="en-US" sz="1800" baseline="300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8 </a:t>
            </a: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or 256, </a:t>
            </a:r>
            <a:r>
              <a:rPr lang="en-US" sz="195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possible </a:t>
            </a: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IP addresses per class C network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  <p:graphicFrame>
        <p:nvGraphicFramePr>
          <p:cNvPr id="163" name="Google Shape;163;p9"/>
          <p:cNvGraphicFramePr/>
          <p:nvPr/>
        </p:nvGraphicFramePr>
        <p:xfrm>
          <a:off x="2624835" y="2487676"/>
          <a:ext cx="4526250" cy="916950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11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75">
                <a:tc gridSpan="4"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C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24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 Bits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2336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2349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2336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</a:t>
                      </a:r>
                      <a:endParaRPr sz="145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64" name="Google Shape;164;p9"/>
          <p:cNvGrpSpPr/>
          <p:nvPr/>
        </p:nvGrpSpPr>
        <p:grpSpPr>
          <a:xfrm>
            <a:off x="4693158" y="2907792"/>
            <a:ext cx="1194181" cy="94615"/>
            <a:chOff x="4693158" y="2907792"/>
            <a:chExt cx="1194181" cy="94615"/>
          </a:xfrm>
        </p:grpSpPr>
        <p:sp>
          <p:nvSpPr>
            <p:cNvPr id="165" name="Google Shape;165;p9"/>
            <p:cNvSpPr/>
            <p:nvPr/>
          </p:nvSpPr>
          <p:spPr>
            <a:xfrm>
              <a:off x="4693158" y="2955798"/>
              <a:ext cx="1115695" cy="0"/>
            </a:xfrm>
            <a:custGeom>
              <a:avLst/>
              <a:gdLst/>
              <a:ahLst/>
              <a:cxnLst/>
              <a:rect l="l" t="t" r="r" b="b"/>
              <a:pathLst>
                <a:path w="1115695" h="120000" extrusionOk="0">
                  <a:moveTo>
                    <a:pt x="0" y="0"/>
                  </a:moveTo>
                  <a:lnTo>
                    <a:pt x="111544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5792724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4361" y="4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9"/>
          <p:cNvGrpSpPr/>
          <p:nvPr/>
        </p:nvGrpSpPr>
        <p:grpSpPr>
          <a:xfrm>
            <a:off x="2767583" y="2918460"/>
            <a:ext cx="1195451" cy="94615"/>
            <a:chOff x="2767583" y="2918460"/>
            <a:chExt cx="1195451" cy="94615"/>
          </a:xfrm>
        </p:grpSpPr>
        <p:sp>
          <p:nvSpPr>
            <p:cNvPr id="168" name="Google Shape;168;p9"/>
            <p:cNvSpPr/>
            <p:nvPr/>
          </p:nvSpPr>
          <p:spPr>
            <a:xfrm>
              <a:off x="2846069" y="2966466"/>
              <a:ext cx="1116965" cy="0"/>
            </a:xfrm>
            <a:custGeom>
              <a:avLst/>
              <a:gdLst/>
              <a:ahLst/>
              <a:cxnLst/>
              <a:rect l="l" t="t" r="r" b="b"/>
              <a:pathLst>
                <a:path w="1116964" h="120000" extrusionOk="0">
                  <a:moveTo>
                    <a:pt x="1116583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2767583" y="291846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243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9"/>
          <p:cNvGrpSpPr/>
          <p:nvPr/>
        </p:nvGrpSpPr>
        <p:grpSpPr>
          <a:xfrm>
            <a:off x="6854190" y="2907792"/>
            <a:ext cx="188341" cy="94615"/>
            <a:chOff x="6854190" y="2907792"/>
            <a:chExt cx="188341" cy="94615"/>
          </a:xfrm>
        </p:grpSpPr>
        <p:sp>
          <p:nvSpPr>
            <p:cNvPr id="171" name="Google Shape;171;p9"/>
            <p:cNvSpPr/>
            <p:nvPr/>
          </p:nvSpPr>
          <p:spPr>
            <a:xfrm>
              <a:off x="6854190" y="295579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0" y="0"/>
                  </a:moveTo>
                  <a:lnTo>
                    <a:pt x="10960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6947916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4360" y="4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9"/>
          <p:cNvGrpSpPr/>
          <p:nvPr/>
        </p:nvGrpSpPr>
        <p:grpSpPr>
          <a:xfrm>
            <a:off x="6135623" y="2907792"/>
            <a:ext cx="189865" cy="94615"/>
            <a:chOff x="6135623" y="2907792"/>
            <a:chExt cx="189865" cy="94615"/>
          </a:xfrm>
        </p:grpSpPr>
        <p:sp>
          <p:nvSpPr>
            <p:cNvPr id="174" name="Google Shape;174;p9"/>
            <p:cNvSpPr/>
            <p:nvPr/>
          </p:nvSpPr>
          <p:spPr>
            <a:xfrm>
              <a:off x="6215633" y="295579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120000" extrusionOk="0">
                  <a:moveTo>
                    <a:pt x="109600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6135623" y="290779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244"/>
                  </a:lnTo>
                  <a:lnTo>
                    <a:pt x="94361" y="94361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545907" y="2556125"/>
            <a:ext cx="91761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 b="1">
                <a:latin typeface="Times New Roman"/>
                <a:ea typeface="Times New Roman"/>
                <a:cs typeface="Times New Roman"/>
                <a:sym typeface="Times New Roman"/>
              </a:rPr>
              <a:t>IMPORTANT!!!</a:t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 b="1">
                <a:latin typeface="Times New Roman"/>
                <a:ea typeface="Times New Roman"/>
                <a:cs typeface="Times New Roman"/>
                <a:sym typeface="Times New Roman"/>
              </a:rPr>
              <a:t>MEMORIZE</a:t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6544182" y="3905834"/>
            <a:ext cx="1700530" cy="167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42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00A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00A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00A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42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8E42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00A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00A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42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8E42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8E42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413E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solidFill>
                  <a:srgbClr val="00A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4010659" y="3905834"/>
            <a:ext cx="1848485" cy="167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321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1 – 126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128 – 191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192 – 223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2010917" y="3875913"/>
            <a:ext cx="1474470" cy="168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just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Class A Class B Class C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0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 Ranges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084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NetworkAddress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1622297" y="3359022"/>
            <a:ext cx="5183505" cy="254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825" rIns="0" bIns="0" anchor="t" anchorCtr="0">
            <a:spAutoFit/>
          </a:bodyPr>
          <a:lstStyle/>
          <a:p>
            <a:pPr marL="203834" lvl="0" indent="-1911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Ends with binary 0s in all host bits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03834" lvl="0" indent="-19113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Also know as the </a:t>
            </a:r>
            <a:r>
              <a:rPr lang="en-US" sz="18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wire address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04470" lvl="0" indent="-19177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Never used as a device IP address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03834" lvl="0" indent="-191134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by routers to forward data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205104" lvl="0" indent="-192405" algn="l" rtl="0">
              <a:lnSpc>
                <a:spcPct val="118611"/>
              </a:lnSpc>
              <a:spcBef>
                <a:spcPts val="34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Example IP address: 152.21.2.3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16785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400"/>
              <a:buFont typeface="Arial"/>
              <a:buChar char="◦"/>
            </a:pPr>
            <a:r>
              <a:rPr lang="en-US" sz="14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Class B</a:t>
            </a:r>
            <a:endParaRPr sz="14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400"/>
              <a:buFont typeface="Arial"/>
              <a:buChar char="◦"/>
            </a:pPr>
            <a:r>
              <a:rPr lang="en-US" sz="14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First two octets are assigned</a:t>
            </a:r>
            <a:endParaRPr sz="14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E38311"/>
              </a:buClr>
              <a:buSzPts val="1400"/>
              <a:buFont typeface="Arial"/>
              <a:buChar char="◦"/>
            </a:pPr>
            <a:r>
              <a:rPr lang="en-US" sz="14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Last two octets are host numbers used for devices in the network</a:t>
            </a:r>
            <a:endParaRPr sz="14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E38311"/>
              </a:buClr>
              <a:buSzPts val="1400"/>
              <a:buFont typeface="Arial"/>
              <a:buChar char="◦"/>
            </a:pPr>
            <a:r>
              <a:rPr lang="en-US" sz="14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Network address: 152.21.0.0</a:t>
            </a:r>
            <a:endParaRPr sz="1400">
              <a:latin typeface="Carlito"/>
              <a:ea typeface="Carlito"/>
              <a:cs typeface="Carlito"/>
              <a:sym typeface="Carlito"/>
            </a:endParaRPr>
          </a:p>
        </p:txBody>
      </p:sp>
      <p:graphicFrame>
        <p:nvGraphicFramePr>
          <p:cNvPr id="191" name="Google Shape;191;p13"/>
          <p:cNvGraphicFramePr/>
          <p:nvPr/>
        </p:nvGraphicFramePr>
        <p:xfrm>
          <a:off x="2938779" y="2361183"/>
          <a:ext cx="4084925" cy="981050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7650">
                <a:tc gridSpan="4">
                  <a:txBody>
                    <a:bodyPr/>
                    <a:lstStyle/>
                    <a:p>
                      <a:pPr marL="581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Host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0">
                <a:tc gridSpan="8"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32 Bits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50">
                <a:tc>
                  <a:txBody>
                    <a:bodyPr/>
                    <a:lstStyle/>
                    <a:p>
                      <a:pPr marL="1816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152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2" name="Google Shape;192;p13"/>
          <p:cNvGrpSpPr/>
          <p:nvPr/>
        </p:nvGrpSpPr>
        <p:grpSpPr>
          <a:xfrm>
            <a:off x="5449061" y="2819400"/>
            <a:ext cx="1466596" cy="94615"/>
            <a:chOff x="5449061" y="2819400"/>
            <a:chExt cx="1466596" cy="94615"/>
          </a:xfrm>
        </p:grpSpPr>
        <p:sp>
          <p:nvSpPr>
            <p:cNvPr id="193" name="Google Shape;193;p13"/>
            <p:cNvSpPr/>
            <p:nvPr/>
          </p:nvSpPr>
          <p:spPr>
            <a:xfrm>
              <a:off x="5449061" y="2867405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5" h="120000" extrusionOk="0">
                  <a:moveTo>
                    <a:pt x="0" y="0"/>
                  </a:moveTo>
                  <a:lnTo>
                    <a:pt x="1389761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6822947" y="2819400"/>
              <a:ext cx="92710" cy="94615"/>
            </a:xfrm>
            <a:custGeom>
              <a:avLst/>
              <a:gdLst/>
              <a:ahLst/>
              <a:cxnLst/>
              <a:rect l="l" t="t" r="r" b="b"/>
              <a:pathLst>
                <a:path w="92709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2582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13"/>
          <p:cNvGrpSpPr/>
          <p:nvPr/>
        </p:nvGrpSpPr>
        <p:grpSpPr>
          <a:xfrm>
            <a:off x="3081527" y="2827020"/>
            <a:ext cx="1470025" cy="94615"/>
            <a:chOff x="3081527" y="2827020"/>
            <a:chExt cx="1470025" cy="94615"/>
          </a:xfrm>
        </p:grpSpPr>
        <p:sp>
          <p:nvSpPr>
            <p:cNvPr id="196" name="Google Shape;196;p13"/>
            <p:cNvSpPr/>
            <p:nvPr/>
          </p:nvSpPr>
          <p:spPr>
            <a:xfrm>
              <a:off x="3161537" y="2875026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4" h="120000" extrusionOk="0">
                  <a:moveTo>
                    <a:pt x="1389761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3081527" y="282702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116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Network Numbers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2375407" y="3661664"/>
            <a:ext cx="13322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2. 117.23.8.3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2375407" y="4265167"/>
            <a:ext cx="1736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3. 156.132.64.12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2375407" y="4868926"/>
            <a:ext cx="18345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4. 208.150.112.16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2375407" y="5472429"/>
            <a:ext cx="15849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5. 91.118.125.2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9" name="Google Shape;209;p14"/>
          <p:cNvGrpSpPr/>
          <p:nvPr/>
        </p:nvGrpSpPr>
        <p:grpSpPr>
          <a:xfrm>
            <a:off x="4463796" y="3176016"/>
            <a:ext cx="881126" cy="166370"/>
            <a:chOff x="4463796" y="3176016"/>
            <a:chExt cx="881126" cy="166370"/>
          </a:xfrm>
        </p:grpSpPr>
        <p:sp>
          <p:nvSpPr>
            <p:cNvPr id="210" name="Google Shape;210;p14"/>
            <p:cNvSpPr/>
            <p:nvPr/>
          </p:nvSpPr>
          <p:spPr>
            <a:xfrm>
              <a:off x="4463796" y="3258312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5178552" y="3176016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14"/>
          <p:cNvSpPr txBox="1"/>
          <p:nvPr/>
        </p:nvSpPr>
        <p:spPr>
          <a:xfrm>
            <a:off x="1747277" y="2506225"/>
            <a:ext cx="58692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What is the network number for this IP address?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0080" lvl="0" indent="0" algn="l" rtl="0">
              <a:lnSpc>
                <a:spcPct val="100000"/>
              </a:lnSpc>
              <a:spcBef>
                <a:spcPts val="222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1. 194.78.112.6                       	</a:t>
            </a: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194.78.112.0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3" name="Google Shape;213;p14"/>
          <p:cNvGrpSpPr/>
          <p:nvPr/>
        </p:nvGrpSpPr>
        <p:grpSpPr>
          <a:xfrm>
            <a:off x="4463796" y="3741420"/>
            <a:ext cx="881126" cy="166370"/>
            <a:chOff x="4463796" y="3741420"/>
            <a:chExt cx="881126" cy="166370"/>
          </a:xfrm>
        </p:grpSpPr>
        <p:sp>
          <p:nvSpPr>
            <p:cNvPr id="214" name="Google Shape;214;p14"/>
            <p:cNvSpPr/>
            <p:nvPr/>
          </p:nvSpPr>
          <p:spPr>
            <a:xfrm>
              <a:off x="4463796" y="3823716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5178552" y="3741420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14"/>
          <p:cNvGrpSpPr/>
          <p:nvPr/>
        </p:nvGrpSpPr>
        <p:grpSpPr>
          <a:xfrm>
            <a:off x="4463796" y="4370832"/>
            <a:ext cx="881126" cy="164465"/>
            <a:chOff x="4463796" y="4370832"/>
            <a:chExt cx="881126" cy="164465"/>
          </a:xfrm>
        </p:grpSpPr>
        <p:sp>
          <p:nvSpPr>
            <p:cNvPr id="217" name="Google Shape;217;p14"/>
            <p:cNvSpPr/>
            <p:nvPr/>
          </p:nvSpPr>
          <p:spPr>
            <a:xfrm>
              <a:off x="4463796" y="4453128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5178552" y="4370832"/>
              <a:ext cx="166370" cy="164465"/>
            </a:xfrm>
            <a:custGeom>
              <a:avLst/>
              <a:gdLst/>
              <a:ahLst/>
              <a:cxnLst/>
              <a:rect l="l" t="t" r="r" b="b"/>
              <a:pathLst>
                <a:path w="166370" h="164464" extrusionOk="0">
                  <a:moveTo>
                    <a:pt x="0" y="0"/>
                  </a:moveTo>
                  <a:lnTo>
                    <a:pt x="0" y="164083"/>
                  </a:lnTo>
                  <a:lnTo>
                    <a:pt x="165862" y="8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4"/>
          <p:cNvGrpSpPr/>
          <p:nvPr/>
        </p:nvGrpSpPr>
        <p:grpSpPr>
          <a:xfrm>
            <a:off x="4463796" y="4936235"/>
            <a:ext cx="881126" cy="166370"/>
            <a:chOff x="4463796" y="4936235"/>
            <a:chExt cx="881126" cy="166370"/>
          </a:xfrm>
        </p:grpSpPr>
        <p:sp>
          <p:nvSpPr>
            <p:cNvPr id="220" name="Google Shape;220;p14"/>
            <p:cNvSpPr/>
            <p:nvPr/>
          </p:nvSpPr>
          <p:spPr>
            <a:xfrm>
              <a:off x="4463796" y="5018531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5178552" y="4936235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4"/>
          <p:cNvGrpSpPr/>
          <p:nvPr/>
        </p:nvGrpSpPr>
        <p:grpSpPr>
          <a:xfrm>
            <a:off x="4463796" y="5564123"/>
            <a:ext cx="881126" cy="166370"/>
            <a:chOff x="4463796" y="5564123"/>
            <a:chExt cx="881126" cy="166370"/>
          </a:xfrm>
        </p:grpSpPr>
        <p:sp>
          <p:nvSpPr>
            <p:cNvPr id="223" name="Google Shape;223;p14"/>
            <p:cNvSpPr/>
            <p:nvPr/>
          </p:nvSpPr>
          <p:spPr>
            <a:xfrm>
              <a:off x="4463796" y="5647943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5178552" y="556412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4"/>
          <p:cNvSpPr txBox="1"/>
          <p:nvPr/>
        </p:nvSpPr>
        <p:spPr>
          <a:xfrm>
            <a:off x="5443473" y="3622040"/>
            <a:ext cx="1372364" cy="31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 smtClean="0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117.0.0.0</a:t>
            </a:r>
            <a:endParaRPr sz="19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5457190" y="4249928"/>
            <a:ext cx="12255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156.132.0.0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5457190" y="4817109"/>
            <a:ext cx="190770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208.150.112.0</a:t>
            </a:r>
            <a:endParaRPr sz="19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5505958" y="5444997"/>
            <a:ext cx="8432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91.0.0.0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Broadcast Address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1622297" y="3389198"/>
            <a:ext cx="6014085" cy="24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223520" lvl="0" indent="-210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2150" b="1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End with binary 1s in host bits</a:t>
            </a:r>
            <a:endParaRPr sz="2150" dirty="0">
              <a:latin typeface="Carlito"/>
              <a:ea typeface="Carlito"/>
              <a:cs typeface="Carlito"/>
              <a:sym typeface="Carlito"/>
            </a:endParaRPr>
          </a:p>
          <a:p>
            <a:pPr marL="198120" lvl="0" indent="-19558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Carlito"/>
              <a:buAutoNum type="arabicPeriod"/>
            </a:pPr>
            <a:r>
              <a:rPr lang="en-US" sz="21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Used to send data to all devices on a network</a:t>
            </a:r>
            <a:endParaRPr sz="2150" dirty="0">
              <a:latin typeface="Carlito"/>
              <a:ea typeface="Carlito"/>
              <a:cs typeface="Carlito"/>
              <a:sym typeface="Carlito"/>
            </a:endParaRPr>
          </a:p>
          <a:p>
            <a:pPr marL="216534" lvl="0" indent="-21462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/>
            </a:pPr>
            <a:r>
              <a:rPr lang="en-US" sz="21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Never used as a device IP address</a:t>
            </a:r>
            <a:endParaRPr sz="2150" dirty="0">
              <a:latin typeface="Carlito"/>
              <a:ea typeface="Carlito"/>
              <a:cs typeface="Carlito"/>
              <a:sym typeface="Carlito"/>
            </a:endParaRPr>
          </a:p>
          <a:p>
            <a:pPr marL="218440" lvl="0" indent="-205740" algn="l" rtl="0">
              <a:lnSpc>
                <a:spcPct val="118837"/>
              </a:lnSpc>
              <a:spcBef>
                <a:spcPts val="395"/>
              </a:spcBef>
              <a:spcAft>
                <a:spcPts val="0"/>
              </a:spcAft>
              <a:buClr>
                <a:srgbClr val="E38311"/>
              </a:buClr>
              <a:buSzPts val="1950"/>
              <a:buFont typeface="Carlito"/>
              <a:buAutoNum type="arabicPeriod"/>
            </a:pPr>
            <a:r>
              <a:rPr lang="en-US" sz="21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Example IP address: 152.21.2.3</a:t>
            </a:r>
            <a:endParaRPr sz="2150" dirty="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Class B address</a:t>
            </a:r>
            <a:endParaRPr sz="1650" dirty="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First two octets are assigned</a:t>
            </a:r>
            <a:endParaRPr sz="1650" dirty="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Last two octets are host numbers used for devices in the network</a:t>
            </a:r>
            <a:endParaRPr sz="1650" dirty="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17515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1650"/>
              <a:buFont typeface="Arial"/>
              <a:buChar char="◦"/>
            </a:pPr>
            <a:r>
              <a:rPr lang="en-US" sz="1650" dirty="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Broadcast address: 152.21.255.255</a:t>
            </a:r>
            <a:endParaRPr sz="1650" dirty="0">
              <a:latin typeface="Carlito"/>
              <a:ea typeface="Carlito"/>
              <a:cs typeface="Carlito"/>
              <a:sym typeface="Carlito"/>
            </a:endParaRPr>
          </a:p>
        </p:txBody>
      </p:sp>
      <p:graphicFrame>
        <p:nvGraphicFramePr>
          <p:cNvPr id="235" name="Google Shape;235;p15"/>
          <p:cNvGraphicFramePr/>
          <p:nvPr/>
        </p:nvGraphicFramePr>
        <p:xfrm>
          <a:off x="2938779" y="2361183"/>
          <a:ext cx="4084925" cy="981050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7650">
                <a:tc gridSpan="4">
                  <a:txBody>
                    <a:bodyPr/>
                    <a:lstStyle/>
                    <a:p>
                      <a:pPr marL="581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Host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8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0">
                <a:tc gridSpan="8"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32 Bits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D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50">
                <a:tc>
                  <a:txBody>
                    <a:bodyPr/>
                    <a:lstStyle/>
                    <a:p>
                      <a:pPr marL="1816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152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82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255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tc>
                  <a:txBody>
                    <a:bodyPr/>
                    <a:lstStyle/>
                    <a:p>
                      <a:pPr marL="23240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255</a:t>
                      </a:r>
                      <a:endParaRPr sz="16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6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36" name="Google Shape;236;p15"/>
          <p:cNvGrpSpPr/>
          <p:nvPr/>
        </p:nvGrpSpPr>
        <p:grpSpPr>
          <a:xfrm>
            <a:off x="3081527" y="2827020"/>
            <a:ext cx="1470025" cy="94615"/>
            <a:chOff x="3081527" y="2827020"/>
            <a:chExt cx="1470025" cy="94615"/>
          </a:xfrm>
        </p:grpSpPr>
        <p:sp>
          <p:nvSpPr>
            <p:cNvPr id="237" name="Google Shape;237;p15"/>
            <p:cNvSpPr/>
            <p:nvPr/>
          </p:nvSpPr>
          <p:spPr>
            <a:xfrm>
              <a:off x="3161537" y="2875026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4" h="120000" extrusionOk="0">
                  <a:moveTo>
                    <a:pt x="1389761" y="0"/>
                  </a:moveTo>
                  <a:lnTo>
                    <a:pt x="0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3081527" y="282702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 extrusionOk="0">
                  <a:moveTo>
                    <a:pt x="94361" y="0"/>
                  </a:moveTo>
                  <a:lnTo>
                    <a:pt x="0" y="47116"/>
                  </a:lnTo>
                  <a:lnTo>
                    <a:pt x="94361" y="94360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" name="Google Shape;239;p15"/>
          <p:cNvGrpSpPr/>
          <p:nvPr/>
        </p:nvGrpSpPr>
        <p:grpSpPr>
          <a:xfrm>
            <a:off x="5449061" y="2819400"/>
            <a:ext cx="1466596" cy="94615"/>
            <a:chOff x="5449061" y="2819400"/>
            <a:chExt cx="1466596" cy="94615"/>
          </a:xfrm>
        </p:grpSpPr>
        <p:sp>
          <p:nvSpPr>
            <p:cNvPr id="240" name="Google Shape;240;p15"/>
            <p:cNvSpPr/>
            <p:nvPr/>
          </p:nvSpPr>
          <p:spPr>
            <a:xfrm>
              <a:off x="5449061" y="2867405"/>
              <a:ext cx="1390015" cy="0"/>
            </a:xfrm>
            <a:custGeom>
              <a:avLst/>
              <a:gdLst/>
              <a:ahLst/>
              <a:cxnLst/>
              <a:rect l="l" t="t" r="r" b="b"/>
              <a:pathLst>
                <a:path w="1390015" h="120000" extrusionOk="0">
                  <a:moveTo>
                    <a:pt x="0" y="0"/>
                  </a:moveTo>
                  <a:lnTo>
                    <a:pt x="1389761" y="0"/>
                  </a:lnTo>
                </a:path>
              </a:pathLst>
            </a:custGeom>
            <a:noFill/>
            <a:ln w="320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822947" y="2819400"/>
              <a:ext cx="92710" cy="94615"/>
            </a:xfrm>
            <a:custGeom>
              <a:avLst/>
              <a:gdLst/>
              <a:ahLst/>
              <a:cxnLst/>
              <a:rect l="l" t="t" r="r" b="b"/>
              <a:pathLst>
                <a:path w="92709" h="94614" extrusionOk="0">
                  <a:moveTo>
                    <a:pt x="0" y="0"/>
                  </a:moveTo>
                  <a:lnTo>
                    <a:pt x="0" y="94361"/>
                  </a:lnTo>
                  <a:lnTo>
                    <a:pt x="92582" y="47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/>
        </p:nvSpPr>
        <p:spPr>
          <a:xfrm>
            <a:off x="1747266" y="2506217"/>
            <a:ext cx="497776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What is the Broadcast address for this IPaddress?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2375407" y="3058159"/>
            <a:ext cx="15843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1. 194.78.112.6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2375407" y="3661664"/>
            <a:ext cx="13322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2. 117.23.8.3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2375407" y="4265167"/>
            <a:ext cx="1736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3. 156.132.64.12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2375407" y="4868926"/>
            <a:ext cx="18345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4. 208.150.112.16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2375407" y="5472429"/>
            <a:ext cx="15849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5. 91.118.125.2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2" name="Google Shape;252;p16"/>
          <p:cNvGrpSpPr/>
          <p:nvPr/>
        </p:nvGrpSpPr>
        <p:grpSpPr>
          <a:xfrm>
            <a:off x="4463796" y="3176016"/>
            <a:ext cx="881126" cy="166370"/>
            <a:chOff x="4463796" y="3176016"/>
            <a:chExt cx="881126" cy="166370"/>
          </a:xfrm>
        </p:grpSpPr>
        <p:sp>
          <p:nvSpPr>
            <p:cNvPr id="253" name="Google Shape;253;p16"/>
            <p:cNvSpPr/>
            <p:nvPr/>
          </p:nvSpPr>
          <p:spPr>
            <a:xfrm>
              <a:off x="4463796" y="3258312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5178552" y="3176016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16"/>
          <p:cNvGrpSpPr/>
          <p:nvPr/>
        </p:nvGrpSpPr>
        <p:grpSpPr>
          <a:xfrm>
            <a:off x="4463796" y="3741420"/>
            <a:ext cx="881126" cy="166370"/>
            <a:chOff x="4463796" y="3741420"/>
            <a:chExt cx="881126" cy="166370"/>
          </a:xfrm>
        </p:grpSpPr>
        <p:sp>
          <p:nvSpPr>
            <p:cNvPr id="256" name="Google Shape;256;p16"/>
            <p:cNvSpPr/>
            <p:nvPr/>
          </p:nvSpPr>
          <p:spPr>
            <a:xfrm>
              <a:off x="4463796" y="3823716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5178552" y="3741420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" name="Google Shape;258;p16"/>
          <p:cNvGrpSpPr/>
          <p:nvPr/>
        </p:nvGrpSpPr>
        <p:grpSpPr>
          <a:xfrm>
            <a:off x="4463796" y="4370832"/>
            <a:ext cx="881126" cy="164465"/>
            <a:chOff x="4463796" y="4370832"/>
            <a:chExt cx="881126" cy="164465"/>
          </a:xfrm>
        </p:grpSpPr>
        <p:sp>
          <p:nvSpPr>
            <p:cNvPr id="259" name="Google Shape;259;p16"/>
            <p:cNvSpPr/>
            <p:nvPr/>
          </p:nvSpPr>
          <p:spPr>
            <a:xfrm>
              <a:off x="4463796" y="4453128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5178552" y="4370832"/>
              <a:ext cx="166370" cy="164465"/>
            </a:xfrm>
            <a:custGeom>
              <a:avLst/>
              <a:gdLst/>
              <a:ahLst/>
              <a:cxnLst/>
              <a:rect l="l" t="t" r="r" b="b"/>
              <a:pathLst>
                <a:path w="166370" h="164464" extrusionOk="0">
                  <a:moveTo>
                    <a:pt x="0" y="0"/>
                  </a:moveTo>
                  <a:lnTo>
                    <a:pt x="0" y="164083"/>
                  </a:lnTo>
                  <a:lnTo>
                    <a:pt x="165862" y="8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16"/>
          <p:cNvGrpSpPr/>
          <p:nvPr/>
        </p:nvGrpSpPr>
        <p:grpSpPr>
          <a:xfrm>
            <a:off x="4463796" y="4936235"/>
            <a:ext cx="881126" cy="166370"/>
            <a:chOff x="4463796" y="4936235"/>
            <a:chExt cx="881126" cy="166370"/>
          </a:xfrm>
        </p:grpSpPr>
        <p:sp>
          <p:nvSpPr>
            <p:cNvPr id="262" name="Google Shape;262;p16"/>
            <p:cNvSpPr/>
            <p:nvPr/>
          </p:nvSpPr>
          <p:spPr>
            <a:xfrm>
              <a:off x="4463796" y="5018531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5178552" y="4936235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16"/>
          <p:cNvGrpSpPr/>
          <p:nvPr/>
        </p:nvGrpSpPr>
        <p:grpSpPr>
          <a:xfrm>
            <a:off x="4463796" y="5564123"/>
            <a:ext cx="881126" cy="166370"/>
            <a:chOff x="4463796" y="5564123"/>
            <a:chExt cx="881126" cy="166370"/>
          </a:xfrm>
        </p:grpSpPr>
        <p:sp>
          <p:nvSpPr>
            <p:cNvPr id="265" name="Google Shape;265;p16"/>
            <p:cNvSpPr/>
            <p:nvPr/>
          </p:nvSpPr>
          <p:spPr>
            <a:xfrm>
              <a:off x="4463796" y="5647943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5178552" y="556412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16"/>
          <p:cNvSpPr txBox="1"/>
          <p:nvPr/>
        </p:nvSpPr>
        <p:spPr>
          <a:xfrm>
            <a:off x="5443472" y="3071317"/>
            <a:ext cx="2050631" cy="32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194.78.112.255</a:t>
            </a:r>
            <a:endParaRPr sz="19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5443473" y="3625088"/>
            <a:ext cx="16846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117.255.255.255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5457190" y="4252976"/>
            <a:ext cx="17246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156.132.255.255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5457190" y="4818633"/>
            <a:ext cx="16846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208.150.112.255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5505958" y="5448045"/>
            <a:ext cx="159956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91.255.255.255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16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Broadcast Address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"/>
          <p:cNvSpPr txBox="1">
            <a:spLocks noGrp="1"/>
          </p:cNvSpPr>
          <p:nvPr>
            <p:ph type="title"/>
          </p:nvPr>
        </p:nvSpPr>
        <p:spPr>
          <a:xfrm>
            <a:off x="968450" y="1485400"/>
            <a:ext cx="93255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Numberand Broadcast Address</a:t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892251" y="2209266"/>
            <a:ext cx="7433309" cy="226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250" rIns="0" bIns="0" anchor="t" anchorCtr="0">
            <a:spAutoFit/>
          </a:bodyPr>
          <a:lstStyle/>
          <a:p>
            <a:pPr marL="233679" lvl="0" indent="-223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All 0’s in the host address is the Network Number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33679" lvl="0" indent="-22352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All 1’s in the host address in the Broadcast Address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05104" lvl="0" indent="-205104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These two addresses can never be used when assigning IP’s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04470" marR="5080" lvl="0" indent="-202565" algn="l" rtl="0">
              <a:lnSpc>
                <a:spcPct val="110900"/>
              </a:lnSpc>
              <a:spcBef>
                <a:spcPts val="550"/>
              </a:spcBef>
              <a:spcAft>
                <a:spcPts val="0"/>
              </a:spcAft>
              <a:buClr>
                <a:srgbClr val="E38311"/>
              </a:buClr>
              <a:buSzPts val="2000"/>
              <a:buFont typeface="Carlito"/>
              <a:buAutoNum type="arabicPeriod"/>
            </a:pPr>
            <a:r>
              <a:rPr lang="en-US" sz="2300">
                <a:solidFill>
                  <a:srgbClr val="E38311"/>
                </a:solidFill>
                <a:latin typeface="Carlito"/>
                <a:ea typeface="Carlito"/>
                <a:cs typeface="Carlito"/>
                <a:sym typeface="Carlito"/>
              </a:rPr>
              <a:t>	</a:t>
            </a: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When finding the number of useable host addresses, you will always subtract 2 (network &amp; Broadcast)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Default Subnet Mask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892251" y="2279370"/>
            <a:ext cx="7891145" cy="343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2700" rIns="0" bIns="0" anchor="t" anchorCtr="0">
            <a:spAutoFit/>
          </a:bodyPr>
          <a:lstStyle/>
          <a:p>
            <a:pPr marL="246379" lvl="0" indent="-2336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23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Formal name: </a:t>
            </a:r>
            <a:r>
              <a:rPr lang="en-US" sz="2300" b="1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Extended Network Prefix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47015" marR="5080" lvl="0" indent="-234950" algn="l" rtl="0">
              <a:lnSpc>
                <a:spcPct val="108695"/>
              </a:lnSpc>
              <a:spcBef>
                <a:spcPts val="1250"/>
              </a:spcBef>
              <a:spcAft>
                <a:spcPts val="0"/>
              </a:spcAft>
              <a:buClr>
                <a:srgbClr val="E38311"/>
              </a:buClr>
              <a:buSzPts val="23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Tells the network devices which part of an address is the network field and which part is the host field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38125" lvl="0" indent="-23304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38311"/>
              </a:buClr>
              <a:buSzPts val="23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32 bits long and 4 octets, just like an IP address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35584" lvl="0" indent="-233044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E38311"/>
              </a:buClr>
              <a:buSzPts val="23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Step to determine the subnet mask: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Express the subnetwork IP address in binary form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Replace the network portion of the address with all 1s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Replace the host portion of the address with all 0s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  <a:p>
            <a:pPr marL="532130" lvl="1" indent="-21209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8311"/>
              </a:buClr>
              <a:buSzPts val="1800"/>
              <a:buFont typeface="Arial"/>
              <a:buChar char="◦"/>
            </a:pPr>
            <a:r>
              <a:rPr lang="en-US" sz="18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Convert the binary expression back to dotted-decimal notation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1747266" y="2506217"/>
            <a:ext cx="52920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What is the Default Subnet Mask for this IPaddress?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2375407" y="3058159"/>
            <a:ext cx="15843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1. 194.78.112.6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2375407" y="3661664"/>
            <a:ext cx="13322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2. 117.23.8.3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2375407" y="4265167"/>
            <a:ext cx="1736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3. 156.132.64.12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2375407" y="4868926"/>
            <a:ext cx="18345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4. 208.150.112.16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2375407" y="5472429"/>
            <a:ext cx="15849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latin typeface="Times New Roman"/>
                <a:ea typeface="Times New Roman"/>
                <a:cs typeface="Times New Roman"/>
                <a:sym typeface="Times New Roman"/>
              </a:rPr>
              <a:t>5. 91.118.125.2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5" name="Google Shape;295;p19"/>
          <p:cNvGrpSpPr/>
          <p:nvPr/>
        </p:nvGrpSpPr>
        <p:grpSpPr>
          <a:xfrm>
            <a:off x="4463796" y="3176016"/>
            <a:ext cx="881126" cy="166370"/>
            <a:chOff x="4463796" y="3176016"/>
            <a:chExt cx="881126" cy="166370"/>
          </a:xfrm>
        </p:grpSpPr>
        <p:sp>
          <p:nvSpPr>
            <p:cNvPr id="296" name="Google Shape;296;p19"/>
            <p:cNvSpPr/>
            <p:nvPr/>
          </p:nvSpPr>
          <p:spPr>
            <a:xfrm>
              <a:off x="4463796" y="3258312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5178552" y="3176016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9"/>
          <p:cNvGrpSpPr/>
          <p:nvPr/>
        </p:nvGrpSpPr>
        <p:grpSpPr>
          <a:xfrm>
            <a:off x="4463796" y="3741420"/>
            <a:ext cx="881126" cy="166370"/>
            <a:chOff x="4463796" y="3741420"/>
            <a:chExt cx="881126" cy="166370"/>
          </a:xfrm>
        </p:grpSpPr>
        <p:sp>
          <p:nvSpPr>
            <p:cNvPr id="299" name="Google Shape;299;p19"/>
            <p:cNvSpPr/>
            <p:nvPr/>
          </p:nvSpPr>
          <p:spPr>
            <a:xfrm>
              <a:off x="4463796" y="3823716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5178552" y="3741420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4463796" y="4370832"/>
            <a:ext cx="881126" cy="164465"/>
            <a:chOff x="4463796" y="4370832"/>
            <a:chExt cx="881126" cy="164465"/>
          </a:xfrm>
        </p:grpSpPr>
        <p:sp>
          <p:nvSpPr>
            <p:cNvPr id="302" name="Google Shape;302;p19"/>
            <p:cNvSpPr/>
            <p:nvPr/>
          </p:nvSpPr>
          <p:spPr>
            <a:xfrm>
              <a:off x="4463796" y="4453128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5178552" y="4370832"/>
              <a:ext cx="166370" cy="164465"/>
            </a:xfrm>
            <a:custGeom>
              <a:avLst/>
              <a:gdLst/>
              <a:ahLst/>
              <a:cxnLst/>
              <a:rect l="l" t="t" r="r" b="b"/>
              <a:pathLst>
                <a:path w="166370" h="164464" extrusionOk="0">
                  <a:moveTo>
                    <a:pt x="0" y="0"/>
                  </a:moveTo>
                  <a:lnTo>
                    <a:pt x="0" y="164083"/>
                  </a:lnTo>
                  <a:lnTo>
                    <a:pt x="165862" y="8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9"/>
          <p:cNvGrpSpPr/>
          <p:nvPr/>
        </p:nvGrpSpPr>
        <p:grpSpPr>
          <a:xfrm>
            <a:off x="4463796" y="4936235"/>
            <a:ext cx="881126" cy="166370"/>
            <a:chOff x="4463796" y="4936235"/>
            <a:chExt cx="881126" cy="166370"/>
          </a:xfrm>
        </p:grpSpPr>
        <p:sp>
          <p:nvSpPr>
            <p:cNvPr id="305" name="Google Shape;305;p19"/>
            <p:cNvSpPr/>
            <p:nvPr/>
          </p:nvSpPr>
          <p:spPr>
            <a:xfrm>
              <a:off x="4463796" y="5018531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5178552" y="4936235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2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9"/>
          <p:cNvGrpSpPr/>
          <p:nvPr/>
        </p:nvGrpSpPr>
        <p:grpSpPr>
          <a:xfrm>
            <a:off x="4463796" y="5564123"/>
            <a:ext cx="881126" cy="166370"/>
            <a:chOff x="4463796" y="5564123"/>
            <a:chExt cx="881126" cy="166370"/>
          </a:xfrm>
        </p:grpSpPr>
        <p:sp>
          <p:nvSpPr>
            <p:cNvPr id="308" name="Google Shape;308;p19"/>
            <p:cNvSpPr/>
            <p:nvPr/>
          </p:nvSpPr>
          <p:spPr>
            <a:xfrm>
              <a:off x="4463796" y="5647943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4" h="120000" extrusionOk="0">
                  <a:moveTo>
                    <a:pt x="0" y="0"/>
                  </a:moveTo>
                  <a:lnTo>
                    <a:pt x="742061" y="0"/>
                  </a:lnTo>
                </a:path>
              </a:pathLst>
            </a:custGeom>
            <a:noFill/>
            <a:ln w="548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5178552" y="556412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 extrusionOk="0">
                  <a:moveTo>
                    <a:pt x="0" y="0"/>
                  </a:moveTo>
                  <a:lnTo>
                    <a:pt x="0" y="165862"/>
                  </a:lnTo>
                  <a:lnTo>
                    <a:pt x="16586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19"/>
          <p:cNvSpPr txBox="1"/>
          <p:nvPr/>
        </p:nvSpPr>
        <p:spPr>
          <a:xfrm>
            <a:off x="5443473" y="3071317"/>
            <a:ext cx="1475105" cy="32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255.255.255.0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5443473" y="3625088"/>
            <a:ext cx="968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255.0.0.0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5457190" y="4252976"/>
            <a:ext cx="12255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255.255.0.0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5457190" y="4818633"/>
            <a:ext cx="14751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255.255.255.0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5505958" y="5448045"/>
            <a:ext cx="968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2896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255.0.0.0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9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Default Subnet Mask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3452"/>
            <a:ext cx="10058399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/>
          <p:nvPr/>
        </p:nvSpPr>
        <p:spPr>
          <a:xfrm>
            <a:off x="985266" y="2250185"/>
            <a:ext cx="8223250" cy="0"/>
          </a:xfrm>
          <a:custGeom>
            <a:avLst/>
            <a:gdLst/>
            <a:ahLst/>
            <a:cxnLst/>
            <a:rect l="l" t="t" r="r" b="b"/>
            <a:pathLst>
              <a:path w="8223250" h="120000" extrusionOk="0">
                <a:moveTo>
                  <a:pt x="0" y="0"/>
                </a:moveTo>
                <a:lnTo>
                  <a:pt x="8223123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0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Default Subnet Mask</a:t>
            </a:r>
            <a:endParaRPr/>
          </a:p>
        </p:txBody>
      </p:sp>
      <p:pic>
        <p:nvPicPr>
          <p:cNvPr id="323" name="Google Shape;32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683" y="2461260"/>
            <a:ext cx="8298180" cy="33025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" name="Google Shape;324;p20"/>
          <p:cNvGraphicFramePr/>
          <p:nvPr/>
        </p:nvGraphicFramePr>
        <p:xfrm>
          <a:off x="896111" y="2456688"/>
          <a:ext cx="8297525" cy="3300725"/>
        </p:xfrm>
        <a:graphic>
          <a:graphicData uri="http://schemas.openxmlformats.org/drawingml/2006/table">
            <a:tbl>
              <a:tblPr firstRow="1" bandRow="1">
                <a:noFill/>
                <a:tableStyleId>{07381232-63B7-405D-A44E-A85002434349}</a:tableStyleId>
              </a:tblPr>
              <a:tblGrid>
                <a:gridCol w="207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79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349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Formula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79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Slash Notation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79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Default Mask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79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225"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A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79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47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N.H.H.H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79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/8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79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255.0.0.0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790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B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N.N.H.H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/16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255.255.0.0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Class C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N.N.N.H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/24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255.255.255.0</a:t>
                      </a:r>
                      <a:endParaRPr sz="2300" u="none" strike="noStrike" cap="non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L="0" marR="0" marT="180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>
            <a:spLocks noGrp="1"/>
          </p:cNvSpPr>
          <p:nvPr>
            <p:ph type="title"/>
          </p:nvPr>
        </p:nvSpPr>
        <p:spPr>
          <a:xfrm>
            <a:off x="968451" y="1485391"/>
            <a:ext cx="79191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39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Default Gateway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893775" y="2286990"/>
            <a:ext cx="5942965" cy="184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0" rIns="0" bIns="0" anchor="t" anchorCtr="0">
            <a:spAutoFit/>
          </a:bodyPr>
          <a:lstStyle/>
          <a:p>
            <a:pPr marL="235584" lvl="0" indent="-2228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1"/>
              </a:buClr>
              <a:buSzPts val="21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A port on a router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35584" lvl="0" indent="-222884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38311"/>
              </a:buClr>
              <a:buSzPts val="21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Your connection to the Internet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27965" lvl="0" indent="-21526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38311"/>
              </a:buClr>
              <a:buSzPts val="21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IP address</a:t>
            </a:r>
            <a:r>
              <a:rPr lang="en-US" sz="2300" b="1" u="sng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 MUST</a:t>
            </a:r>
            <a:r>
              <a:rPr lang="en-US" sz="2300" b="1" u="none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300" u="none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be part of the network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  <a:p>
            <a:pPr marL="237490" lvl="0" indent="-22479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38311"/>
              </a:buClr>
              <a:buSzPts val="2200"/>
              <a:buFont typeface="Carlito"/>
              <a:buAutoNum type="arabicPeriod"/>
            </a:pPr>
            <a:r>
              <a:rPr lang="en-US" sz="2300">
                <a:solidFill>
                  <a:srgbClr val="3C3C3C"/>
                </a:solidFill>
                <a:latin typeface="Carlito"/>
                <a:ea typeface="Carlito"/>
                <a:cs typeface="Carlito"/>
                <a:sym typeface="Carlito"/>
              </a:rPr>
              <a:t>Usually the first or last IP address in the network</a:t>
            </a:r>
            <a:endParaRPr sz="2300">
              <a:latin typeface="Carlito"/>
              <a:ea typeface="Carlito"/>
              <a:cs typeface="Carlito"/>
              <a:sym typeface="Carlito"/>
            </a:endParaRPr>
          </a:p>
        </p:txBody>
      </p:sp>
      <p:pic>
        <p:nvPicPr>
          <p:cNvPr id="331" name="Google Shape;33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6939" y="4486655"/>
            <a:ext cx="5519927" cy="156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Custom</PresentationFormat>
  <Paragraphs>256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Arial</vt:lpstr>
      <vt:lpstr>Times New Roman</vt:lpstr>
      <vt:lpstr>Trebuchet MS</vt:lpstr>
      <vt:lpstr>Carlito</vt:lpstr>
      <vt:lpstr>Office Theme</vt:lpstr>
      <vt:lpstr>Fundamentals of Networking</vt:lpstr>
      <vt:lpstr>Addressing Schemes</vt:lpstr>
      <vt:lpstr>Internet Protocol Address (IPAddress)</vt:lpstr>
      <vt:lpstr>Types of Addressing</vt:lpstr>
      <vt:lpstr>Classful vs Classless</vt:lpstr>
      <vt:lpstr>Network&amp; Host Number Formulas</vt:lpstr>
      <vt:lpstr>Class A Addresses</vt:lpstr>
      <vt:lpstr>Class B Addresses</vt:lpstr>
      <vt:lpstr>Class C Addresses</vt:lpstr>
      <vt:lpstr>Address Ranges</vt:lpstr>
      <vt:lpstr>NetworkAddress</vt:lpstr>
      <vt:lpstr>Examples of Network Numbers</vt:lpstr>
      <vt:lpstr>Broadcast Address</vt:lpstr>
      <vt:lpstr>Examples of Broadcast Address</vt:lpstr>
      <vt:lpstr>Network Numberand Broadcast Address</vt:lpstr>
      <vt:lpstr>Default Subnet Mask</vt:lpstr>
      <vt:lpstr>Examples of Default Subnet Mask</vt:lpstr>
      <vt:lpstr>Default Subnet Mask</vt:lpstr>
      <vt:lpstr>Default Gateway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Networking</dc:title>
  <dc:creator>AMINU IDRIS</dc:creator>
  <cp:lastModifiedBy>BICT</cp:lastModifiedBy>
  <cp:revision>1</cp:revision>
  <dcterms:created xsi:type="dcterms:W3CDTF">2024-09-05T18:48:26Z</dcterms:created>
  <dcterms:modified xsi:type="dcterms:W3CDTF">2024-09-20T11:13:32Z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2024-09-05T00:00:00Z</vt:filetime>
  </property>
  <property fmtid="{D5CDD505-2E9C-101B-9397-08002B2CF9AE}" pid="5" name="Producer">
    <vt:lpwstr>3-Heights(TM) PDF Security Shell 4.8.25.2 (http://www.pdf-tools.com)</vt:lpwstr>
  </property>
</Properties>
</file>