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 name="Google Shape;4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1" name="Google Shape;4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0" name="Google Shape;7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4" name="Google Shape;11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3" name="Google Shape;15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4" name="Google Shape;18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2" name="Google Shape;222;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49" name="Google Shape;249;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79" name="Google Shape;279;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21" name="Google Shape;32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7" name="Google Shape;35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58" name="Google Shape;358;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89" name="Google Shape;389;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2" name="Google Shape;42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23" name="Google Shape;423;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4" name="Google Shape;474;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75" name="Google Shape;475;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24" name="Google Shape;524;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4" name="Google Shape;554;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55" name="Google Shape;555;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6" name="Google Shape;596;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97" name="Google Shape;597;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7" name="Google Shape;63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38" name="Google Shape;63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0" name="Google Shape;670;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71" name="Google Shape;671;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9" name="Google Shape;699;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00" name="Google Shape;700;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3" name="Google Shape;74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44" name="Google Shape;744;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5" name="Google Shape;77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76" name="Google Shape;776;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9" name="Google Shape;80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10" name="Google Shape;810;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6.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6.png"/><Relationship Id="rId4" Type="http://schemas.openxmlformats.org/officeDocument/2006/relationships/image" Target="../media/image233.png"/><Relationship Id="rId9" Type="http://schemas.openxmlformats.org/officeDocument/2006/relationships/image" Target="../media/image17.png"/><Relationship Id="rId15" Type="http://schemas.openxmlformats.org/officeDocument/2006/relationships/image" Target="../media/image9.png"/><Relationship Id="rId14" Type="http://schemas.openxmlformats.org/officeDocument/2006/relationships/image" Target="../media/image20.png"/><Relationship Id="rId17" Type="http://schemas.openxmlformats.org/officeDocument/2006/relationships/image" Target="../media/image13.png"/><Relationship Id="rId16" Type="http://schemas.openxmlformats.org/officeDocument/2006/relationships/image" Target="../media/image1.png"/><Relationship Id="rId5" Type="http://schemas.openxmlformats.org/officeDocument/2006/relationships/image" Target="../media/image47.png"/><Relationship Id="rId6" Type="http://schemas.openxmlformats.org/officeDocument/2006/relationships/image" Target="../media/image16.png"/><Relationship Id="rId18" Type="http://schemas.openxmlformats.org/officeDocument/2006/relationships/image" Target="../media/image7.png"/><Relationship Id="rId7" Type="http://schemas.openxmlformats.org/officeDocument/2006/relationships/image" Target="../media/image11.png"/><Relationship Id="rId8" Type="http://schemas.openxmlformats.org/officeDocument/2006/relationships/image" Target="../media/image14.png"/></Relationships>
</file>

<file path=ppt/slides/_rels/slide2.xml.rels><?xml version="1.0" encoding="UTF-8" standalone="yes"?><Relationships xmlns="http://schemas.openxmlformats.org/package/2006/relationships"><Relationship Id="rId11" Type="http://schemas.openxmlformats.org/officeDocument/2006/relationships/image" Target="../media/image21.png"/><Relationship Id="rId10" Type="http://schemas.openxmlformats.org/officeDocument/2006/relationships/image" Target="../media/image19.png"/><Relationship Id="rId13" Type="http://schemas.openxmlformats.org/officeDocument/2006/relationships/image" Target="../media/image25.png"/><Relationship Id="rId12" Type="http://schemas.openxmlformats.org/officeDocument/2006/relationships/image" Target="../media/image12.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6.png"/><Relationship Id="rId4" Type="http://schemas.openxmlformats.org/officeDocument/2006/relationships/image" Target="../media/image8.png"/><Relationship Id="rId9" Type="http://schemas.openxmlformats.org/officeDocument/2006/relationships/image" Target="../media/image26.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29.png"/><Relationship Id="rId8" Type="http://schemas.openxmlformats.org/officeDocument/2006/relationships/image" Target="../media/image15.png"/></Relationships>
</file>

<file path=ppt/slides/_rels/slide3.xml.rels><?xml version="1.0" encoding="UTF-8" standalone="yes"?><Relationships xmlns="http://schemas.openxmlformats.org/package/2006/relationships"><Relationship Id="rId11" Type="http://schemas.openxmlformats.org/officeDocument/2006/relationships/image" Target="../media/image32.png"/><Relationship Id="rId10" Type="http://schemas.openxmlformats.org/officeDocument/2006/relationships/image" Target="../media/image33.png"/><Relationship Id="rId13" Type="http://schemas.openxmlformats.org/officeDocument/2006/relationships/image" Target="../media/image42.png"/><Relationship Id="rId12" Type="http://schemas.openxmlformats.org/officeDocument/2006/relationships/image" Target="../media/image65.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6.png"/><Relationship Id="rId4" Type="http://schemas.openxmlformats.org/officeDocument/2006/relationships/image" Target="../media/image18.png"/><Relationship Id="rId9" Type="http://schemas.openxmlformats.org/officeDocument/2006/relationships/image" Target="../media/image27.png"/><Relationship Id="rId15" Type="http://schemas.openxmlformats.org/officeDocument/2006/relationships/image" Target="../media/image39.png"/><Relationship Id="rId14" Type="http://schemas.openxmlformats.org/officeDocument/2006/relationships/image" Target="../media/image38.png"/><Relationship Id="rId17" Type="http://schemas.openxmlformats.org/officeDocument/2006/relationships/image" Target="../media/image40.png"/><Relationship Id="rId16" Type="http://schemas.openxmlformats.org/officeDocument/2006/relationships/image" Target="../media/image31.png"/><Relationship Id="rId5" Type="http://schemas.openxmlformats.org/officeDocument/2006/relationships/image" Target="../media/image28.png"/><Relationship Id="rId6" Type="http://schemas.openxmlformats.org/officeDocument/2006/relationships/image" Target="../media/image23.png"/><Relationship Id="rId18" Type="http://schemas.openxmlformats.org/officeDocument/2006/relationships/image" Target="../media/image35.png"/><Relationship Id="rId7" Type="http://schemas.openxmlformats.org/officeDocument/2006/relationships/image" Target="../media/image24.png"/><Relationship Id="rId8" Type="http://schemas.openxmlformats.org/officeDocument/2006/relationships/image" Target="../media/image30.png"/></Relationships>
</file>

<file path=ppt/slides/_rels/slide4.xml.rels><?xml version="1.0" encoding="UTF-8" standalone="yes"?><Relationships xmlns="http://schemas.openxmlformats.org/package/2006/relationships"><Relationship Id="rId11" Type="http://schemas.openxmlformats.org/officeDocument/2006/relationships/image" Target="../media/image44.png"/><Relationship Id="rId10" Type="http://schemas.openxmlformats.org/officeDocument/2006/relationships/image" Target="../media/image41.png"/><Relationship Id="rId13" Type="http://schemas.openxmlformats.org/officeDocument/2006/relationships/image" Target="../media/image51.png"/><Relationship Id="rId12" Type="http://schemas.openxmlformats.org/officeDocument/2006/relationships/image" Target="../media/image50.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6.png"/><Relationship Id="rId4" Type="http://schemas.openxmlformats.org/officeDocument/2006/relationships/image" Target="../media/image36.png"/><Relationship Id="rId9" Type="http://schemas.openxmlformats.org/officeDocument/2006/relationships/image" Target="../media/image46.png"/><Relationship Id="rId15" Type="http://schemas.openxmlformats.org/officeDocument/2006/relationships/image" Target="../media/image49.png"/><Relationship Id="rId14" Type="http://schemas.openxmlformats.org/officeDocument/2006/relationships/image" Target="../media/image48.png"/><Relationship Id="rId5" Type="http://schemas.openxmlformats.org/officeDocument/2006/relationships/image" Target="../media/image43.png"/><Relationship Id="rId6" Type="http://schemas.openxmlformats.org/officeDocument/2006/relationships/image" Target="../media/image34.png"/><Relationship Id="rId7" Type="http://schemas.openxmlformats.org/officeDocument/2006/relationships/image" Target="../media/image37.png"/><Relationship Id="rId8" Type="http://schemas.openxmlformats.org/officeDocument/2006/relationships/image" Target="../media/image45.png"/></Relationships>
</file>

<file path=ppt/slides/_rels/slide5.xml.rels><?xml version="1.0" encoding="UTF-8" standalone="yes"?><Relationships xmlns="http://schemas.openxmlformats.org/package/2006/relationships"><Relationship Id="rId11" Type="http://schemas.openxmlformats.org/officeDocument/2006/relationships/image" Target="../media/image43.png"/><Relationship Id="rId10" Type="http://schemas.openxmlformats.org/officeDocument/2006/relationships/image" Target="../media/image56.png"/><Relationship Id="rId12" Type="http://schemas.openxmlformats.org/officeDocument/2006/relationships/image" Target="../media/image64.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6.png"/><Relationship Id="rId4" Type="http://schemas.openxmlformats.org/officeDocument/2006/relationships/image" Target="../media/image54.png"/><Relationship Id="rId9" Type="http://schemas.openxmlformats.org/officeDocument/2006/relationships/image" Target="../media/image61.png"/><Relationship Id="rId5" Type="http://schemas.openxmlformats.org/officeDocument/2006/relationships/image" Target="../media/image52.png"/><Relationship Id="rId6" Type="http://schemas.openxmlformats.org/officeDocument/2006/relationships/image" Target="../media/image57.png"/><Relationship Id="rId7" Type="http://schemas.openxmlformats.org/officeDocument/2006/relationships/image" Target="../media/image53.png"/><Relationship Id="rId8" Type="http://schemas.openxmlformats.org/officeDocument/2006/relationships/image" Target="../media/image55.png"/></Relationships>
</file>

<file path=ppt/slides/_rels/slide6.xml.rels><?xml version="1.0" encoding="UTF-8" standalone="yes"?><Relationships xmlns="http://schemas.openxmlformats.org/package/2006/relationships"><Relationship Id="rId11" Type="http://schemas.openxmlformats.org/officeDocument/2006/relationships/image" Target="../media/image79.png"/><Relationship Id="rId10" Type="http://schemas.openxmlformats.org/officeDocument/2006/relationships/image" Target="../media/image69.png"/><Relationship Id="rId13" Type="http://schemas.openxmlformats.org/officeDocument/2006/relationships/image" Target="../media/image81.png"/><Relationship Id="rId12" Type="http://schemas.openxmlformats.org/officeDocument/2006/relationships/image" Target="../media/image5.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6.png"/><Relationship Id="rId4" Type="http://schemas.openxmlformats.org/officeDocument/2006/relationships/image" Target="../media/image74.png"/><Relationship Id="rId9" Type="http://schemas.openxmlformats.org/officeDocument/2006/relationships/image" Target="../media/image73.png"/><Relationship Id="rId14" Type="http://schemas.openxmlformats.org/officeDocument/2006/relationships/image" Target="../media/image75.png"/><Relationship Id="rId5" Type="http://schemas.openxmlformats.org/officeDocument/2006/relationships/image" Target="../media/image60.png"/><Relationship Id="rId6" Type="http://schemas.openxmlformats.org/officeDocument/2006/relationships/image" Target="../media/image62.png"/><Relationship Id="rId7" Type="http://schemas.openxmlformats.org/officeDocument/2006/relationships/image" Target="../media/image59.png"/><Relationship Id="rId8" Type="http://schemas.openxmlformats.org/officeDocument/2006/relationships/image" Target="../media/image70.png"/></Relationships>
</file>

<file path=ppt/slides/_rels/slide7.xml.rels><?xml version="1.0" encoding="UTF-8" standalone="yes"?><Relationships xmlns="http://schemas.openxmlformats.org/package/2006/relationships"><Relationship Id="rId11" Type="http://schemas.openxmlformats.org/officeDocument/2006/relationships/image" Target="../media/image96.png"/><Relationship Id="rId10" Type="http://schemas.openxmlformats.org/officeDocument/2006/relationships/image" Target="../media/image77.png"/><Relationship Id="rId13" Type="http://schemas.openxmlformats.org/officeDocument/2006/relationships/image" Target="../media/image87.png"/><Relationship Id="rId12" Type="http://schemas.openxmlformats.org/officeDocument/2006/relationships/image" Target="../media/image97.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6.png"/><Relationship Id="rId4" Type="http://schemas.openxmlformats.org/officeDocument/2006/relationships/image" Target="../media/image98.png"/><Relationship Id="rId9" Type="http://schemas.openxmlformats.org/officeDocument/2006/relationships/image" Target="../media/image92.png"/><Relationship Id="rId5" Type="http://schemas.openxmlformats.org/officeDocument/2006/relationships/image" Target="../media/image76.png"/><Relationship Id="rId6" Type="http://schemas.openxmlformats.org/officeDocument/2006/relationships/image" Target="../media/image72.png"/><Relationship Id="rId7" Type="http://schemas.openxmlformats.org/officeDocument/2006/relationships/image" Target="../media/image95.png"/><Relationship Id="rId8" Type="http://schemas.openxmlformats.org/officeDocument/2006/relationships/image" Target="../media/image82.png"/></Relationships>
</file>

<file path=ppt/slides/_rels/slide8.xml.rels><?xml version="1.0" encoding="UTF-8" standalone="yes"?><Relationships xmlns="http://schemas.openxmlformats.org/package/2006/relationships"><Relationship Id="rId11" Type="http://schemas.openxmlformats.org/officeDocument/2006/relationships/image" Target="../media/image84.png"/><Relationship Id="rId10" Type="http://schemas.openxmlformats.org/officeDocument/2006/relationships/image" Target="../media/image89.png"/><Relationship Id="rId13" Type="http://schemas.openxmlformats.org/officeDocument/2006/relationships/image" Target="../media/image104.png"/><Relationship Id="rId12" Type="http://schemas.openxmlformats.org/officeDocument/2006/relationships/image" Target="../media/image86.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6.png"/><Relationship Id="rId4" Type="http://schemas.openxmlformats.org/officeDocument/2006/relationships/image" Target="../media/image78.png"/><Relationship Id="rId9" Type="http://schemas.openxmlformats.org/officeDocument/2006/relationships/image" Target="../media/image85.png"/><Relationship Id="rId14" Type="http://schemas.openxmlformats.org/officeDocument/2006/relationships/image" Target="../media/image90.png"/><Relationship Id="rId5" Type="http://schemas.openxmlformats.org/officeDocument/2006/relationships/image" Target="../media/image83.png"/><Relationship Id="rId6" Type="http://schemas.openxmlformats.org/officeDocument/2006/relationships/image" Target="../media/image80.png"/><Relationship Id="rId7" Type="http://schemas.openxmlformats.org/officeDocument/2006/relationships/image" Target="../media/image88.png"/><Relationship Id="rId8" Type="http://schemas.openxmlformats.org/officeDocument/2006/relationships/image" Target="../media/image91.png"/></Relationships>
</file>

<file path=ppt/slides/_rels/slide9.xml.rels><?xml version="1.0" encoding="UTF-8" standalone="yes"?><Relationships xmlns="http://schemas.openxmlformats.org/package/2006/relationships"><Relationship Id="rId11" Type="http://schemas.openxmlformats.org/officeDocument/2006/relationships/image" Target="../media/image29.png"/><Relationship Id="rId10" Type="http://schemas.openxmlformats.org/officeDocument/2006/relationships/image" Target="../media/image99.png"/><Relationship Id="rId13" Type="http://schemas.openxmlformats.org/officeDocument/2006/relationships/image" Target="../media/image115.png"/><Relationship Id="rId12" Type="http://schemas.openxmlformats.org/officeDocument/2006/relationships/image" Target="../media/image109.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6.png"/><Relationship Id="rId4" Type="http://schemas.openxmlformats.org/officeDocument/2006/relationships/image" Target="../media/image74.png"/><Relationship Id="rId9" Type="http://schemas.openxmlformats.org/officeDocument/2006/relationships/image" Target="../media/image102.png"/><Relationship Id="rId15" Type="http://schemas.openxmlformats.org/officeDocument/2006/relationships/image" Target="../media/image146.png"/><Relationship Id="rId14" Type="http://schemas.openxmlformats.org/officeDocument/2006/relationships/image" Target="../media/image111.png"/><Relationship Id="rId17" Type="http://schemas.openxmlformats.org/officeDocument/2006/relationships/image" Target="../media/image113.png"/><Relationship Id="rId16" Type="http://schemas.openxmlformats.org/officeDocument/2006/relationships/image" Target="../media/image112.png"/><Relationship Id="rId5" Type="http://schemas.openxmlformats.org/officeDocument/2006/relationships/image" Target="../media/image94.png"/><Relationship Id="rId6" Type="http://schemas.openxmlformats.org/officeDocument/2006/relationships/image" Target="../media/image108.png"/><Relationship Id="rId18" Type="http://schemas.openxmlformats.org/officeDocument/2006/relationships/image" Target="../media/image105.png"/><Relationship Id="rId7" Type="http://schemas.openxmlformats.org/officeDocument/2006/relationships/image" Target="../media/image100.png"/><Relationship Id="rId8" Type="http://schemas.openxmlformats.org/officeDocument/2006/relationships/image" Target="../media/image101.png"/></Relationships>
</file>

<file path=ppt/slides/_rels/slide10.xml.rels><?xml version="1.0" encoding="UTF-8" standalone="yes"?><Relationships xmlns="http://schemas.openxmlformats.org/package/2006/relationships"><Relationship Id="rId11" Type="http://schemas.openxmlformats.org/officeDocument/2006/relationships/image" Target="../media/image114.png"/><Relationship Id="rId10" Type="http://schemas.openxmlformats.org/officeDocument/2006/relationships/image" Target="../media/image120.png"/><Relationship Id="rId13" Type="http://schemas.openxmlformats.org/officeDocument/2006/relationships/image" Target="../media/image131.png"/><Relationship Id="rId12" Type="http://schemas.openxmlformats.org/officeDocument/2006/relationships/image" Target="../media/image123.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6.png"/><Relationship Id="rId4" Type="http://schemas.openxmlformats.org/officeDocument/2006/relationships/image" Target="../media/image149.png"/><Relationship Id="rId9" Type="http://schemas.openxmlformats.org/officeDocument/2006/relationships/image" Target="../media/image124.png"/><Relationship Id="rId14" Type="http://schemas.openxmlformats.org/officeDocument/2006/relationships/image" Target="../media/image122.png"/><Relationship Id="rId5" Type="http://schemas.openxmlformats.org/officeDocument/2006/relationships/image" Target="../media/image107.png"/><Relationship Id="rId6" Type="http://schemas.openxmlformats.org/officeDocument/2006/relationships/image" Target="../media/image116.png"/><Relationship Id="rId7" Type="http://schemas.openxmlformats.org/officeDocument/2006/relationships/image" Target="../media/image119.png"/><Relationship Id="rId8" Type="http://schemas.openxmlformats.org/officeDocument/2006/relationships/image" Target="../media/image117.png"/></Relationships>
</file>

<file path=ppt/slides/_rels/slide11.xml.rels><?xml version="1.0" encoding="UTF-8" standalone="yes"?><Relationships xmlns="http://schemas.openxmlformats.org/package/2006/relationships"><Relationship Id="rId11" Type="http://schemas.openxmlformats.org/officeDocument/2006/relationships/image" Target="../media/image126.png"/><Relationship Id="rId10" Type="http://schemas.openxmlformats.org/officeDocument/2006/relationships/image" Target="../media/image129.png"/><Relationship Id="rId13" Type="http://schemas.openxmlformats.org/officeDocument/2006/relationships/image" Target="../media/image109.png"/><Relationship Id="rId12" Type="http://schemas.openxmlformats.org/officeDocument/2006/relationships/image" Target="../media/image128.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6.png"/><Relationship Id="rId4" Type="http://schemas.openxmlformats.org/officeDocument/2006/relationships/image" Target="../media/image177.png"/><Relationship Id="rId9" Type="http://schemas.openxmlformats.org/officeDocument/2006/relationships/image" Target="../media/image127.png"/><Relationship Id="rId5" Type="http://schemas.openxmlformats.org/officeDocument/2006/relationships/image" Target="../media/image118.png"/><Relationship Id="rId6" Type="http://schemas.openxmlformats.org/officeDocument/2006/relationships/image" Target="../media/image130.png"/><Relationship Id="rId7" Type="http://schemas.openxmlformats.org/officeDocument/2006/relationships/image" Target="../media/image125.png"/><Relationship Id="rId8" Type="http://schemas.openxmlformats.org/officeDocument/2006/relationships/image" Target="../media/image137.png"/></Relationships>
</file>

<file path=ppt/slides/_rels/slide12.xml.rels><?xml version="1.0" encoding="UTF-8" standalone="yes"?><Relationships xmlns="http://schemas.openxmlformats.org/package/2006/relationships"><Relationship Id="rId11" Type="http://schemas.openxmlformats.org/officeDocument/2006/relationships/image" Target="../media/image135.png"/><Relationship Id="rId10" Type="http://schemas.openxmlformats.org/officeDocument/2006/relationships/image" Target="../media/image142.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6.png"/><Relationship Id="rId4" Type="http://schemas.openxmlformats.org/officeDocument/2006/relationships/image" Target="../media/image232.png"/><Relationship Id="rId9" Type="http://schemas.openxmlformats.org/officeDocument/2006/relationships/image" Target="../media/image138.png"/><Relationship Id="rId5" Type="http://schemas.openxmlformats.org/officeDocument/2006/relationships/image" Target="../media/image132.png"/><Relationship Id="rId6" Type="http://schemas.openxmlformats.org/officeDocument/2006/relationships/image" Target="../media/image134.png"/><Relationship Id="rId7" Type="http://schemas.openxmlformats.org/officeDocument/2006/relationships/image" Target="../media/image141.png"/><Relationship Id="rId8" Type="http://schemas.openxmlformats.org/officeDocument/2006/relationships/image" Target="../media/image133.png"/></Relationships>
</file>

<file path=ppt/slides/_rels/slide13.xml.rels><?xml version="1.0" encoding="UTF-8" standalone="yes"?><Relationships xmlns="http://schemas.openxmlformats.org/package/2006/relationships"><Relationship Id="rId20" Type="http://schemas.openxmlformats.org/officeDocument/2006/relationships/image" Target="../media/image148.png"/><Relationship Id="rId22" Type="http://schemas.openxmlformats.org/officeDocument/2006/relationships/image" Target="../media/image158.png"/><Relationship Id="rId21" Type="http://schemas.openxmlformats.org/officeDocument/2006/relationships/image" Target="../media/image157.png"/><Relationship Id="rId24" Type="http://schemas.openxmlformats.org/officeDocument/2006/relationships/image" Target="../media/image161.png"/><Relationship Id="rId23" Type="http://schemas.openxmlformats.org/officeDocument/2006/relationships/image" Target="../media/image159.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6.png"/><Relationship Id="rId4" Type="http://schemas.openxmlformats.org/officeDocument/2006/relationships/image" Target="../media/image139.png"/><Relationship Id="rId9" Type="http://schemas.openxmlformats.org/officeDocument/2006/relationships/image" Target="../media/image140.png"/><Relationship Id="rId26" Type="http://schemas.openxmlformats.org/officeDocument/2006/relationships/image" Target="../media/image164.png"/><Relationship Id="rId25" Type="http://schemas.openxmlformats.org/officeDocument/2006/relationships/image" Target="../media/image166.png"/><Relationship Id="rId28" Type="http://schemas.openxmlformats.org/officeDocument/2006/relationships/image" Target="../media/image191.png"/><Relationship Id="rId27" Type="http://schemas.openxmlformats.org/officeDocument/2006/relationships/image" Target="../media/image163.png"/><Relationship Id="rId5" Type="http://schemas.openxmlformats.org/officeDocument/2006/relationships/image" Target="../media/image150.png"/><Relationship Id="rId6" Type="http://schemas.openxmlformats.org/officeDocument/2006/relationships/image" Target="../media/image136.png"/><Relationship Id="rId7" Type="http://schemas.openxmlformats.org/officeDocument/2006/relationships/image" Target="../media/image144.png"/><Relationship Id="rId8" Type="http://schemas.openxmlformats.org/officeDocument/2006/relationships/image" Target="../media/image145.png"/><Relationship Id="rId11" Type="http://schemas.openxmlformats.org/officeDocument/2006/relationships/image" Target="../media/image152.png"/><Relationship Id="rId10" Type="http://schemas.openxmlformats.org/officeDocument/2006/relationships/image" Target="../media/image155.png"/><Relationship Id="rId13" Type="http://schemas.openxmlformats.org/officeDocument/2006/relationships/image" Target="../media/image143.png"/><Relationship Id="rId12" Type="http://schemas.openxmlformats.org/officeDocument/2006/relationships/image" Target="../media/image147.png"/><Relationship Id="rId15" Type="http://schemas.openxmlformats.org/officeDocument/2006/relationships/image" Target="../media/image165.png"/><Relationship Id="rId14" Type="http://schemas.openxmlformats.org/officeDocument/2006/relationships/image" Target="../media/image153.png"/><Relationship Id="rId17" Type="http://schemas.openxmlformats.org/officeDocument/2006/relationships/image" Target="../media/image29.png"/><Relationship Id="rId16" Type="http://schemas.openxmlformats.org/officeDocument/2006/relationships/image" Target="../media/image154.png"/><Relationship Id="rId19" Type="http://schemas.openxmlformats.org/officeDocument/2006/relationships/image" Target="../media/image160.png"/><Relationship Id="rId18" Type="http://schemas.openxmlformats.org/officeDocument/2006/relationships/image" Target="../media/image15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6.png"/><Relationship Id="rId4" Type="http://schemas.openxmlformats.org/officeDocument/2006/relationships/image" Target="../media/image171.png"/><Relationship Id="rId9" Type="http://schemas.openxmlformats.org/officeDocument/2006/relationships/image" Target="../media/image59.png"/><Relationship Id="rId5" Type="http://schemas.openxmlformats.org/officeDocument/2006/relationships/image" Target="../media/image167.png"/><Relationship Id="rId6" Type="http://schemas.openxmlformats.org/officeDocument/2006/relationships/image" Target="../media/image174.png"/><Relationship Id="rId7" Type="http://schemas.openxmlformats.org/officeDocument/2006/relationships/image" Target="../media/image168.png"/><Relationship Id="rId8" Type="http://schemas.openxmlformats.org/officeDocument/2006/relationships/image" Target="../media/image169.png"/><Relationship Id="rId11" Type="http://schemas.openxmlformats.org/officeDocument/2006/relationships/image" Target="../media/image173.png"/><Relationship Id="rId10" Type="http://schemas.openxmlformats.org/officeDocument/2006/relationships/image" Target="../media/image170.png"/><Relationship Id="rId13" Type="http://schemas.openxmlformats.org/officeDocument/2006/relationships/image" Target="../media/image172.png"/><Relationship Id="rId12" Type="http://schemas.openxmlformats.org/officeDocument/2006/relationships/image" Target="../media/image111.png"/><Relationship Id="rId15" Type="http://schemas.openxmlformats.org/officeDocument/2006/relationships/image" Target="../media/image201.png"/><Relationship Id="rId14" Type="http://schemas.openxmlformats.org/officeDocument/2006/relationships/image" Target="../media/image17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6.png"/><Relationship Id="rId4" Type="http://schemas.openxmlformats.org/officeDocument/2006/relationships/image" Target="../media/image183.png"/><Relationship Id="rId9" Type="http://schemas.openxmlformats.org/officeDocument/2006/relationships/image" Target="../media/image197.png"/><Relationship Id="rId5" Type="http://schemas.openxmlformats.org/officeDocument/2006/relationships/image" Target="../media/image175.png"/><Relationship Id="rId6" Type="http://schemas.openxmlformats.org/officeDocument/2006/relationships/image" Target="../media/image181.png"/><Relationship Id="rId7" Type="http://schemas.openxmlformats.org/officeDocument/2006/relationships/image" Target="../media/image184.png"/><Relationship Id="rId8" Type="http://schemas.openxmlformats.org/officeDocument/2006/relationships/image" Target="../media/image178.png"/><Relationship Id="rId11" Type="http://schemas.openxmlformats.org/officeDocument/2006/relationships/image" Target="../media/image187.png"/><Relationship Id="rId10" Type="http://schemas.openxmlformats.org/officeDocument/2006/relationships/image" Target="../media/image189.png"/><Relationship Id="rId13" Type="http://schemas.openxmlformats.org/officeDocument/2006/relationships/image" Target="../media/image182.png"/><Relationship Id="rId12" Type="http://schemas.openxmlformats.org/officeDocument/2006/relationships/image" Target="../media/image196.png"/><Relationship Id="rId14" Type="http://schemas.openxmlformats.org/officeDocument/2006/relationships/image" Target="../media/image18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6.png"/><Relationship Id="rId4" Type="http://schemas.openxmlformats.org/officeDocument/2006/relationships/image" Target="../media/image185.png"/><Relationship Id="rId9" Type="http://schemas.openxmlformats.org/officeDocument/2006/relationships/image" Target="../media/image192.png"/><Relationship Id="rId5" Type="http://schemas.openxmlformats.org/officeDocument/2006/relationships/image" Target="../media/image4.png"/><Relationship Id="rId6" Type="http://schemas.openxmlformats.org/officeDocument/2006/relationships/image" Target="../media/image195.png"/><Relationship Id="rId7" Type="http://schemas.openxmlformats.org/officeDocument/2006/relationships/image" Target="../media/image70.png"/><Relationship Id="rId8" Type="http://schemas.openxmlformats.org/officeDocument/2006/relationships/image" Target="../media/image198.png"/><Relationship Id="rId11" Type="http://schemas.openxmlformats.org/officeDocument/2006/relationships/image" Target="../media/image188.png"/><Relationship Id="rId10" Type="http://schemas.openxmlformats.org/officeDocument/2006/relationships/image" Target="../media/image221.png"/><Relationship Id="rId13" Type="http://schemas.openxmlformats.org/officeDocument/2006/relationships/image" Target="../media/image122.png"/><Relationship Id="rId12" Type="http://schemas.openxmlformats.org/officeDocument/2006/relationships/image" Target="../media/image20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6.png"/><Relationship Id="rId4" Type="http://schemas.openxmlformats.org/officeDocument/2006/relationships/image" Target="../media/image74.png"/><Relationship Id="rId9" Type="http://schemas.openxmlformats.org/officeDocument/2006/relationships/image" Target="../media/image209.png"/><Relationship Id="rId5" Type="http://schemas.openxmlformats.org/officeDocument/2006/relationships/image" Target="../media/image190.png"/><Relationship Id="rId6" Type="http://schemas.openxmlformats.org/officeDocument/2006/relationships/image" Target="../media/image199.png"/><Relationship Id="rId7" Type="http://schemas.openxmlformats.org/officeDocument/2006/relationships/image" Target="../media/image202.png"/><Relationship Id="rId8" Type="http://schemas.openxmlformats.org/officeDocument/2006/relationships/image" Target="../media/image200.png"/><Relationship Id="rId11" Type="http://schemas.openxmlformats.org/officeDocument/2006/relationships/image" Target="../media/image194.png"/><Relationship Id="rId10" Type="http://schemas.openxmlformats.org/officeDocument/2006/relationships/image" Target="../media/image193.png"/><Relationship Id="rId13" Type="http://schemas.openxmlformats.org/officeDocument/2006/relationships/image" Target="../media/image206.png"/><Relationship Id="rId12" Type="http://schemas.openxmlformats.org/officeDocument/2006/relationships/image" Target="../media/image210.png"/><Relationship Id="rId14" Type="http://schemas.openxmlformats.org/officeDocument/2006/relationships/image" Target="../media/image20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6.png"/><Relationship Id="rId4" Type="http://schemas.openxmlformats.org/officeDocument/2006/relationships/image" Target="../media/image213.png"/><Relationship Id="rId9" Type="http://schemas.openxmlformats.org/officeDocument/2006/relationships/image" Target="../media/image223.png"/><Relationship Id="rId5" Type="http://schemas.openxmlformats.org/officeDocument/2006/relationships/image" Target="../media/image208.png"/><Relationship Id="rId6" Type="http://schemas.openxmlformats.org/officeDocument/2006/relationships/image" Target="../media/image204.png"/><Relationship Id="rId7" Type="http://schemas.openxmlformats.org/officeDocument/2006/relationships/image" Target="../media/image217.png"/><Relationship Id="rId8" Type="http://schemas.openxmlformats.org/officeDocument/2006/relationships/image" Target="../media/image212.png"/><Relationship Id="rId11" Type="http://schemas.openxmlformats.org/officeDocument/2006/relationships/image" Target="../media/image15.png"/><Relationship Id="rId10" Type="http://schemas.openxmlformats.org/officeDocument/2006/relationships/image" Target="../media/image211.png"/><Relationship Id="rId13" Type="http://schemas.openxmlformats.org/officeDocument/2006/relationships/image" Target="../media/image219.png"/><Relationship Id="rId12" Type="http://schemas.openxmlformats.org/officeDocument/2006/relationships/image" Target="../media/image229.png"/><Relationship Id="rId15" Type="http://schemas.openxmlformats.org/officeDocument/2006/relationships/image" Target="../media/image220.png"/><Relationship Id="rId14" Type="http://schemas.openxmlformats.org/officeDocument/2006/relationships/image" Target="../media/image216.png"/><Relationship Id="rId16"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6.png"/><Relationship Id="rId4" Type="http://schemas.openxmlformats.org/officeDocument/2006/relationships/image" Target="../media/image275.png"/><Relationship Id="rId9" Type="http://schemas.openxmlformats.org/officeDocument/2006/relationships/image" Target="../media/image214.png"/><Relationship Id="rId5" Type="http://schemas.openxmlformats.org/officeDocument/2006/relationships/image" Target="../media/image222.png"/><Relationship Id="rId6" Type="http://schemas.openxmlformats.org/officeDocument/2006/relationships/image" Target="../media/image235.png"/><Relationship Id="rId7" Type="http://schemas.openxmlformats.org/officeDocument/2006/relationships/image" Target="../media/image215.png"/><Relationship Id="rId8" Type="http://schemas.openxmlformats.org/officeDocument/2006/relationships/image" Target="../media/image231.png"/><Relationship Id="rId11" Type="http://schemas.openxmlformats.org/officeDocument/2006/relationships/image" Target="../media/image234.png"/><Relationship Id="rId10" Type="http://schemas.openxmlformats.org/officeDocument/2006/relationships/image" Target="../media/image228.png"/><Relationship Id="rId13" Type="http://schemas.openxmlformats.org/officeDocument/2006/relationships/image" Target="../media/image218.png"/><Relationship Id="rId12" Type="http://schemas.openxmlformats.org/officeDocument/2006/relationships/image" Target="../media/image230.png"/><Relationship Id="rId15" Type="http://schemas.openxmlformats.org/officeDocument/2006/relationships/image" Target="../media/image242.png"/><Relationship Id="rId14" Type="http://schemas.openxmlformats.org/officeDocument/2006/relationships/image" Target="../media/image238.png"/><Relationship Id="rId17" Type="http://schemas.openxmlformats.org/officeDocument/2006/relationships/image" Target="../media/image226.png"/><Relationship Id="rId16" Type="http://schemas.openxmlformats.org/officeDocument/2006/relationships/image" Target="../media/image2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6.png"/><Relationship Id="rId4" Type="http://schemas.openxmlformats.org/officeDocument/2006/relationships/image" Target="../media/image74.png"/><Relationship Id="rId9" Type="http://schemas.openxmlformats.org/officeDocument/2006/relationships/image" Target="../media/image240.png"/><Relationship Id="rId5" Type="http://schemas.openxmlformats.org/officeDocument/2006/relationships/image" Target="../media/image227.png"/><Relationship Id="rId6" Type="http://schemas.openxmlformats.org/officeDocument/2006/relationships/image" Target="../media/image225.png"/><Relationship Id="rId7" Type="http://schemas.openxmlformats.org/officeDocument/2006/relationships/image" Target="../media/image127.png"/><Relationship Id="rId8" Type="http://schemas.openxmlformats.org/officeDocument/2006/relationships/image" Target="../media/image236.png"/><Relationship Id="rId11" Type="http://schemas.openxmlformats.org/officeDocument/2006/relationships/image" Target="../media/image29.png"/><Relationship Id="rId10" Type="http://schemas.openxmlformats.org/officeDocument/2006/relationships/image" Target="../media/image245.png"/><Relationship Id="rId13" Type="http://schemas.openxmlformats.org/officeDocument/2006/relationships/image" Target="../media/image250.png"/><Relationship Id="rId12" Type="http://schemas.openxmlformats.org/officeDocument/2006/relationships/image" Target="../media/image248.png"/><Relationship Id="rId14" Type="http://schemas.openxmlformats.org/officeDocument/2006/relationships/image" Target="../media/image24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6.png"/><Relationship Id="rId4" Type="http://schemas.openxmlformats.org/officeDocument/2006/relationships/image" Target="../media/image246.png"/><Relationship Id="rId9" Type="http://schemas.openxmlformats.org/officeDocument/2006/relationships/image" Target="../media/image249.png"/><Relationship Id="rId5" Type="http://schemas.openxmlformats.org/officeDocument/2006/relationships/image" Target="../media/image243.png"/><Relationship Id="rId6" Type="http://schemas.openxmlformats.org/officeDocument/2006/relationships/image" Target="../media/image252.png"/><Relationship Id="rId7" Type="http://schemas.openxmlformats.org/officeDocument/2006/relationships/image" Target="../media/image70.png"/><Relationship Id="rId8" Type="http://schemas.openxmlformats.org/officeDocument/2006/relationships/image" Target="../media/image25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6.png"/><Relationship Id="rId4" Type="http://schemas.openxmlformats.org/officeDocument/2006/relationships/image" Target="../media/image247.png"/><Relationship Id="rId9" Type="http://schemas.openxmlformats.org/officeDocument/2006/relationships/image" Target="../media/image251.png"/><Relationship Id="rId5" Type="http://schemas.openxmlformats.org/officeDocument/2006/relationships/image" Target="../media/image116.png"/><Relationship Id="rId6" Type="http://schemas.openxmlformats.org/officeDocument/2006/relationships/image" Target="../media/image90.png"/><Relationship Id="rId7" Type="http://schemas.openxmlformats.org/officeDocument/2006/relationships/image" Target="../media/image255.png"/><Relationship Id="rId8" Type="http://schemas.openxmlformats.org/officeDocument/2006/relationships/image" Target="../media/image260.png"/><Relationship Id="rId11" Type="http://schemas.openxmlformats.org/officeDocument/2006/relationships/image" Target="../media/image254.png"/><Relationship Id="rId10" Type="http://schemas.openxmlformats.org/officeDocument/2006/relationships/image" Target="../media/image259.png"/><Relationship Id="rId13" Type="http://schemas.openxmlformats.org/officeDocument/2006/relationships/image" Target="../media/image270.png"/><Relationship Id="rId12" Type="http://schemas.openxmlformats.org/officeDocument/2006/relationships/image" Target="../media/image263.png"/><Relationship Id="rId15" Type="http://schemas.openxmlformats.org/officeDocument/2006/relationships/image" Target="../media/image267.png"/><Relationship Id="rId14" Type="http://schemas.openxmlformats.org/officeDocument/2006/relationships/image" Target="../media/image261.png"/><Relationship Id="rId16" Type="http://schemas.openxmlformats.org/officeDocument/2006/relationships/image" Target="../media/image25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06.png"/><Relationship Id="rId4" Type="http://schemas.openxmlformats.org/officeDocument/2006/relationships/image" Target="../media/image264.png"/><Relationship Id="rId9" Type="http://schemas.openxmlformats.org/officeDocument/2006/relationships/image" Target="../media/image265.png"/><Relationship Id="rId5" Type="http://schemas.openxmlformats.org/officeDocument/2006/relationships/image" Target="../media/image253.png"/><Relationship Id="rId6" Type="http://schemas.openxmlformats.org/officeDocument/2006/relationships/image" Target="../media/image262.png"/><Relationship Id="rId7" Type="http://schemas.openxmlformats.org/officeDocument/2006/relationships/image" Target="../media/image266.png"/><Relationship Id="rId8" Type="http://schemas.openxmlformats.org/officeDocument/2006/relationships/image" Target="../media/image257.png"/><Relationship Id="rId11" Type="http://schemas.openxmlformats.org/officeDocument/2006/relationships/image" Target="../media/image273.png"/><Relationship Id="rId10" Type="http://schemas.openxmlformats.org/officeDocument/2006/relationships/image" Target="../media/image271.png"/><Relationship Id="rId13" Type="http://schemas.openxmlformats.org/officeDocument/2006/relationships/image" Target="../media/image274.png"/><Relationship Id="rId12" Type="http://schemas.openxmlformats.org/officeDocument/2006/relationships/image" Target="../media/image268.png"/><Relationship Id="rId14" Type="http://schemas.openxmlformats.org/officeDocument/2006/relationships/image" Target="../media/image26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 name="Shape 11"/>
        <p:cNvGrpSpPr/>
        <p:nvPr/>
      </p:nvGrpSpPr>
      <p:grpSpPr>
        <a:xfrm>
          <a:off x="0" y="0"/>
          <a:ext cx="0" cy="0"/>
          <a:chOff x="0" y="0"/>
          <a:chExt cx="0" cy="0"/>
        </a:xfrm>
      </p:grpSpPr>
      <p:pic>
        <p:nvPicPr>
          <p:cNvPr descr="preencoded.png" id="12" name="Google Shape;12;p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13" name="Google Shape;13;p3"/>
          <p:cNvPicPr preferRelativeResize="0"/>
          <p:nvPr/>
        </p:nvPicPr>
        <p:blipFill rotWithShape="1">
          <a:blip r:embed="rId4">
            <a:alphaModFix/>
          </a:blip>
          <a:srcRect b="0" l="0" r="0" t="0"/>
          <a:stretch/>
        </p:blipFill>
        <p:spPr>
          <a:xfrm>
            <a:off x="0" y="0"/>
            <a:ext cx="12192000" cy="6858000"/>
          </a:xfrm>
          <a:prstGeom prst="rect">
            <a:avLst/>
          </a:prstGeom>
          <a:noFill/>
          <a:ln>
            <a:noFill/>
          </a:ln>
        </p:spPr>
      </p:pic>
      <p:pic>
        <p:nvPicPr>
          <p:cNvPr descr="preencoded.png" id="14" name="Google Shape;14;p3"/>
          <p:cNvPicPr preferRelativeResize="0"/>
          <p:nvPr/>
        </p:nvPicPr>
        <p:blipFill rotWithShape="1">
          <a:blip r:embed="rId5">
            <a:alphaModFix/>
          </a:blip>
          <a:srcRect b="0" l="0" r="0" t="0"/>
          <a:stretch/>
        </p:blipFill>
        <p:spPr>
          <a:xfrm>
            <a:off x="8382000" y="0"/>
            <a:ext cx="3810000" cy="3333750"/>
          </a:xfrm>
          <a:prstGeom prst="rect">
            <a:avLst/>
          </a:prstGeom>
          <a:noFill/>
          <a:ln>
            <a:noFill/>
          </a:ln>
        </p:spPr>
      </p:pic>
      <p:pic>
        <p:nvPicPr>
          <p:cNvPr descr="preencoded.png" id="15" name="Google Shape;15;p3"/>
          <p:cNvPicPr preferRelativeResize="0"/>
          <p:nvPr/>
        </p:nvPicPr>
        <p:blipFill rotWithShape="1">
          <a:blip r:embed="rId6">
            <a:alphaModFix/>
          </a:blip>
          <a:srcRect b="0" l="0" r="0" t="0"/>
          <a:stretch/>
        </p:blipFill>
        <p:spPr>
          <a:xfrm>
            <a:off x="0" y="4476750"/>
            <a:ext cx="2381250" cy="2857500"/>
          </a:xfrm>
          <a:prstGeom prst="rect">
            <a:avLst/>
          </a:prstGeom>
          <a:noFill/>
          <a:ln>
            <a:noFill/>
          </a:ln>
        </p:spPr>
      </p:pic>
      <p:pic>
        <p:nvPicPr>
          <p:cNvPr descr="preencoded.png" id="16" name="Google Shape;16;p3"/>
          <p:cNvPicPr preferRelativeResize="0"/>
          <p:nvPr/>
        </p:nvPicPr>
        <p:blipFill rotWithShape="1">
          <a:blip r:embed="rId7">
            <a:alphaModFix/>
          </a:blip>
          <a:srcRect b="0" l="0" r="0" t="0"/>
          <a:stretch/>
        </p:blipFill>
        <p:spPr>
          <a:xfrm>
            <a:off x="476250" y="952500"/>
            <a:ext cx="1905000" cy="1905000"/>
          </a:xfrm>
          <a:prstGeom prst="rect">
            <a:avLst/>
          </a:prstGeom>
          <a:noFill/>
          <a:ln>
            <a:noFill/>
          </a:ln>
        </p:spPr>
      </p:pic>
      <p:pic>
        <p:nvPicPr>
          <p:cNvPr descr="preencoded.png" id="17" name="Google Shape;17;p3"/>
          <p:cNvPicPr preferRelativeResize="0"/>
          <p:nvPr/>
        </p:nvPicPr>
        <p:blipFill rotWithShape="1">
          <a:blip r:embed="rId8">
            <a:alphaModFix/>
          </a:blip>
          <a:srcRect b="0" l="0" r="0" t="0"/>
          <a:stretch/>
        </p:blipFill>
        <p:spPr>
          <a:xfrm>
            <a:off x="5486400" y="762000"/>
            <a:ext cx="1219200" cy="76200"/>
          </a:xfrm>
          <a:prstGeom prst="rect">
            <a:avLst/>
          </a:prstGeom>
          <a:noFill/>
          <a:ln>
            <a:noFill/>
          </a:ln>
        </p:spPr>
      </p:pic>
      <p:pic>
        <p:nvPicPr>
          <p:cNvPr descr="preencoded.png" id="18" name="Google Shape;18;p3"/>
          <p:cNvPicPr preferRelativeResize="0"/>
          <p:nvPr/>
        </p:nvPicPr>
        <p:blipFill rotWithShape="1">
          <a:blip r:embed="rId9">
            <a:alphaModFix/>
          </a:blip>
          <a:srcRect b="0" l="0" r="0" t="0"/>
          <a:stretch/>
        </p:blipFill>
        <p:spPr>
          <a:xfrm>
            <a:off x="1828800" y="3276600"/>
            <a:ext cx="1962150" cy="1181100"/>
          </a:xfrm>
          <a:prstGeom prst="rect">
            <a:avLst/>
          </a:prstGeom>
          <a:noFill/>
          <a:ln>
            <a:noFill/>
          </a:ln>
        </p:spPr>
      </p:pic>
      <p:pic>
        <p:nvPicPr>
          <p:cNvPr descr="preencoded.png" id="19" name="Google Shape;19;p3"/>
          <p:cNvPicPr preferRelativeResize="0"/>
          <p:nvPr/>
        </p:nvPicPr>
        <p:blipFill rotWithShape="1">
          <a:blip r:embed="rId10">
            <a:alphaModFix/>
          </a:blip>
          <a:srcRect b="0" l="0" r="0" t="0"/>
          <a:stretch/>
        </p:blipFill>
        <p:spPr>
          <a:xfrm>
            <a:off x="2667000" y="3438525"/>
            <a:ext cx="285750" cy="285750"/>
          </a:xfrm>
          <a:prstGeom prst="rect">
            <a:avLst/>
          </a:prstGeom>
          <a:noFill/>
          <a:ln>
            <a:noFill/>
          </a:ln>
        </p:spPr>
      </p:pic>
      <p:pic>
        <p:nvPicPr>
          <p:cNvPr descr="preencoded.png" id="20" name="Google Shape;20;p3"/>
          <p:cNvPicPr preferRelativeResize="0"/>
          <p:nvPr/>
        </p:nvPicPr>
        <p:blipFill rotWithShape="1">
          <a:blip r:embed="rId11">
            <a:alphaModFix/>
          </a:blip>
          <a:srcRect b="0" l="0" r="0" t="0"/>
          <a:stretch/>
        </p:blipFill>
        <p:spPr>
          <a:xfrm>
            <a:off x="4019550" y="3276600"/>
            <a:ext cx="1962150" cy="1181100"/>
          </a:xfrm>
          <a:prstGeom prst="rect">
            <a:avLst/>
          </a:prstGeom>
          <a:noFill/>
          <a:ln>
            <a:noFill/>
          </a:ln>
        </p:spPr>
      </p:pic>
      <p:pic>
        <p:nvPicPr>
          <p:cNvPr descr="preencoded.png" id="21" name="Google Shape;21;p3"/>
          <p:cNvPicPr preferRelativeResize="0"/>
          <p:nvPr/>
        </p:nvPicPr>
        <p:blipFill rotWithShape="1">
          <a:blip r:embed="rId12">
            <a:alphaModFix/>
          </a:blip>
          <a:srcRect b="0" l="0" r="0" t="0"/>
          <a:stretch/>
        </p:blipFill>
        <p:spPr>
          <a:xfrm>
            <a:off x="4857750" y="3438525"/>
            <a:ext cx="285750" cy="285750"/>
          </a:xfrm>
          <a:prstGeom prst="rect">
            <a:avLst/>
          </a:prstGeom>
          <a:noFill/>
          <a:ln>
            <a:noFill/>
          </a:ln>
        </p:spPr>
      </p:pic>
      <p:pic>
        <p:nvPicPr>
          <p:cNvPr descr="preencoded.png" id="22" name="Google Shape;22;p3"/>
          <p:cNvPicPr preferRelativeResize="0"/>
          <p:nvPr/>
        </p:nvPicPr>
        <p:blipFill rotWithShape="1">
          <a:blip r:embed="rId9">
            <a:alphaModFix/>
          </a:blip>
          <a:srcRect b="0" l="0" r="0" t="0"/>
          <a:stretch/>
        </p:blipFill>
        <p:spPr>
          <a:xfrm>
            <a:off x="6210300" y="3276600"/>
            <a:ext cx="1962150" cy="1181100"/>
          </a:xfrm>
          <a:prstGeom prst="rect">
            <a:avLst/>
          </a:prstGeom>
          <a:noFill/>
          <a:ln>
            <a:noFill/>
          </a:ln>
        </p:spPr>
      </p:pic>
      <p:pic>
        <p:nvPicPr>
          <p:cNvPr descr="preencoded.png" id="23" name="Google Shape;23;p3"/>
          <p:cNvPicPr preferRelativeResize="0"/>
          <p:nvPr/>
        </p:nvPicPr>
        <p:blipFill rotWithShape="1">
          <a:blip r:embed="rId13">
            <a:alphaModFix/>
          </a:blip>
          <a:srcRect b="0" l="0" r="0" t="0"/>
          <a:stretch/>
        </p:blipFill>
        <p:spPr>
          <a:xfrm>
            <a:off x="7048500" y="3438525"/>
            <a:ext cx="285750" cy="285750"/>
          </a:xfrm>
          <a:prstGeom prst="rect">
            <a:avLst/>
          </a:prstGeom>
          <a:noFill/>
          <a:ln>
            <a:noFill/>
          </a:ln>
        </p:spPr>
      </p:pic>
      <p:pic>
        <p:nvPicPr>
          <p:cNvPr descr="preencoded.png" id="24" name="Google Shape;24;p3"/>
          <p:cNvPicPr preferRelativeResize="0"/>
          <p:nvPr/>
        </p:nvPicPr>
        <p:blipFill rotWithShape="1">
          <a:blip r:embed="rId9">
            <a:alphaModFix/>
          </a:blip>
          <a:srcRect b="0" l="0" r="0" t="0"/>
          <a:stretch/>
        </p:blipFill>
        <p:spPr>
          <a:xfrm>
            <a:off x="8401050" y="3276600"/>
            <a:ext cx="1962150" cy="1181100"/>
          </a:xfrm>
          <a:prstGeom prst="rect">
            <a:avLst/>
          </a:prstGeom>
          <a:noFill/>
          <a:ln>
            <a:noFill/>
          </a:ln>
        </p:spPr>
      </p:pic>
      <p:pic>
        <p:nvPicPr>
          <p:cNvPr descr="preencoded.png" id="25" name="Google Shape;25;p3"/>
          <p:cNvPicPr preferRelativeResize="0"/>
          <p:nvPr/>
        </p:nvPicPr>
        <p:blipFill rotWithShape="1">
          <a:blip r:embed="rId14">
            <a:alphaModFix/>
          </a:blip>
          <a:srcRect b="0" l="0" r="0" t="0"/>
          <a:stretch/>
        </p:blipFill>
        <p:spPr>
          <a:xfrm>
            <a:off x="9239250" y="3438525"/>
            <a:ext cx="285750" cy="285750"/>
          </a:xfrm>
          <a:prstGeom prst="rect">
            <a:avLst/>
          </a:prstGeom>
          <a:noFill/>
          <a:ln>
            <a:noFill/>
          </a:ln>
        </p:spPr>
      </p:pic>
      <p:pic>
        <p:nvPicPr>
          <p:cNvPr descr="preencoded.png" id="26" name="Google Shape;26;p3"/>
          <p:cNvPicPr preferRelativeResize="0"/>
          <p:nvPr/>
        </p:nvPicPr>
        <p:blipFill rotWithShape="1">
          <a:blip r:embed="rId15">
            <a:alphaModFix/>
          </a:blip>
          <a:srcRect b="0" l="0" r="0" t="0"/>
          <a:stretch/>
        </p:blipFill>
        <p:spPr>
          <a:xfrm>
            <a:off x="4793605" y="5219700"/>
            <a:ext cx="2604790" cy="419100"/>
          </a:xfrm>
          <a:prstGeom prst="rect">
            <a:avLst/>
          </a:prstGeom>
          <a:noFill/>
          <a:ln>
            <a:noFill/>
          </a:ln>
        </p:spPr>
      </p:pic>
      <p:pic>
        <p:nvPicPr>
          <p:cNvPr descr="preencoded.png" id="27" name="Google Shape;27;p3"/>
          <p:cNvPicPr preferRelativeResize="0"/>
          <p:nvPr/>
        </p:nvPicPr>
        <p:blipFill rotWithShape="1">
          <a:blip r:embed="rId16">
            <a:alphaModFix/>
          </a:blip>
          <a:srcRect b="0" l="0" r="0" t="0"/>
          <a:stretch/>
        </p:blipFill>
        <p:spPr>
          <a:xfrm>
            <a:off x="5022205" y="5334000"/>
            <a:ext cx="171450" cy="190500"/>
          </a:xfrm>
          <a:prstGeom prst="rect">
            <a:avLst/>
          </a:prstGeom>
          <a:noFill/>
          <a:ln>
            <a:noFill/>
          </a:ln>
        </p:spPr>
      </p:pic>
      <p:pic>
        <p:nvPicPr>
          <p:cNvPr descr="preencoded.png" id="28" name="Google Shape;28;p3"/>
          <p:cNvPicPr preferRelativeResize="0"/>
          <p:nvPr/>
        </p:nvPicPr>
        <p:blipFill rotWithShape="1">
          <a:blip r:embed="rId17">
            <a:alphaModFix/>
          </a:blip>
          <a:srcRect b="0" l="0" r="0" t="0"/>
          <a:stretch/>
        </p:blipFill>
        <p:spPr>
          <a:xfrm>
            <a:off x="5486400" y="6019800"/>
            <a:ext cx="1219200" cy="76200"/>
          </a:xfrm>
          <a:prstGeom prst="rect">
            <a:avLst/>
          </a:prstGeom>
          <a:noFill/>
          <a:ln>
            <a:noFill/>
          </a:ln>
        </p:spPr>
      </p:pic>
      <p:pic>
        <p:nvPicPr>
          <p:cNvPr descr="preencoded.png" id="29" name="Google Shape;29;p3"/>
          <p:cNvPicPr preferRelativeResize="0"/>
          <p:nvPr/>
        </p:nvPicPr>
        <p:blipFill rotWithShape="1">
          <a:blip r:embed="rId18">
            <a:alphaModFix/>
          </a:blip>
          <a:srcRect b="0" l="0" r="0" t="0"/>
          <a:stretch/>
        </p:blipFill>
        <p:spPr>
          <a:xfrm>
            <a:off x="11830050" y="6457950"/>
            <a:ext cx="133350" cy="133350"/>
          </a:xfrm>
          <a:prstGeom prst="rect">
            <a:avLst/>
          </a:prstGeom>
          <a:noFill/>
          <a:ln>
            <a:noFill/>
          </a:ln>
        </p:spPr>
      </p:pic>
      <p:sp>
        <p:nvSpPr>
          <p:cNvPr id="30" name="Google Shape;30;p3"/>
          <p:cNvSpPr/>
          <p:nvPr/>
        </p:nvSpPr>
        <p:spPr>
          <a:xfrm>
            <a:off x="1828800" y="1143000"/>
            <a:ext cx="8534400" cy="914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15E59"/>
              </a:buClr>
              <a:buSzPts val="3600"/>
              <a:buFont typeface="Arial"/>
              <a:buNone/>
            </a:pPr>
            <a:r>
              <a:rPr b="1" i="0" lang="en-US" sz="3600" u="none" cap="none" strike="noStrike">
                <a:solidFill>
                  <a:srgbClr val="115E59"/>
                </a:solidFill>
                <a:latin typeface="Arial"/>
                <a:ea typeface="Arial"/>
                <a:cs typeface="Arial"/>
                <a:sym typeface="Arial"/>
              </a:rPr>
              <a:t>ISO Lead Implementer Advanced Training</a:t>
            </a:r>
            <a:endParaRPr b="0" i="0" sz="3600" u="none" cap="none" strike="noStrike">
              <a:solidFill>
                <a:schemeClr val="dk1"/>
              </a:solidFill>
              <a:latin typeface="Calibri"/>
              <a:ea typeface="Calibri"/>
              <a:cs typeface="Calibri"/>
              <a:sym typeface="Calibri"/>
            </a:endParaRPr>
          </a:p>
        </p:txBody>
      </p:sp>
      <p:sp>
        <p:nvSpPr>
          <p:cNvPr id="31" name="Google Shape;31;p3"/>
          <p:cNvSpPr/>
          <p:nvPr/>
        </p:nvSpPr>
        <p:spPr>
          <a:xfrm>
            <a:off x="1828800" y="2286000"/>
            <a:ext cx="8534400" cy="6096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374151"/>
              </a:buClr>
              <a:buSzPts val="1800"/>
              <a:buFont typeface="Arial"/>
              <a:buNone/>
            </a:pPr>
            <a:r>
              <a:rPr b="0" i="0" lang="en-US" sz="1800" u="none" cap="none" strike="noStrike">
                <a:solidFill>
                  <a:srgbClr val="374151"/>
                </a:solidFill>
                <a:latin typeface="Arial"/>
                <a:ea typeface="Arial"/>
                <a:cs typeface="Arial"/>
                <a:sym typeface="Arial"/>
              </a:rPr>
              <a:t>Mastering the Audit Process, Driving Continual Improvement, Strategic Management Review, Maintaining Certification</a:t>
            </a:r>
            <a:endParaRPr b="0" i="0" sz="1800" u="none" cap="none" strike="noStrike">
              <a:solidFill>
                <a:schemeClr val="dk1"/>
              </a:solidFill>
              <a:latin typeface="Calibri"/>
              <a:ea typeface="Calibri"/>
              <a:cs typeface="Calibri"/>
              <a:sym typeface="Calibri"/>
            </a:endParaRPr>
          </a:p>
        </p:txBody>
      </p:sp>
      <p:sp>
        <p:nvSpPr>
          <p:cNvPr id="32" name="Google Shape;32;p3"/>
          <p:cNvSpPr/>
          <p:nvPr/>
        </p:nvSpPr>
        <p:spPr>
          <a:xfrm>
            <a:off x="1815465" y="3848100"/>
            <a:ext cx="1988820"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Audit Process</a:t>
            </a:r>
            <a:endParaRPr b="0" i="0" sz="1200" u="none" cap="none" strike="noStrike">
              <a:solidFill>
                <a:schemeClr val="dk1"/>
              </a:solidFill>
              <a:latin typeface="Calibri"/>
              <a:ea typeface="Calibri"/>
              <a:cs typeface="Calibri"/>
              <a:sym typeface="Calibri"/>
            </a:endParaRPr>
          </a:p>
        </p:txBody>
      </p:sp>
      <p:sp>
        <p:nvSpPr>
          <p:cNvPr id="33" name="Google Shape;33;p3"/>
          <p:cNvSpPr/>
          <p:nvPr/>
        </p:nvSpPr>
        <p:spPr>
          <a:xfrm>
            <a:off x="4171950" y="3848100"/>
            <a:ext cx="1657350" cy="4572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Continual Improvement</a:t>
            </a:r>
            <a:endParaRPr b="0" i="0" sz="1200" u="none" cap="none" strike="noStrike">
              <a:solidFill>
                <a:schemeClr val="dk1"/>
              </a:solidFill>
              <a:latin typeface="Calibri"/>
              <a:ea typeface="Calibri"/>
              <a:cs typeface="Calibri"/>
              <a:sym typeface="Calibri"/>
            </a:endParaRPr>
          </a:p>
        </p:txBody>
      </p:sp>
      <p:sp>
        <p:nvSpPr>
          <p:cNvPr id="34" name="Google Shape;34;p3"/>
          <p:cNvSpPr/>
          <p:nvPr/>
        </p:nvSpPr>
        <p:spPr>
          <a:xfrm>
            <a:off x="6196965" y="3848100"/>
            <a:ext cx="1988820"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Management Review</a:t>
            </a:r>
            <a:endParaRPr b="0" i="0" sz="1200" u="none" cap="none" strike="noStrike">
              <a:solidFill>
                <a:schemeClr val="dk1"/>
              </a:solidFill>
              <a:latin typeface="Calibri"/>
              <a:ea typeface="Calibri"/>
              <a:cs typeface="Calibri"/>
              <a:sym typeface="Calibri"/>
            </a:endParaRPr>
          </a:p>
        </p:txBody>
      </p:sp>
      <p:sp>
        <p:nvSpPr>
          <p:cNvPr id="35" name="Google Shape;35;p3"/>
          <p:cNvSpPr/>
          <p:nvPr/>
        </p:nvSpPr>
        <p:spPr>
          <a:xfrm>
            <a:off x="8387715" y="3848100"/>
            <a:ext cx="1988820"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74151"/>
              </a:buClr>
              <a:buSzPts val="1200"/>
              <a:buFont typeface="Arial"/>
              <a:buNone/>
            </a:pPr>
            <a:r>
              <a:rPr b="0" i="0" lang="en-US" sz="1200" u="none" cap="none" strike="noStrike">
                <a:solidFill>
                  <a:srgbClr val="374151"/>
                </a:solidFill>
                <a:latin typeface="Arial"/>
                <a:ea typeface="Arial"/>
                <a:cs typeface="Arial"/>
                <a:sym typeface="Arial"/>
              </a:rPr>
              <a:t>Certification</a:t>
            </a:r>
            <a:endParaRPr b="0" i="0" sz="1200" u="none" cap="none" strike="noStrike">
              <a:solidFill>
                <a:schemeClr val="dk1"/>
              </a:solidFill>
              <a:latin typeface="Calibri"/>
              <a:ea typeface="Calibri"/>
              <a:cs typeface="Calibri"/>
              <a:sym typeface="Calibri"/>
            </a:endParaRPr>
          </a:p>
        </p:txBody>
      </p:sp>
      <p:sp>
        <p:nvSpPr>
          <p:cNvPr id="36" name="Google Shape;36;p3"/>
          <p:cNvSpPr/>
          <p:nvPr/>
        </p:nvSpPr>
        <p:spPr>
          <a:xfrm>
            <a:off x="4807446" y="5295900"/>
            <a:ext cx="2577108"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500"/>
              <a:buFont typeface="Arial"/>
              <a:buNone/>
            </a:pPr>
            <a:r>
              <a:rPr b="0" i="0" lang="en-US" sz="1500" u="none" cap="none" strike="noStrike">
                <a:solidFill>
                  <a:srgbClr val="FFFFFF"/>
                </a:solidFill>
                <a:latin typeface="Arial"/>
                <a:ea typeface="Arial"/>
                <a:cs typeface="Arial"/>
                <a:sym typeface="Arial"/>
              </a:rPr>
              <a:t>December 01, 2025</a:t>
            </a:r>
            <a:endParaRPr b="0" i="0" sz="1500" u="none" cap="none" strike="noStrike">
              <a:solidFill>
                <a:schemeClr val="dk1"/>
              </a:solidFill>
              <a:latin typeface="Calibri"/>
              <a:ea typeface="Calibri"/>
              <a:cs typeface="Calibri"/>
              <a:sym typeface="Calibri"/>
            </a:endParaRPr>
          </a:p>
        </p:txBody>
      </p:sp>
      <p:sp>
        <p:nvSpPr>
          <p:cNvPr id="37" name="Google Shape;37;p3"/>
          <p:cNvSpPr/>
          <p:nvPr/>
        </p:nvSpPr>
        <p:spPr>
          <a:xfrm>
            <a:off x="8987284" y="6438900"/>
            <a:ext cx="3571339"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6B7280"/>
              </a:buClr>
              <a:buSzPts val="1050"/>
              <a:buFont typeface="Arial"/>
              <a:buNone/>
            </a:pPr>
            <a:r>
              <a:rPr b="0" i="0" lang="en-US" sz="1050" u="none" cap="none" strike="noStrike">
                <a:solidFill>
                  <a:srgbClr val="6B7280"/>
                </a:solidFill>
                <a:latin typeface="Arial"/>
                <a:ea typeface="Arial"/>
                <a:cs typeface="Arial"/>
                <a:sym typeface="Arial"/>
              </a:rPr>
              <a:t>ISO Lead Implementer Advanced Training </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pic>
        <p:nvPicPr>
          <p:cNvPr descr="preencoded.png" id="43" name="Google Shape;43;p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44" name="Google Shape;44;p4"/>
          <p:cNvPicPr preferRelativeResize="0"/>
          <p:nvPr/>
        </p:nvPicPr>
        <p:blipFill rotWithShape="1">
          <a:blip r:embed="rId4">
            <a:alphaModFix/>
          </a:blip>
          <a:srcRect b="0" l="0" r="0" t="0"/>
          <a:stretch/>
        </p:blipFill>
        <p:spPr>
          <a:xfrm>
            <a:off x="381000" y="1562100"/>
            <a:ext cx="5562600" cy="1714500"/>
          </a:xfrm>
          <a:prstGeom prst="rect">
            <a:avLst/>
          </a:prstGeom>
          <a:noFill/>
          <a:ln>
            <a:noFill/>
          </a:ln>
        </p:spPr>
      </p:pic>
      <p:pic>
        <p:nvPicPr>
          <p:cNvPr descr="preencoded.png" id="45" name="Google Shape;45;p4"/>
          <p:cNvPicPr preferRelativeResize="0"/>
          <p:nvPr/>
        </p:nvPicPr>
        <p:blipFill rotWithShape="1">
          <a:blip r:embed="rId5">
            <a:alphaModFix/>
          </a:blip>
          <a:srcRect b="0" l="0" r="0" t="0"/>
          <a:stretch/>
        </p:blipFill>
        <p:spPr>
          <a:xfrm>
            <a:off x="609600" y="1790700"/>
            <a:ext cx="457200" cy="457200"/>
          </a:xfrm>
          <a:prstGeom prst="rect">
            <a:avLst/>
          </a:prstGeom>
          <a:noFill/>
          <a:ln>
            <a:noFill/>
          </a:ln>
        </p:spPr>
      </p:pic>
      <p:pic>
        <p:nvPicPr>
          <p:cNvPr descr="preencoded.png" id="46" name="Google Shape;46;p4"/>
          <p:cNvPicPr preferRelativeResize="0"/>
          <p:nvPr/>
        </p:nvPicPr>
        <p:blipFill rotWithShape="1">
          <a:blip r:embed="rId6">
            <a:alphaModFix/>
          </a:blip>
          <a:srcRect b="0" l="0" r="0" t="0"/>
          <a:stretch/>
        </p:blipFill>
        <p:spPr>
          <a:xfrm>
            <a:off x="752475" y="1866900"/>
            <a:ext cx="171450" cy="304800"/>
          </a:xfrm>
          <a:prstGeom prst="rect">
            <a:avLst/>
          </a:prstGeom>
          <a:noFill/>
          <a:ln>
            <a:noFill/>
          </a:ln>
        </p:spPr>
      </p:pic>
      <p:pic>
        <p:nvPicPr>
          <p:cNvPr descr="preencoded.png" id="47" name="Google Shape;47;p4"/>
          <p:cNvPicPr preferRelativeResize="0"/>
          <p:nvPr/>
        </p:nvPicPr>
        <p:blipFill rotWithShape="1">
          <a:blip r:embed="rId4">
            <a:alphaModFix/>
          </a:blip>
          <a:srcRect b="0" l="0" r="0" t="0"/>
          <a:stretch/>
        </p:blipFill>
        <p:spPr>
          <a:xfrm>
            <a:off x="6248400" y="1562100"/>
            <a:ext cx="5562600" cy="1714500"/>
          </a:xfrm>
          <a:prstGeom prst="rect">
            <a:avLst/>
          </a:prstGeom>
          <a:noFill/>
          <a:ln>
            <a:noFill/>
          </a:ln>
        </p:spPr>
      </p:pic>
      <p:pic>
        <p:nvPicPr>
          <p:cNvPr descr="preencoded.png" id="48" name="Google Shape;48;p4"/>
          <p:cNvPicPr preferRelativeResize="0"/>
          <p:nvPr/>
        </p:nvPicPr>
        <p:blipFill rotWithShape="1">
          <a:blip r:embed="rId7">
            <a:alphaModFix/>
          </a:blip>
          <a:srcRect b="0" l="0" r="0" t="0"/>
          <a:stretch/>
        </p:blipFill>
        <p:spPr>
          <a:xfrm>
            <a:off x="6477000" y="1790700"/>
            <a:ext cx="457200" cy="457200"/>
          </a:xfrm>
          <a:prstGeom prst="rect">
            <a:avLst/>
          </a:prstGeom>
          <a:noFill/>
          <a:ln>
            <a:noFill/>
          </a:ln>
        </p:spPr>
      </p:pic>
      <p:pic>
        <p:nvPicPr>
          <p:cNvPr descr="preencoded.png" id="49" name="Google Shape;49;p4"/>
          <p:cNvPicPr preferRelativeResize="0"/>
          <p:nvPr/>
        </p:nvPicPr>
        <p:blipFill rotWithShape="1">
          <a:blip r:embed="rId8">
            <a:alphaModFix/>
          </a:blip>
          <a:srcRect b="0" l="0" r="0" t="0"/>
          <a:stretch/>
        </p:blipFill>
        <p:spPr>
          <a:xfrm>
            <a:off x="6591300" y="1866900"/>
            <a:ext cx="228600" cy="304800"/>
          </a:xfrm>
          <a:prstGeom prst="rect">
            <a:avLst/>
          </a:prstGeom>
          <a:noFill/>
          <a:ln>
            <a:noFill/>
          </a:ln>
        </p:spPr>
      </p:pic>
      <p:pic>
        <p:nvPicPr>
          <p:cNvPr descr="preencoded.png" id="50" name="Google Shape;50;p4"/>
          <p:cNvPicPr preferRelativeResize="0"/>
          <p:nvPr/>
        </p:nvPicPr>
        <p:blipFill rotWithShape="1">
          <a:blip r:embed="rId9">
            <a:alphaModFix/>
          </a:blip>
          <a:srcRect b="0" l="0" r="0" t="0"/>
          <a:stretch/>
        </p:blipFill>
        <p:spPr>
          <a:xfrm>
            <a:off x="381000" y="3581400"/>
            <a:ext cx="5562600" cy="1866900"/>
          </a:xfrm>
          <a:prstGeom prst="rect">
            <a:avLst/>
          </a:prstGeom>
          <a:noFill/>
          <a:ln>
            <a:noFill/>
          </a:ln>
        </p:spPr>
      </p:pic>
      <p:pic>
        <p:nvPicPr>
          <p:cNvPr descr="preencoded.png" id="51" name="Google Shape;51;p4"/>
          <p:cNvPicPr preferRelativeResize="0"/>
          <p:nvPr/>
        </p:nvPicPr>
        <p:blipFill rotWithShape="1">
          <a:blip r:embed="rId10">
            <a:alphaModFix/>
          </a:blip>
          <a:srcRect b="0" l="0" r="0" t="0"/>
          <a:stretch/>
        </p:blipFill>
        <p:spPr>
          <a:xfrm>
            <a:off x="609600" y="3886200"/>
            <a:ext cx="456605" cy="457200"/>
          </a:xfrm>
          <a:prstGeom prst="rect">
            <a:avLst/>
          </a:prstGeom>
          <a:noFill/>
          <a:ln>
            <a:noFill/>
          </a:ln>
        </p:spPr>
      </p:pic>
      <p:pic>
        <p:nvPicPr>
          <p:cNvPr descr="preencoded.png" id="52" name="Google Shape;52;p4"/>
          <p:cNvPicPr preferRelativeResize="0"/>
          <p:nvPr/>
        </p:nvPicPr>
        <p:blipFill rotWithShape="1">
          <a:blip r:embed="rId11">
            <a:alphaModFix/>
          </a:blip>
          <a:srcRect b="0" l="0" r="0" t="0"/>
          <a:stretch/>
        </p:blipFill>
        <p:spPr>
          <a:xfrm>
            <a:off x="723602" y="3962400"/>
            <a:ext cx="228600" cy="304800"/>
          </a:xfrm>
          <a:prstGeom prst="rect">
            <a:avLst/>
          </a:prstGeom>
          <a:noFill/>
          <a:ln>
            <a:noFill/>
          </a:ln>
        </p:spPr>
      </p:pic>
      <p:pic>
        <p:nvPicPr>
          <p:cNvPr descr="preencoded.png" id="53" name="Google Shape;53;p4"/>
          <p:cNvPicPr preferRelativeResize="0"/>
          <p:nvPr/>
        </p:nvPicPr>
        <p:blipFill rotWithShape="1">
          <a:blip r:embed="rId9">
            <a:alphaModFix/>
          </a:blip>
          <a:srcRect b="0" l="0" r="0" t="0"/>
          <a:stretch/>
        </p:blipFill>
        <p:spPr>
          <a:xfrm>
            <a:off x="6248400" y="3581400"/>
            <a:ext cx="5562600" cy="1866900"/>
          </a:xfrm>
          <a:prstGeom prst="rect">
            <a:avLst/>
          </a:prstGeom>
          <a:noFill/>
          <a:ln>
            <a:noFill/>
          </a:ln>
        </p:spPr>
      </p:pic>
      <p:pic>
        <p:nvPicPr>
          <p:cNvPr descr="preencoded.png" id="54" name="Google Shape;54;p4"/>
          <p:cNvPicPr preferRelativeResize="0"/>
          <p:nvPr/>
        </p:nvPicPr>
        <p:blipFill rotWithShape="1">
          <a:blip r:embed="rId12">
            <a:alphaModFix/>
          </a:blip>
          <a:srcRect b="0" l="0" r="0" t="0"/>
          <a:stretch/>
        </p:blipFill>
        <p:spPr>
          <a:xfrm>
            <a:off x="6477000" y="3810000"/>
            <a:ext cx="457200" cy="457200"/>
          </a:xfrm>
          <a:prstGeom prst="rect">
            <a:avLst/>
          </a:prstGeom>
          <a:noFill/>
          <a:ln>
            <a:noFill/>
          </a:ln>
        </p:spPr>
      </p:pic>
      <p:pic>
        <p:nvPicPr>
          <p:cNvPr descr="preencoded.png" id="55" name="Google Shape;55;p4"/>
          <p:cNvPicPr preferRelativeResize="0"/>
          <p:nvPr/>
        </p:nvPicPr>
        <p:blipFill rotWithShape="1">
          <a:blip r:embed="rId13">
            <a:alphaModFix/>
          </a:blip>
          <a:srcRect b="0" l="0" r="0" t="0"/>
          <a:stretch/>
        </p:blipFill>
        <p:spPr>
          <a:xfrm>
            <a:off x="6591300" y="3886200"/>
            <a:ext cx="228600" cy="304800"/>
          </a:xfrm>
          <a:prstGeom prst="rect">
            <a:avLst/>
          </a:prstGeom>
          <a:noFill/>
          <a:ln>
            <a:noFill/>
          </a:ln>
        </p:spPr>
      </p:pic>
      <p:sp>
        <p:nvSpPr>
          <p:cNvPr id="56" name="Google Shape;56;p4"/>
          <p:cNvSpPr/>
          <p:nvPr/>
        </p:nvSpPr>
        <p:spPr>
          <a:xfrm>
            <a:off x="381000" y="381000"/>
            <a:ext cx="11430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Training Agenda Overview</a:t>
            </a:r>
            <a:endParaRPr sz="2700">
              <a:solidFill>
                <a:schemeClr val="dk1"/>
              </a:solidFill>
              <a:latin typeface="Calibri"/>
              <a:ea typeface="Calibri"/>
              <a:cs typeface="Calibri"/>
              <a:sym typeface="Calibri"/>
            </a:endParaRPr>
          </a:p>
        </p:txBody>
      </p:sp>
      <p:sp>
        <p:nvSpPr>
          <p:cNvPr id="57" name="Google Shape;57;p4"/>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Four critical areas of focus for advanced ISO Lead Implementer responsibilities</a:t>
            </a:r>
            <a:endParaRPr sz="1500">
              <a:solidFill>
                <a:schemeClr val="dk1"/>
              </a:solidFill>
              <a:latin typeface="Calibri"/>
              <a:ea typeface="Calibri"/>
              <a:cs typeface="Calibri"/>
              <a:sym typeface="Calibri"/>
            </a:endParaRPr>
          </a:p>
        </p:txBody>
      </p:sp>
      <p:sp>
        <p:nvSpPr>
          <p:cNvPr id="58" name="Google Shape;58;p4"/>
          <p:cNvSpPr/>
          <p:nvPr/>
        </p:nvSpPr>
        <p:spPr>
          <a:xfrm>
            <a:off x="1219200" y="1866900"/>
            <a:ext cx="4387691"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Mastering the Audit Process</a:t>
            </a:r>
            <a:endParaRPr sz="1800">
              <a:solidFill>
                <a:schemeClr val="dk1"/>
              </a:solidFill>
              <a:latin typeface="Calibri"/>
              <a:ea typeface="Calibri"/>
              <a:cs typeface="Calibri"/>
              <a:sym typeface="Calibri"/>
            </a:endParaRPr>
          </a:p>
        </p:txBody>
      </p:sp>
      <p:sp>
        <p:nvSpPr>
          <p:cNvPr id="59" name="Google Shape;59;p4"/>
          <p:cNvSpPr/>
          <p:nvPr/>
        </p:nvSpPr>
        <p:spPr>
          <a:xfrm>
            <a:off x="609600" y="2362200"/>
            <a:ext cx="510540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Developing risk-based audit schedules, selecting competent auditors, and managing both internal and external audits to ensure compliance and continuous improvement.</a:t>
            </a:r>
            <a:endParaRPr sz="1200">
              <a:solidFill>
                <a:schemeClr val="dk1"/>
              </a:solidFill>
              <a:latin typeface="Calibri"/>
              <a:ea typeface="Calibri"/>
              <a:cs typeface="Calibri"/>
              <a:sym typeface="Calibri"/>
            </a:endParaRPr>
          </a:p>
        </p:txBody>
      </p:sp>
      <p:sp>
        <p:nvSpPr>
          <p:cNvPr id="60" name="Google Shape;60;p4"/>
          <p:cNvSpPr/>
          <p:nvPr/>
        </p:nvSpPr>
        <p:spPr>
          <a:xfrm>
            <a:off x="7086600" y="1866900"/>
            <a:ext cx="4863822"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Driving Continual Improvement</a:t>
            </a:r>
            <a:endParaRPr sz="1800">
              <a:solidFill>
                <a:schemeClr val="dk1"/>
              </a:solidFill>
              <a:latin typeface="Calibri"/>
              <a:ea typeface="Calibri"/>
              <a:cs typeface="Calibri"/>
              <a:sym typeface="Calibri"/>
            </a:endParaRPr>
          </a:p>
        </p:txBody>
      </p:sp>
      <p:sp>
        <p:nvSpPr>
          <p:cNvPr id="61" name="Google Shape;61;p4"/>
          <p:cNvSpPr/>
          <p:nvPr/>
        </p:nvSpPr>
        <p:spPr>
          <a:xfrm>
            <a:off x="6477000" y="2362200"/>
            <a:ext cx="510540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Implementing the improvement cycle, conducting root cause analysis, and developing effective corrective actions to enhance the ISMS and AIMS.</a:t>
            </a:r>
            <a:endParaRPr sz="1200">
              <a:solidFill>
                <a:schemeClr val="dk1"/>
              </a:solidFill>
              <a:latin typeface="Calibri"/>
              <a:ea typeface="Calibri"/>
              <a:cs typeface="Calibri"/>
              <a:sym typeface="Calibri"/>
            </a:endParaRPr>
          </a:p>
        </p:txBody>
      </p:sp>
      <p:sp>
        <p:nvSpPr>
          <p:cNvPr id="62" name="Google Shape;62;p4"/>
          <p:cNvSpPr/>
          <p:nvPr/>
        </p:nvSpPr>
        <p:spPr>
          <a:xfrm>
            <a:off x="1218605" y="3810000"/>
            <a:ext cx="4496395" cy="609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The Strategic Management Review</a:t>
            </a:r>
            <a:endParaRPr sz="1800">
              <a:solidFill>
                <a:schemeClr val="dk1"/>
              </a:solidFill>
              <a:latin typeface="Calibri"/>
              <a:ea typeface="Calibri"/>
              <a:cs typeface="Calibri"/>
              <a:sym typeface="Calibri"/>
            </a:endParaRPr>
          </a:p>
        </p:txBody>
      </p:sp>
      <p:sp>
        <p:nvSpPr>
          <p:cNvPr id="63" name="Google Shape;63;p4"/>
          <p:cNvSpPr/>
          <p:nvPr/>
        </p:nvSpPr>
        <p:spPr>
          <a:xfrm>
            <a:off x="609600" y="4533900"/>
            <a:ext cx="510540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Preparing for effective management reviews, presenting to senior leadership, and using strategic dialogue to drive improvement and resource allocation.</a:t>
            </a:r>
            <a:endParaRPr sz="1200">
              <a:solidFill>
                <a:schemeClr val="dk1"/>
              </a:solidFill>
              <a:latin typeface="Calibri"/>
              <a:ea typeface="Calibri"/>
              <a:cs typeface="Calibri"/>
              <a:sym typeface="Calibri"/>
            </a:endParaRPr>
          </a:p>
        </p:txBody>
      </p:sp>
      <p:sp>
        <p:nvSpPr>
          <p:cNvPr id="64" name="Google Shape;64;p4"/>
          <p:cNvSpPr/>
          <p:nvPr/>
        </p:nvSpPr>
        <p:spPr>
          <a:xfrm>
            <a:off x="7086600" y="3886200"/>
            <a:ext cx="3842087"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Maintaining Certification</a:t>
            </a:r>
            <a:endParaRPr sz="1800">
              <a:solidFill>
                <a:schemeClr val="dk1"/>
              </a:solidFill>
              <a:latin typeface="Calibri"/>
              <a:ea typeface="Calibri"/>
              <a:cs typeface="Calibri"/>
              <a:sym typeface="Calibri"/>
            </a:endParaRPr>
          </a:p>
        </p:txBody>
      </p:sp>
      <p:sp>
        <p:nvSpPr>
          <p:cNvPr id="65" name="Google Shape;65;p4"/>
          <p:cNvSpPr/>
          <p:nvPr/>
        </p:nvSpPr>
        <p:spPr>
          <a:xfrm>
            <a:off x="6477000" y="4381500"/>
            <a:ext cx="510540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Managing the surveillance audit cycle, keeping management systems current with changing requirements, and maturing the ISMS and AIMS beyond certification.</a:t>
            </a:r>
            <a:endParaRPr sz="1200">
              <a:solidFill>
                <a:schemeClr val="dk1"/>
              </a:solidFill>
              <a:latin typeface="Calibri"/>
              <a:ea typeface="Calibri"/>
              <a:cs typeface="Calibri"/>
              <a:sym typeface="Calibri"/>
            </a:endParaRPr>
          </a:p>
        </p:txBody>
      </p:sp>
      <p:sp>
        <p:nvSpPr>
          <p:cNvPr id="66" name="Google Shape;66;p4"/>
          <p:cNvSpPr/>
          <p:nvPr/>
        </p:nvSpPr>
        <p:spPr>
          <a:xfrm>
            <a:off x="8771930" y="6515100"/>
            <a:ext cx="3829764"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2/23</a:t>
            </a:r>
            <a:endParaRPr sz="10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descr="preencoded.png" id="72" name="Google Shape;72;p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73" name="Google Shape;73;p5"/>
          <p:cNvPicPr preferRelativeResize="0"/>
          <p:nvPr/>
        </p:nvPicPr>
        <p:blipFill rotWithShape="1">
          <a:blip r:embed="rId4">
            <a:alphaModFix/>
          </a:blip>
          <a:srcRect b="0" l="0" r="0" t="0"/>
          <a:stretch/>
        </p:blipFill>
        <p:spPr>
          <a:xfrm>
            <a:off x="381000" y="1485900"/>
            <a:ext cx="4762500" cy="1905000"/>
          </a:xfrm>
          <a:prstGeom prst="rect">
            <a:avLst/>
          </a:prstGeom>
          <a:noFill/>
          <a:ln>
            <a:noFill/>
          </a:ln>
        </p:spPr>
      </p:pic>
      <p:pic>
        <p:nvPicPr>
          <p:cNvPr descr="preencoded.png" id="74" name="Google Shape;74;p5"/>
          <p:cNvPicPr preferRelativeResize="0"/>
          <p:nvPr/>
        </p:nvPicPr>
        <p:blipFill rotWithShape="1">
          <a:blip r:embed="rId5">
            <a:alphaModFix/>
          </a:blip>
          <a:srcRect b="0" l="0" r="0" t="0"/>
          <a:stretch/>
        </p:blipFill>
        <p:spPr>
          <a:xfrm>
            <a:off x="609600" y="1714500"/>
            <a:ext cx="457200" cy="457200"/>
          </a:xfrm>
          <a:prstGeom prst="rect">
            <a:avLst/>
          </a:prstGeom>
          <a:noFill/>
          <a:ln>
            <a:noFill/>
          </a:ln>
        </p:spPr>
      </p:pic>
      <p:pic>
        <p:nvPicPr>
          <p:cNvPr descr="preencoded.png" id="75" name="Google Shape;75;p5"/>
          <p:cNvPicPr preferRelativeResize="0"/>
          <p:nvPr/>
        </p:nvPicPr>
        <p:blipFill rotWithShape="1">
          <a:blip r:embed="rId6">
            <a:alphaModFix/>
          </a:blip>
          <a:srcRect b="0" l="0" r="0" t="0"/>
          <a:stretch/>
        </p:blipFill>
        <p:spPr>
          <a:xfrm>
            <a:off x="752475" y="1790700"/>
            <a:ext cx="171450" cy="304800"/>
          </a:xfrm>
          <a:prstGeom prst="rect">
            <a:avLst/>
          </a:prstGeom>
          <a:noFill/>
          <a:ln>
            <a:noFill/>
          </a:ln>
        </p:spPr>
      </p:pic>
      <p:pic>
        <p:nvPicPr>
          <p:cNvPr descr="preencoded.png" id="76" name="Google Shape;76;p5"/>
          <p:cNvPicPr preferRelativeResize="0"/>
          <p:nvPr/>
        </p:nvPicPr>
        <p:blipFill rotWithShape="1">
          <a:blip r:embed="rId7">
            <a:alphaModFix/>
          </a:blip>
          <a:srcRect b="0" l="0" r="0" t="0"/>
          <a:stretch/>
        </p:blipFill>
        <p:spPr>
          <a:xfrm>
            <a:off x="609600" y="2362200"/>
            <a:ext cx="152400" cy="152400"/>
          </a:xfrm>
          <a:prstGeom prst="rect">
            <a:avLst/>
          </a:prstGeom>
          <a:noFill/>
          <a:ln>
            <a:noFill/>
          </a:ln>
        </p:spPr>
      </p:pic>
      <p:pic>
        <p:nvPicPr>
          <p:cNvPr descr="preencoded.png" id="77" name="Google Shape;77;p5"/>
          <p:cNvPicPr preferRelativeResize="0"/>
          <p:nvPr/>
        </p:nvPicPr>
        <p:blipFill rotWithShape="1">
          <a:blip r:embed="rId7">
            <a:alphaModFix/>
          </a:blip>
          <a:srcRect b="0" l="0" r="0" t="0"/>
          <a:stretch/>
        </p:blipFill>
        <p:spPr>
          <a:xfrm>
            <a:off x="609600" y="2667000"/>
            <a:ext cx="152400" cy="152400"/>
          </a:xfrm>
          <a:prstGeom prst="rect">
            <a:avLst/>
          </a:prstGeom>
          <a:noFill/>
          <a:ln>
            <a:noFill/>
          </a:ln>
        </p:spPr>
      </p:pic>
      <p:pic>
        <p:nvPicPr>
          <p:cNvPr descr="preencoded.png" id="78" name="Google Shape;78;p5"/>
          <p:cNvPicPr preferRelativeResize="0"/>
          <p:nvPr/>
        </p:nvPicPr>
        <p:blipFill rotWithShape="1">
          <a:blip r:embed="rId7">
            <a:alphaModFix/>
          </a:blip>
          <a:srcRect b="0" l="0" r="0" t="0"/>
          <a:stretch/>
        </p:blipFill>
        <p:spPr>
          <a:xfrm>
            <a:off x="609600" y="2971800"/>
            <a:ext cx="152400" cy="152400"/>
          </a:xfrm>
          <a:prstGeom prst="rect">
            <a:avLst/>
          </a:prstGeom>
          <a:noFill/>
          <a:ln>
            <a:noFill/>
          </a:ln>
        </p:spPr>
      </p:pic>
      <p:pic>
        <p:nvPicPr>
          <p:cNvPr descr="preencoded.png" id="79" name="Google Shape;79;p5"/>
          <p:cNvPicPr preferRelativeResize="0"/>
          <p:nvPr/>
        </p:nvPicPr>
        <p:blipFill rotWithShape="1">
          <a:blip r:embed="rId8">
            <a:alphaModFix/>
          </a:blip>
          <a:srcRect b="0" l="0" r="0" t="0"/>
          <a:stretch/>
        </p:blipFill>
        <p:spPr>
          <a:xfrm>
            <a:off x="5659487" y="2419350"/>
            <a:ext cx="873026" cy="38100"/>
          </a:xfrm>
          <a:prstGeom prst="rect">
            <a:avLst/>
          </a:prstGeom>
          <a:noFill/>
          <a:ln>
            <a:noFill/>
          </a:ln>
        </p:spPr>
      </p:pic>
      <p:pic>
        <p:nvPicPr>
          <p:cNvPr descr="preencoded.png" id="80" name="Google Shape;80;p5"/>
          <p:cNvPicPr preferRelativeResize="0"/>
          <p:nvPr/>
        </p:nvPicPr>
        <p:blipFill rotWithShape="1">
          <a:blip r:embed="rId4">
            <a:alphaModFix/>
          </a:blip>
          <a:srcRect b="0" l="0" r="0" t="0"/>
          <a:stretch/>
        </p:blipFill>
        <p:spPr>
          <a:xfrm>
            <a:off x="7048500" y="1485900"/>
            <a:ext cx="4762500" cy="1905000"/>
          </a:xfrm>
          <a:prstGeom prst="rect">
            <a:avLst/>
          </a:prstGeom>
          <a:noFill/>
          <a:ln>
            <a:noFill/>
          </a:ln>
        </p:spPr>
      </p:pic>
      <p:pic>
        <p:nvPicPr>
          <p:cNvPr descr="preencoded.png" id="81" name="Google Shape;81;p5"/>
          <p:cNvPicPr preferRelativeResize="0"/>
          <p:nvPr/>
        </p:nvPicPr>
        <p:blipFill rotWithShape="1">
          <a:blip r:embed="rId9">
            <a:alphaModFix/>
          </a:blip>
          <a:srcRect b="0" l="0" r="0" t="0"/>
          <a:stretch/>
        </p:blipFill>
        <p:spPr>
          <a:xfrm>
            <a:off x="7277100" y="1714500"/>
            <a:ext cx="457200" cy="457200"/>
          </a:xfrm>
          <a:prstGeom prst="rect">
            <a:avLst/>
          </a:prstGeom>
          <a:noFill/>
          <a:ln>
            <a:noFill/>
          </a:ln>
        </p:spPr>
      </p:pic>
      <p:pic>
        <p:nvPicPr>
          <p:cNvPr descr="preencoded.png" id="82" name="Google Shape;82;p5"/>
          <p:cNvPicPr preferRelativeResize="0"/>
          <p:nvPr/>
        </p:nvPicPr>
        <p:blipFill rotWithShape="1">
          <a:blip r:embed="rId10">
            <a:alphaModFix/>
          </a:blip>
          <a:srcRect b="0" l="0" r="0" t="0"/>
          <a:stretch/>
        </p:blipFill>
        <p:spPr>
          <a:xfrm>
            <a:off x="7419975" y="1790700"/>
            <a:ext cx="171450" cy="304800"/>
          </a:xfrm>
          <a:prstGeom prst="rect">
            <a:avLst/>
          </a:prstGeom>
          <a:noFill/>
          <a:ln>
            <a:noFill/>
          </a:ln>
        </p:spPr>
      </p:pic>
      <p:pic>
        <p:nvPicPr>
          <p:cNvPr descr="preencoded.png" id="83" name="Google Shape;83;p5"/>
          <p:cNvPicPr preferRelativeResize="0"/>
          <p:nvPr/>
        </p:nvPicPr>
        <p:blipFill rotWithShape="1">
          <a:blip r:embed="rId11">
            <a:alphaModFix/>
          </a:blip>
          <a:srcRect b="0" l="0" r="0" t="0"/>
          <a:stretch/>
        </p:blipFill>
        <p:spPr>
          <a:xfrm>
            <a:off x="7277100" y="2362200"/>
            <a:ext cx="152400" cy="152400"/>
          </a:xfrm>
          <a:prstGeom prst="rect">
            <a:avLst/>
          </a:prstGeom>
          <a:noFill/>
          <a:ln>
            <a:noFill/>
          </a:ln>
        </p:spPr>
      </p:pic>
      <p:pic>
        <p:nvPicPr>
          <p:cNvPr descr="preencoded.png" id="84" name="Google Shape;84;p5"/>
          <p:cNvPicPr preferRelativeResize="0"/>
          <p:nvPr/>
        </p:nvPicPr>
        <p:blipFill rotWithShape="1">
          <a:blip r:embed="rId11">
            <a:alphaModFix/>
          </a:blip>
          <a:srcRect b="0" l="0" r="0" t="0"/>
          <a:stretch/>
        </p:blipFill>
        <p:spPr>
          <a:xfrm>
            <a:off x="7277100" y="2667000"/>
            <a:ext cx="152400" cy="152400"/>
          </a:xfrm>
          <a:prstGeom prst="rect">
            <a:avLst/>
          </a:prstGeom>
          <a:noFill/>
          <a:ln>
            <a:noFill/>
          </a:ln>
        </p:spPr>
      </p:pic>
      <p:pic>
        <p:nvPicPr>
          <p:cNvPr descr="preencoded.png" id="85" name="Google Shape;85;p5"/>
          <p:cNvPicPr preferRelativeResize="0"/>
          <p:nvPr/>
        </p:nvPicPr>
        <p:blipFill rotWithShape="1">
          <a:blip r:embed="rId11">
            <a:alphaModFix/>
          </a:blip>
          <a:srcRect b="0" l="0" r="0" t="0"/>
          <a:stretch/>
        </p:blipFill>
        <p:spPr>
          <a:xfrm>
            <a:off x="7277100" y="2971800"/>
            <a:ext cx="152400" cy="152400"/>
          </a:xfrm>
          <a:prstGeom prst="rect">
            <a:avLst/>
          </a:prstGeom>
          <a:noFill/>
          <a:ln>
            <a:noFill/>
          </a:ln>
        </p:spPr>
      </p:pic>
      <p:pic>
        <p:nvPicPr>
          <p:cNvPr descr="preencoded.png" id="86" name="Google Shape;86;p5"/>
          <p:cNvPicPr preferRelativeResize="0"/>
          <p:nvPr/>
        </p:nvPicPr>
        <p:blipFill rotWithShape="1">
          <a:blip r:embed="rId12">
            <a:alphaModFix/>
          </a:blip>
          <a:srcRect b="0" l="0" r="0" t="0"/>
          <a:stretch/>
        </p:blipFill>
        <p:spPr>
          <a:xfrm>
            <a:off x="381000" y="3771900"/>
            <a:ext cx="11430000" cy="1447800"/>
          </a:xfrm>
          <a:prstGeom prst="rect">
            <a:avLst/>
          </a:prstGeom>
          <a:noFill/>
          <a:ln>
            <a:noFill/>
          </a:ln>
        </p:spPr>
      </p:pic>
      <p:pic>
        <p:nvPicPr>
          <p:cNvPr descr="preencoded.png" id="87" name="Google Shape;87;p5"/>
          <p:cNvPicPr preferRelativeResize="0"/>
          <p:nvPr/>
        </p:nvPicPr>
        <p:blipFill rotWithShape="1">
          <a:blip r:embed="rId13">
            <a:alphaModFix/>
          </a:blip>
          <a:srcRect b="0" l="0" r="0" t="0"/>
          <a:stretch/>
        </p:blipFill>
        <p:spPr>
          <a:xfrm>
            <a:off x="609600" y="4381500"/>
            <a:ext cx="316855" cy="381000"/>
          </a:xfrm>
          <a:prstGeom prst="rect">
            <a:avLst/>
          </a:prstGeom>
          <a:noFill/>
          <a:ln>
            <a:noFill/>
          </a:ln>
        </p:spPr>
      </p:pic>
      <p:pic>
        <p:nvPicPr>
          <p:cNvPr descr="preencoded.png" id="88" name="Google Shape;88;p5"/>
          <p:cNvPicPr preferRelativeResize="0"/>
          <p:nvPr/>
        </p:nvPicPr>
        <p:blipFill rotWithShape="1">
          <a:blip r:embed="rId14">
            <a:alphaModFix/>
          </a:blip>
          <a:srcRect b="0" l="0" r="0" t="0"/>
          <a:stretch/>
        </p:blipFill>
        <p:spPr>
          <a:xfrm>
            <a:off x="701278" y="4495800"/>
            <a:ext cx="133350" cy="152400"/>
          </a:xfrm>
          <a:prstGeom prst="rect">
            <a:avLst/>
          </a:prstGeom>
          <a:noFill/>
          <a:ln>
            <a:noFill/>
          </a:ln>
        </p:spPr>
      </p:pic>
      <p:pic>
        <p:nvPicPr>
          <p:cNvPr descr="preencoded.png" id="89" name="Google Shape;89;p5"/>
          <p:cNvPicPr preferRelativeResize="0"/>
          <p:nvPr/>
        </p:nvPicPr>
        <p:blipFill rotWithShape="1">
          <a:blip r:embed="rId15">
            <a:alphaModFix/>
          </a:blip>
          <a:srcRect b="0" l="0" r="0" t="0"/>
          <a:stretch/>
        </p:blipFill>
        <p:spPr>
          <a:xfrm>
            <a:off x="4317950" y="4381500"/>
            <a:ext cx="348853" cy="381000"/>
          </a:xfrm>
          <a:prstGeom prst="rect">
            <a:avLst/>
          </a:prstGeom>
          <a:noFill/>
          <a:ln>
            <a:noFill/>
          </a:ln>
        </p:spPr>
      </p:pic>
      <p:pic>
        <p:nvPicPr>
          <p:cNvPr descr="preencoded.png" id="90" name="Google Shape;90;p5"/>
          <p:cNvPicPr preferRelativeResize="0"/>
          <p:nvPr/>
        </p:nvPicPr>
        <p:blipFill rotWithShape="1">
          <a:blip r:embed="rId16">
            <a:alphaModFix/>
          </a:blip>
          <a:srcRect b="0" l="0" r="0" t="0"/>
          <a:stretch/>
        </p:blipFill>
        <p:spPr>
          <a:xfrm>
            <a:off x="4397127" y="4495800"/>
            <a:ext cx="190500" cy="152400"/>
          </a:xfrm>
          <a:prstGeom prst="rect">
            <a:avLst/>
          </a:prstGeom>
          <a:noFill/>
          <a:ln>
            <a:noFill/>
          </a:ln>
        </p:spPr>
      </p:pic>
      <p:pic>
        <p:nvPicPr>
          <p:cNvPr descr="preencoded.png" id="91" name="Google Shape;91;p5"/>
          <p:cNvPicPr preferRelativeResize="0"/>
          <p:nvPr/>
        </p:nvPicPr>
        <p:blipFill rotWithShape="1">
          <a:blip r:embed="rId17">
            <a:alphaModFix/>
          </a:blip>
          <a:srcRect b="0" l="0" r="0" t="0"/>
          <a:stretch/>
        </p:blipFill>
        <p:spPr>
          <a:xfrm>
            <a:off x="8026301" y="4381500"/>
            <a:ext cx="318790" cy="381000"/>
          </a:xfrm>
          <a:prstGeom prst="rect">
            <a:avLst/>
          </a:prstGeom>
          <a:noFill/>
          <a:ln>
            <a:noFill/>
          </a:ln>
        </p:spPr>
      </p:pic>
      <p:pic>
        <p:nvPicPr>
          <p:cNvPr descr="preencoded.png" id="92" name="Google Shape;92;p5"/>
          <p:cNvPicPr preferRelativeResize="0"/>
          <p:nvPr/>
        </p:nvPicPr>
        <p:blipFill rotWithShape="1">
          <a:blip r:embed="rId18">
            <a:alphaModFix/>
          </a:blip>
          <a:srcRect b="0" l="0" r="0" t="0"/>
          <a:stretch/>
        </p:blipFill>
        <p:spPr>
          <a:xfrm>
            <a:off x="8109496" y="4495800"/>
            <a:ext cx="152400" cy="152400"/>
          </a:xfrm>
          <a:prstGeom prst="rect">
            <a:avLst/>
          </a:prstGeom>
          <a:noFill/>
          <a:ln>
            <a:noFill/>
          </a:ln>
        </p:spPr>
      </p:pic>
      <p:sp>
        <p:nvSpPr>
          <p:cNvPr id="93" name="Google Shape;93;p5"/>
          <p:cNvSpPr/>
          <p:nvPr/>
        </p:nvSpPr>
        <p:spPr>
          <a:xfrm>
            <a:off x="381000" y="381000"/>
            <a:ext cx="13716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Evolution of the Lead Implementer Role</a:t>
            </a:r>
            <a:endParaRPr sz="2700">
              <a:solidFill>
                <a:schemeClr val="dk1"/>
              </a:solidFill>
              <a:latin typeface="Calibri"/>
              <a:ea typeface="Calibri"/>
              <a:cs typeface="Calibri"/>
              <a:sym typeface="Calibri"/>
            </a:endParaRPr>
          </a:p>
        </p:txBody>
      </p:sp>
      <p:sp>
        <p:nvSpPr>
          <p:cNvPr id="94" name="Google Shape;94;p5"/>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From audit subject to strategic management function</a:t>
            </a:r>
            <a:endParaRPr sz="1500">
              <a:solidFill>
                <a:schemeClr val="dk1"/>
              </a:solidFill>
              <a:latin typeface="Calibri"/>
              <a:ea typeface="Calibri"/>
              <a:cs typeface="Calibri"/>
              <a:sym typeface="Calibri"/>
            </a:endParaRPr>
          </a:p>
        </p:txBody>
      </p:sp>
      <p:sp>
        <p:nvSpPr>
          <p:cNvPr id="95" name="Google Shape;95;p5"/>
          <p:cNvSpPr/>
          <p:nvPr/>
        </p:nvSpPr>
        <p:spPr>
          <a:xfrm>
            <a:off x="1219200" y="1790700"/>
            <a:ext cx="2431197"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Arial"/>
              <a:buNone/>
            </a:pPr>
            <a:r>
              <a:rPr b="1" lang="en-US" sz="1800">
                <a:solidFill>
                  <a:srgbClr val="374151"/>
                </a:solidFill>
                <a:latin typeface="Arial"/>
                <a:ea typeface="Arial"/>
                <a:cs typeface="Arial"/>
                <a:sym typeface="Arial"/>
              </a:rPr>
              <a:t>Traditional Role</a:t>
            </a:r>
            <a:endParaRPr sz="1800">
              <a:solidFill>
                <a:schemeClr val="dk1"/>
              </a:solidFill>
              <a:latin typeface="Calibri"/>
              <a:ea typeface="Calibri"/>
              <a:cs typeface="Calibri"/>
              <a:sym typeface="Calibri"/>
            </a:endParaRPr>
          </a:p>
        </p:txBody>
      </p:sp>
      <p:sp>
        <p:nvSpPr>
          <p:cNvPr id="96" name="Google Shape;96;p5"/>
          <p:cNvSpPr/>
          <p:nvPr/>
        </p:nvSpPr>
        <p:spPr>
          <a:xfrm>
            <a:off x="838200" y="2324100"/>
            <a:ext cx="1545372"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Subject to audits</a:t>
            </a:r>
            <a:endParaRPr sz="1200">
              <a:solidFill>
                <a:schemeClr val="dk1"/>
              </a:solidFill>
              <a:latin typeface="Calibri"/>
              <a:ea typeface="Calibri"/>
              <a:cs typeface="Calibri"/>
              <a:sym typeface="Calibri"/>
            </a:endParaRPr>
          </a:p>
        </p:txBody>
      </p:sp>
      <p:sp>
        <p:nvSpPr>
          <p:cNvPr id="97" name="Google Shape;97;p5"/>
          <p:cNvSpPr/>
          <p:nvPr/>
        </p:nvSpPr>
        <p:spPr>
          <a:xfrm>
            <a:off x="838200" y="2628900"/>
            <a:ext cx="1859161"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Compliance-focused</a:t>
            </a:r>
            <a:endParaRPr sz="1200">
              <a:solidFill>
                <a:schemeClr val="dk1"/>
              </a:solidFill>
              <a:latin typeface="Calibri"/>
              <a:ea typeface="Calibri"/>
              <a:cs typeface="Calibri"/>
              <a:sym typeface="Calibri"/>
            </a:endParaRPr>
          </a:p>
        </p:txBody>
      </p:sp>
      <p:sp>
        <p:nvSpPr>
          <p:cNvPr id="98" name="Google Shape;98;p5"/>
          <p:cNvSpPr/>
          <p:nvPr/>
        </p:nvSpPr>
        <p:spPr>
          <a:xfrm>
            <a:off x="838200" y="2933700"/>
            <a:ext cx="1701284"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Reactive approach</a:t>
            </a:r>
            <a:endParaRPr sz="1200">
              <a:solidFill>
                <a:schemeClr val="dk1"/>
              </a:solidFill>
              <a:latin typeface="Calibri"/>
              <a:ea typeface="Calibri"/>
              <a:cs typeface="Calibri"/>
              <a:sym typeface="Calibri"/>
            </a:endParaRPr>
          </a:p>
        </p:txBody>
      </p:sp>
      <p:sp>
        <p:nvSpPr>
          <p:cNvPr id="99" name="Google Shape;99;p5"/>
          <p:cNvSpPr/>
          <p:nvPr/>
        </p:nvSpPr>
        <p:spPr>
          <a:xfrm>
            <a:off x="7886700" y="1790700"/>
            <a:ext cx="1949708"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374151"/>
              </a:buClr>
              <a:buSzPts val="1800"/>
              <a:buFont typeface="Arial"/>
              <a:buNone/>
            </a:pPr>
            <a:r>
              <a:rPr b="1" lang="en-US" sz="1800">
                <a:solidFill>
                  <a:srgbClr val="374151"/>
                </a:solidFill>
                <a:latin typeface="Arial"/>
                <a:ea typeface="Arial"/>
                <a:cs typeface="Arial"/>
                <a:sym typeface="Arial"/>
              </a:rPr>
              <a:t>Modern Role</a:t>
            </a:r>
            <a:endParaRPr sz="1800">
              <a:solidFill>
                <a:schemeClr val="dk1"/>
              </a:solidFill>
              <a:latin typeface="Calibri"/>
              <a:ea typeface="Calibri"/>
              <a:cs typeface="Calibri"/>
              <a:sym typeface="Calibri"/>
            </a:endParaRPr>
          </a:p>
        </p:txBody>
      </p:sp>
      <p:sp>
        <p:nvSpPr>
          <p:cNvPr id="100" name="Google Shape;100;p5"/>
          <p:cNvSpPr/>
          <p:nvPr/>
        </p:nvSpPr>
        <p:spPr>
          <a:xfrm>
            <a:off x="7505700" y="2324100"/>
            <a:ext cx="2915186"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Strategic management function</a:t>
            </a:r>
            <a:endParaRPr sz="1200">
              <a:solidFill>
                <a:schemeClr val="dk1"/>
              </a:solidFill>
              <a:latin typeface="Calibri"/>
              <a:ea typeface="Calibri"/>
              <a:cs typeface="Calibri"/>
              <a:sym typeface="Calibri"/>
            </a:endParaRPr>
          </a:p>
        </p:txBody>
      </p:sp>
      <p:sp>
        <p:nvSpPr>
          <p:cNvPr id="101" name="Google Shape;101;p5"/>
          <p:cNvSpPr/>
          <p:nvPr/>
        </p:nvSpPr>
        <p:spPr>
          <a:xfrm>
            <a:off x="7505700" y="2628900"/>
            <a:ext cx="1761827"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Proactive oversight</a:t>
            </a:r>
            <a:endParaRPr sz="1200">
              <a:solidFill>
                <a:schemeClr val="dk1"/>
              </a:solidFill>
              <a:latin typeface="Calibri"/>
              <a:ea typeface="Calibri"/>
              <a:cs typeface="Calibri"/>
              <a:sym typeface="Calibri"/>
            </a:endParaRPr>
          </a:p>
        </p:txBody>
      </p:sp>
      <p:sp>
        <p:nvSpPr>
          <p:cNvPr id="102" name="Google Shape;102;p5"/>
          <p:cNvSpPr/>
          <p:nvPr/>
        </p:nvSpPr>
        <p:spPr>
          <a:xfrm>
            <a:off x="7505700" y="2933700"/>
            <a:ext cx="4075331"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Comprehensive audit program management</a:t>
            </a:r>
            <a:endParaRPr sz="1200">
              <a:solidFill>
                <a:schemeClr val="dk1"/>
              </a:solidFill>
              <a:latin typeface="Calibri"/>
              <a:ea typeface="Calibri"/>
              <a:cs typeface="Calibri"/>
              <a:sym typeface="Calibri"/>
            </a:endParaRPr>
          </a:p>
        </p:txBody>
      </p:sp>
      <p:sp>
        <p:nvSpPr>
          <p:cNvPr id="103" name="Google Shape;103;p5"/>
          <p:cNvSpPr/>
          <p:nvPr/>
        </p:nvSpPr>
        <p:spPr>
          <a:xfrm>
            <a:off x="609600" y="4000500"/>
            <a:ext cx="109728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8080"/>
              </a:buClr>
              <a:buSzPts val="1500"/>
              <a:buFont typeface="Arial"/>
              <a:buNone/>
            </a:pPr>
            <a:r>
              <a:rPr b="1" lang="en-US" sz="1500">
                <a:solidFill>
                  <a:srgbClr val="008080"/>
                </a:solidFill>
                <a:latin typeface="Arial"/>
                <a:ea typeface="Arial"/>
                <a:cs typeface="Arial"/>
                <a:sym typeface="Arial"/>
              </a:rPr>
              <a:t>Key Strategic Responsibilities</a:t>
            </a:r>
            <a:endParaRPr sz="1500">
              <a:solidFill>
                <a:schemeClr val="dk1"/>
              </a:solidFill>
              <a:latin typeface="Calibri"/>
              <a:ea typeface="Calibri"/>
              <a:cs typeface="Calibri"/>
              <a:sym typeface="Calibri"/>
            </a:endParaRPr>
          </a:p>
        </p:txBody>
      </p:sp>
      <p:sp>
        <p:nvSpPr>
          <p:cNvPr id="104" name="Google Shape;104;p5"/>
          <p:cNvSpPr/>
          <p:nvPr/>
        </p:nvSpPr>
        <p:spPr>
          <a:xfrm>
            <a:off x="1040755" y="4381500"/>
            <a:ext cx="3749754"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1F2937"/>
              </a:buClr>
              <a:buSzPts val="1200"/>
              <a:buFont typeface="Arial"/>
              <a:buNone/>
            </a:pPr>
            <a:r>
              <a:rPr b="1" lang="en-US" sz="1200">
                <a:solidFill>
                  <a:srgbClr val="1F2937"/>
                </a:solidFill>
                <a:latin typeface="Arial"/>
                <a:ea typeface="Arial"/>
                <a:cs typeface="Arial"/>
                <a:sym typeface="Arial"/>
              </a:rPr>
              <a:t>Risk-Based Planning</a:t>
            </a:r>
            <a:endParaRPr sz="1200">
              <a:solidFill>
                <a:schemeClr val="dk1"/>
              </a:solidFill>
              <a:latin typeface="Calibri"/>
              <a:ea typeface="Calibri"/>
              <a:cs typeface="Calibri"/>
              <a:sym typeface="Calibri"/>
            </a:endParaRPr>
          </a:p>
        </p:txBody>
      </p:sp>
      <p:sp>
        <p:nvSpPr>
          <p:cNvPr id="105" name="Google Shape;105;p5"/>
          <p:cNvSpPr/>
          <p:nvPr/>
        </p:nvSpPr>
        <p:spPr>
          <a:xfrm>
            <a:off x="1040755" y="4610100"/>
            <a:ext cx="3124795" cy="3810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Strategic scheduling of audits based on risk assessment</a:t>
            </a:r>
            <a:endParaRPr sz="1050">
              <a:solidFill>
                <a:schemeClr val="dk1"/>
              </a:solidFill>
              <a:latin typeface="Calibri"/>
              <a:ea typeface="Calibri"/>
              <a:cs typeface="Calibri"/>
              <a:sym typeface="Calibri"/>
            </a:endParaRPr>
          </a:p>
        </p:txBody>
      </p:sp>
      <p:sp>
        <p:nvSpPr>
          <p:cNvPr id="106" name="Google Shape;106;p5"/>
          <p:cNvSpPr/>
          <p:nvPr/>
        </p:nvSpPr>
        <p:spPr>
          <a:xfrm>
            <a:off x="4781104" y="4381500"/>
            <a:ext cx="3711357"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1F2937"/>
              </a:buClr>
              <a:buSzPts val="1200"/>
              <a:buFont typeface="Arial"/>
              <a:buNone/>
            </a:pPr>
            <a:r>
              <a:rPr b="1" lang="en-US" sz="1200">
                <a:solidFill>
                  <a:srgbClr val="1F2937"/>
                </a:solidFill>
                <a:latin typeface="Arial"/>
                <a:ea typeface="Arial"/>
                <a:cs typeface="Arial"/>
                <a:sym typeface="Arial"/>
              </a:rPr>
              <a:t>Auditor Development</a:t>
            </a:r>
            <a:endParaRPr sz="1200">
              <a:solidFill>
                <a:schemeClr val="dk1"/>
              </a:solidFill>
              <a:latin typeface="Calibri"/>
              <a:ea typeface="Calibri"/>
              <a:cs typeface="Calibri"/>
              <a:sym typeface="Calibri"/>
            </a:endParaRPr>
          </a:p>
        </p:txBody>
      </p:sp>
      <p:sp>
        <p:nvSpPr>
          <p:cNvPr id="107" name="Google Shape;107;p5"/>
          <p:cNvSpPr/>
          <p:nvPr/>
        </p:nvSpPr>
        <p:spPr>
          <a:xfrm>
            <a:off x="4781104" y="4610100"/>
            <a:ext cx="3092797" cy="3810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Selecting and training competent internal auditors</a:t>
            </a:r>
            <a:endParaRPr sz="1050">
              <a:solidFill>
                <a:schemeClr val="dk1"/>
              </a:solidFill>
              <a:latin typeface="Calibri"/>
              <a:ea typeface="Calibri"/>
              <a:cs typeface="Calibri"/>
              <a:sym typeface="Calibri"/>
            </a:endParaRPr>
          </a:p>
        </p:txBody>
      </p:sp>
      <p:sp>
        <p:nvSpPr>
          <p:cNvPr id="108" name="Google Shape;108;p5"/>
          <p:cNvSpPr/>
          <p:nvPr/>
        </p:nvSpPr>
        <p:spPr>
          <a:xfrm>
            <a:off x="8459391" y="4381500"/>
            <a:ext cx="3747611"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1F2937"/>
              </a:buClr>
              <a:buSzPts val="1200"/>
              <a:buFont typeface="Arial"/>
              <a:buNone/>
            </a:pPr>
            <a:r>
              <a:rPr b="1" lang="en-US" sz="1200">
                <a:solidFill>
                  <a:srgbClr val="1F2937"/>
                </a:solidFill>
                <a:latin typeface="Arial"/>
                <a:ea typeface="Arial"/>
                <a:cs typeface="Arial"/>
                <a:sym typeface="Arial"/>
              </a:rPr>
              <a:t>Continuous Improvement</a:t>
            </a:r>
            <a:endParaRPr sz="1200">
              <a:solidFill>
                <a:schemeClr val="dk1"/>
              </a:solidFill>
              <a:latin typeface="Calibri"/>
              <a:ea typeface="Calibri"/>
              <a:cs typeface="Calibri"/>
              <a:sym typeface="Calibri"/>
            </a:endParaRPr>
          </a:p>
        </p:txBody>
      </p:sp>
      <p:sp>
        <p:nvSpPr>
          <p:cNvPr id="109" name="Google Shape;109;p5"/>
          <p:cNvSpPr/>
          <p:nvPr/>
        </p:nvSpPr>
        <p:spPr>
          <a:xfrm>
            <a:off x="8459391" y="4610100"/>
            <a:ext cx="3123009" cy="3810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Ensuring compliance and driving ongoing enhancement</a:t>
            </a:r>
            <a:endParaRPr sz="1050">
              <a:solidFill>
                <a:schemeClr val="dk1"/>
              </a:solidFill>
              <a:latin typeface="Calibri"/>
              <a:ea typeface="Calibri"/>
              <a:cs typeface="Calibri"/>
              <a:sym typeface="Calibri"/>
            </a:endParaRPr>
          </a:p>
        </p:txBody>
      </p:sp>
      <p:sp>
        <p:nvSpPr>
          <p:cNvPr id="110" name="Google Shape;110;p5"/>
          <p:cNvSpPr/>
          <p:nvPr/>
        </p:nvSpPr>
        <p:spPr>
          <a:xfrm>
            <a:off x="8771930" y="6515100"/>
            <a:ext cx="3829764"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3/23</a:t>
            </a:r>
            <a:endParaRPr sz="105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descr="preencoded.png" id="116" name="Google Shape;116;p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117" name="Google Shape;117;p6"/>
          <p:cNvPicPr preferRelativeResize="0"/>
          <p:nvPr/>
        </p:nvPicPr>
        <p:blipFill rotWithShape="1">
          <a:blip r:embed="rId4">
            <a:alphaModFix/>
          </a:blip>
          <a:srcRect b="0" l="0" r="0" t="0"/>
          <a:stretch/>
        </p:blipFill>
        <p:spPr>
          <a:xfrm>
            <a:off x="381000" y="1333500"/>
            <a:ext cx="5562600" cy="3962400"/>
          </a:xfrm>
          <a:prstGeom prst="rect">
            <a:avLst/>
          </a:prstGeom>
          <a:noFill/>
          <a:ln>
            <a:noFill/>
          </a:ln>
        </p:spPr>
      </p:pic>
      <p:pic>
        <p:nvPicPr>
          <p:cNvPr descr="preencoded.png" id="118" name="Google Shape;118;p6"/>
          <p:cNvPicPr preferRelativeResize="0"/>
          <p:nvPr/>
        </p:nvPicPr>
        <p:blipFill rotWithShape="1">
          <a:blip r:embed="rId5">
            <a:alphaModFix/>
          </a:blip>
          <a:srcRect b="0" l="0" r="0" t="0"/>
          <a:stretch/>
        </p:blipFill>
        <p:spPr>
          <a:xfrm>
            <a:off x="609600" y="1590675"/>
            <a:ext cx="228600" cy="228600"/>
          </a:xfrm>
          <a:prstGeom prst="rect">
            <a:avLst/>
          </a:prstGeom>
          <a:noFill/>
          <a:ln>
            <a:noFill/>
          </a:ln>
        </p:spPr>
      </p:pic>
      <p:pic>
        <p:nvPicPr>
          <p:cNvPr descr="preencoded.png" id="119" name="Google Shape;119;p6"/>
          <p:cNvPicPr preferRelativeResize="0"/>
          <p:nvPr/>
        </p:nvPicPr>
        <p:blipFill rotWithShape="1">
          <a:blip r:embed="rId6">
            <a:alphaModFix/>
          </a:blip>
          <a:srcRect b="0" l="0" r="0" t="0"/>
          <a:stretch/>
        </p:blipFill>
        <p:spPr>
          <a:xfrm>
            <a:off x="609600" y="2085975"/>
            <a:ext cx="152400" cy="152400"/>
          </a:xfrm>
          <a:prstGeom prst="rect">
            <a:avLst/>
          </a:prstGeom>
          <a:noFill/>
          <a:ln>
            <a:noFill/>
          </a:ln>
        </p:spPr>
      </p:pic>
      <p:pic>
        <p:nvPicPr>
          <p:cNvPr descr="preencoded.png" id="120" name="Google Shape;120;p6"/>
          <p:cNvPicPr preferRelativeResize="0"/>
          <p:nvPr/>
        </p:nvPicPr>
        <p:blipFill rotWithShape="1">
          <a:blip r:embed="rId6">
            <a:alphaModFix/>
          </a:blip>
          <a:srcRect b="0" l="0" r="0" t="0"/>
          <a:stretch/>
        </p:blipFill>
        <p:spPr>
          <a:xfrm>
            <a:off x="609600" y="2695575"/>
            <a:ext cx="152400" cy="152400"/>
          </a:xfrm>
          <a:prstGeom prst="rect">
            <a:avLst/>
          </a:prstGeom>
          <a:noFill/>
          <a:ln>
            <a:noFill/>
          </a:ln>
        </p:spPr>
      </p:pic>
      <p:pic>
        <p:nvPicPr>
          <p:cNvPr descr="preencoded.png" id="121" name="Google Shape;121;p6"/>
          <p:cNvPicPr preferRelativeResize="0"/>
          <p:nvPr/>
        </p:nvPicPr>
        <p:blipFill rotWithShape="1">
          <a:blip r:embed="rId6">
            <a:alphaModFix/>
          </a:blip>
          <a:srcRect b="0" l="0" r="0" t="0"/>
          <a:stretch/>
        </p:blipFill>
        <p:spPr>
          <a:xfrm>
            <a:off x="609600" y="3305175"/>
            <a:ext cx="152400" cy="152400"/>
          </a:xfrm>
          <a:prstGeom prst="rect">
            <a:avLst/>
          </a:prstGeom>
          <a:noFill/>
          <a:ln>
            <a:noFill/>
          </a:ln>
        </p:spPr>
      </p:pic>
      <p:pic>
        <p:nvPicPr>
          <p:cNvPr descr="preencoded.png" id="122" name="Google Shape;122;p6"/>
          <p:cNvPicPr preferRelativeResize="0"/>
          <p:nvPr/>
        </p:nvPicPr>
        <p:blipFill rotWithShape="1">
          <a:blip r:embed="rId6">
            <a:alphaModFix/>
          </a:blip>
          <a:srcRect b="0" l="0" r="0" t="0"/>
          <a:stretch/>
        </p:blipFill>
        <p:spPr>
          <a:xfrm>
            <a:off x="609600" y="3914775"/>
            <a:ext cx="152400" cy="152400"/>
          </a:xfrm>
          <a:prstGeom prst="rect">
            <a:avLst/>
          </a:prstGeom>
          <a:noFill/>
          <a:ln>
            <a:noFill/>
          </a:ln>
        </p:spPr>
      </p:pic>
      <p:pic>
        <p:nvPicPr>
          <p:cNvPr descr="preencoded.png" id="123" name="Google Shape;123;p6"/>
          <p:cNvPicPr preferRelativeResize="0"/>
          <p:nvPr/>
        </p:nvPicPr>
        <p:blipFill rotWithShape="1">
          <a:blip r:embed="rId4">
            <a:alphaModFix/>
          </a:blip>
          <a:srcRect b="0" l="0" r="0" t="0"/>
          <a:stretch/>
        </p:blipFill>
        <p:spPr>
          <a:xfrm>
            <a:off x="6248400" y="1333500"/>
            <a:ext cx="5562600" cy="3962400"/>
          </a:xfrm>
          <a:prstGeom prst="rect">
            <a:avLst/>
          </a:prstGeom>
          <a:noFill/>
          <a:ln>
            <a:noFill/>
          </a:ln>
        </p:spPr>
      </p:pic>
      <p:pic>
        <p:nvPicPr>
          <p:cNvPr descr="preencoded.png" id="124" name="Google Shape;124;p6"/>
          <p:cNvPicPr preferRelativeResize="0"/>
          <p:nvPr/>
        </p:nvPicPr>
        <p:blipFill rotWithShape="1">
          <a:blip r:embed="rId7">
            <a:alphaModFix/>
          </a:blip>
          <a:srcRect b="0" l="0" r="0" t="0"/>
          <a:stretch/>
        </p:blipFill>
        <p:spPr>
          <a:xfrm>
            <a:off x="6477000" y="1590675"/>
            <a:ext cx="228600" cy="228600"/>
          </a:xfrm>
          <a:prstGeom prst="rect">
            <a:avLst/>
          </a:prstGeom>
          <a:noFill/>
          <a:ln>
            <a:noFill/>
          </a:ln>
        </p:spPr>
      </p:pic>
      <p:pic>
        <p:nvPicPr>
          <p:cNvPr descr="preencoded.png" id="125" name="Google Shape;125;p6"/>
          <p:cNvPicPr preferRelativeResize="0"/>
          <p:nvPr/>
        </p:nvPicPr>
        <p:blipFill rotWithShape="1">
          <a:blip r:embed="rId8">
            <a:alphaModFix/>
          </a:blip>
          <a:srcRect b="0" l="0" r="0" t="0"/>
          <a:stretch/>
        </p:blipFill>
        <p:spPr>
          <a:xfrm>
            <a:off x="6477000" y="2705100"/>
            <a:ext cx="5105400" cy="685800"/>
          </a:xfrm>
          <a:prstGeom prst="rect">
            <a:avLst/>
          </a:prstGeom>
          <a:noFill/>
          <a:ln>
            <a:noFill/>
          </a:ln>
        </p:spPr>
      </p:pic>
      <p:pic>
        <p:nvPicPr>
          <p:cNvPr descr="preencoded.png" id="126" name="Google Shape;126;p6"/>
          <p:cNvPicPr preferRelativeResize="0"/>
          <p:nvPr/>
        </p:nvPicPr>
        <p:blipFill rotWithShape="1">
          <a:blip r:embed="rId9">
            <a:alphaModFix/>
          </a:blip>
          <a:srcRect b="0" l="0" r="0" t="0"/>
          <a:stretch/>
        </p:blipFill>
        <p:spPr>
          <a:xfrm>
            <a:off x="6591300" y="2819400"/>
            <a:ext cx="457200" cy="457200"/>
          </a:xfrm>
          <a:prstGeom prst="rect">
            <a:avLst/>
          </a:prstGeom>
          <a:noFill/>
          <a:ln>
            <a:noFill/>
          </a:ln>
        </p:spPr>
      </p:pic>
      <p:pic>
        <p:nvPicPr>
          <p:cNvPr descr="preencoded.png" id="127" name="Google Shape;127;p6"/>
          <p:cNvPicPr preferRelativeResize="0"/>
          <p:nvPr/>
        </p:nvPicPr>
        <p:blipFill rotWithShape="1">
          <a:blip r:embed="rId10">
            <a:alphaModFix/>
          </a:blip>
          <a:srcRect b="0" l="0" r="0" t="0"/>
          <a:stretch/>
        </p:blipFill>
        <p:spPr>
          <a:xfrm>
            <a:off x="6743700" y="2971800"/>
            <a:ext cx="152400" cy="152400"/>
          </a:xfrm>
          <a:prstGeom prst="rect">
            <a:avLst/>
          </a:prstGeom>
          <a:noFill/>
          <a:ln>
            <a:noFill/>
          </a:ln>
        </p:spPr>
      </p:pic>
      <p:pic>
        <p:nvPicPr>
          <p:cNvPr descr="preencoded.png" id="128" name="Google Shape;128;p6"/>
          <p:cNvPicPr preferRelativeResize="0"/>
          <p:nvPr/>
        </p:nvPicPr>
        <p:blipFill rotWithShape="1">
          <a:blip r:embed="rId11">
            <a:alphaModFix/>
          </a:blip>
          <a:srcRect b="0" l="0" r="0" t="0"/>
          <a:stretch/>
        </p:blipFill>
        <p:spPr>
          <a:xfrm>
            <a:off x="6477000" y="3543300"/>
            <a:ext cx="5105400" cy="685800"/>
          </a:xfrm>
          <a:prstGeom prst="rect">
            <a:avLst/>
          </a:prstGeom>
          <a:noFill/>
          <a:ln>
            <a:noFill/>
          </a:ln>
        </p:spPr>
      </p:pic>
      <p:pic>
        <p:nvPicPr>
          <p:cNvPr descr="preencoded.png" id="129" name="Google Shape;129;p6"/>
          <p:cNvPicPr preferRelativeResize="0"/>
          <p:nvPr/>
        </p:nvPicPr>
        <p:blipFill rotWithShape="1">
          <a:blip r:embed="rId12">
            <a:alphaModFix/>
          </a:blip>
          <a:srcRect b="0" l="0" r="0" t="0"/>
          <a:stretch/>
        </p:blipFill>
        <p:spPr>
          <a:xfrm>
            <a:off x="6591300" y="3657600"/>
            <a:ext cx="457200" cy="457200"/>
          </a:xfrm>
          <a:prstGeom prst="rect">
            <a:avLst/>
          </a:prstGeom>
          <a:noFill/>
          <a:ln>
            <a:noFill/>
          </a:ln>
        </p:spPr>
      </p:pic>
      <p:pic>
        <p:nvPicPr>
          <p:cNvPr descr="preencoded.png" id="130" name="Google Shape;130;p6"/>
          <p:cNvPicPr preferRelativeResize="0"/>
          <p:nvPr/>
        </p:nvPicPr>
        <p:blipFill rotWithShape="1">
          <a:blip r:embed="rId10">
            <a:alphaModFix/>
          </a:blip>
          <a:srcRect b="0" l="0" r="0" t="0"/>
          <a:stretch/>
        </p:blipFill>
        <p:spPr>
          <a:xfrm>
            <a:off x="6743700" y="3810000"/>
            <a:ext cx="152400" cy="152400"/>
          </a:xfrm>
          <a:prstGeom prst="rect">
            <a:avLst/>
          </a:prstGeom>
          <a:noFill/>
          <a:ln>
            <a:noFill/>
          </a:ln>
        </p:spPr>
      </p:pic>
      <p:pic>
        <p:nvPicPr>
          <p:cNvPr descr="preencoded.png" id="131" name="Google Shape;131;p6"/>
          <p:cNvPicPr preferRelativeResize="0"/>
          <p:nvPr/>
        </p:nvPicPr>
        <p:blipFill rotWithShape="1">
          <a:blip r:embed="rId13">
            <a:alphaModFix/>
          </a:blip>
          <a:srcRect b="0" l="0" r="0" t="0"/>
          <a:stretch/>
        </p:blipFill>
        <p:spPr>
          <a:xfrm>
            <a:off x="6477000" y="4381500"/>
            <a:ext cx="5105400" cy="685800"/>
          </a:xfrm>
          <a:prstGeom prst="rect">
            <a:avLst/>
          </a:prstGeom>
          <a:noFill/>
          <a:ln>
            <a:noFill/>
          </a:ln>
        </p:spPr>
      </p:pic>
      <p:pic>
        <p:nvPicPr>
          <p:cNvPr descr="preencoded.png" id="132" name="Google Shape;132;p6"/>
          <p:cNvPicPr preferRelativeResize="0"/>
          <p:nvPr/>
        </p:nvPicPr>
        <p:blipFill rotWithShape="1">
          <a:blip r:embed="rId14">
            <a:alphaModFix/>
          </a:blip>
          <a:srcRect b="0" l="0" r="0" t="0"/>
          <a:stretch/>
        </p:blipFill>
        <p:spPr>
          <a:xfrm>
            <a:off x="6591300" y="4495800"/>
            <a:ext cx="457200" cy="457200"/>
          </a:xfrm>
          <a:prstGeom prst="rect">
            <a:avLst/>
          </a:prstGeom>
          <a:noFill/>
          <a:ln>
            <a:noFill/>
          </a:ln>
        </p:spPr>
      </p:pic>
      <p:pic>
        <p:nvPicPr>
          <p:cNvPr descr="preencoded.png" id="133" name="Google Shape;133;p6"/>
          <p:cNvPicPr preferRelativeResize="0"/>
          <p:nvPr/>
        </p:nvPicPr>
        <p:blipFill rotWithShape="1">
          <a:blip r:embed="rId15">
            <a:alphaModFix/>
          </a:blip>
          <a:srcRect b="0" l="0" r="0" t="0"/>
          <a:stretch/>
        </p:blipFill>
        <p:spPr>
          <a:xfrm>
            <a:off x="6743700" y="4648200"/>
            <a:ext cx="152400" cy="152400"/>
          </a:xfrm>
          <a:prstGeom prst="rect">
            <a:avLst/>
          </a:prstGeom>
          <a:noFill/>
          <a:ln>
            <a:noFill/>
          </a:ln>
        </p:spPr>
      </p:pic>
      <p:sp>
        <p:nvSpPr>
          <p:cNvPr id="134" name="Google Shape;134;p6"/>
          <p:cNvSpPr/>
          <p:nvPr/>
        </p:nvSpPr>
        <p:spPr>
          <a:xfrm>
            <a:off x="381000" y="381000"/>
            <a:ext cx="13716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Internal Audit Program Development</a:t>
            </a:r>
            <a:endParaRPr sz="2700">
              <a:solidFill>
                <a:schemeClr val="dk1"/>
              </a:solidFill>
              <a:latin typeface="Calibri"/>
              <a:ea typeface="Calibri"/>
              <a:cs typeface="Calibri"/>
              <a:sym typeface="Calibri"/>
            </a:endParaRPr>
          </a:p>
        </p:txBody>
      </p:sp>
      <p:sp>
        <p:nvSpPr>
          <p:cNvPr id="135" name="Google Shape;135;p6"/>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Creating risk-based audit schedules for ISMS and AIMS components</a:t>
            </a:r>
            <a:endParaRPr sz="1500">
              <a:solidFill>
                <a:schemeClr val="dk1"/>
              </a:solidFill>
              <a:latin typeface="Calibri"/>
              <a:ea typeface="Calibri"/>
              <a:cs typeface="Calibri"/>
              <a:sym typeface="Calibri"/>
            </a:endParaRPr>
          </a:p>
        </p:txBody>
      </p:sp>
      <p:sp>
        <p:nvSpPr>
          <p:cNvPr id="136" name="Google Shape;136;p6"/>
          <p:cNvSpPr/>
          <p:nvPr/>
        </p:nvSpPr>
        <p:spPr>
          <a:xfrm>
            <a:off x="914400" y="1562100"/>
            <a:ext cx="612648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Key Development Elements</a:t>
            </a:r>
            <a:endParaRPr sz="1800">
              <a:solidFill>
                <a:schemeClr val="dk1"/>
              </a:solidFill>
              <a:latin typeface="Calibri"/>
              <a:ea typeface="Calibri"/>
              <a:cs typeface="Calibri"/>
              <a:sym typeface="Calibri"/>
            </a:endParaRPr>
          </a:p>
        </p:txBody>
      </p:sp>
      <p:sp>
        <p:nvSpPr>
          <p:cNvPr id="137" name="Google Shape;137;p6"/>
          <p:cNvSpPr/>
          <p:nvPr/>
        </p:nvSpPr>
        <p:spPr>
          <a:xfrm>
            <a:off x="876300" y="2019300"/>
            <a:ext cx="48387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Risk Assessment:</a:t>
            </a:r>
            <a:r>
              <a:rPr lang="en-US" sz="1200">
                <a:solidFill>
                  <a:srgbClr val="000000"/>
                </a:solidFill>
                <a:latin typeface="Arial"/>
                <a:ea typeface="Arial"/>
                <a:cs typeface="Arial"/>
                <a:sym typeface="Arial"/>
              </a:rPr>
              <a:t> Identify and evaluate risks to determine audit priority</a:t>
            </a:r>
            <a:endParaRPr sz="1200">
              <a:solidFill>
                <a:schemeClr val="dk1"/>
              </a:solidFill>
              <a:latin typeface="Calibri"/>
              <a:ea typeface="Calibri"/>
              <a:cs typeface="Calibri"/>
              <a:sym typeface="Calibri"/>
            </a:endParaRPr>
          </a:p>
        </p:txBody>
      </p:sp>
      <p:sp>
        <p:nvSpPr>
          <p:cNvPr id="138" name="Google Shape;138;p6"/>
          <p:cNvSpPr/>
          <p:nvPr/>
        </p:nvSpPr>
        <p:spPr>
          <a:xfrm>
            <a:off x="876300" y="2628900"/>
            <a:ext cx="48387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Scope Definition:</a:t>
            </a:r>
            <a:r>
              <a:rPr lang="en-US" sz="1200">
                <a:solidFill>
                  <a:srgbClr val="000000"/>
                </a:solidFill>
                <a:latin typeface="Arial"/>
                <a:ea typeface="Arial"/>
                <a:cs typeface="Arial"/>
                <a:sym typeface="Arial"/>
              </a:rPr>
              <a:t> Ensure comprehensive coverage of all ISMS/AIMS components</a:t>
            </a:r>
            <a:endParaRPr sz="1200">
              <a:solidFill>
                <a:schemeClr val="dk1"/>
              </a:solidFill>
              <a:latin typeface="Calibri"/>
              <a:ea typeface="Calibri"/>
              <a:cs typeface="Calibri"/>
              <a:sym typeface="Calibri"/>
            </a:endParaRPr>
          </a:p>
        </p:txBody>
      </p:sp>
      <p:sp>
        <p:nvSpPr>
          <p:cNvPr id="139" name="Google Shape;139;p6"/>
          <p:cNvSpPr/>
          <p:nvPr/>
        </p:nvSpPr>
        <p:spPr>
          <a:xfrm>
            <a:off x="876300" y="3238500"/>
            <a:ext cx="48387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Resource Allocation:</a:t>
            </a:r>
            <a:r>
              <a:rPr lang="en-US" sz="1200">
                <a:solidFill>
                  <a:srgbClr val="000000"/>
                </a:solidFill>
                <a:latin typeface="Arial"/>
                <a:ea typeface="Arial"/>
                <a:cs typeface="Arial"/>
                <a:sym typeface="Arial"/>
              </a:rPr>
              <a:t> Assign appropriate audit resources based on risk levels</a:t>
            </a:r>
            <a:endParaRPr sz="1200">
              <a:solidFill>
                <a:schemeClr val="dk1"/>
              </a:solidFill>
              <a:latin typeface="Calibri"/>
              <a:ea typeface="Calibri"/>
              <a:cs typeface="Calibri"/>
              <a:sym typeface="Calibri"/>
            </a:endParaRPr>
          </a:p>
        </p:txBody>
      </p:sp>
      <p:sp>
        <p:nvSpPr>
          <p:cNvPr id="140" name="Google Shape;140;p6"/>
          <p:cNvSpPr/>
          <p:nvPr/>
        </p:nvSpPr>
        <p:spPr>
          <a:xfrm>
            <a:off x="876300" y="3848100"/>
            <a:ext cx="48387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Frequency Planning:</a:t>
            </a:r>
            <a:r>
              <a:rPr lang="en-US" sz="1200">
                <a:solidFill>
                  <a:srgbClr val="000000"/>
                </a:solidFill>
                <a:latin typeface="Arial"/>
                <a:ea typeface="Arial"/>
                <a:cs typeface="Arial"/>
                <a:sym typeface="Arial"/>
              </a:rPr>
              <a:t> Establish audit schedules that ensure timely reviews</a:t>
            </a:r>
            <a:endParaRPr sz="1200">
              <a:solidFill>
                <a:schemeClr val="dk1"/>
              </a:solidFill>
              <a:latin typeface="Calibri"/>
              <a:ea typeface="Calibri"/>
              <a:cs typeface="Calibri"/>
              <a:sym typeface="Calibri"/>
            </a:endParaRPr>
          </a:p>
        </p:txBody>
      </p:sp>
      <p:sp>
        <p:nvSpPr>
          <p:cNvPr id="141" name="Google Shape;141;p6"/>
          <p:cNvSpPr/>
          <p:nvPr/>
        </p:nvSpPr>
        <p:spPr>
          <a:xfrm>
            <a:off x="6781800" y="1562100"/>
            <a:ext cx="612648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Risk-Based Audit Approach</a:t>
            </a:r>
            <a:endParaRPr sz="1800">
              <a:solidFill>
                <a:schemeClr val="dk1"/>
              </a:solidFill>
              <a:latin typeface="Calibri"/>
              <a:ea typeface="Calibri"/>
              <a:cs typeface="Calibri"/>
              <a:sym typeface="Calibri"/>
            </a:endParaRPr>
          </a:p>
        </p:txBody>
      </p:sp>
      <p:sp>
        <p:nvSpPr>
          <p:cNvPr id="142" name="Google Shape;142;p6"/>
          <p:cNvSpPr/>
          <p:nvPr/>
        </p:nvSpPr>
        <p:spPr>
          <a:xfrm>
            <a:off x="6477000" y="2019300"/>
            <a:ext cx="51054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solidFill>
                  <a:srgbClr val="000000"/>
                </a:solidFill>
                <a:latin typeface="Arial"/>
                <a:ea typeface="Arial"/>
                <a:cs typeface="Arial"/>
                <a:sym typeface="Arial"/>
              </a:rPr>
              <a:t>A risk-based audit schedule prioritizes areas based on their risk to the organization.</a:t>
            </a:r>
            <a:endParaRPr sz="1200">
              <a:solidFill>
                <a:schemeClr val="dk1"/>
              </a:solidFill>
              <a:latin typeface="Calibri"/>
              <a:ea typeface="Calibri"/>
              <a:cs typeface="Calibri"/>
              <a:sym typeface="Calibri"/>
            </a:endParaRPr>
          </a:p>
        </p:txBody>
      </p:sp>
      <p:sp>
        <p:nvSpPr>
          <p:cNvPr id="143" name="Google Shape;143;p6"/>
          <p:cNvSpPr/>
          <p:nvPr/>
        </p:nvSpPr>
        <p:spPr>
          <a:xfrm>
            <a:off x="7200900" y="2838450"/>
            <a:ext cx="2842766"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High Risk</a:t>
            </a:r>
            <a:endParaRPr sz="1200">
              <a:solidFill>
                <a:schemeClr val="dk1"/>
              </a:solidFill>
              <a:latin typeface="Calibri"/>
              <a:ea typeface="Calibri"/>
              <a:cs typeface="Calibri"/>
              <a:sym typeface="Calibri"/>
            </a:endParaRPr>
          </a:p>
        </p:txBody>
      </p:sp>
      <p:sp>
        <p:nvSpPr>
          <p:cNvPr id="144" name="Google Shape;144;p6"/>
          <p:cNvSpPr/>
          <p:nvPr/>
        </p:nvSpPr>
        <p:spPr>
          <a:xfrm>
            <a:off x="7200900" y="3067050"/>
            <a:ext cx="3411319"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000000"/>
              </a:buClr>
              <a:buSzPts val="1050"/>
              <a:buFont typeface="Arial"/>
              <a:buNone/>
            </a:pPr>
            <a:r>
              <a:rPr lang="en-US" sz="1050">
                <a:solidFill>
                  <a:srgbClr val="000000"/>
                </a:solidFill>
                <a:latin typeface="Arial"/>
                <a:ea typeface="Arial"/>
                <a:cs typeface="Arial"/>
                <a:sym typeface="Arial"/>
              </a:rPr>
              <a:t>Components with highest potential impact</a:t>
            </a:r>
            <a:endParaRPr sz="1050">
              <a:solidFill>
                <a:schemeClr val="dk1"/>
              </a:solidFill>
              <a:latin typeface="Calibri"/>
              <a:ea typeface="Calibri"/>
              <a:cs typeface="Calibri"/>
              <a:sym typeface="Calibri"/>
            </a:endParaRPr>
          </a:p>
        </p:txBody>
      </p:sp>
      <p:sp>
        <p:nvSpPr>
          <p:cNvPr id="145" name="Google Shape;145;p6"/>
          <p:cNvSpPr/>
          <p:nvPr/>
        </p:nvSpPr>
        <p:spPr>
          <a:xfrm>
            <a:off x="7200900" y="3676650"/>
            <a:ext cx="299725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Medium Risk</a:t>
            </a:r>
            <a:endParaRPr sz="1200">
              <a:solidFill>
                <a:schemeClr val="dk1"/>
              </a:solidFill>
              <a:latin typeface="Calibri"/>
              <a:ea typeface="Calibri"/>
              <a:cs typeface="Calibri"/>
              <a:sym typeface="Calibri"/>
            </a:endParaRPr>
          </a:p>
        </p:txBody>
      </p:sp>
      <p:sp>
        <p:nvSpPr>
          <p:cNvPr id="146" name="Google Shape;146;p6"/>
          <p:cNvSpPr/>
          <p:nvPr/>
        </p:nvSpPr>
        <p:spPr>
          <a:xfrm>
            <a:off x="7200900" y="3905250"/>
            <a:ext cx="3596700"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000000"/>
              </a:buClr>
              <a:buSzPts val="1050"/>
              <a:buFont typeface="Arial"/>
              <a:buNone/>
            </a:pPr>
            <a:r>
              <a:rPr lang="en-US" sz="1050">
                <a:solidFill>
                  <a:srgbClr val="000000"/>
                </a:solidFill>
                <a:latin typeface="Arial"/>
                <a:ea typeface="Arial"/>
                <a:cs typeface="Arial"/>
                <a:sym typeface="Arial"/>
              </a:rPr>
              <a:t>Components with moderate potential impact</a:t>
            </a:r>
            <a:endParaRPr sz="1050">
              <a:solidFill>
                <a:schemeClr val="dk1"/>
              </a:solidFill>
              <a:latin typeface="Calibri"/>
              <a:ea typeface="Calibri"/>
              <a:cs typeface="Calibri"/>
              <a:sym typeface="Calibri"/>
            </a:endParaRPr>
          </a:p>
        </p:txBody>
      </p:sp>
      <p:sp>
        <p:nvSpPr>
          <p:cNvPr id="147" name="Google Shape;147;p6"/>
          <p:cNvSpPr/>
          <p:nvPr/>
        </p:nvSpPr>
        <p:spPr>
          <a:xfrm>
            <a:off x="7200900" y="4514850"/>
            <a:ext cx="2712839"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Low Risk</a:t>
            </a:r>
            <a:endParaRPr sz="1200">
              <a:solidFill>
                <a:schemeClr val="dk1"/>
              </a:solidFill>
              <a:latin typeface="Calibri"/>
              <a:ea typeface="Calibri"/>
              <a:cs typeface="Calibri"/>
              <a:sym typeface="Calibri"/>
            </a:endParaRPr>
          </a:p>
        </p:txBody>
      </p:sp>
      <p:sp>
        <p:nvSpPr>
          <p:cNvPr id="148" name="Google Shape;148;p6"/>
          <p:cNvSpPr/>
          <p:nvPr/>
        </p:nvSpPr>
        <p:spPr>
          <a:xfrm>
            <a:off x="7200900" y="4743450"/>
            <a:ext cx="3255407"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000000"/>
              </a:buClr>
              <a:buSzPts val="1050"/>
              <a:buFont typeface="Arial"/>
              <a:buNone/>
            </a:pPr>
            <a:r>
              <a:rPr lang="en-US" sz="1050">
                <a:solidFill>
                  <a:srgbClr val="000000"/>
                </a:solidFill>
                <a:latin typeface="Arial"/>
                <a:ea typeface="Arial"/>
                <a:cs typeface="Arial"/>
                <a:sym typeface="Arial"/>
              </a:rPr>
              <a:t>Components with lower potential impact</a:t>
            </a:r>
            <a:endParaRPr sz="1050">
              <a:solidFill>
                <a:schemeClr val="dk1"/>
              </a:solidFill>
              <a:latin typeface="Calibri"/>
              <a:ea typeface="Calibri"/>
              <a:cs typeface="Calibri"/>
              <a:sym typeface="Calibri"/>
            </a:endParaRPr>
          </a:p>
        </p:txBody>
      </p:sp>
      <p:sp>
        <p:nvSpPr>
          <p:cNvPr id="149" name="Google Shape;149;p6"/>
          <p:cNvSpPr/>
          <p:nvPr/>
        </p:nvSpPr>
        <p:spPr>
          <a:xfrm>
            <a:off x="8771930" y="6515100"/>
            <a:ext cx="3829764"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4/23</a:t>
            </a:r>
            <a:endParaRPr sz="105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descr="preencoded.png" id="155" name="Google Shape;155;p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156" name="Google Shape;156;p7"/>
          <p:cNvPicPr preferRelativeResize="0"/>
          <p:nvPr/>
        </p:nvPicPr>
        <p:blipFill rotWithShape="1">
          <a:blip r:embed="rId4">
            <a:alphaModFix/>
          </a:blip>
          <a:srcRect b="0" l="0" r="0" t="0"/>
          <a:stretch/>
        </p:blipFill>
        <p:spPr>
          <a:xfrm>
            <a:off x="381000" y="1333500"/>
            <a:ext cx="5486400" cy="2476500"/>
          </a:xfrm>
          <a:prstGeom prst="rect">
            <a:avLst/>
          </a:prstGeom>
          <a:noFill/>
          <a:ln>
            <a:noFill/>
          </a:ln>
        </p:spPr>
      </p:pic>
      <p:pic>
        <p:nvPicPr>
          <p:cNvPr descr="preencoded.png" id="157" name="Google Shape;157;p7"/>
          <p:cNvPicPr preferRelativeResize="0"/>
          <p:nvPr/>
        </p:nvPicPr>
        <p:blipFill rotWithShape="1">
          <a:blip r:embed="rId5">
            <a:alphaModFix/>
          </a:blip>
          <a:srcRect b="0" l="0" r="0" t="0"/>
          <a:stretch/>
        </p:blipFill>
        <p:spPr>
          <a:xfrm>
            <a:off x="609600" y="1590675"/>
            <a:ext cx="285750" cy="228600"/>
          </a:xfrm>
          <a:prstGeom prst="rect">
            <a:avLst/>
          </a:prstGeom>
          <a:noFill/>
          <a:ln>
            <a:noFill/>
          </a:ln>
        </p:spPr>
      </p:pic>
      <p:pic>
        <p:nvPicPr>
          <p:cNvPr descr="preencoded.png" id="158" name="Google Shape;158;p7"/>
          <p:cNvPicPr preferRelativeResize="0"/>
          <p:nvPr/>
        </p:nvPicPr>
        <p:blipFill rotWithShape="1">
          <a:blip r:embed="rId6">
            <a:alphaModFix/>
          </a:blip>
          <a:srcRect b="0" l="0" r="0" t="0"/>
          <a:stretch/>
        </p:blipFill>
        <p:spPr>
          <a:xfrm>
            <a:off x="609600" y="2019300"/>
            <a:ext cx="152400" cy="152400"/>
          </a:xfrm>
          <a:prstGeom prst="rect">
            <a:avLst/>
          </a:prstGeom>
          <a:noFill/>
          <a:ln>
            <a:noFill/>
          </a:ln>
        </p:spPr>
      </p:pic>
      <p:pic>
        <p:nvPicPr>
          <p:cNvPr descr="preencoded.png" id="159" name="Google Shape;159;p7"/>
          <p:cNvPicPr preferRelativeResize="0"/>
          <p:nvPr/>
        </p:nvPicPr>
        <p:blipFill rotWithShape="1">
          <a:blip r:embed="rId6">
            <a:alphaModFix/>
          </a:blip>
          <a:srcRect b="0" l="0" r="0" t="0"/>
          <a:stretch/>
        </p:blipFill>
        <p:spPr>
          <a:xfrm>
            <a:off x="609600" y="2590800"/>
            <a:ext cx="152400" cy="152400"/>
          </a:xfrm>
          <a:prstGeom prst="rect">
            <a:avLst/>
          </a:prstGeom>
          <a:noFill/>
          <a:ln>
            <a:noFill/>
          </a:ln>
        </p:spPr>
      </p:pic>
      <p:pic>
        <p:nvPicPr>
          <p:cNvPr descr="preencoded.png" id="160" name="Google Shape;160;p7"/>
          <p:cNvPicPr preferRelativeResize="0"/>
          <p:nvPr/>
        </p:nvPicPr>
        <p:blipFill rotWithShape="1">
          <a:blip r:embed="rId6">
            <a:alphaModFix/>
          </a:blip>
          <a:srcRect b="0" l="0" r="0" t="0"/>
          <a:stretch/>
        </p:blipFill>
        <p:spPr>
          <a:xfrm>
            <a:off x="609600" y="3162300"/>
            <a:ext cx="152400" cy="152400"/>
          </a:xfrm>
          <a:prstGeom prst="rect">
            <a:avLst/>
          </a:prstGeom>
          <a:noFill/>
          <a:ln>
            <a:noFill/>
          </a:ln>
        </p:spPr>
      </p:pic>
      <p:pic>
        <p:nvPicPr>
          <p:cNvPr descr="preencoded.png" id="161" name="Google Shape;161;p7"/>
          <p:cNvPicPr preferRelativeResize="0"/>
          <p:nvPr/>
        </p:nvPicPr>
        <p:blipFill rotWithShape="1">
          <a:blip r:embed="rId7">
            <a:alphaModFix/>
          </a:blip>
          <a:srcRect b="0" l="0" r="0" t="0"/>
          <a:stretch/>
        </p:blipFill>
        <p:spPr>
          <a:xfrm>
            <a:off x="381000" y="4038600"/>
            <a:ext cx="5486400" cy="1790700"/>
          </a:xfrm>
          <a:prstGeom prst="rect">
            <a:avLst/>
          </a:prstGeom>
          <a:noFill/>
          <a:ln>
            <a:noFill/>
          </a:ln>
        </p:spPr>
      </p:pic>
      <p:pic>
        <p:nvPicPr>
          <p:cNvPr descr="preencoded.png" id="162" name="Google Shape;162;p7"/>
          <p:cNvPicPr preferRelativeResize="0"/>
          <p:nvPr/>
        </p:nvPicPr>
        <p:blipFill rotWithShape="1">
          <a:blip r:embed="rId8">
            <a:alphaModFix/>
          </a:blip>
          <a:srcRect b="0" l="0" r="0" t="0"/>
          <a:stretch/>
        </p:blipFill>
        <p:spPr>
          <a:xfrm>
            <a:off x="609600" y="4295775"/>
            <a:ext cx="285750" cy="228600"/>
          </a:xfrm>
          <a:prstGeom prst="rect">
            <a:avLst/>
          </a:prstGeom>
          <a:noFill/>
          <a:ln>
            <a:noFill/>
          </a:ln>
        </p:spPr>
      </p:pic>
      <p:pic>
        <p:nvPicPr>
          <p:cNvPr descr="preencoded.png" id="163" name="Google Shape;163;p7"/>
          <p:cNvPicPr preferRelativeResize="0"/>
          <p:nvPr/>
        </p:nvPicPr>
        <p:blipFill rotWithShape="1">
          <a:blip r:embed="rId9">
            <a:alphaModFix/>
          </a:blip>
          <a:srcRect b="0" l="0" r="0" t="0"/>
          <a:stretch/>
        </p:blipFill>
        <p:spPr>
          <a:xfrm>
            <a:off x="609600" y="4724400"/>
            <a:ext cx="133350" cy="152400"/>
          </a:xfrm>
          <a:prstGeom prst="rect">
            <a:avLst/>
          </a:prstGeom>
          <a:noFill/>
          <a:ln>
            <a:noFill/>
          </a:ln>
        </p:spPr>
      </p:pic>
      <p:pic>
        <p:nvPicPr>
          <p:cNvPr descr="preencoded.png" id="164" name="Google Shape;164;p7"/>
          <p:cNvPicPr preferRelativeResize="0"/>
          <p:nvPr/>
        </p:nvPicPr>
        <p:blipFill rotWithShape="1">
          <a:blip r:embed="rId9">
            <a:alphaModFix/>
          </a:blip>
          <a:srcRect b="0" l="0" r="0" t="0"/>
          <a:stretch/>
        </p:blipFill>
        <p:spPr>
          <a:xfrm>
            <a:off x="609600" y="5067300"/>
            <a:ext cx="133350" cy="152400"/>
          </a:xfrm>
          <a:prstGeom prst="rect">
            <a:avLst/>
          </a:prstGeom>
          <a:noFill/>
          <a:ln>
            <a:noFill/>
          </a:ln>
        </p:spPr>
      </p:pic>
      <p:pic>
        <p:nvPicPr>
          <p:cNvPr descr="preencoded.png" id="165" name="Google Shape;165;p7"/>
          <p:cNvPicPr preferRelativeResize="0"/>
          <p:nvPr/>
        </p:nvPicPr>
        <p:blipFill rotWithShape="1">
          <a:blip r:embed="rId9">
            <a:alphaModFix/>
          </a:blip>
          <a:srcRect b="0" l="0" r="0" t="0"/>
          <a:stretch/>
        </p:blipFill>
        <p:spPr>
          <a:xfrm>
            <a:off x="609600" y="5410200"/>
            <a:ext cx="133350" cy="152400"/>
          </a:xfrm>
          <a:prstGeom prst="rect">
            <a:avLst/>
          </a:prstGeom>
          <a:noFill/>
          <a:ln>
            <a:noFill/>
          </a:ln>
        </p:spPr>
      </p:pic>
      <p:pic>
        <p:nvPicPr>
          <p:cNvPr descr="preencoded.png" id="166" name="Google Shape;166;p7"/>
          <p:cNvPicPr preferRelativeResize="0"/>
          <p:nvPr/>
        </p:nvPicPr>
        <p:blipFill rotWithShape="1">
          <a:blip r:embed="rId10">
            <a:alphaModFix/>
          </a:blip>
          <a:srcRect b="0" l="0" r="0" t="0"/>
          <a:stretch/>
        </p:blipFill>
        <p:spPr>
          <a:xfrm>
            <a:off x="6324600" y="1333500"/>
            <a:ext cx="5486400" cy="5143500"/>
          </a:xfrm>
          <a:prstGeom prst="rect">
            <a:avLst/>
          </a:prstGeom>
          <a:noFill/>
          <a:ln>
            <a:noFill/>
          </a:ln>
        </p:spPr>
      </p:pic>
      <p:pic>
        <p:nvPicPr>
          <p:cNvPr descr="preencoded.png" id="167" name="Google Shape;167;p7"/>
          <p:cNvPicPr preferRelativeResize="0"/>
          <p:nvPr/>
        </p:nvPicPr>
        <p:blipFill rotWithShape="1">
          <a:blip r:embed="rId11">
            <a:alphaModFix/>
          </a:blip>
          <a:srcRect b="0" l="0" r="0" t="0"/>
          <a:stretch/>
        </p:blipFill>
        <p:spPr>
          <a:xfrm>
            <a:off x="6553200" y="1590675"/>
            <a:ext cx="228600" cy="228600"/>
          </a:xfrm>
          <a:prstGeom prst="rect">
            <a:avLst/>
          </a:prstGeom>
          <a:noFill/>
          <a:ln>
            <a:noFill/>
          </a:ln>
        </p:spPr>
      </p:pic>
      <p:pic>
        <p:nvPicPr>
          <p:cNvPr descr="preencoded.png" id="168" name="Google Shape;168;p7"/>
          <p:cNvPicPr preferRelativeResize="0"/>
          <p:nvPr/>
        </p:nvPicPr>
        <p:blipFill rotWithShape="1">
          <a:blip r:embed="rId12">
            <a:alphaModFix/>
          </a:blip>
          <a:srcRect b="0" l="0" r="0" t="0"/>
          <a:stretch/>
        </p:blipFill>
        <p:spPr>
          <a:xfrm>
            <a:off x="6553199" y="2019300"/>
            <a:ext cx="5166049" cy="3657600"/>
          </a:xfrm>
          <a:prstGeom prst="rect">
            <a:avLst/>
          </a:prstGeom>
          <a:noFill/>
          <a:ln>
            <a:noFill/>
          </a:ln>
        </p:spPr>
      </p:pic>
      <p:sp>
        <p:nvSpPr>
          <p:cNvPr id="169" name="Google Shape;169;p7"/>
          <p:cNvSpPr/>
          <p:nvPr/>
        </p:nvSpPr>
        <p:spPr>
          <a:xfrm>
            <a:off x="381000" y="381000"/>
            <a:ext cx="13716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Auditor Selection and Training</a:t>
            </a:r>
            <a:endParaRPr sz="2700">
              <a:solidFill>
                <a:schemeClr val="dk1"/>
              </a:solidFill>
              <a:latin typeface="Calibri"/>
              <a:ea typeface="Calibri"/>
              <a:cs typeface="Calibri"/>
              <a:sym typeface="Calibri"/>
            </a:endParaRPr>
          </a:p>
        </p:txBody>
      </p:sp>
      <p:sp>
        <p:nvSpPr>
          <p:cNvPr id="170" name="Google Shape;170;p7"/>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Ensuring internal auditors possess necessary competence, independence, and resources</a:t>
            </a:r>
            <a:endParaRPr sz="1500">
              <a:solidFill>
                <a:schemeClr val="dk1"/>
              </a:solidFill>
              <a:latin typeface="Calibri"/>
              <a:ea typeface="Calibri"/>
              <a:cs typeface="Calibri"/>
              <a:sym typeface="Calibri"/>
            </a:endParaRPr>
          </a:p>
        </p:txBody>
      </p:sp>
      <p:sp>
        <p:nvSpPr>
          <p:cNvPr id="171" name="Google Shape;171;p7"/>
          <p:cNvSpPr/>
          <p:nvPr/>
        </p:nvSpPr>
        <p:spPr>
          <a:xfrm>
            <a:off x="971550" y="1562100"/>
            <a:ext cx="603504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 Key Selection Criteria</a:t>
            </a:r>
            <a:endParaRPr sz="1800">
              <a:solidFill>
                <a:schemeClr val="dk1"/>
              </a:solidFill>
              <a:latin typeface="Calibri"/>
              <a:ea typeface="Calibri"/>
              <a:cs typeface="Calibri"/>
              <a:sym typeface="Calibri"/>
            </a:endParaRPr>
          </a:p>
        </p:txBody>
      </p:sp>
      <p:sp>
        <p:nvSpPr>
          <p:cNvPr id="172" name="Google Shape;172;p7"/>
          <p:cNvSpPr/>
          <p:nvPr/>
        </p:nvSpPr>
        <p:spPr>
          <a:xfrm>
            <a:off x="838200" y="1981200"/>
            <a:ext cx="48006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b="1" lang="en-US" sz="1200">
                <a:solidFill>
                  <a:srgbClr val="374151"/>
                </a:solidFill>
                <a:latin typeface="Arial"/>
                <a:ea typeface="Arial"/>
                <a:cs typeface="Arial"/>
                <a:sym typeface="Arial"/>
              </a:rPr>
              <a:t>Competence:</a:t>
            </a:r>
            <a:r>
              <a:rPr lang="en-US" sz="1200">
                <a:solidFill>
                  <a:srgbClr val="374151"/>
                </a:solidFill>
                <a:latin typeface="Arial"/>
                <a:ea typeface="Arial"/>
                <a:cs typeface="Arial"/>
                <a:sym typeface="Arial"/>
              </a:rPr>
              <a:t> Technical knowledge and skills relevant to the audit scope</a:t>
            </a:r>
            <a:endParaRPr sz="1200">
              <a:solidFill>
                <a:schemeClr val="dk1"/>
              </a:solidFill>
              <a:latin typeface="Calibri"/>
              <a:ea typeface="Calibri"/>
              <a:cs typeface="Calibri"/>
              <a:sym typeface="Calibri"/>
            </a:endParaRPr>
          </a:p>
        </p:txBody>
      </p:sp>
      <p:sp>
        <p:nvSpPr>
          <p:cNvPr id="173" name="Google Shape;173;p7"/>
          <p:cNvSpPr/>
          <p:nvPr/>
        </p:nvSpPr>
        <p:spPr>
          <a:xfrm>
            <a:off x="838200" y="2552700"/>
            <a:ext cx="48006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b="1" lang="en-US" sz="1200">
                <a:solidFill>
                  <a:srgbClr val="374151"/>
                </a:solidFill>
                <a:latin typeface="Arial"/>
                <a:ea typeface="Arial"/>
                <a:cs typeface="Arial"/>
                <a:sym typeface="Arial"/>
              </a:rPr>
              <a:t>Independence:</a:t>
            </a:r>
            <a:r>
              <a:rPr lang="en-US" sz="1200">
                <a:solidFill>
                  <a:srgbClr val="374151"/>
                </a:solidFill>
                <a:latin typeface="Arial"/>
                <a:ea typeface="Arial"/>
                <a:cs typeface="Arial"/>
                <a:sym typeface="Arial"/>
              </a:rPr>
              <a:t> Objectivity and freedom from conflicts of interest</a:t>
            </a:r>
            <a:endParaRPr sz="1200">
              <a:solidFill>
                <a:schemeClr val="dk1"/>
              </a:solidFill>
              <a:latin typeface="Calibri"/>
              <a:ea typeface="Calibri"/>
              <a:cs typeface="Calibri"/>
              <a:sym typeface="Calibri"/>
            </a:endParaRPr>
          </a:p>
        </p:txBody>
      </p:sp>
      <p:sp>
        <p:nvSpPr>
          <p:cNvPr id="174" name="Google Shape;174;p7"/>
          <p:cNvSpPr/>
          <p:nvPr/>
        </p:nvSpPr>
        <p:spPr>
          <a:xfrm>
            <a:off x="838200" y="3124200"/>
            <a:ext cx="48006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b="1" lang="en-US" sz="1200">
                <a:solidFill>
                  <a:srgbClr val="374151"/>
                </a:solidFill>
                <a:latin typeface="Arial"/>
                <a:ea typeface="Arial"/>
                <a:cs typeface="Arial"/>
                <a:sym typeface="Arial"/>
              </a:rPr>
              <a:t>Resources:</a:t>
            </a:r>
            <a:r>
              <a:rPr lang="en-US" sz="1200">
                <a:solidFill>
                  <a:srgbClr val="374151"/>
                </a:solidFill>
                <a:latin typeface="Arial"/>
                <a:ea typeface="Arial"/>
                <a:cs typeface="Arial"/>
                <a:sym typeface="Arial"/>
              </a:rPr>
              <a:t> Adequate time and support to conduct thorough audits</a:t>
            </a:r>
            <a:endParaRPr sz="1200">
              <a:solidFill>
                <a:schemeClr val="dk1"/>
              </a:solidFill>
              <a:latin typeface="Calibri"/>
              <a:ea typeface="Calibri"/>
              <a:cs typeface="Calibri"/>
              <a:sym typeface="Calibri"/>
            </a:endParaRPr>
          </a:p>
        </p:txBody>
      </p:sp>
      <p:sp>
        <p:nvSpPr>
          <p:cNvPr id="175" name="Google Shape;175;p7"/>
          <p:cNvSpPr/>
          <p:nvPr/>
        </p:nvSpPr>
        <p:spPr>
          <a:xfrm>
            <a:off x="971550" y="4267200"/>
            <a:ext cx="603504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 Training Requirements</a:t>
            </a:r>
            <a:endParaRPr sz="1800">
              <a:solidFill>
                <a:schemeClr val="dk1"/>
              </a:solidFill>
              <a:latin typeface="Calibri"/>
              <a:ea typeface="Calibri"/>
              <a:cs typeface="Calibri"/>
              <a:sym typeface="Calibri"/>
            </a:endParaRPr>
          </a:p>
        </p:txBody>
      </p:sp>
      <p:sp>
        <p:nvSpPr>
          <p:cNvPr id="176" name="Google Shape;176;p7"/>
          <p:cNvSpPr/>
          <p:nvPr/>
        </p:nvSpPr>
        <p:spPr>
          <a:xfrm>
            <a:off x="819150" y="4686300"/>
            <a:ext cx="3999786"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Initial certification in ISO auditing principles</a:t>
            </a:r>
            <a:endParaRPr sz="1200">
              <a:solidFill>
                <a:schemeClr val="dk1"/>
              </a:solidFill>
              <a:latin typeface="Calibri"/>
              <a:ea typeface="Calibri"/>
              <a:cs typeface="Calibri"/>
              <a:sym typeface="Calibri"/>
            </a:endParaRPr>
          </a:p>
        </p:txBody>
      </p:sp>
      <p:sp>
        <p:nvSpPr>
          <p:cNvPr id="177" name="Google Shape;177;p7"/>
          <p:cNvSpPr/>
          <p:nvPr/>
        </p:nvSpPr>
        <p:spPr>
          <a:xfrm>
            <a:off x="819150" y="5029200"/>
            <a:ext cx="3971211"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Regular refresher training to maintain skills</a:t>
            </a:r>
            <a:endParaRPr sz="1200">
              <a:solidFill>
                <a:schemeClr val="dk1"/>
              </a:solidFill>
              <a:latin typeface="Calibri"/>
              <a:ea typeface="Calibri"/>
              <a:cs typeface="Calibri"/>
              <a:sym typeface="Calibri"/>
            </a:endParaRPr>
          </a:p>
        </p:txBody>
      </p:sp>
      <p:sp>
        <p:nvSpPr>
          <p:cNvPr id="178" name="Google Shape;178;p7"/>
          <p:cNvSpPr/>
          <p:nvPr/>
        </p:nvSpPr>
        <p:spPr>
          <a:xfrm>
            <a:off x="819150" y="5372100"/>
            <a:ext cx="3789581"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Technical updates on changing standards</a:t>
            </a:r>
            <a:endParaRPr sz="1200">
              <a:solidFill>
                <a:schemeClr val="dk1"/>
              </a:solidFill>
              <a:latin typeface="Calibri"/>
              <a:ea typeface="Calibri"/>
              <a:cs typeface="Calibri"/>
              <a:sym typeface="Calibri"/>
            </a:endParaRPr>
          </a:p>
        </p:txBody>
      </p:sp>
      <p:sp>
        <p:nvSpPr>
          <p:cNvPr id="179" name="Google Shape;179;p7"/>
          <p:cNvSpPr/>
          <p:nvPr/>
        </p:nvSpPr>
        <p:spPr>
          <a:xfrm>
            <a:off x="6858000" y="1562100"/>
            <a:ext cx="603504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 Selection &amp; Training Process</a:t>
            </a:r>
            <a:endParaRPr sz="1800">
              <a:solidFill>
                <a:schemeClr val="dk1"/>
              </a:solidFill>
              <a:latin typeface="Calibri"/>
              <a:ea typeface="Calibri"/>
              <a:cs typeface="Calibri"/>
              <a:sym typeface="Calibri"/>
            </a:endParaRPr>
          </a:p>
        </p:txBody>
      </p:sp>
      <p:sp>
        <p:nvSpPr>
          <p:cNvPr id="180" name="Google Shape;180;p7"/>
          <p:cNvSpPr/>
          <p:nvPr/>
        </p:nvSpPr>
        <p:spPr>
          <a:xfrm>
            <a:off x="8771930" y="6515100"/>
            <a:ext cx="3829764"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5/23</a:t>
            </a:r>
            <a:endParaRPr sz="10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descr="preencoded.png" id="186" name="Google Shape;186;p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187" name="Google Shape;187;p8"/>
          <p:cNvPicPr preferRelativeResize="0"/>
          <p:nvPr/>
        </p:nvPicPr>
        <p:blipFill rotWithShape="1">
          <a:blip r:embed="rId4">
            <a:alphaModFix/>
          </a:blip>
          <a:srcRect b="0" l="0" r="0" t="0"/>
          <a:stretch/>
        </p:blipFill>
        <p:spPr>
          <a:xfrm>
            <a:off x="381000" y="1409700"/>
            <a:ext cx="11430000" cy="762000"/>
          </a:xfrm>
          <a:prstGeom prst="rect">
            <a:avLst/>
          </a:prstGeom>
          <a:noFill/>
          <a:ln>
            <a:noFill/>
          </a:ln>
        </p:spPr>
      </p:pic>
      <p:pic>
        <p:nvPicPr>
          <p:cNvPr descr="preencoded.png" id="188" name="Google Shape;188;p8"/>
          <p:cNvPicPr preferRelativeResize="0"/>
          <p:nvPr/>
        </p:nvPicPr>
        <p:blipFill rotWithShape="1">
          <a:blip r:embed="rId5">
            <a:alphaModFix/>
          </a:blip>
          <a:srcRect b="0" l="0" r="0" t="0"/>
          <a:stretch/>
        </p:blipFill>
        <p:spPr>
          <a:xfrm>
            <a:off x="381000" y="2400300"/>
            <a:ext cx="3657600" cy="1752600"/>
          </a:xfrm>
          <a:prstGeom prst="rect">
            <a:avLst/>
          </a:prstGeom>
          <a:noFill/>
          <a:ln>
            <a:noFill/>
          </a:ln>
        </p:spPr>
      </p:pic>
      <p:pic>
        <p:nvPicPr>
          <p:cNvPr descr="preencoded.png" id="189" name="Google Shape;189;p8"/>
          <p:cNvPicPr preferRelativeResize="0"/>
          <p:nvPr/>
        </p:nvPicPr>
        <p:blipFill rotWithShape="1">
          <a:blip r:embed="rId6">
            <a:alphaModFix/>
          </a:blip>
          <a:srcRect b="0" l="0" r="0" t="0"/>
          <a:stretch/>
        </p:blipFill>
        <p:spPr>
          <a:xfrm>
            <a:off x="609600" y="2667000"/>
            <a:ext cx="513904" cy="533400"/>
          </a:xfrm>
          <a:prstGeom prst="rect">
            <a:avLst/>
          </a:prstGeom>
          <a:noFill/>
          <a:ln>
            <a:noFill/>
          </a:ln>
        </p:spPr>
      </p:pic>
      <p:pic>
        <p:nvPicPr>
          <p:cNvPr descr="preencoded.png" id="190" name="Google Shape;190;p8"/>
          <p:cNvPicPr preferRelativeResize="0"/>
          <p:nvPr/>
        </p:nvPicPr>
        <p:blipFill rotWithShape="1">
          <a:blip r:embed="rId7">
            <a:alphaModFix/>
          </a:blip>
          <a:srcRect b="0" l="0" r="0" t="0"/>
          <a:stretch/>
        </p:blipFill>
        <p:spPr>
          <a:xfrm>
            <a:off x="752177" y="2781300"/>
            <a:ext cx="228600" cy="304800"/>
          </a:xfrm>
          <a:prstGeom prst="rect">
            <a:avLst/>
          </a:prstGeom>
          <a:noFill/>
          <a:ln>
            <a:noFill/>
          </a:ln>
        </p:spPr>
      </p:pic>
      <p:pic>
        <p:nvPicPr>
          <p:cNvPr descr="preencoded.png" id="191" name="Google Shape;191;p8"/>
          <p:cNvPicPr preferRelativeResize="0"/>
          <p:nvPr/>
        </p:nvPicPr>
        <p:blipFill rotWithShape="1">
          <a:blip r:embed="rId8">
            <a:alphaModFix/>
          </a:blip>
          <a:srcRect b="0" l="0" r="0" t="0"/>
          <a:stretch/>
        </p:blipFill>
        <p:spPr>
          <a:xfrm>
            <a:off x="609600" y="3429000"/>
            <a:ext cx="152400" cy="152400"/>
          </a:xfrm>
          <a:prstGeom prst="rect">
            <a:avLst/>
          </a:prstGeom>
          <a:noFill/>
          <a:ln>
            <a:noFill/>
          </a:ln>
        </p:spPr>
      </p:pic>
      <p:pic>
        <p:nvPicPr>
          <p:cNvPr descr="preencoded.png" id="192" name="Google Shape;192;p8"/>
          <p:cNvPicPr preferRelativeResize="0"/>
          <p:nvPr/>
        </p:nvPicPr>
        <p:blipFill rotWithShape="1">
          <a:blip r:embed="rId8">
            <a:alphaModFix/>
          </a:blip>
          <a:srcRect b="0" l="0" r="0" t="0"/>
          <a:stretch/>
        </p:blipFill>
        <p:spPr>
          <a:xfrm>
            <a:off x="609600" y="3733800"/>
            <a:ext cx="152400" cy="152400"/>
          </a:xfrm>
          <a:prstGeom prst="rect">
            <a:avLst/>
          </a:prstGeom>
          <a:noFill/>
          <a:ln>
            <a:noFill/>
          </a:ln>
        </p:spPr>
      </p:pic>
      <p:pic>
        <p:nvPicPr>
          <p:cNvPr descr="preencoded.png" id="193" name="Google Shape;193;p8"/>
          <p:cNvPicPr preferRelativeResize="0"/>
          <p:nvPr/>
        </p:nvPicPr>
        <p:blipFill rotWithShape="1">
          <a:blip r:embed="rId5">
            <a:alphaModFix/>
          </a:blip>
          <a:srcRect b="0" l="0" r="0" t="0"/>
          <a:stretch/>
        </p:blipFill>
        <p:spPr>
          <a:xfrm>
            <a:off x="4267200" y="2400300"/>
            <a:ext cx="3657600" cy="1752600"/>
          </a:xfrm>
          <a:prstGeom prst="rect">
            <a:avLst/>
          </a:prstGeom>
          <a:noFill/>
          <a:ln>
            <a:noFill/>
          </a:ln>
        </p:spPr>
      </p:pic>
      <p:pic>
        <p:nvPicPr>
          <p:cNvPr descr="preencoded.png" id="194" name="Google Shape;194;p8"/>
          <p:cNvPicPr preferRelativeResize="0"/>
          <p:nvPr/>
        </p:nvPicPr>
        <p:blipFill rotWithShape="1">
          <a:blip r:embed="rId9">
            <a:alphaModFix/>
          </a:blip>
          <a:srcRect b="0" l="0" r="0" t="0"/>
          <a:stretch/>
        </p:blipFill>
        <p:spPr>
          <a:xfrm>
            <a:off x="4495800" y="2628900"/>
            <a:ext cx="533400" cy="533400"/>
          </a:xfrm>
          <a:prstGeom prst="rect">
            <a:avLst/>
          </a:prstGeom>
          <a:noFill/>
          <a:ln>
            <a:noFill/>
          </a:ln>
        </p:spPr>
      </p:pic>
      <p:pic>
        <p:nvPicPr>
          <p:cNvPr descr="preencoded.png" id="195" name="Google Shape;195;p8"/>
          <p:cNvPicPr preferRelativeResize="0"/>
          <p:nvPr/>
        </p:nvPicPr>
        <p:blipFill rotWithShape="1">
          <a:blip r:embed="rId10">
            <a:alphaModFix/>
          </a:blip>
          <a:srcRect b="0" l="0" r="0" t="0"/>
          <a:stretch/>
        </p:blipFill>
        <p:spPr>
          <a:xfrm>
            <a:off x="4648200" y="2743200"/>
            <a:ext cx="228600" cy="304800"/>
          </a:xfrm>
          <a:prstGeom prst="rect">
            <a:avLst/>
          </a:prstGeom>
          <a:noFill/>
          <a:ln>
            <a:noFill/>
          </a:ln>
        </p:spPr>
      </p:pic>
      <p:pic>
        <p:nvPicPr>
          <p:cNvPr descr="preencoded.png" id="196" name="Google Shape;196;p8"/>
          <p:cNvPicPr preferRelativeResize="0"/>
          <p:nvPr/>
        </p:nvPicPr>
        <p:blipFill rotWithShape="1">
          <a:blip r:embed="rId8">
            <a:alphaModFix/>
          </a:blip>
          <a:srcRect b="0" l="0" r="0" t="0"/>
          <a:stretch/>
        </p:blipFill>
        <p:spPr>
          <a:xfrm>
            <a:off x="4495800" y="3352800"/>
            <a:ext cx="152400" cy="152400"/>
          </a:xfrm>
          <a:prstGeom prst="rect">
            <a:avLst/>
          </a:prstGeom>
          <a:noFill/>
          <a:ln>
            <a:noFill/>
          </a:ln>
        </p:spPr>
      </p:pic>
      <p:pic>
        <p:nvPicPr>
          <p:cNvPr descr="preencoded.png" id="197" name="Google Shape;197;p8"/>
          <p:cNvPicPr preferRelativeResize="0"/>
          <p:nvPr/>
        </p:nvPicPr>
        <p:blipFill rotWithShape="1">
          <a:blip r:embed="rId8">
            <a:alphaModFix/>
          </a:blip>
          <a:srcRect b="0" l="0" r="0" t="0"/>
          <a:stretch/>
        </p:blipFill>
        <p:spPr>
          <a:xfrm>
            <a:off x="4495800" y="3657600"/>
            <a:ext cx="152400" cy="152400"/>
          </a:xfrm>
          <a:prstGeom prst="rect">
            <a:avLst/>
          </a:prstGeom>
          <a:noFill/>
          <a:ln>
            <a:noFill/>
          </a:ln>
        </p:spPr>
      </p:pic>
      <p:pic>
        <p:nvPicPr>
          <p:cNvPr descr="preencoded.png" id="198" name="Google Shape;198;p8"/>
          <p:cNvPicPr preferRelativeResize="0"/>
          <p:nvPr/>
        </p:nvPicPr>
        <p:blipFill rotWithShape="1">
          <a:blip r:embed="rId5">
            <a:alphaModFix/>
          </a:blip>
          <a:srcRect b="0" l="0" r="0" t="0"/>
          <a:stretch/>
        </p:blipFill>
        <p:spPr>
          <a:xfrm>
            <a:off x="8153400" y="2400300"/>
            <a:ext cx="3657600" cy="1752600"/>
          </a:xfrm>
          <a:prstGeom prst="rect">
            <a:avLst/>
          </a:prstGeom>
          <a:noFill/>
          <a:ln>
            <a:noFill/>
          </a:ln>
        </p:spPr>
      </p:pic>
      <p:pic>
        <p:nvPicPr>
          <p:cNvPr descr="preencoded.png" id="199" name="Google Shape;199;p8"/>
          <p:cNvPicPr preferRelativeResize="0"/>
          <p:nvPr/>
        </p:nvPicPr>
        <p:blipFill rotWithShape="1">
          <a:blip r:embed="rId11">
            <a:alphaModFix/>
          </a:blip>
          <a:srcRect b="0" l="0" r="0" t="0"/>
          <a:stretch/>
        </p:blipFill>
        <p:spPr>
          <a:xfrm>
            <a:off x="8382000" y="2628900"/>
            <a:ext cx="533400" cy="533400"/>
          </a:xfrm>
          <a:prstGeom prst="rect">
            <a:avLst/>
          </a:prstGeom>
          <a:noFill/>
          <a:ln>
            <a:noFill/>
          </a:ln>
        </p:spPr>
      </p:pic>
      <p:pic>
        <p:nvPicPr>
          <p:cNvPr descr="preencoded.png" id="200" name="Google Shape;200;p8"/>
          <p:cNvPicPr preferRelativeResize="0"/>
          <p:nvPr/>
        </p:nvPicPr>
        <p:blipFill rotWithShape="1">
          <a:blip r:embed="rId12">
            <a:alphaModFix/>
          </a:blip>
          <a:srcRect b="0" l="0" r="0" t="0"/>
          <a:stretch/>
        </p:blipFill>
        <p:spPr>
          <a:xfrm>
            <a:off x="8562975" y="2743200"/>
            <a:ext cx="171450" cy="304800"/>
          </a:xfrm>
          <a:prstGeom prst="rect">
            <a:avLst/>
          </a:prstGeom>
          <a:noFill/>
          <a:ln>
            <a:noFill/>
          </a:ln>
        </p:spPr>
      </p:pic>
      <p:pic>
        <p:nvPicPr>
          <p:cNvPr descr="preencoded.png" id="201" name="Google Shape;201;p8"/>
          <p:cNvPicPr preferRelativeResize="0"/>
          <p:nvPr/>
        </p:nvPicPr>
        <p:blipFill rotWithShape="1">
          <a:blip r:embed="rId8">
            <a:alphaModFix/>
          </a:blip>
          <a:srcRect b="0" l="0" r="0" t="0"/>
          <a:stretch/>
        </p:blipFill>
        <p:spPr>
          <a:xfrm>
            <a:off x="8382000" y="3352800"/>
            <a:ext cx="152400" cy="152400"/>
          </a:xfrm>
          <a:prstGeom prst="rect">
            <a:avLst/>
          </a:prstGeom>
          <a:noFill/>
          <a:ln>
            <a:noFill/>
          </a:ln>
        </p:spPr>
      </p:pic>
      <p:pic>
        <p:nvPicPr>
          <p:cNvPr descr="preencoded.png" id="202" name="Google Shape;202;p8"/>
          <p:cNvPicPr preferRelativeResize="0"/>
          <p:nvPr/>
        </p:nvPicPr>
        <p:blipFill rotWithShape="1">
          <a:blip r:embed="rId8">
            <a:alphaModFix/>
          </a:blip>
          <a:srcRect b="0" l="0" r="0" t="0"/>
          <a:stretch/>
        </p:blipFill>
        <p:spPr>
          <a:xfrm>
            <a:off x="8382000" y="3657600"/>
            <a:ext cx="152400" cy="152400"/>
          </a:xfrm>
          <a:prstGeom prst="rect">
            <a:avLst/>
          </a:prstGeom>
          <a:noFill/>
          <a:ln>
            <a:noFill/>
          </a:ln>
        </p:spPr>
      </p:pic>
      <p:pic>
        <p:nvPicPr>
          <p:cNvPr descr="preencoded.png" id="203" name="Google Shape;203;p8"/>
          <p:cNvPicPr preferRelativeResize="0"/>
          <p:nvPr/>
        </p:nvPicPr>
        <p:blipFill rotWithShape="1">
          <a:blip r:embed="rId13">
            <a:alphaModFix/>
          </a:blip>
          <a:srcRect b="0" l="0" r="0" t="0"/>
          <a:stretch/>
        </p:blipFill>
        <p:spPr>
          <a:xfrm>
            <a:off x="381000" y="4381500"/>
            <a:ext cx="11430000" cy="571500"/>
          </a:xfrm>
          <a:prstGeom prst="rect">
            <a:avLst/>
          </a:prstGeom>
          <a:noFill/>
          <a:ln>
            <a:noFill/>
          </a:ln>
        </p:spPr>
      </p:pic>
      <p:pic>
        <p:nvPicPr>
          <p:cNvPr descr="preencoded.png" id="204" name="Google Shape;204;p8"/>
          <p:cNvPicPr preferRelativeResize="0"/>
          <p:nvPr/>
        </p:nvPicPr>
        <p:blipFill rotWithShape="1">
          <a:blip r:embed="rId14">
            <a:alphaModFix/>
          </a:blip>
          <a:srcRect b="0" l="0" r="0" t="0"/>
          <a:stretch/>
        </p:blipFill>
        <p:spPr>
          <a:xfrm>
            <a:off x="533400" y="4533900"/>
            <a:ext cx="142875" cy="266700"/>
          </a:xfrm>
          <a:prstGeom prst="rect">
            <a:avLst/>
          </a:prstGeom>
          <a:noFill/>
          <a:ln>
            <a:noFill/>
          </a:ln>
        </p:spPr>
      </p:pic>
      <p:sp>
        <p:nvSpPr>
          <p:cNvPr id="205" name="Google Shape;205;p8"/>
          <p:cNvSpPr/>
          <p:nvPr/>
        </p:nvSpPr>
        <p:spPr>
          <a:xfrm>
            <a:off x="381000" y="381000"/>
            <a:ext cx="11430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Audit Process Oversight</a:t>
            </a:r>
            <a:endParaRPr sz="2700">
              <a:solidFill>
                <a:schemeClr val="dk1"/>
              </a:solidFill>
              <a:latin typeface="Calibri"/>
              <a:ea typeface="Calibri"/>
              <a:cs typeface="Calibri"/>
              <a:sym typeface="Calibri"/>
            </a:endParaRPr>
          </a:p>
        </p:txBody>
      </p:sp>
      <p:sp>
        <p:nvSpPr>
          <p:cNvPr id="206" name="Google Shape;206;p8"/>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The Lead Implementer's role in ensuring audit effectiveness and follow-through</a:t>
            </a:r>
            <a:endParaRPr sz="1500">
              <a:solidFill>
                <a:schemeClr val="dk1"/>
              </a:solidFill>
              <a:latin typeface="Calibri"/>
              <a:ea typeface="Calibri"/>
              <a:cs typeface="Calibri"/>
              <a:sym typeface="Calibri"/>
            </a:endParaRPr>
          </a:p>
        </p:txBody>
      </p:sp>
      <p:sp>
        <p:nvSpPr>
          <p:cNvPr id="207" name="Google Shape;207;p8"/>
          <p:cNvSpPr/>
          <p:nvPr/>
        </p:nvSpPr>
        <p:spPr>
          <a:xfrm>
            <a:off x="533400" y="1562100"/>
            <a:ext cx="111252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As the manager of the audit program, the Lead Implementer must ensure audits are conducted effectively and that necessary actions are taken to address findings.</a:t>
            </a:r>
            <a:endParaRPr sz="1200">
              <a:solidFill>
                <a:schemeClr val="dk1"/>
              </a:solidFill>
              <a:latin typeface="Calibri"/>
              <a:ea typeface="Calibri"/>
              <a:cs typeface="Calibri"/>
              <a:sym typeface="Calibri"/>
            </a:endParaRPr>
          </a:p>
        </p:txBody>
      </p:sp>
      <p:sp>
        <p:nvSpPr>
          <p:cNvPr id="208" name="Google Shape;208;p8"/>
          <p:cNvSpPr/>
          <p:nvPr/>
        </p:nvSpPr>
        <p:spPr>
          <a:xfrm>
            <a:off x="1275904" y="2628900"/>
            <a:ext cx="2534096" cy="609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Monitoring Progress</a:t>
            </a:r>
            <a:endParaRPr sz="1800">
              <a:solidFill>
                <a:schemeClr val="dk1"/>
              </a:solidFill>
              <a:latin typeface="Calibri"/>
              <a:ea typeface="Calibri"/>
              <a:cs typeface="Calibri"/>
              <a:sym typeface="Calibri"/>
            </a:endParaRPr>
          </a:p>
        </p:txBody>
      </p:sp>
      <p:sp>
        <p:nvSpPr>
          <p:cNvPr id="209" name="Google Shape;209;p8"/>
          <p:cNvSpPr/>
          <p:nvPr/>
        </p:nvSpPr>
        <p:spPr>
          <a:xfrm>
            <a:off x="838200" y="3390900"/>
            <a:ext cx="2988409"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Track audit schedule compliance</a:t>
            </a:r>
            <a:endParaRPr sz="1200">
              <a:solidFill>
                <a:schemeClr val="dk1"/>
              </a:solidFill>
              <a:latin typeface="Calibri"/>
              <a:ea typeface="Calibri"/>
              <a:cs typeface="Calibri"/>
              <a:sym typeface="Calibri"/>
            </a:endParaRPr>
          </a:p>
        </p:txBody>
      </p:sp>
      <p:sp>
        <p:nvSpPr>
          <p:cNvPr id="210" name="Google Shape;210;p8"/>
          <p:cNvSpPr/>
          <p:nvPr/>
        </p:nvSpPr>
        <p:spPr>
          <a:xfrm>
            <a:off x="838200" y="3695700"/>
            <a:ext cx="299091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Identify and resolve audit delays</a:t>
            </a:r>
            <a:endParaRPr sz="1200">
              <a:solidFill>
                <a:schemeClr val="dk1"/>
              </a:solidFill>
              <a:latin typeface="Calibri"/>
              <a:ea typeface="Calibri"/>
              <a:cs typeface="Calibri"/>
              <a:sym typeface="Calibri"/>
            </a:endParaRPr>
          </a:p>
        </p:txBody>
      </p:sp>
      <p:sp>
        <p:nvSpPr>
          <p:cNvPr id="211" name="Google Shape;211;p8"/>
          <p:cNvSpPr/>
          <p:nvPr/>
        </p:nvSpPr>
        <p:spPr>
          <a:xfrm>
            <a:off x="5181600" y="2743200"/>
            <a:ext cx="3012877"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Reviewing Findings</a:t>
            </a:r>
            <a:endParaRPr sz="1800">
              <a:solidFill>
                <a:schemeClr val="dk1"/>
              </a:solidFill>
              <a:latin typeface="Calibri"/>
              <a:ea typeface="Calibri"/>
              <a:cs typeface="Calibri"/>
              <a:sym typeface="Calibri"/>
            </a:endParaRPr>
          </a:p>
        </p:txBody>
      </p:sp>
      <p:sp>
        <p:nvSpPr>
          <p:cNvPr id="212" name="Google Shape;212;p8"/>
          <p:cNvSpPr/>
          <p:nvPr/>
        </p:nvSpPr>
        <p:spPr>
          <a:xfrm>
            <a:off x="4724400" y="3314700"/>
            <a:ext cx="3399353"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Meticulously examine audit evidence</a:t>
            </a:r>
            <a:endParaRPr sz="1200">
              <a:solidFill>
                <a:schemeClr val="dk1"/>
              </a:solidFill>
              <a:latin typeface="Calibri"/>
              <a:ea typeface="Calibri"/>
              <a:cs typeface="Calibri"/>
              <a:sym typeface="Calibri"/>
            </a:endParaRPr>
          </a:p>
        </p:txBody>
      </p:sp>
      <p:sp>
        <p:nvSpPr>
          <p:cNvPr id="213" name="Google Shape;213;p8"/>
          <p:cNvSpPr/>
          <p:nvPr/>
        </p:nvSpPr>
        <p:spPr>
          <a:xfrm>
            <a:off x="4724400" y="3619500"/>
            <a:ext cx="2973229"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Verify conformity with standards</a:t>
            </a:r>
            <a:endParaRPr sz="1200">
              <a:solidFill>
                <a:schemeClr val="dk1"/>
              </a:solidFill>
              <a:latin typeface="Calibri"/>
              <a:ea typeface="Calibri"/>
              <a:cs typeface="Calibri"/>
              <a:sym typeface="Calibri"/>
            </a:endParaRPr>
          </a:p>
        </p:txBody>
      </p:sp>
      <p:sp>
        <p:nvSpPr>
          <p:cNvPr id="214" name="Google Shape;214;p8"/>
          <p:cNvSpPr/>
          <p:nvPr/>
        </p:nvSpPr>
        <p:spPr>
          <a:xfrm>
            <a:off x="9067800" y="2743200"/>
            <a:ext cx="267837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Corrective Action</a:t>
            </a:r>
            <a:endParaRPr sz="1800">
              <a:solidFill>
                <a:schemeClr val="dk1"/>
              </a:solidFill>
              <a:latin typeface="Calibri"/>
              <a:ea typeface="Calibri"/>
              <a:cs typeface="Calibri"/>
              <a:sym typeface="Calibri"/>
            </a:endParaRPr>
          </a:p>
        </p:txBody>
      </p:sp>
      <p:sp>
        <p:nvSpPr>
          <p:cNvPr id="215" name="Google Shape;215;p8"/>
          <p:cNvSpPr/>
          <p:nvPr/>
        </p:nvSpPr>
        <p:spPr>
          <a:xfrm>
            <a:off x="8610600" y="3314700"/>
            <a:ext cx="2856786"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Ensure prompt implementation</a:t>
            </a:r>
            <a:endParaRPr sz="1200">
              <a:solidFill>
                <a:schemeClr val="dk1"/>
              </a:solidFill>
              <a:latin typeface="Calibri"/>
              <a:ea typeface="Calibri"/>
              <a:cs typeface="Calibri"/>
              <a:sym typeface="Calibri"/>
            </a:endParaRPr>
          </a:p>
        </p:txBody>
      </p:sp>
      <p:sp>
        <p:nvSpPr>
          <p:cNvPr id="216" name="Google Shape;216;p8"/>
          <p:cNvSpPr/>
          <p:nvPr/>
        </p:nvSpPr>
        <p:spPr>
          <a:xfrm>
            <a:off x="8610600" y="3619500"/>
            <a:ext cx="2741593"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Verify effectiveness of actions</a:t>
            </a:r>
            <a:endParaRPr sz="1200">
              <a:solidFill>
                <a:schemeClr val="dk1"/>
              </a:solidFill>
              <a:latin typeface="Calibri"/>
              <a:ea typeface="Calibri"/>
              <a:cs typeface="Calibri"/>
              <a:sym typeface="Calibri"/>
            </a:endParaRPr>
          </a:p>
        </p:txBody>
      </p:sp>
      <p:sp>
        <p:nvSpPr>
          <p:cNvPr id="217" name="Google Shape;217;p8"/>
          <p:cNvSpPr/>
          <p:nvPr/>
        </p:nvSpPr>
        <p:spPr>
          <a:xfrm>
            <a:off x="790575" y="4552950"/>
            <a:ext cx="754826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1F2937"/>
              </a:buClr>
              <a:buSzPts val="1200"/>
              <a:buFont typeface="Arial"/>
              <a:buNone/>
            </a:pPr>
            <a:r>
              <a:rPr lang="en-US" sz="1200">
                <a:solidFill>
                  <a:srgbClr val="1F2937"/>
                </a:solidFill>
                <a:latin typeface="Arial"/>
                <a:ea typeface="Arial"/>
                <a:cs typeface="Arial"/>
                <a:sym typeface="Arial"/>
              </a:rPr>
              <a:t>Effective oversight ensures audits drive continuous improvement and compliance.</a:t>
            </a:r>
            <a:endParaRPr sz="1200">
              <a:solidFill>
                <a:schemeClr val="dk1"/>
              </a:solidFill>
              <a:latin typeface="Calibri"/>
              <a:ea typeface="Calibri"/>
              <a:cs typeface="Calibri"/>
              <a:sym typeface="Calibri"/>
            </a:endParaRPr>
          </a:p>
        </p:txBody>
      </p:sp>
      <p:sp>
        <p:nvSpPr>
          <p:cNvPr id="218" name="Google Shape;218;p8"/>
          <p:cNvSpPr/>
          <p:nvPr/>
        </p:nvSpPr>
        <p:spPr>
          <a:xfrm>
            <a:off x="8771930" y="6515100"/>
            <a:ext cx="3829764"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6/23</a:t>
            </a:r>
            <a:endParaRPr sz="10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descr="preencoded.png" id="224" name="Google Shape;224;p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225" name="Google Shape;225;p9"/>
          <p:cNvPicPr preferRelativeResize="0"/>
          <p:nvPr/>
        </p:nvPicPr>
        <p:blipFill rotWithShape="1">
          <a:blip r:embed="rId4">
            <a:alphaModFix/>
          </a:blip>
          <a:srcRect b="0" l="0" r="0" t="0"/>
          <a:stretch/>
        </p:blipFill>
        <p:spPr>
          <a:xfrm>
            <a:off x="381000" y="1485900"/>
            <a:ext cx="11430000" cy="1219200"/>
          </a:xfrm>
          <a:prstGeom prst="rect">
            <a:avLst/>
          </a:prstGeom>
          <a:noFill/>
          <a:ln>
            <a:noFill/>
          </a:ln>
        </p:spPr>
      </p:pic>
      <p:pic>
        <p:nvPicPr>
          <p:cNvPr descr="preencoded.png" id="226" name="Google Shape;226;p9"/>
          <p:cNvPicPr preferRelativeResize="0"/>
          <p:nvPr/>
        </p:nvPicPr>
        <p:blipFill rotWithShape="1">
          <a:blip r:embed="rId5">
            <a:alphaModFix/>
          </a:blip>
          <a:srcRect b="0" l="0" r="0" t="0"/>
          <a:stretch/>
        </p:blipFill>
        <p:spPr>
          <a:xfrm>
            <a:off x="571500" y="1676400"/>
            <a:ext cx="571500" cy="571500"/>
          </a:xfrm>
          <a:prstGeom prst="rect">
            <a:avLst/>
          </a:prstGeom>
          <a:noFill/>
          <a:ln>
            <a:noFill/>
          </a:ln>
        </p:spPr>
      </p:pic>
      <p:pic>
        <p:nvPicPr>
          <p:cNvPr descr="preencoded.png" id="227" name="Google Shape;227;p9"/>
          <p:cNvPicPr preferRelativeResize="0"/>
          <p:nvPr/>
        </p:nvPicPr>
        <p:blipFill rotWithShape="1">
          <a:blip r:embed="rId6">
            <a:alphaModFix/>
          </a:blip>
          <a:srcRect b="0" l="0" r="0" t="0"/>
          <a:stretch/>
        </p:blipFill>
        <p:spPr>
          <a:xfrm>
            <a:off x="695325" y="1790700"/>
            <a:ext cx="323850" cy="342900"/>
          </a:xfrm>
          <a:prstGeom prst="rect">
            <a:avLst/>
          </a:prstGeom>
          <a:noFill/>
          <a:ln>
            <a:noFill/>
          </a:ln>
        </p:spPr>
      </p:pic>
      <p:pic>
        <p:nvPicPr>
          <p:cNvPr descr="preencoded.png" id="228" name="Google Shape;228;p9"/>
          <p:cNvPicPr preferRelativeResize="0"/>
          <p:nvPr/>
        </p:nvPicPr>
        <p:blipFill rotWithShape="1">
          <a:blip r:embed="rId7">
            <a:alphaModFix/>
          </a:blip>
          <a:srcRect b="0" l="0" r="0" t="0"/>
          <a:stretch/>
        </p:blipFill>
        <p:spPr>
          <a:xfrm>
            <a:off x="381000" y="2933700"/>
            <a:ext cx="11430000" cy="990600"/>
          </a:xfrm>
          <a:prstGeom prst="rect">
            <a:avLst/>
          </a:prstGeom>
          <a:noFill/>
          <a:ln>
            <a:noFill/>
          </a:ln>
        </p:spPr>
      </p:pic>
      <p:pic>
        <p:nvPicPr>
          <p:cNvPr descr="preencoded.png" id="229" name="Google Shape;229;p9"/>
          <p:cNvPicPr preferRelativeResize="0"/>
          <p:nvPr/>
        </p:nvPicPr>
        <p:blipFill rotWithShape="1">
          <a:blip r:embed="rId8">
            <a:alphaModFix/>
          </a:blip>
          <a:srcRect b="0" l="0" r="0" t="0"/>
          <a:stretch/>
        </p:blipFill>
        <p:spPr>
          <a:xfrm>
            <a:off x="571500" y="3124200"/>
            <a:ext cx="571500" cy="571500"/>
          </a:xfrm>
          <a:prstGeom prst="rect">
            <a:avLst/>
          </a:prstGeom>
          <a:noFill/>
          <a:ln>
            <a:noFill/>
          </a:ln>
        </p:spPr>
      </p:pic>
      <p:pic>
        <p:nvPicPr>
          <p:cNvPr descr="preencoded.png" id="230" name="Google Shape;230;p9"/>
          <p:cNvPicPr preferRelativeResize="0"/>
          <p:nvPr/>
        </p:nvPicPr>
        <p:blipFill rotWithShape="1">
          <a:blip r:embed="rId9">
            <a:alphaModFix/>
          </a:blip>
          <a:srcRect b="0" l="0" r="0" t="0"/>
          <a:stretch/>
        </p:blipFill>
        <p:spPr>
          <a:xfrm>
            <a:off x="676275" y="3238500"/>
            <a:ext cx="361950" cy="342900"/>
          </a:xfrm>
          <a:prstGeom prst="rect">
            <a:avLst/>
          </a:prstGeom>
          <a:noFill/>
          <a:ln>
            <a:noFill/>
          </a:ln>
        </p:spPr>
      </p:pic>
      <p:pic>
        <p:nvPicPr>
          <p:cNvPr descr="preencoded.png" id="231" name="Google Shape;231;p9"/>
          <p:cNvPicPr preferRelativeResize="0"/>
          <p:nvPr/>
        </p:nvPicPr>
        <p:blipFill rotWithShape="1">
          <a:blip r:embed="rId7">
            <a:alphaModFix/>
          </a:blip>
          <a:srcRect b="0" l="0" r="0" t="0"/>
          <a:stretch/>
        </p:blipFill>
        <p:spPr>
          <a:xfrm>
            <a:off x="381000" y="4152900"/>
            <a:ext cx="11430000" cy="990600"/>
          </a:xfrm>
          <a:prstGeom prst="rect">
            <a:avLst/>
          </a:prstGeom>
          <a:noFill/>
          <a:ln>
            <a:noFill/>
          </a:ln>
        </p:spPr>
      </p:pic>
      <p:pic>
        <p:nvPicPr>
          <p:cNvPr descr="preencoded.png" id="232" name="Google Shape;232;p9"/>
          <p:cNvPicPr preferRelativeResize="0"/>
          <p:nvPr/>
        </p:nvPicPr>
        <p:blipFill rotWithShape="1">
          <a:blip r:embed="rId10">
            <a:alphaModFix/>
          </a:blip>
          <a:srcRect b="0" l="0" r="0" t="0"/>
          <a:stretch/>
        </p:blipFill>
        <p:spPr>
          <a:xfrm>
            <a:off x="571500" y="4343400"/>
            <a:ext cx="571500" cy="571500"/>
          </a:xfrm>
          <a:prstGeom prst="rect">
            <a:avLst/>
          </a:prstGeom>
          <a:noFill/>
          <a:ln>
            <a:noFill/>
          </a:ln>
        </p:spPr>
      </p:pic>
      <p:pic>
        <p:nvPicPr>
          <p:cNvPr descr="preencoded.png" id="233" name="Google Shape;233;p9"/>
          <p:cNvPicPr preferRelativeResize="0"/>
          <p:nvPr/>
        </p:nvPicPr>
        <p:blipFill rotWithShape="1">
          <a:blip r:embed="rId11">
            <a:alphaModFix/>
          </a:blip>
          <a:srcRect b="0" l="0" r="0" t="0"/>
          <a:stretch/>
        </p:blipFill>
        <p:spPr>
          <a:xfrm>
            <a:off x="747713" y="4457700"/>
            <a:ext cx="219075" cy="342900"/>
          </a:xfrm>
          <a:prstGeom prst="rect">
            <a:avLst/>
          </a:prstGeom>
          <a:noFill/>
          <a:ln>
            <a:noFill/>
          </a:ln>
        </p:spPr>
      </p:pic>
      <p:pic>
        <p:nvPicPr>
          <p:cNvPr descr="preencoded.png" id="234" name="Google Shape;234;p9"/>
          <p:cNvPicPr preferRelativeResize="0"/>
          <p:nvPr/>
        </p:nvPicPr>
        <p:blipFill rotWithShape="1">
          <a:blip r:embed="rId12">
            <a:alphaModFix/>
          </a:blip>
          <a:srcRect b="0" l="0" r="0" t="0"/>
          <a:stretch/>
        </p:blipFill>
        <p:spPr>
          <a:xfrm>
            <a:off x="381000" y="5372100"/>
            <a:ext cx="11430000" cy="571500"/>
          </a:xfrm>
          <a:prstGeom prst="rect">
            <a:avLst/>
          </a:prstGeom>
          <a:noFill/>
          <a:ln>
            <a:noFill/>
          </a:ln>
        </p:spPr>
      </p:pic>
      <p:pic>
        <p:nvPicPr>
          <p:cNvPr descr="preencoded.png" id="235" name="Google Shape;235;p9"/>
          <p:cNvPicPr preferRelativeResize="0"/>
          <p:nvPr/>
        </p:nvPicPr>
        <p:blipFill rotWithShape="1">
          <a:blip r:embed="rId13">
            <a:alphaModFix/>
          </a:blip>
          <a:srcRect b="0" l="0" r="0" t="0"/>
          <a:stretch/>
        </p:blipFill>
        <p:spPr>
          <a:xfrm>
            <a:off x="533400" y="5524500"/>
            <a:ext cx="142875" cy="266700"/>
          </a:xfrm>
          <a:prstGeom prst="rect">
            <a:avLst/>
          </a:prstGeom>
          <a:noFill/>
          <a:ln>
            <a:noFill/>
          </a:ln>
        </p:spPr>
      </p:pic>
      <p:sp>
        <p:nvSpPr>
          <p:cNvPr id="236" name="Google Shape;236;p9"/>
          <p:cNvSpPr/>
          <p:nvPr/>
        </p:nvSpPr>
        <p:spPr>
          <a:xfrm>
            <a:off x="381000" y="381000"/>
            <a:ext cx="13716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External Audit Preparation Strategy</a:t>
            </a:r>
            <a:endParaRPr sz="2700">
              <a:solidFill>
                <a:schemeClr val="dk1"/>
              </a:solidFill>
              <a:latin typeface="Calibri"/>
              <a:ea typeface="Calibri"/>
              <a:cs typeface="Calibri"/>
              <a:sym typeface="Calibri"/>
            </a:endParaRPr>
          </a:p>
        </p:txBody>
      </p:sp>
      <p:sp>
        <p:nvSpPr>
          <p:cNvPr id="237" name="Google Shape;237;p9"/>
          <p:cNvSpPr/>
          <p:nvPr/>
        </p:nvSpPr>
        <p:spPr>
          <a:xfrm>
            <a:off x="381000" y="838200"/>
            <a:ext cx="11430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Key steps for certification success</a:t>
            </a:r>
            <a:endParaRPr sz="1500">
              <a:solidFill>
                <a:schemeClr val="dk1"/>
              </a:solidFill>
              <a:latin typeface="Calibri"/>
              <a:ea typeface="Calibri"/>
              <a:cs typeface="Calibri"/>
              <a:sym typeface="Calibri"/>
            </a:endParaRPr>
          </a:p>
        </p:txBody>
      </p:sp>
      <p:sp>
        <p:nvSpPr>
          <p:cNvPr id="238" name="Google Shape;238;p9"/>
          <p:cNvSpPr/>
          <p:nvPr/>
        </p:nvSpPr>
        <p:spPr>
          <a:xfrm>
            <a:off x="1333500" y="1676400"/>
            <a:ext cx="102870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Organizing Documentation</a:t>
            </a:r>
            <a:endParaRPr sz="1800">
              <a:solidFill>
                <a:schemeClr val="dk1"/>
              </a:solidFill>
              <a:latin typeface="Calibri"/>
              <a:ea typeface="Calibri"/>
              <a:cs typeface="Calibri"/>
              <a:sym typeface="Calibri"/>
            </a:endParaRPr>
          </a:p>
        </p:txBody>
      </p:sp>
      <p:sp>
        <p:nvSpPr>
          <p:cNvPr id="239" name="Google Shape;239;p9"/>
          <p:cNvSpPr/>
          <p:nvPr/>
        </p:nvSpPr>
        <p:spPr>
          <a:xfrm>
            <a:off x="1333500" y="2057400"/>
            <a:ext cx="102870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Ensure all documentation is organized and up-to-date. Conduct internal simulations to identify and address gaps before the external audit.</a:t>
            </a:r>
            <a:endParaRPr sz="1200">
              <a:solidFill>
                <a:schemeClr val="dk1"/>
              </a:solidFill>
              <a:latin typeface="Calibri"/>
              <a:ea typeface="Calibri"/>
              <a:cs typeface="Calibri"/>
              <a:sym typeface="Calibri"/>
            </a:endParaRPr>
          </a:p>
        </p:txBody>
      </p:sp>
      <p:sp>
        <p:nvSpPr>
          <p:cNvPr id="240" name="Google Shape;240;p9"/>
          <p:cNvSpPr/>
          <p:nvPr/>
        </p:nvSpPr>
        <p:spPr>
          <a:xfrm>
            <a:off x="1333500" y="3124200"/>
            <a:ext cx="10260657"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Preparing Employees</a:t>
            </a:r>
            <a:endParaRPr sz="1800">
              <a:solidFill>
                <a:schemeClr val="dk1"/>
              </a:solidFill>
              <a:latin typeface="Calibri"/>
              <a:ea typeface="Calibri"/>
              <a:cs typeface="Calibri"/>
              <a:sym typeface="Calibri"/>
            </a:endParaRPr>
          </a:p>
        </p:txBody>
      </p:sp>
      <p:sp>
        <p:nvSpPr>
          <p:cNvPr id="241" name="Google Shape;241;p9"/>
          <p:cNvSpPr/>
          <p:nvPr/>
        </p:nvSpPr>
        <p:spPr>
          <a:xfrm>
            <a:off x="1333500" y="3505200"/>
            <a:ext cx="12312789"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Educate employees on their responsibilities during an audit. Ensure they understand the importance of cooperation and transparency.</a:t>
            </a:r>
            <a:endParaRPr sz="1200">
              <a:solidFill>
                <a:schemeClr val="dk1"/>
              </a:solidFill>
              <a:latin typeface="Calibri"/>
              <a:ea typeface="Calibri"/>
              <a:cs typeface="Calibri"/>
              <a:sym typeface="Calibri"/>
            </a:endParaRPr>
          </a:p>
        </p:txBody>
      </p:sp>
      <p:sp>
        <p:nvSpPr>
          <p:cNvPr id="242" name="Google Shape;242;p9"/>
          <p:cNvSpPr/>
          <p:nvPr/>
        </p:nvSpPr>
        <p:spPr>
          <a:xfrm>
            <a:off x="1333500" y="4343400"/>
            <a:ext cx="9379446"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Facilitating Audit Conduct</a:t>
            </a:r>
            <a:endParaRPr sz="1800">
              <a:solidFill>
                <a:schemeClr val="dk1"/>
              </a:solidFill>
              <a:latin typeface="Calibri"/>
              <a:ea typeface="Calibri"/>
              <a:cs typeface="Calibri"/>
              <a:sym typeface="Calibri"/>
            </a:endParaRPr>
          </a:p>
        </p:txBody>
      </p:sp>
      <p:sp>
        <p:nvSpPr>
          <p:cNvPr id="243" name="Google Shape;243;p9"/>
          <p:cNvSpPr/>
          <p:nvPr/>
        </p:nvSpPr>
        <p:spPr>
          <a:xfrm>
            <a:off x="1333500" y="4724400"/>
            <a:ext cx="1125533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Establish clear processes for providing information to auditors. Ensure the audit is conducted professionally and efficiently.</a:t>
            </a:r>
            <a:endParaRPr sz="1200">
              <a:solidFill>
                <a:schemeClr val="dk1"/>
              </a:solidFill>
              <a:latin typeface="Calibri"/>
              <a:ea typeface="Calibri"/>
              <a:cs typeface="Calibri"/>
              <a:sym typeface="Calibri"/>
            </a:endParaRPr>
          </a:p>
        </p:txBody>
      </p:sp>
      <p:sp>
        <p:nvSpPr>
          <p:cNvPr id="244" name="Google Shape;244;p9"/>
          <p:cNvSpPr/>
          <p:nvPr/>
        </p:nvSpPr>
        <p:spPr>
          <a:xfrm>
            <a:off x="790575" y="5524500"/>
            <a:ext cx="845248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F766E"/>
              </a:buClr>
              <a:buSzPts val="1200"/>
              <a:buFont typeface="Arial"/>
              <a:buNone/>
            </a:pPr>
            <a:r>
              <a:rPr lang="en-US" sz="1200">
                <a:solidFill>
                  <a:srgbClr val="0F766E"/>
                </a:solidFill>
                <a:latin typeface="Arial"/>
                <a:ea typeface="Arial"/>
                <a:cs typeface="Arial"/>
                <a:sym typeface="Arial"/>
              </a:rPr>
              <a:t>A well-prepared organization can reduce audit pressure and improve certification outcomes.</a:t>
            </a:r>
            <a:endParaRPr sz="1200">
              <a:solidFill>
                <a:schemeClr val="dk1"/>
              </a:solidFill>
              <a:latin typeface="Calibri"/>
              <a:ea typeface="Calibri"/>
              <a:cs typeface="Calibri"/>
              <a:sym typeface="Calibri"/>
            </a:endParaRPr>
          </a:p>
        </p:txBody>
      </p:sp>
      <p:sp>
        <p:nvSpPr>
          <p:cNvPr id="245" name="Google Shape;245;p9"/>
          <p:cNvSpPr/>
          <p:nvPr/>
        </p:nvSpPr>
        <p:spPr>
          <a:xfrm>
            <a:off x="8771930" y="6515100"/>
            <a:ext cx="3829764"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7/23</a:t>
            </a:r>
            <a:endParaRPr sz="105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descr="preencoded.png" id="251" name="Google Shape;251;p1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252" name="Google Shape;252;p10"/>
          <p:cNvPicPr preferRelativeResize="0"/>
          <p:nvPr/>
        </p:nvPicPr>
        <p:blipFill rotWithShape="1">
          <a:blip r:embed="rId4">
            <a:alphaModFix/>
          </a:blip>
          <a:srcRect b="0" l="0" r="0" t="0"/>
          <a:stretch/>
        </p:blipFill>
        <p:spPr>
          <a:xfrm>
            <a:off x="381000" y="1409700"/>
            <a:ext cx="3505200" cy="3733800"/>
          </a:xfrm>
          <a:prstGeom prst="rect">
            <a:avLst/>
          </a:prstGeom>
          <a:noFill/>
          <a:ln>
            <a:noFill/>
          </a:ln>
        </p:spPr>
      </p:pic>
      <p:pic>
        <p:nvPicPr>
          <p:cNvPr descr="preencoded.png" id="253" name="Google Shape;253;p10"/>
          <p:cNvPicPr preferRelativeResize="0"/>
          <p:nvPr/>
        </p:nvPicPr>
        <p:blipFill rotWithShape="1">
          <a:blip r:embed="rId5">
            <a:alphaModFix/>
          </a:blip>
          <a:srcRect b="0" l="0" r="0" t="0"/>
          <a:stretch/>
        </p:blipFill>
        <p:spPr>
          <a:xfrm>
            <a:off x="609600" y="3695700"/>
            <a:ext cx="3048000" cy="1219200"/>
          </a:xfrm>
          <a:prstGeom prst="rect">
            <a:avLst/>
          </a:prstGeom>
          <a:noFill/>
          <a:ln>
            <a:noFill/>
          </a:ln>
        </p:spPr>
      </p:pic>
      <p:pic>
        <p:nvPicPr>
          <p:cNvPr descr="preencoded.png" id="254" name="Google Shape;254;p10"/>
          <p:cNvPicPr preferRelativeResize="0"/>
          <p:nvPr/>
        </p:nvPicPr>
        <p:blipFill rotWithShape="1">
          <a:blip r:embed="rId6">
            <a:alphaModFix/>
          </a:blip>
          <a:srcRect b="0" l="0" r="0" t="0"/>
          <a:stretch/>
        </p:blipFill>
        <p:spPr>
          <a:xfrm>
            <a:off x="762000" y="3876675"/>
            <a:ext cx="114300" cy="152400"/>
          </a:xfrm>
          <a:prstGeom prst="rect">
            <a:avLst/>
          </a:prstGeom>
          <a:noFill/>
          <a:ln>
            <a:noFill/>
          </a:ln>
        </p:spPr>
      </p:pic>
      <p:pic>
        <p:nvPicPr>
          <p:cNvPr descr="preencoded.png" id="255" name="Google Shape;255;p10"/>
          <p:cNvPicPr preferRelativeResize="0"/>
          <p:nvPr/>
        </p:nvPicPr>
        <p:blipFill rotWithShape="1">
          <a:blip r:embed="rId7">
            <a:alphaModFix/>
          </a:blip>
          <a:srcRect b="0" l="0" r="0" t="0"/>
          <a:stretch/>
        </p:blipFill>
        <p:spPr>
          <a:xfrm>
            <a:off x="4191000" y="1409700"/>
            <a:ext cx="7620000" cy="1143000"/>
          </a:xfrm>
          <a:prstGeom prst="rect">
            <a:avLst/>
          </a:prstGeom>
          <a:noFill/>
          <a:ln>
            <a:noFill/>
          </a:ln>
        </p:spPr>
      </p:pic>
      <p:pic>
        <p:nvPicPr>
          <p:cNvPr descr="preencoded.png" id="256" name="Google Shape;256;p10"/>
          <p:cNvPicPr preferRelativeResize="0"/>
          <p:nvPr/>
        </p:nvPicPr>
        <p:blipFill rotWithShape="1">
          <a:blip r:embed="rId8">
            <a:alphaModFix/>
          </a:blip>
          <a:srcRect b="0" l="0" r="0" t="0"/>
          <a:stretch/>
        </p:blipFill>
        <p:spPr>
          <a:xfrm>
            <a:off x="4381500" y="1600200"/>
            <a:ext cx="400050" cy="495300"/>
          </a:xfrm>
          <a:prstGeom prst="rect">
            <a:avLst/>
          </a:prstGeom>
          <a:noFill/>
          <a:ln>
            <a:noFill/>
          </a:ln>
        </p:spPr>
      </p:pic>
      <p:pic>
        <p:nvPicPr>
          <p:cNvPr descr="preencoded.png" id="257" name="Google Shape;257;p10"/>
          <p:cNvPicPr preferRelativeResize="0"/>
          <p:nvPr/>
        </p:nvPicPr>
        <p:blipFill rotWithShape="1">
          <a:blip r:embed="rId9">
            <a:alphaModFix/>
          </a:blip>
          <a:srcRect b="0" l="0" r="0" t="0"/>
          <a:stretch/>
        </p:blipFill>
        <p:spPr>
          <a:xfrm>
            <a:off x="4495800" y="1714500"/>
            <a:ext cx="171450" cy="266700"/>
          </a:xfrm>
          <a:prstGeom prst="rect">
            <a:avLst/>
          </a:prstGeom>
          <a:noFill/>
          <a:ln>
            <a:noFill/>
          </a:ln>
        </p:spPr>
      </p:pic>
      <p:pic>
        <p:nvPicPr>
          <p:cNvPr descr="preencoded.png" id="258" name="Google Shape;258;p10"/>
          <p:cNvPicPr preferRelativeResize="0"/>
          <p:nvPr/>
        </p:nvPicPr>
        <p:blipFill rotWithShape="1">
          <a:blip r:embed="rId7">
            <a:alphaModFix/>
          </a:blip>
          <a:srcRect b="0" l="0" r="0" t="0"/>
          <a:stretch/>
        </p:blipFill>
        <p:spPr>
          <a:xfrm>
            <a:off x="4191000" y="2705100"/>
            <a:ext cx="7620000" cy="1143000"/>
          </a:xfrm>
          <a:prstGeom prst="rect">
            <a:avLst/>
          </a:prstGeom>
          <a:noFill/>
          <a:ln>
            <a:noFill/>
          </a:ln>
        </p:spPr>
      </p:pic>
      <p:pic>
        <p:nvPicPr>
          <p:cNvPr descr="preencoded.png" id="259" name="Google Shape;259;p10"/>
          <p:cNvPicPr preferRelativeResize="0"/>
          <p:nvPr/>
        </p:nvPicPr>
        <p:blipFill rotWithShape="1">
          <a:blip r:embed="rId10">
            <a:alphaModFix/>
          </a:blip>
          <a:srcRect b="0" l="0" r="0" t="0"/>
          <a:stretch/>
        </p:blipFill>
        <p:spPr>
          <a:xfrm>
            <a:off x="4381500" y="2895600"/>
            <a:ext cx="400050" cy="495300"/>
          </a:xfrm>
          <a:prstGeom prst="rect">
            <a:avLst/>
          </a:prstGeom>
          <a:noFill/>
          <a:ln>
            <a:noFill/>
          </a:ln>
        </p:spPr>
      </p:pic>
      <p:pic>
        <p:nvPicPr>
          <p:cNvPr descr="preencoded.png" id="260" name="Google Shape;260;p10"/>
          <p:cNvPicPr preferRelativeResize="0"/>
          <p:nvPr/>
        </p:nvPicPr>
        <p:blipFill rotWithShape="1">
          <a:blip r:embed="rId11">
            <a:alphaModFix/>
          </a:blip>
          <a:srcRect b="0" l="0" r="0" t="0"/>
          <a:stretch/>
        </p:blipFill>
        <p:spPr>
          <a:xfrm>
            <a:off x="4495800" y="3009900"/>
            <a:ext cx="171450" cy="266700"/>
          </a:xfrm>
          <a:prstGeom prst="rect">
            <a:avLst/>
          </a:prstGeom>
          <a:noFill/>
          <a:ln>
            <a:noFill/>
          </a:ln>
        </p:spPr>
      </p:pic>
      <p:pic>
        <p:nvPicPr>
          <p:cNvPr descr="preencoded.png" id="261" name="Google Shape;261;p10"/>
          <p:cNvPicPr preferRelativeResize="0"/>
          <p:nvPr/>
        </p:nvPicPr>
        <p:blipFill rotWithShape="1">
          <a:blip r:embed="rId12">
            <a:alphaModFix/>
          </a:blip>
          <a:srcRect b="0" l="0" r="0" t="0"/>
          <a:stretch/>
        </p:blipFill>
        <p:spPr>
          <a:xfrm>
            <a:off x="4191000" y="4000500"/>
            <a:ext cx="7620000" cy="1143000"/>
          </a:xfrm>
          <a:prstGeom prst="rect">
            <a:avLst/>
          </a:prstGeom>
          <a:noFill/>
          <a:ln>
            <a:noFill/>
          </a:ln>
        </p:spPr>
      </p:pic>
      <p:pic>
        <p:nvPicPr>
          <p:cNvPr descr="preencoded.png" id="262" name="Google Shape;262;p10"/>
          <p:cNvPicPr preferRelativeResize="0"/>
          <p:nvPr/>
        </p:nvPicPr>
        <p:blipFill rotWithShape="1">
          <a:blip r:embed="rId13">
            <a:alphaModFix/>
          </a:blip>
          <a:srcRect b="0" l="0" r="0" t="0"/>
          <a:stretch/>
        </p:blipFill>
        <p:spPr>
          <a:xfrm>
            <a:off x="4381500" y="4191000"/>
            <a:ext cx="371475" cy="495300"/>
          </a:xfrm>
          <a:prstGeom prst="rect">
            <a:avLst/>
          </a:prstGeom>
          <a:noFill/>
          <a:ln>
            <a:noFill/>
          </a:ln>
        </p:spPr>
      </p:pic>
      <p:pic>
        <p:nvPicPr>
          <p:cNvPr descr="preencoded.png" id="263" name="Google Shape;263;p10"/>
          <p:cNvPicPr preferRelativeResize="0"/>
          <p:nvPr/>
        </p:nvPicPr>
        <p:blipFill rotWithShape="1">
          <a:blip r:embed="rId14">
            <a:alphaModFix/>
          </a:blip>
          <a:srcRect b="0" l="0" r="0" t="0"/>
          <a:stretch/>
        </p:blipFill>
        <p:spPr>
          <a:xfrm>
            <a:off x="4495800" y="4305300"/>
            <a:ext cx="142875" cy="266700"/>
          </a:xfrm>
          <a:prstGeom prst="rect">
            <a:avLst/>
          </a:prstGeom>
          <a:noFill/>
          <a:ln>
            <a:noFill/>
          </a:ln>
        </p:spPr>
      </p:pic>
      <p:sp>
        <p:nvSpPr>
          <p:cNvPr id="264" name="Google Shape;264;p10"/>
          <p:cNvSpPr/>
          <p:nvPr/>
        </p:nvSpPr>
        <p:spPr>
          <a:xfrm>
            <a:off x="381000" y="381000"/>
            <a:ext cx="11430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Managing External Auditors</a:t>
            </a:r>
            <a:endParaRPr sz="2700">
              <a:solidFill>
                <a:schemeClr val="dk1"/>
              </a:solidFill>
              <a:latin typeface="Calibri"/>
              <a:ea typeface="Calibri"/>
              <a:cs typeface="Calibri"/>
              <a:sym typeface="Calibri"/>
            </a:endParaRPr>
          </a:p>
        </p:txBody>
      </p:sp>
      <p:sp>
        <p:nvSpPr>
          <p:cNvPr id="265" name="Google Shape;265;p10"/>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Ensuring a professional audit process during certification audits</a:t>
            </a:r>
            <a:endParaRPr sz="1500">
              <a:solidFill>
                <a:schemeClr val="dk1"/>
              </a:solidFill>
              <a:latin typeface="Calibri"/>
              <a:ea typeface="Calibri"/>
              <a:cs typeface="Calibri"/>
              <a:sym typeface="Calibri"/>
            </a:endParaRPr>
          </a:p>
        </p:txBody>
      </p:sp>
      <p:sp>
        <p:nvSpPr>
          <p:cNvPr id="266" name="Google Shape;266;p10"/>
          <p:cNvSpPr/>
          <p:nvPr/>
        </p:nvSpPr>
        <p:spPr>
          <a:xfrm>
            <a:off x="609600" y="1638300"/>
            <a:ext cx="3048000" cy="609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The Lead Implementer's Role</a:t>
            </a:r>
            <a:endParaRPr sz="1800">
              <a:solidFill>
                <a:schemeClr val="dk1"/>
              </a:solidFill>
              <a:latin typeface="Calibri"/>
              <a:ea typeface="Calibri"/>
              <a:cs typeface="Calibri"/>
              <a:sym typeface="Calibri"/>
            </a:endParaRPr>
          </a:p>
        </p:txBody>
      </p:sp>
      <p:sp>
        <p:nvSpPr>
          <p:cNvPr id="267" name="Google Shape;267;p10"/>
          <p:cNvSpPr/>
          <p:nvPr/>
        </p:nvSpPr>
        <p:spPr>
          <a:xfrm>
            <a:off x="609600" y="2400300"/>
            <a:ext cx="3048000" cy="1143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As the manager of the audit program, the Lead Implementer must facilitate external certification audits efficiently while maintaining professional standards.</a:t>
            </a:r>
            <a:endParaRPr sz="1200">
              <a:solidFill>
                <a:schemeClr val="dk1"/>
              </a:solidFill>
              <a:latin typeface="Calibri"/>
              <a:ea typeface="Calibri"/>
              <a:cs typeface="Calibri"/>
              <a:sym typeface="Calibri"/>
            </a:endParaRPr>
          </a:p>
        </p:txBody>
      </p:sp>
      <p:sp>
        <p:nvSpPr>
          <p:cNvPr id="268" name="Google Shape;268;p10"/>
          <p:cNvSpPr/>
          <p:nvPr/>
        </p:nvSpPr>
        <p:spPr>
          <a:xfrm>
            <a:off x="952500" y="3848100"/>
            <a:ext cx="2743200" cy="9144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A16207"/>
              </a:buClr>
              <a:buSzPts val="1200"/>
              <a:buFont typeface="Arial"/>
              <a:buNone/>
            </a:pPr>
            <a:r>
              <a:rPr lang="en-US" sz="1200">
                <a:solidFill>
                  <a:srgbClr val="A16207"/>
                </a:solidFill>
                <a:latin typeface="Arial"/>
                <a:ea typeface="Arial"/>
                <a:cs typeface="Arial"/>
                <a:sym typeface="Arial"/>
              </a:rPr>
              <a:t>External audits can be high-pressure situations, but meticulous preparation ensures a seamless experience.</a:t>
            </a:r>
            <a:endParaRPr sz="1200">
              <a:solidFill>
                <a:schemeClr val="dk1"/>
              </a:solidFill>
              <a:latin typeface="Calibri"/>
              <a:ea typeface="Calibri"/>
              <a:cs typeface="Calibri"/>
              <a:sym typeface="Calibri"/>
            </a:endParaRPr>
          </a:p>
        </p:txBody>
      </p:sp>
      <p:sp>
        <p:nvSpPr>
          <p:cNvPr id="269" name="Google Shape;269;p10"/>
          <p:cNvSpPr/>
          <p:nvPr/>
        </p:nvSpPr>
        <p:spPr>
          <a:xfrm>
            <a:off x="4933950" y="1600200"/>
            <a:ext cx="802386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Providing Efficient Information Access</a:t>
            </a:r>
            <a:endParaRPr sz="1500">
              <a:solidFill>
                <a:schemeClr val="dk1"/>
              </a:solidFill>
              <a:latin typeface="Calibri"/>
              <a:ea typeface="Calibri"/>
              <a:cs typeface="Calibri"/>
              <a:sym typeface="Calibri"/>
            </a:endParaRPr>
          </a:p>
        </p:txBody>
      </p:sp>
      <p:sp>
        <p:nvSpPr>
          <p:cNvPr id="270" name="Google Shape;270;p10"/>
          <p:cNvSpPr/>
          <p:nvPr/>
        </p:nvSpPr>
        <p:spPr>
          <a:xfrm>
            <a:off x="4933950" y="1905000"/>
            <a:ext cx="668655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Ensure auditors have timely access to all required documentation while maintaining information security. Establish clear protocols for document retrieval and review.</a:t>
            </a:r>
            <a:endParaRPr sz="1200">
              <a:solidFill>
                <a:schemeClr val="dk1"/>
              </a:solidFill>
              <a:latin typeface="Calibri"/>
              <a:ea typeface="Calibri"/>
              <a:cs typeface="Calibri"/>
              <a:sym typeface="Calibri"/>
            </a:endParaRPr>
          </a:p>
        </p:txBody>
      </p:sp>
      <p:sp>
        <p:nvSpPr>
          <p:cNvPr id="271" name="Google Shape;271;p10"/>
          <p:cNvSpPr/>
          <p:nvPr/>
        </p:nvSpPr>
        <p:spPr>
          <a:xfrm>
            <a:off x="4933950" y="2895600"/>
            <a:ext cx="668655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Managing Auditor Conduct</a:t>
            </a:r>
            <a:endParaRPr sz="1500">
              <a:solidFill>
                <a:schemeClr val="dk1"/>
              </a:solidFill>
              <a:latin typeface="Calibri"/>
              <a:ea typeface="Calibri"/>
              <a:cs typeface="Calibri"/>
              <a:sym typeface="Calibri"/>
            </a:endParaRPr>
          </a:p>
        </p:txBody>
      </p:sp>
      <p:sp>
        <p:nvSpPr>
          <p:cNvPr id="272" name="Google Shape;272;p10"/>
          <p:cNvSpPr/>
          <p:nvPr/>
        </p:nvSpPr>
        <p:spPr>
          <a:xfrm>
            <a:off x="4933950" y="3200400"/>
            <a:ext cx="668655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Facilitate professional audit conduct by setting expectations, providing clear communication channels, and ensuring auditors understand organizational processes.</a:t>
            </a:r>
            <a:endParaRPr sz="1200">
              <a:solidFill>
                <a:schemeClr val="dk1"/>
              </a:solidFill>
              <a:latin typeface="Calibri"/>
              <a:ea typeface="Calibri"/>
              <a:cs typeface="Calibri"/>
              <a:sym typeface="Calibri"/>
            </a:endParaRPr>
          </a:p>
        </p:txBody>
      </p:sp>
      <p:sp>
        <p:nvSpPr>
          <p:cNvPr id="273" name="Google Shape;273;p10"/>
          <p:cNvSpPr/>
          <p:nvPr/>
        </p:nvSpPr>
        <p:spPr>
          <a:xfrm>
            <a:off x="4905375" y="4191000"/>
            <a:ext cx="671512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Coordinating Audit Activities</a:t>
            </a:r>
            <a:endParaRPr sz="1500">
              <a:solidFill>
                <a:schemeClr val="dk1"/>
              </a:solidFill>
              <a:latin typeface="Calibri"/>
              <a:ea typeface="Calibri"/>
              <a:cs typeface="Calibri"/>
              <a:sym typeface="Calibri"/>
            </a:endParaRPr>
          </a:p>
        </p:txBody>
      </p:sp>
      <p:sp>
        <p:nvSpPr>
          <p:cNvPr id="274" name="Google Shape;274;p10"/>
          <p:cNvSpPr/>
          <p:nvPr/>
        </p:nvSpPr>
        <p:spPr>
          <a:xfrm>
            <a:off x="4905375" y="4495800"/>
            <a:ext cx="6715125"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Schedule audit sessions, allocate resources, and coordinate access to personnel and facilities to ensure audit efficiency and effectiveness.</a:t>
            </a:r>
            <a:endParaRPr sz="1200">
              <a:solidFill>
                <a:schemeClr val="dk1"/>
              </a:solidFill>
              <a:latin typeface="Calibri"/>
              <a:ea typeface="Calibri"/>
              <a:cs typeface="Calibri"/>
              <a:sym typeface="Calibri"/>
            </a:endParaRPr>
          </a:p>
        </p:txBody>
      </p:sp>
      <p:sp>
        <p:nvSpPr>
          <p:cNvPr id="275" name="Google Shape;275;p10"/>
          <p:cNvSpPr/>
          <p:nvPr/>
        </p:nvSpPr>
        <p:spPr>
          <a:xfrm>
            <a:off x="8771930" y="6515100"/>
            <a:ext cx="3829764"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8/23</a:t>
            </a:r>
            <a:endParaRPr sz="10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descr="preencoded.png" id="281" name="Google Shape;281;p1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282" name="Google Shape;282;p11"/>
          <p:cNvPicPr preferRelativeResize="0"/>
          <p:nvPr/>
        </p:nvPicPr>
        <p:blipFill rotWithShape="1">
          <a:blip r:embed="rId4">
            <a:alphaModFix/>
          </a:blip>
          <a:srcRect b="0" l="0" r="0" t="0"/>
          <a:stretch/>
        </p:blipFill>
        <p:spPr>
          <a:xfrm>
            <a:off x="381000" y="1333500"/>
            <a:ext cx="11430000" cy="762000"/>
          </a:xfrm>
          <a:prstGeom prst="rect">
            <a:avLst/>
          </a:prstGeom>
          <a:noFill/>
          <a:ln>
            <a:noFill/>
          </a:ln>
        </p:spPr>
      </p:pic>
      <p:pic>
        <p:nvPicPr>
          <p:cNvPr descr="preencoded.png" id="283" name="Google Shape;283;p11"/>
          <p:cNvPicPr preferRelativeResize="0"/>
          <p:nvPr/>
        </p:nvPicPr>
        <p:blipFill rotWithShape="1">
          <a:blip r:embed="rId5">
            <a:alphaModFix/>
          </a:blip>
          <a:srcRect b="0" l="0" r="0" t="0"/>
          <a:stretch/>
        </p:blipFill>
        <p:spPr>
          <a:xfrm>
            <a:off x="533400" y="2400300"/>
            <a:ext cx="2438400" cy="1752600"/>
          </a:xfrm>
          <a:prstGeom prst="rect">
            <a:avLst/>
          </a:prstGeom>
          <a:noFill/>
          <a:ln>
            <a:noFill/>
          </a:ln>
        </p:spPr>
      </p:pic>
      <p:pic>
        <p:nvPicPr>
          <p:cNvPr descr="preencoded.png" id="284" name="Google Shape;284;p11"/>
          <p:cNvPicPr preferRelativeResize="0"/>
          <p:nvPr/>
        </p:nvPicPr>
        <p:blipFill rotWithShape="1">
          <a:blip r:embed="rId6">
            <a:alphaModFix/>
          </a:blip>
          <a:srcRect b="0" l="0" r="0" t="0"/>
          <a:stretch/>
        </p:blipFill>
        <p:spPr>
          <a:xfrm>
            <a:off x="1524000" y="2590800"/>
            <a:ext cx="457200" cy="457200"/>
          </a:xfrm>
          <a:prstGeom prst="rect">
            <a:avLst/>
          </a:prstGeom>
          <a:noFill/>
          <a:ln>
            <a:noFill/>
          </a:ln>
        </p:spPr>
      </p:pic>
      <p:pic>
        <p:nvPicPr>
          <p:cNvPr descr="preencoded.png" id="285" name="Google Shape;285;p11"/>
          <p:cNvPicPr preferRelativeResize="0"/>
          <p:nvPr/>
        </p:nvPicPr>
        <p:blipFill rotWithShape="1">
          <a:blip r:embed="rId7">
            <a:alphaModFix/>
          </a:blip>
          <a:srcRect b="0" l="0" r="0" t="0"/>
          <a:stretch/>
        </p:blipFill>
        <p:spPr>
          <a:xfrm>
            <a:off x="1666875" y="2667000"/>
            <a:ext cx="171450" cy="304800"/>
          </a:xfrm>
          <a:prstGeom prst="rect">
            <a:avLst/>
          </a:prstGeom>
          <a:noFill/>
          <a:ln>
            <a:noFill/>
          </a:ln>
        </p:spPr>
      </p:pic>
      <p:pic>
        <p:nvPicPr>
          <p:cNvPr descr="preencoded.png" id="286" name="Google Shape;286;p11"/>
          <p:cNvPicPr preferRelativeResize="0"/>
          <p:nvPr/>
        </p:nvPicPr>
        <p:blipFill rotWithShape="1">
          <a:blip r:embed="rId8">
            <a:alphaModFix/>
          </a:blip>
          <a:srcRect b="0" l="0" r="0" t="0"/>
          <a:stretch/>
        </p:blipFill>
        <p:spPr>
          <a:xfrm>
            <a:off x="11739563" y="3152775"/>
            <a:ext cx="142875" cy="228600"/>
          </a:xfrm>
          <a:prstGeom prst="rect">
            <a:avLst/>
          </a:prstGeom>
          <a:noFill/>
          <a:ln>
            <a:noFill/>
          </a:ln>
        </p:spPr>
      </p:pic>
      <p:pic>
        <p:nvPicPr>
          <p:cNvPr descr="preencoded.png" id="287" name="Google Shape;287;p11"/>
          <p:cNvPicPr preferRelativeResize="0"/>
          <p:nvPr/>
        </p:nvPicPr>
        <p:blipFill rotWithShape="1">
          <a:blip r:embed="rId5">
            <a:alphaModFix/>
          </a:blip>
          <a:srcRect b="0" l="0" r="0" t="0"/>
          <a:stretch/>
        </p:blipFill>
        <p:spPr>
          <a:xfrm>
            <a:off x="3429000" y="2400300"/>
            <a:ext cx="2438400" cy="1752600"/>
          </a:xfrm>
          <a:prstGeom prst="rect">
            <a:avLst/>
          </a:prstGeom>
          <a:noFill/>
          <a:ln>
            <a:noFill/>
          </a:ln>
        </p:spPr>
      </p:pic>
      <p:pic>
        <p:nvPicPr>
          <p:cNvPr descr="preencoded.png" id="288" name="Google Shape;288;p11"/>
          <p:cNvPicPr preferRelativeResize="0"/>
          <p:nvPr/>
        </p:nvPicPr>
        <p:blipFill rotWithShape="1">
          <a:blip r:embed="rId9">
            <a:alphaModFix/>
          </a:blip>
          <a:srcRect b="0" l="0" r="0" t="0"/>
          <a:stretch/>
        </p:blipFill>
        <p:spPr>
          <a:xfrm>
            <a:off x="4419600" y="2590800"/>
            <a:ext cx="457200" cy="457200"/>
          </a:xfrm>
          <a:prstGeom prst="rect">
            <a:avLst/>
          </a:prstGeom>
          <a:noFill/>
          <a:ln>
            <a:noFill/>
          </a:ln>
        </p:spPr>
      </p:pic>
      <p:pic>
        <p:nvPicPr>
          <p:cNvPr descr="preencoded.png" id="289" name="Google Shape;289;p11"/>
          <p:cNvPicPr preferRelativeResize="0"/>
          <p:nvPr/>
        </p:nvPicPr>
        <p:blipFill rotWithShape="1">
          <a:blip r:embed="rId10">
            <a:alphaModFix/>
          </a:blip>
          <a:srcRect b="0" l="0" r="0" t="0"/>
          <a:stretch/>
        </p:blipFill>
        <p:spPr>
          <a:xfrm>
            <a:off x="4505325" y="2667000"/>
            <a:ext cx="285750" cy="304800"/>
          </a:xfrm>
          <a:prstGeom prst="rect">
            <a:avLst/>
          </a:prstGeom>
          <a:noFill/>
          <a:ln>
            <a:noFill/>
          </a:ln>
        </p:spPr>
      </p:pic>
      <p:pic>
        <p:nvPicPr>
          <p:cNvPr descr="preencoded.png" id="290" name="Google Shape;290;p11"/>
          <p:cNvPicPr preferRelativeResize="0"/>
          <p:nvPr/>
        </p:nvPicPr>
        <p:blipFill rotWithShape="1">
          <a:blip r:embed="rId8">
            <a:alphaModFix/>
          </a:blip>
          <a:srcRect b="0" l="0" r="0" t="0"/>
          <a:stretch/>
        </p:blipFill>
        <p:spPr>
          <a:xfrm>
            <a:off x="11739563" y="3152775"/>
            <a:ext cx="142875" cy="228600"/>
          </a:xfrm>
          <a:prstGeom prst="rect">
            <a:avLst/>
          </a:prstGeom>
          <a:noFill/>
          <a:ln>
            <a:noFill/>
          </a:ln>
        </p:spPr>
      </p:pic>
      <p:pic>
        <p:nvPicPr>
          <p:cNvPr descr="preencoded.png" id="291" name="Google Shape;291;p11"/>
          <p:cNvPicPr preferRelativeResize="0"/>
          <p:nvPr/>
        </p:nvPicPr>
        <p:blipFill rotWithShape="1">
          <a:blip r:embed="rId5">
            <a:alphaModFix/>
          </a:blip>
          <a:srcRect b="0" l="0" r="0" t="0"/>
          <a:stretch/>
        </p:blipFill>
        <p:spPr>
          <a:xfrm>
            <a:off x="6324600" y="2400300"/>
            <a:ext cx="2438400" cy="1752600"/>
          </a:xfrm>
          <a:prstGeom prst="rect">
            <a:avLst/>
          </a:prstGeom>
          <a:noFill/>
          <a:ln>
            <a:noFill/>
          </a:ln>
        </p:spPr>
      </p:pic>
      <p:pic>
        <p:nvPicPr>
          <p:cNvPr descr="preencoded.png" id="292" name="Google Shape;292;p11"/>
          <p:cNvPicPr preferRelativeResize="0"/>
          <p:nvPr/>
        </p:nvPicPr>
        <p:blipFill rotWithShape="1">
          <a:blip r:embed="rId11">
            <a:alphaModFix/>
          </a:blip>
          <a:srcRect b="0" l="0" r="0" t="0"/>
          <a:stretch/>
        </p:blipFill>
        <p:spPr>
          <a:xfrm>
            <a:off x="7315200" y="2590800"/>
            <a:ext cx="457200" cy="457200"/>
          </a:xfrm>
          <a:prstGeom prst="rect">
            <a:avLst/>
          </a:prstGeom>
          <a:noFill/>
          <a:ln>
            <a:noFill/>
          </a:ln>
        </p:spPr>
      </p:pic>
      <p:pic>
        <p:nvPicPr>
          <p:cNvPr descr="preencoded.png" id="293" name="Google Shape;293;p11"/>
          <p:cNvPicPr preferRelativeResize="0"/>
          <p:nvPr/>
        </p:nvPicPr>
        <p:blipFill rotWithShape="1">
          <a:blip r:embed="rId12">
            <a:alphaModFix/>
          </a:blip>
          <a:srcRect b="0" l="0" r="0" t="0"/>
          <a:stretch/>
        </p:blipFill>
        <p:spPr>
          <a:xfrm>
            <a:off x="7429500" y="2667000"/>
            <a:ext cx="228600" cy="304800"/>
          </a:xfrm>
          <a:prstGeom prst="rect">
            <a:avLst/>
          </a:prstGeom>
          <a:noFill/>
          <a:ln>
            <a:noFill/>
          </a:ln>
        </p:spPr>
      </p:pic>
      <p:pic>
        <p:nvPicPr>
          <p:cNvPr descr="preencoded.png" id="294" name="Google Shape;294;p11"/>
          <p:cNvPicPr preferRelativeResize="0"/>
          <p:nvPr/>
        </p:nvPicPr>
        <p:blipFill rotWithShape="1">
          <a:blip r:embed="rId8">
            <a:alphaModFix/>
          </a:blip>
          <a:srcRect b="0" l="0" r="0" t="0"/>
          <a:stretch/>
        </p:blipFill>
        <p:spPr>
          <a:xfrm>
            <a:off x="11739563" y="3152775"/>
            <a:ext cx="142875" cy="228600"/>
          </a:xfrm>
          <a:prstGeom prst="rect">
            <a:avLst/>
          </a:prstGeom>
          <a:noFill/>
          <a:ln>
            <a:noFill/>
          </a:ln>
        </p:spPr>
      </p:pic>
      <p:pic>
        <p:nvPicPr>
          <p:cNvPr descr="preencoded.png" id="295" name="Google Shape;295;p11"/>
          <p:cNvPicPr preferRelativeResize="0"/>
          <p:nvPr/>
        </p:nvPicPr>
        <p:blipFill rotWithShape="1">
          <a:blip r:embed="rId5">
            <a:alphaModFix/>
          </a:blip>
          <a:srcRect b="0" l="0" r="0" t="0"/>
          <a:stretch/>
        </p:blipFill>
        <p:spPr>
          <a:xfrm>
            <a:off x="9220200" y="2400300"/>
            <a:ext cx="2438400" cy="1752600"/>
          </a:xfrm>
          <a:prstGeom prst="rect">
            <a:avLst/>
          </a:prstGeom>
          <a:noFill/>
          <a:ln>
            <a:noFill/>
          </a:ln>
        </p:spPr>
      </p:pic>
      <p:pic>
        <p:nvPicPr>
          <p:cNvPr descr="preencoded.png" id="296" name="Google Shape;296;p11"/>
          <p:cNvPicPr preferRelativeResize="0"/>
          <p:nvPr/>
        </p:nvPicPr>
        <p:blipFill rotWithShape="1">
          <a:blip r:embed="rId13">
            <a:alphaModFix/>
          </a:blip>
          <a:srcRect b="0" l="0" r="0" t="0"/>
          <a:stretch/>
        </p:blipFill>
        <p:spPr>
          <a:xfrm>
            <a:off x="10210800" y="2590800"/>
            <a:ext cx="457200" cy="457200"/>
          </a:xfrm>
          <a:prstGeom prst="rect">
            <a:avLst/>
          </a:prstGeom>
          <a:noFill/>
          <a:ln>
            <a:noFill/>
          </a:ln>
        </p:spPr>
      </p:pic>
      <p:pic>
        <p:nvPicPr>
          <p:cNvPr descr="preencoded.png" id="297" name="Google Shape;297;p11"/>
          <p:cNvPicPr preferRelativeResize="0"/>
          <p:nvPr/>
        </p:nvPicPr>
        <p:blipFill rotWithShape="1">
          <a:blip r:embed="rId14">
            <a:alphaModFix/>
          </a:blip>
          <a:srcRect b="0" l="0" r="0" t="0"/>
          <a:stretch/>
        </p:blipFill>
        <p:spPr>
          <a:xfrm>
            <a:off x="10325100" y="2667000"/>
            <a:ext cx="228600" cy="304800"/>
          </a:xfrm>
          <a:prstGeom prst="rect">
            <a:avLst/>
          </a:prstGeom>
          <a:noFill/>
          <a:ln>
            <a:noFill/>
          </a:ln>
        </p:spPr>
      </p:pic>
      <p:pic>
        <p:nvPicPr>
          <p:cNvPr descr="preencoded.png" id="298" name="Google Shape;298;p11"/>
          <p:cNvPicPr preferRelativeResize="0"/>
          <p:nvPr/>
        </p:nvPicPr>
        <p:blipFill rotWithShape="1">
          <a:blip r:embed="rId15">
            <a:alphaModFix/>
          </a:blip>
          <a:srcRect b="0" l="0" r="0" t="0"/>
          <a:stretch/>
        </p:blipFill>
        <p:spPr>
          <a:xfrm>
            <a:off x="381000" y="4457700"/>
            <a:ext cx="11430000" cy="876300"/>
          </a:xfrm>
          <a:prstGeom prst="rect">
            <a:avLst/>
          </a:prstGeom>
          <a:noFill/>
          <a:ln>
            <a:noFill/>
          </a:ln>
        </p:spPr>
      </p:pic>
      <p:pic>
        <p:nvPicPr>
          <p:cNvPr descr="preencoded.png" id="299" name="Google Shape;299;p11"/>
          <p:cNvPicPr preferRelativeResize="0"/>
          <p:nvPr/>
        </p:nvPicPr>
        <p:blipFill rotWithShape="1">
          <a:blip r:embed="rId16">
            <a:alphaModFix/>
          </a:blip>
          <a:srcRect b="0" l="0" r="0" t="0"/>
          <a:stretch/>
        </p:blipFill>
        <p:spPr>
          <a:xfrm>
            <a:off x="533400" y="4991100"/>
            <a:ext cx="152400" cy="152400"/>
          </a:xfrm>
          <a:prstGeom prst="rect">
            <a:avLst/>
          </a:prstGeom>
          <a:noFill/>
          <a:ln>
            <a:noFill/>
          </a:ln>
        </p:spPr>
      </p:pic>
      <p:pic>
        <p:nvPicPr>
          <p:cNvPr descr="preencoded.png" id="300" name="Google Shape;300;p11"/>
          <p:cNvPicPr preferRelativeResize="0"/>
          <p:nvPr/>
        </p:nvPicPr>
        <p:blipFill rotWithShape="1">
          <a:blip r:embed="rId17">
            <a:alphaModFix/>
          </a:blip>
          <a:srcRect b="0" l="0" r="0" t="0"/>
          <a:stretch/>
        </p:blipFill>
        <p:spPr>
          <a:xfrm>
            <a:off x="4292501" y="4991100"/>
            <a:ext cx="152400" cy="152400"/>
          </a:xfrm>
          <a:prstGeom prst="rect">
            <a:avLst/>
          </a:prstGeom>
          <a:noFill/>
          <a:ln>
            <a:noFill/>
          </a:ln>
        </p:spPr>
      </p:pic>
      <p:pic>
        <p:nvPicPr>
          <p:cNvPr descr="preencoded.png" id="301" name="Google Shape;301;p11"/>
          <p:cNvPicPr preferRelativeResize="0"/>
          <p:nvPr/>
        </p:nvPicPr>
        <p:blipFill rotWithShape="1">
          <a:blip r:embed="rId18">
            <a:alphaModFix/>
          </a:blip>
          <a:srcRect b="0" l="0" r="0" t="0"/>
          <a:stretch/>
        </p:blipFill>
        <p:spPr>
          <a:xfrm>
            <a:off x="8051750" y="4991100"/>
            <a:ext cx="152400" cy="152400"/>
          </a:xfrm>
          <a:prstGeom prst="rect">
            <a:avLst/>
          </a:prstGeom>
          <a:noFill/>
          <a:ln>
            <a:noFill/>
          </a:ln>
        </p:spPr>
      </p:pic>
      <p:sp>
        <p:nvSpPr>
          <p:cNvPr id="302" name="Google Shape;302;p11"/>
          <p:cNvSpPr/>
          <p:nvPr/>
        </p:nvSpPr>
        <p:spPr>
          <a:xfrm>
            <a:off x="381000" y="381000"/>
            <a:ext cx="13716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Nonconformity Response Framework</a:t>
            </a:r>
            <a:endParaRPr sz="2700">
              <a:solidFill>
                <a:schemeClr val="dk1"/>
              </a:solidFill>
              <a:latin typeface="Calibri"/>
              <a:ea typeface="Calibri"/>
              <a:cs typeface="Calibri"/>
              <a:sym typeface="Calibri"/>
            </a:endParaRPr>
          </a:p>
        </p:txBody>
      </p:sp>
      <p:sp>
        <p:nvSpPr>
          <p:cNvPr id="303" name="Google Shape;303;p11"/>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Systematic approach to documenting, evaluating, and resolving nonconformities</a:t>
            </a:r>
            <a:endParaRPr sz="1500">
              <a:solidFill>
                <a:schemeClr val="dk1"/>
              </a:solidFill>
              <a:latin typeface="Calibri"/>
              <a:ea typeface="Calibri"/>
              <a:cs typeface="Calibri"/>
              <a:sym typeface="Calibri"/>
            </a:endParaRPr>
          </a:p>
        </p:txBody>
      </p:sp>
      <p:sp>
        <p:nvSpPr>
          <p:cNvPr id="304" name="Google Shape;304;p11"/>
          <p:cNvSpPr/>
          <p:nvPr/>
        </p:nvSpPr>
        <p:spPr>
          <a:xfrm>
            <a:off x="533400" y="1485900"/>
            <a:ext cx="111252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A systematic approach to nonconformities is crucial for maintaining certification and driving improvement. It ensures timely resolution and prevents recurrence.</a:t>
            </a:r>
            <a:endParaRPr sz="1200">
              <a:solidFill>
                <a:schemeClr val="dk1"/>
              </a:solidFill>
              <a:latin typeface="Calibri"/>
              <a:ea typeface="Calibri"/>
              <a:cs typeface="Calibri"/>
              <a:sym typeface="Calibri"/>
            </a:endParaRPr>
          </a:p>
        </p:txBody>
      </p:sp>
      <p:sp>
        <p:nvSpPr>
          <p:cNvPr id="305" name="Google Shape;305;p11"/>
          <p:cNvSpPr/>
          <p:nvPr/>
        </p:nvSpPr>
        <p:spPr>
          <a:xfrm>
            <a:off x="723900" y="3162300"/>
            <a:ext cx="205740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Document</a:t>
            </a:r>
            <a:endParaRPr sz="1500">
              <a:solidFill>
                <a:schemeClr val="dk1"/>
              </a:solidFill>
              <a:latin typeface="Calibri"/>
              <a:ea typeface="Calibri"/>
              <a:cs typeface="Calibri"/>
              <a:sym typeface="Calibri"/>
            </a:endParaRPr>
          </a:p>
        </p:txBody>
      </p:sp>
      <p:sp>
        <p:nvSpPr>
          <p:cNvPr id="306" name="Google Shape;306;p11"/>
          <p:cNvSpPr/>
          <p:nvPr/>
        </p:nvSpPr>
        <p:spPr>
          <a:xfrm>
            <a:off x="723900" y="3505200"/>
            <a:ext cx="2057400" cy="4572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Identify and document nonconformities clearly</a:t>
            </a:r>
            <a:endParaRPr sz="1200">
              <a:solidFill>
                <a:schemeClr val="dk1"/>
              </a:solidFill>
              <a:latin typeface="Calibri"/>
              <a:ea typeface="Calibri"/>
              <a:cs typeface="Calibri"/>
              <a:sym typeface="Calibri"/>
            </a:endParaRPr>
          </a:p>
        </p:txBody>
      </p:sp>
      <p:sp>
        <p:nvSpPr>
          <p:cNvPr id="307" name="Google Shape;307;p11"/>
          <p:cNvSpPr/>
          <p:nvPr/>
        </p:nvSpPr>
        <p:spPr>
          <a:xfrm>
            <a:off x="3619500" y="3162300"/>
            <a:ext cx="205740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Evaluate</a:t>
            </a:r>
            <a:endParaRPr sz="1500">
              <a:solidFill>
                <a:schemeClr val="dk1"/>
              </a:solidFill>
              <a:latin typeface="Calibri"/>
              <a:ea typeface="Calibri"/>
              <a:cs typeface="Calibri"/>
              <a:sym typeface="Calibri"/>
            </a:endParaRPr>
          </a:p>
        </p:txBody>
      </p:sp>
      <p:sp>
        <p:nvSpPr>
          <p:cNvPr id="308" name="Google Shape;308;p11"/>
          <p:cNvSpPr/>
          <p:nvPr/>
        </p:nvSpPr>
        <p:spPr>
          <a:xfrm>
            <a:off x="3619500" y="3505200"/>
            <a:ext cx="2057400" cy="4572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Assess severity and impact of nonconformities</a:t>
            </a:r>
            <a:endParaRPr sz="1200">
              <a:solidFill>
                <a:schemeClr val="dk1"/>
              </a:solidFill>
              <a:latin typeface="Calibri"/>
              <a:ea typeface="Calibri"/>
              <a:cs typeface="Calibri"/>
              <a:sym typeface="Calibri"/>
            </a:endParaRPr>
          </a:p>
        </p:txBody>
      </p:sp>
      <p:sp>
        <p:nvSpPr>
          <p:cNvPr id="309" name="Google Shape;309;p11"/>
          <p:cNvSpPr/>
          <p:nvPr/>
        </p:nvSpPr>
        <p:spPr>
          <a:xfrm>
            <a:off x="6515100" y="3162300"/>
            <a:ext cx="205740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Act</a:t>
            </a:r>
            <a:endParaRPr sz="1500">
              <a:solidFill>
                <a:schemeClr val="dk1"/>
              </a:solidFill>
              <a:latin typeface="Calibri"/>
              <a:ea typeface="Calibri"/>
              <a:cs typeface="Calibri"/>
              <a:sym typeface="Calibri"/>
            </a:endParaRPr>
          </a:p>
        </p:txBody>
      </p:sp>
      <p:sp>
        <p:nvSpPr>
          <p:cNvPr id="310" name="Google Shape;310;p11"/>
          <p:cNvSpPr/>
          <p:nvPr/>
        </p:nvSpPr>
        <p:spPr>
          <a:xfrm>
            <a:off x="6515100" y="3505200"/>
            <a:ext cx="2057400" cy="4572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Develop and implement corrective actions</a:t>
            </a:r>
            <a:endParaRPr sz="1200">
              <a:solidFill>
                <a:schemeClr val="dk1"/>
              </a:solidFill>
              <a:latin typeface="Calibri"/>
              <a:ea typeface="Calibri"/>
              <a:cs typeface="Calibri"/>
              <a:sym typeface="Calibri"/>
            </a:endParaRPr>
          </a:p>
        </p:txBody>
      </p:sp>
      <p:sp>
        <p:nvSpPr>
          <p:cNvPr id="311" name="Google Shape;311;p11"/>
          <p:cNvSpPr/>
          <p:nvPr/>
        </p:nvSpPr>
        <p:spPr>
          <a:xfrm>
            <a:off x="9410700" y="3162300"/>
            <a:ext cx="205740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Verify</a:t>
            </a:r>
            <a:endParaRPr sz="1500">
              <a:solidFill>
                <a:schemeClr val="dk1"/>
              </a:solidFill>
              <a:latin typeface="Calibri"/>
              <a:ea typeface="Calibri"/>
              <a:cs typeface="Calibri"/>
              <a:sym typeface="Calibri"/>
            </a:endParaRPr>
          </a:p>
        </p:txBody>
      </p:sp>
      <p:sp>
        <p:nvSpPr>
          <p:cNvPr id="312" name="Google Shape;312;p11"/>
          <p:cNvSpPr/>
          <p:nvPr/>
        </p:nvSpPr>
        <p:spPr>
          <a:xfrm>
            <a:off x="9410700" y="3505200"/>
            <a:ext cx="2057400" cy="4572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Monitor effectiveness of implemented actions</a:t>
            </a:r>
            <a:endParaRPr sz="1200">
              <a:solidFill>
                <a:schemeClr val="dk1"/>
              </a:solidFill>
              <a:latin typeface="Calibri"/>
              <a:ea typeface="Calibri"/>
              <a:cs typeface="Calibri"/>
              <a:sym typeface="Calibri"/>
            </a:endParaRPr>
          </a:p>
        </p:txBody>
      </p:sp>
      <p:sp>
        <p:nvSpPr>
          <p:cNvPr id="313" name="Google Shape;313;p11"/>
          <p:cNvSpPr/>
          <p:nvPr/>
        </p:nvSpPr>
        <p:spPr>
          <a:xfrm>
            <a:off x="533400" y="4610100"/>
            <a:ext cx="111252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008080"/>
              </a:buClr>
              <a:buSzPts val="1350"/>
              <a:buFont typeface="Arial"/>
              <a:buNone/>
            </a:pPr>
            <a:r>
              <a:rPr b="1" lang="en-US" sz="1350">
                <a:solidFill>
                  <a:srgbClr val="008080"/>
                </a:solidFill>
                <a:latin typeface="Arial"/>
                <a:ea typeface="Arial"/>
                <a:cs typeface="Arial"/>
                <a:sym typeface="Arial"/>
              </a:rPr>
              <a:t>Key Benefits:</a:t>
            </a:r>
            <a:endParaRPr sz="1350">
              <a:solidFill>
                <a:schemeClr val="dk1"/>
              </a:solidFill>
              <a:latin typeface="Calibri"/>
              <a:ea typeface="Calibri"/>
              <a:cs typeface="Calibri"/>
              <a:sym typeface="Calibri"/>
            </a:endParaRPr>
          </a:p>
        </p:txBody>
      </p:sp>
      <p:sp>
        <p:nvSpPr>
          <p:cNvPr id="314" name="Google Shape;314;p11"/>
          <p:cNvSpPr/>
          <p:nvPr/>
        </p:nvSpPr>
        <p:spPr>
          <a:xfrm>
            <a:off x="762000" y="4953000"/>
            <a:ext cx="2029361"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Maintains certification</a:t>
            </a:r>
            <a:endParaRPr sz="1200">
              <a:solidFill>
                <a:schemeClr val="dk1"/>
              </a:solidFill>
              <a:latin typeface="Calibri"/>
              <a:ea typeface="Calibri"/>
              <a:cs typeface="Calibri"/>
              <a:sym typeface="Calibri"/>
            </a:endParaRPr>
          </a:p>
        </p:txBody>
      </p:sp>
      <p:sp>
        <p:nvSpPr>
          <p:cNvPr id="315" name="Google Shape;315;p11"/>
          <p:cNvSpPr/>
          <p:nvPr/>
        </p:nvSpPr>
        <p:spPr>
          <a:xfrm>
            <a:off x="4521101" y="4953000"/>
            <a:ext cx="2931974"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Drives continuous improvement</a:t>
            </a:r>
            <a:endParaRPr sz="1200">
              <a:solidFill>
                <a:schemeClr val="dk1"/>
              </a:solidFill>
              <a:latin typeface="Calibri"/>
              <a:ea typeface="Calibri"/>
              <a:cs typeface="Calibri"/>
              <a:sym typeface="Calibri"/>
            </a:endParaRPr>
          </a:p>
        </p:txBody>
      </p:sp>
      <p:sp>
        <p:nvSpPr>
          <p:cNvPr id="316" name="Google Shape;316;p11"/>
          <p:cNvSpPr/>
          <p:nvPr/>
        </p:nvSpPr>
        <p:spPr>
          <a:xfrm>
            <a:off x="8280350" y="4953000"/>
            <a:ext cx="1837373"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Prevents recurrence</a:t>
            </a:r>
            <a:endParaRPr sz="1200">
              <a:solidFill>
                <a:schemeClr val="dk1"/>
              </a:solidFill>
              <a:latin typeface="Calibri"/>
              <a:ea typeface="Calibri"/>
              <a:cs typeface="Calibri"/>
              <a:sym typeface="Calibri"/>
            </a:endParaRPr>
          </a:p>
        </p:txBody>
      </p:sp>
      <p:sp>
        <p:nvSpPr>
          <p:cNvPr id="317" name="Google Shape;317;p11"/>
          <p:cNvSpPr/>
          <p:nvPr/>
        </p:nvSpPr>
        <p:spPr>
          <a:xfrm>
            <a:off x="8771930" y="6515100"/>
            <a:ext cx="3829764"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9/23</a:t>
            </a:r>
            <a:endParaRPr sz="105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descr="preencoded.png" id="323" name="Google Shape;323;p1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324" name="Google Shape;324;p12"/>
          <p:cNvPicPr preferRelativeResize="0"/>
          <p:nvPr/>
        </p:nvPicPr>
        <p:blipFill rotWithShape="1">
          <a:blip r:embed="rId4">
            <a:alphaModFix/>
          </a:blip>
          <a:srcRect b="0" l="0" r="0" t="0"/>
          <a:stretch/>
        </p:blipFill>
        <p:spPr>
          <a:xfrm>
            <a:off x="381000" y="1295400"/>
            <a:ext cx="11430000" cy="762000"/>
          </a:xfrm>
          <a:prstGeom prst="rect">
            <a:avLst/>
          </a:prstGeom>
          <a:noFill/>
          <a:ln>
            <a:noFill/>
          </a:ln>
        </p:spPr>
      </p:pic>
      <p:pic>
        <p:nvPicPr>
          <p:cNvPr descr="preencoded.png" id="325" name="Google Shape;325;p12"/>
          <p:cNvPicPr preferRelativeResize="0"/>
          <p:nvPr/>
        </p:nvPicPr>
        <p:blipFill rotWithShape="1">
          <a:blip r:embed="rId5">
            <a:alphaModFix/>
          </a:blip>
          <a:srcRect b="0" l="0" r="0" t="0"/>
          <a:stretch/>
        </p:blipFill>
        <p:spPr>
          <a:xfrm>
            <a:off x="381000" y="2247900"/>
            <a:ext cx="5600700" cy="3543300"/>
          </a:xfrm>
          <a:prstGeom prst="rect">
            <a:avLst/>
          </a:prstGeom>
          <a:noFill/>
          <a:ln>
            <a:noFill/>
          </a:ln>
        </p:spPr>
      </p:pic>
      <p:pic>
        <p:nvPicPr>
          <p:cNvPr descr="preencoded.png" id="326" name="Google Shape;326;p12"/>
          <p:cNvPicPr preferRelativeResize="0"/>
          <p:nvPr/>
        </p:nvPicPr>
        <p:blipFill rotWithShape="1">
          <a:blip r:embed="rId6">
            <a:alphaModFix/>
          </a:blip>
          <a:srcRect b="0" l="0" r="0" t="0"/>
          <a:stretch/>
        </p:blipFill>
        <p:spPr>
          <a:xfrm>
            <a:off x="571500" y="2438400"/>
            <a:ext cx="381000" cy="381000"/>
          </a:xfrm>
          <a:prstGeom prst="rect">
            <a:avLst/>
          </a:prstGeom>
          <a:noFill/>
          <a:ln>
            <a:noFill/>
          </a:ln>
        </p:spPr>
      </p:pic>
      <p:pic>
        <p:nvPicPr>
          <p:cNvPr descr="preencoded.png" id="327" name="Google Shape;327;p12"/>
          <p:cNvPicPr preferRelativeResize="0"/>
          <p:nvPr/>
        </p:nvPicPr>
        <p:blipFill rotWithShape="1">
          <a:blip r:embed="rId7">
            <a:alphaModFix/>
          </a:blip>
          <a:srcRect b="0" l="0" r="0" t="0"/>
          <a:stretch/>
        </p:blipFill>
        <p:spPr>
          <a:xfrm>
            <a:off x="666750" y="2495550"/>
            <a:ext cx="190500" cy="266700"/>
          </a:xfrm>
          <a:prstGeom prst="rect">
            <a:avLst/>
          </a:prstGeom>
          <a:noFill/>
          <a:ln>
            <a:noFill/>
          </a:ln>
        </p:spPr>
      </p:pic>
      <p:pic>
        <p:nvPicPr>
          <p:cNvPr descr="preencoded.png" id="328" name="Google Shape;328;p12"/>
          <p:cNvPicPr preferRelativeResize="0"/>
          <p:nvPr/>
        </p:nvPicPr>
        <p:blipFill rotWithShape="1">
          <a:blip r:embed="rId8">
            <a:alphaModFix/>
          </a:blip>
          <a:srcRect b="0" l="0" r="0" t="0"/>
          <a:stretch/>
        </p:blipFill>
        <p:spPr>
          <a:xfrm>
            <a:off x="571500" y="3505200"/>
            <a:ext cx="5219700" cy="1638300"/>
          </a:xfrm>
          <a:prstGeom prst="rect">
            <a:avLst/>
          </a:prstGeom>
          <a:noFill/>
          <a:ln>
            <a:noFill/>
          </a:ln>
        </p:spPr>
      </p:pic>
      <p:pic>
        <p:nvPicPr>
          <p:cNvPr descr="preencoded.png" id="329" name="Google Shape;329;p12"/>
          <p:cNvPicPr preferRelativeResize="0"/>
          <p:nvPr/>
        </p:nvPicPr>
        <p:blipFill rotWithShape="1">
          <a:blip r:embed="rId5">
            <a:alphaModFix/>
          </a:blip>
          <a:srcRect b="0" l="0" r="0" t="0"/>
          <a:stretch/>
        </p:blipFill>
        <p:spPr>
          <a:xfrm>
            <a:off x="6210300" y="2247900"/>
            <a:ext cx="5600700" cy="3543300"/>
          </a:xfrm>
          <a:prstGeom prst="rect">
            <a:avLst/>
          </a:prstGeom>
          <a:noFill/>
          <a:ln>
            <a:noFill/>
          </a:ln>
        </p:spPr>
      </p:pic>
      <p:pic>
        <p:nvPicPr>
          <p:cNvPr descr="preencoded.png" id="330" name="Google Shape;330;p12"/>
          <p:cNvPicPr preferRelativeResize="0"/>
          <p:nvPr/>
        </p:nvPicPr>
        <p:blipFill rotWithShape="1">
          <a:blip r:embed="rId9">
            <a:alphaModFix/>
          </a:blip>
          <a:srcRect b="0" l="0" r="0" t="0"/>
          <a:stretch/>
        </p:blipFill>
        <p:spPr>
          <a:xfrm>
            <a:off x="6400800" y="2438400"/>
            <a:ext cx="381000" cy="381000"/>
          </a:xfrm>
          <a:prstGeom prst="rect">
            <a:avLst/>
          </a:prstGeom>
          <a:noFill/>
          <a:ln>
            <a:noFill/>
          </a:ln>
        </p:spPr>
      </p:pic>
      <p:pic>
        <p:nvPicPr>
          <p:cNvPr descr="preencoded.png" id="331" name="Google Shape;331;p12"/>
          <p:cNvPicPr preferRelativeResize="0"/>
          <p:nvPr/>
        </p:nvPicPr>
        <p:blipFill rotWithShape="1">
          <a:blip r:embed="rId10">
            <a:alphaModFix/>
          </a:blip>
          <a:srcRect b="0" l="0" r="0" t="0"/>
          <a:stretch/>
        </p:blipFill>
        <p:spPr>
          <a:xfrm>
            <a:off x="6481763" y="2495550"/>
            <a:ext cx="219075" cy="266700"/>
          </a:xfrm>
          <a:prstGeom prst="rect">
            <a:avLst/>
          </a:prstGeom>
          <a:noFill/>
          <a:ln>
            <a:noFill/>
          </a:ln>
        </p:spPr>
      </p:pic>
      <p:pic>
        <p:nvPicPr>
          <p:cNvPr descr="preencoded.png" id="332" name="Google Shape;332;p12"/>
          <p:cNvPicPr preferRelativeResize="0"/>
          <p:nvPr/>
        </p:nvPicPr>
        <p:blipFill rotWithShape="1">
          <a:blip r:embed="rId11">
            <a:alphaModFix/>
          </a:blip>
          <a:srcRect b="0" l="0" r="0" t="0"/>
          <a:stretch/>
        </p:blipFill>
        <p:spPr>
          <a:xfrm>
            <a:off x="6400800" y="3505200"/>
            <a:ext cx="5219700" cy="1828800"/>
          </a:xfrm>
          <a:prstGeom prst="rect">
            <a:avLst/>
          </a:prstGeom>
          <a:noFill/>
          <a:ln>
            <a:noFill/>
          </a:ln>
        </p:spPr>
      </p:pic>
      <p:pic>
        <p:nvPicPr>
          <p:cNvPr descr="preencoded.png" id="333" name="Google Shape;333;p12"/>
          <p:cNvPicPr preferRelativeResize="0"/>
          <p:nvPr/>
        </p:nvPicPr>
        <p:blipFill rotWithShape="1">
          <a:blip r:embed="rId12">
            <a:alphaModFix/>
          </a:blip>
          <a:srcRect b="0" l="0" r="0" t="0"/>
          <a:stretch/>
        </p:blipFill>
        <p:spPr>
          <a:xfrm>
            <a:off x="6477000" y="3581400"/>
            <a:ext cx="5067300" cy="1775371"/>
          </a:xfrm>
          <a:prstGeom prst="rect">
            <a:avLst/>
          </a:prstGeom>
          <a:noFill/>
          <a:ln>
            <a:noFill/>
          </a:ln>
        </p:spPr>
      </p:pic>
      <p:pic>
        <p:nvPicPr>
          <p:cNvPr descr="preencoded.png" id="334" name="Google Shape;334;p12"/>
          <p:cNvPicPr preferRelativeResize="0"/>
          <p:nvPr/>
        </p:nvPicPr>
        <p:blipFill rotWithShape="1">
          <a:blip r:embed="rId13">
            <a:alphaModFix/>
          </a:blip>
          <a:srcRect b="0" l="0" r="0" t="0"/>
          <a:stretch/>
        </p:blipFill>
        <p:spPr>
          <a:xfrm>
            <a:off x="381000" y="5943600"/>
            <a:ext cx="11430000" cy="381000"/>
          </a:xfrm>
          <a:prstGeom prst="rect">
            <a:avLst/>
          </a:prstGeom>
          <a:noFill/>
          <a:ln>
            <a:noFill/>
          </a:ln>
        </p:spPr>
      </p:pic>
      <p:pic>
        <p:nvPicPr>
          <p:cNvPr descr="preencoded.png" id="335" name="Google Shape;335;p12"/>
          <p:cNvPicPr preferRelativeResize="0"/>
          <p:nvPr/>
        </p:nvPicPr>
        <p:blipFill rotWithShape="1">
          <a:blip r:embed="rId14">
            <a:alphaModFix/>
          </a:blip>
          <a:srcRect b="0" l="0" r="0" t="0"/>
          <a:stretch/>
        </p:blipFill>
        <p:spPr>
          <a:xfrm>
            <a:off x="457200" y="6048375"/>
            <a:ext cx="114300" cy="152400"/>
          </a:xfrm>
          <a:prstGeom prst="rect">
            <a:avLst/>
          </a:prstGeom>
          <a:noFill/>
          <a:ln>
            <a:noFill/>
          </a:ln>
        </p:spPr>
      </p:pic>
      <p:sp>
        <p:nvSpPr>
          <p:cNvPr id="336" name="Google Shape;336;p12"/>
          <p:cNvSpPr/>
          <p:nvPr/>
        </p:nvSpPr>
        <p:spPr>
          <a:xfrm>
            <a:off x="381000" y="381000"/>
            <a:ext cx="13716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Root Cause Analysis Methodology</a:t>
            </a:r>
            <a:endParaRPr sz="2700">
              <a:solidFill>
                <a:schemeClr val="dk1"/>
              </a:solidFill>
              <a:latin typeface="Calibri"/>
              <a:ea typeface="Calibri"/>
              <a:cs typeface="Calibri"/>
              <a:sym typeface="Calibri"/>
            </a:endParaRPr>
          </a:p>
        </p:txBody>
      </p:sp>
      <p:sp>
        <p:nvSpPr>
          <p:cNvPr id="337" name="Google Shape;337;p12"/>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Understanding underlying causes to prevent recurrence</a:t>
            </a:r>
            <a:endParaRPr sz="1500">
              <a:solidFill>
                <a:schemeClr val="dk1"/>
              </a:solidFill>
              <a:latin typeface="Calibri"/>
              <a:ea typeface="Calibri"/>
              <a:cs typeface="Calibri"/>
              <a:sym typeface="Calibri"/>
            </a:endParaRPr>
          </a:p>
        </p:txBody>
      </p:sp>
      <p:sp>
        <p:nvSpPr>
          <p:cNvPr id="338" name="Google Shape;338;p12"/>
          <p:cNvSpPr/>
          <p:nvPr/>
        </p:nvSpPr>
        <p:spPr>
          <a:xfrm>
            <a:off x="533400" y="1447800"/>
            <a:ext cx="111252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A systematic approach to managing nonconformities is crucial for effective continual improvement. Identifying the true root cause, rather than merely addressing symptoms, is paramount.</a:t>
            </a:r>
            <a:endParaRPr sz="1200">
              <a:solidFill>
                <a:schemeClr val="dk1"/>
              </a:solidFill>
              <a:latin typeface="Calibri"/>
              <a:ea typeface="Calibri"/>
              <a:cs typeface="Calibri"/>
              <a:sym typeface="Calibri"/>
            </a:endParaRPr>
          </a:p>
        </p:txBody>
      </p:sp>
      <p:sp>
        <p:nvSpPr>
          <p:cNvPr id="339" name="Google Shape;339;p12"/>
          <p:cNvSpPr/>
          <p:nvPr/>
        </p:nvSpPr>
        <p:spPr>
          <a:xfrm>
            <a:off x="1066800" y="2476500"/>
            <a:ext cx="2783562"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5 Whys Technique</a:t>
            </a:r>
            <a:endParaRPr sz="1800">
              <a:solidFill>
                <a:schemeClr val="dk1"/>
              </a:solidFill>
              <a:latin typeface="Calibri"/>
              <a:ea typeface="Calibri"/>
              <a:cs typeface="Calibri"/>
              <a:sym typeface="Calibri"/>
            </a:endParaRPr>
          </a:p>
        </p:txBody>
      </p:sp>
      <p:sp>
        <p:nvSpPr>
          <p:cNvPr id="340" name="Google Shape;340;p12"/>
          <p:cNvSpPr/>
          <p:nvPr/>
        </p:nvSpPr>
        <p:spPr>
          <a:xfrm>
            <a:off x="571500" y="2933700"/>
            <a:ext cx="52197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A simple yet powerful questioning technique to explore cause-and-effect relationships.</a:t>
            </a:r>
            <a:endParaRPr sz="1200">
              <a:solidFill>
                <a:schemeClr val="dk1"/>
              </a:solidFill>
              <a:latin typeface="Calibri"/>
              <a:ea typeface="Calibri"/>
              <a:cs typeface="Calibri"/>
              <a:sym typeface="Calibri"/>
            </a:endParaRPr>
          </a:p>
        </p:txBody>
      </p:sp>
      <p:sp>
        <p:nvSpPr>
          <p:cNvPr id="341" name="Google Shape;341;p12"/>
          <p:cNvSpPr/>
          <p:nvPr/>
        </p:nvSpPr>
        <p:spPr>
          <a:xfrm>
            <a:off x="685800" y="3619500"/>
            <a:ext cx="499110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1F2937"/>
              </a:buClr>
              <a:buSzPts val="1200"/>
              <a:buFont typeface="Arial"/>
              <a:buNone/>
            </a:pPr>
            <a:r>
              <a:rPr b="1" lang="en-US" sz="1200">
                <a:solidFill>
                  <a:srgbClr val="1F2937"/>
                </a:solidFill>
                <a:latin typeface="Arial"/>
                <a:ea typeface="Arial"/>
                <a:cs typeface="Arial"/>
                <a:sym typeface="Arial"/>
              </a:rPr>
              <a:t>Example:</a:t>
            </a:r>
            <a:endParaRPr sz="1200">
              <a:solidFill>
                <a:schemeClr val="dk1"/>
              </a:solidFill>
              <a:latin typeface="Calibri"/>
              <a:ea typeface="Calibri"/>
              <a:cs typeface="Calibri"/>
              <a:sym typeface="Calibri"/>
            </a:endParaRPr>
          </a:p>
        </p:txBody>
      </p:sp>
      <p:sp>
        <p:nvSpPr>
          <p:cNvPr id="342" name="Google Shape;342;p12"/>
          <p:cNvSpPr/>
          <p:nvPr/>
        </p:nvSpPr>
        <p:spPr>
          <a:xfrm>
            <a:off x="685800" y="3886200"/>
            <a:ext cx="59893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Why did the system fail? → Security breach occurred</a:t>
            </a:r>
            <a:endParaRPr sz="1200">
              <a:solidFill>
                <a:schemeClr val="dk1"/>
              </a:solidFill>
              <a:latin typeface="Calibri"/>
              <a:ea typeface="Calibri"/>
              <a:cs typeface="Calibri"/>
              <a:sym typeface="Calibri"/>
            </a:endParaRPr>
          </a:p>
        </p:txBody>
      </p:sp>
      <p:sp>
        <p:nvSpPr>
          <p:cNvPr id="343" name="Google Shape;343;p12"/>
          <p:cNvSpPr/>
          <p:nvPr/>
        </p:nvSpPr>
        <p:spPr>
          <a:xfrm>
            <a:off x="685800" y="4114800"/>
            <a:ext cx="59893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Why was the system vulnerable? → Outdated software</a:t>
            </a:r>
            <a:endParaRPr sz="1200">
              <a:solidFill>
                <a:schemeClr val="dk1"/>
              </a:solidFill>
              <a:latin typeface="Calibri"/>
              <a:ea typeface="Calibri"/>
              <a:cs typeface="Calibri"/>
              <a:sym typeface="Calibri"/>
            </a:endParaRPr>
          </a:p>
        </p:txBody>
      </p:sp>
      <p:sp>
        <p:nvSpPr>
          <p:cNvPr id="344" name="Google Shape;344;p12"/>
          <p:cNvSpPr/>
          <p:nvPr/>
        </p:nvSpPr>
        <p:spPr>
          <a:xfrm>
            <a:off x="685800" y="4343400"/>
            <a:ext cx="59893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Why was outdated software used? → Budget constraints</a:t>
            </a:r>
            <a:endParaRPr sz="1200">
              <a:solidFill>
                <a:schemeClr val="dk1"/>
              </a:solidFill>
              <a:latin typeface="Calibri"/>
              <a:ea typeface="Calibri"/>
              <a:cs typeface="Calibri"/>
              <a:sym typeface="Calibri"/>
            </a:endParaRPr>
          </a:p>
        </p:txBody>
      </p:sp>
      <p:sp>
        <p:nvSpPr>
          <p:cNvPr id="345" name="Google Shape;345;p12"/>
          <p:cNvSpPr/>
          <p:nvPr/>
        </p:nvSpPr>
        <p:spPr>
          <a:xfrm>
            <a:off x="685800" y="4572000"/>
            <a:ext cx="59893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Why were budget constraints an issue? → Poor planning</a:t>
            </a:r>
            <a:endParaRPr sz="1200">
              <a:solidFill>
                <a:schemeClr val="dk1"/>
              </a:solidFill>
              <a:latin typeface="Calibri"/>
              <a:ea typeface="Calibri"/>
              <a:cs typeface="Calibri"/>
              <a:sym typeface="Calibri"/>
            </a:endParaRPr>
          </a:p>
        </p:txBody>
      </p:sp>
      <p:sp>
        <p:nvSpPr>
          <p:cNvPr id="346" name="Google Shape;346;p12"/>
          <p:cNvSpPr/>
          <p:nvPr/>
        </p:nvSpPr>
        <p:spPr>
          <a:xfrm>
            <a:off x="685800" y="4800600"/>
            <a:ext cx="59893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Why was planning inadequate? → Lack of risk assessment</a:t>
            </a:r>
            <a:endParaRPr sz="1200">
              <a:solidFill>
                <a:schemeClr val="dk1"/>
              </a:solidFill>
              <a:latin typeface="Calibri"/>
              <a:ea typeface="Calibri"/>
              <a:cs typeface="Calibri"/>
              <a:sym typeface="Calibri"/>
            </a:endParaRPr>
          </a:p>
        </p:txBody>
      </p:sp>
      <p:sp>
        <p:nvSpPr>
          <p:cNvPr id="347" name="Google Shape;347;p12"/>
          <p:cNvSpPr/>
          <p:nvPr/>
        </p:nvSpPr>
        <p:spPr>
          <a:xfrm>
            <a:off x="6896100" y="2476500"/>
            <a:ext cx="2811244"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Fishbone Diagram</a:t>
            </a:r>
            <a:endParaRPr sz="1800">
              <a:solidFill>
                <a:schemeClr val="dk1"/>
              </a:solidFill>
              <a:latin typeface="Calibri"/>
              <a:ea typeface="Calibri"/>
              <a:cs typeface="Calibri"/>
              <a:sym typeface="Calibri"/>
            </a:endParaRPr>
          </a:p>
        </p:txBody>
      </p:sp>
      <p:sp>
        <p:nvSpPr>
          <p:cNvPr id="348" name="Google Shape;348;p12"/>
          <p:cNvSpPr/>
          <p:nvPr/>
        </p:nvSpPr>
        <p:spPr>
          <a:xfrm>
            <a:off x="6400800" y="2933700"/>
            <a:ext cx="52197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A visual tool that groups causes into major categories to identify root causes.</a:t>
            </a:r>
            <a:endParaRPr sz="1200">
              <a:solidFill>
                <a:schemeClr val="dk1"/>
              </a:solidFill>
              <a:latin typeface="Calibri"/>
              <a:ea typeface="Calibri"/>
              <a:cs typeface="Calibri"/>
              <a:sym typeface="Calibri"/>
            </a:endParaRPr>
          </a:p>
        </p:txBody>
      </p:sp>
      <p:sp>
        <p:nvSpPr>
          <p:cNvPr id="349" name="Google Shape;349;p12"/>
          <p:cNvSpPr/>
          <p:nvPr/>
        </p:nvSpPr>
        <p:spPr>
          <a:xfrm>
            <a:off x="6822728" y="5410200"/>
            <a:ext cx="94833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000000"/>
              </a:buClr>
              <a:buSzPts val="1050"/>
              <a:buFont typeface="Arial"/>
              <a:buNone/>
            </a:pPr>
            <a:r>
              <a:rPr lang="en-US" sz="1050">
                <a:solidFill>
                  <a:srgbClr val="000000"/>
                </a:solidFill>
                <a:latin typeface="Arial"/>
                <a:ea typeface="Arial"/>
                <a:cs typeface="Arial"/>
                <a:sym typeface="Arial"/>
              </a:rPr>
              <a:t> People</a:t>
            </a:r>
            <a:endParaRPr sz="1050">
              <a:solidFill>
                <a:schemeClr val="dk1"/>
              </a:solidFill>
              <a:latin typeface="Calibri"/>
              <a:ea typeface="Calibri"/>
              <a:cs typeface="Calibri"/>
              <a:sym typeface="Calibri"/>
            </a:endParaRPr>
          </a:p>
        </p:txBody>
      </p:sp>
      <p:sp>
        <p:nvSpPr>
          <p:cNvPr id="350" name="Google Shape;350;p12"/>
          <p:cNvSpPr/>
          <p:nvPr/>
        </p:nvSpPr>
        <p:spPr>
          <a:xfrm>
            <a:off x="7999661" y="5410200"/>
            <a:ext cx="1023699"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000000"/>
              </a:buClr>
              <a:buSzPts val="1050"/>
              <a:buFont typeface="Arial"/>
              <a:buNone/>
            </a:pPr>
            <a:r>
              <a:rPr lang="en-US" sz="1050">
                <a:solidFill>
                  <a:srgbClr val="000000"/>
                </a:solidFill>
                <a:latin typeface="Arial"/>
                <a:ea typeface="Arial"/>
                <a:cs typeface="Arial"/>
                <a:sym typeface="Arial"/>
              </a:rPr>
              <a:t> Process</a:t>
            </a:r>
            <a:endParaRPr sz="1050">
              <a:solidFill>
                <a:schemeClr val="dk1"/>
              </a:solidFill>
              <a:latin typeface="Calibri"/>
              <a:ea typeface="Calibri"/>
              <a:cs typeface="Calibri"/>
              <a:sym typeface="Calibri"/>
            </a:endParaRPr>
          </a:p>
        </p:txBody>
      </p:sp>
      <p:sp>
        <p:nvSpPr>
          <p:cNvPr id="351" name="Google Shape;351;p12"/>
          <p:cNvSpPr/>
          <p:nvPr/>
        </p:nvSpPr>
        <p:spPr>
          <a:xfrm>
            <a:off x="9239399" y="5410200"/>
            <a:ext cx="1285339"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000000"/>
              </a:buClr>
              <a:buSzPts val="1050"/>
              <a:buFont typeface="Arial"/>
              <a:buNone/>
            </a:pPr>
            <a:r>
              <a:rPr lang="en-US" sz="1050">
                <a:solidFill>
                  <a:srgbClr val="000000"/>
                </a:solidFill>
                <a:latin typeface="Arial"/>
                <a:ea typeface="Arial"/>
                <a:cs typeface="Arial"/>
                <a:sym typeface="Arial"/>
              </a:rPr>
              <a:t> Equipment</a:t>
            </a:r>
            <a:endParaRPr sz="1050">
              <a:solidFill>
                <a:schemeClr val="dk1"/>
              </a:solidFill>
              <a:latin typeface="Calibri"/>
              <a:ea typeface="Calibri"/>
              <a:cs typeface="Calibri"/>
              <a:sym typeface="Calibri"/>
            </a:endParaRPr>
          </a:p>
        </p:txBody>
      </p:sp>
      <p:sp>
        <p:nvSpPr>
          <p:cNvPr id="352" name="Google Shape;352;p12"/>
          <p:cNvSpPr/>
          <p:nvPr/>
        </p:nvSpPr>
        <p:spPr>
          <a:xfrm>
            <a:off x="10697170" y="5410200"/>
            <a:ext cx="1150144"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000000"/>
              </a:buClr>
              <a:buSzPts val="1050"/>
              <a:buFont typeface="Arial"/>
              <a:buNone/>
            </a:pPr>
            <a:r>
              <a:rPr lang="en-US" sz="1050">
                <a:solidFill>
                  <a:srgbClr val="000000"/>
                </a:solidFill>
                <a:latin typeface="Arial"/>
                <a:ea typeface="Arial"/>
                <a:cs typeface="Arial"/>
                <a:sym typeface="Arial"/>
              </a:rPr>
              <a:t> Materials</a:t>
            </a:r>
            <a:endParaRPr sz="1050">
              <a:solidFill>
                <a:schemeClr val="dk1"/>
              </a:solidFill>
              <a:latin typeface="Calibri"/>
              <a:ea typeface="Calibri"/>
              <a:cs typeface="Calibri"/>
              <a:sym typeface="Calibri"/>
            </a:endParaRPr>
          </a:p>
        </p:txBody>
      </p:sp>
      <p:sp>
        <p:nvSpPr>
          <p:cNvPr id="353" name="Google Shape;353;p12"/>
          <p:cNvSpPr/>
          <p:nvPr/>
        </p:nvSpPr>
        <p:spPr>
          <a:xfrm>
            <a:off x="647700" y="6019800"/>
            <a:ext cx="1353312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1F2937"/>
              </a:buClr>
              <a:buSzPts val="1200"/>
              <a:buFont typeface="Arial"/>
              <a:buNone/>
            </a:pPr>
            <a:r>
              <a:rPr lang="en-US" sz="1200">
                <a:solidFill>
                  <a:srgbClr val="1F2937"/>
                </a:solidFill>
                <a:latin typeface="Arial"/>
                <a:ea typeface="Arial"/>
                <a:cs typeface="Arial"/>
                <a:sym typeface="Arial"/>
              </a:rPr>
              <a:t> </a:t>
            </a:r>
            <a:r>
              <a:rPr b="1" lang="en-US" sz="1200">
                <a:solidFill>
                  <a:srgbClr val="1F2937"/>
                </a:solidFill>
                <a:latin typeface="Arial"/>
                <a:ea typeface="Arial"/>
                <a:cs typeface="Arial"/>
                <a:sym typeface="Arial"/>
              </a:rPr>
              <a:t>Key takeaway:</a:t>
            </a:r>
            <a:r>
              <a:rPr lang="en-US" sz="1200">
                <a:solidFill>
                  <a:srgbClr val="1F2937"/>
                </a:solidFill>
                <a:latin typeface="Arial"/>
                <a:ea typeface="Arial"/>
                <a:cs typeface="Arial"/>
                <a:sym typeface="Arial"/>
              </a:rPr>
              <a:t> Effective root cause analysis prevents recurrence of issues and drives meaningful improvement.</a:t>
            </a:r>
            <a:endParaRPr sz="1200">
              <a:solidFill>
                <a:schemeClr val="dk1"/>
              </a:solidFill>
              <a:latin typeface="Calibri"/>
              <a:ea typeface="Calibri"/>
              <a:cs typeface="Calibri"/>
              <a:sym typeface="Calibri"/>
            </a:endParaRPr>
          </a:p>
        </p:txBody>
      </p:sp>
      <p:sp>
        <p:nvSpPr>
          <p:cNvPr id="354" name="Google Shape;354;p12"/>
          <p:cNvSpPr/>
          <p:nvPr/>
        </p:nvSpPr>
        <p:spPr>
          <a:xfrm>
            <a:off x="8687098" y="6515100"/>
            <a:ext cx="393156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10/23</a:t>
            </a:r>
            <a:endParaRPr sz="105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descr="preencoded.png" id="360" name="Google Shape;360;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361" name="Google Shape;361;p13"/>
          <p:cNvPicPr preferRelativeResize="0"/>
          <p:nvPr/>
        </p:nvPicPr>
        <p:blipFill rotWithShape="1">
          <a:blip r:embed="rId4">
            <a:alphaModFix/>
          </a:blip>
          <a:srcRect b="0" l="0" r="0" t="0"/>
          <a:stretch/>
        </p:blipFill>
        <p:spPr>
          <a:xfrm>
            <a:off x="381000" y="1409700"/>
            <a:ext cx="11430000" cy="1181100"/>
          </a:xfrm>
          <a:prstGeom prst="rect">
            <a:avLst/>
          </a:prstGeom>
          <a:noFill/>
          <a:ln>
            <a:noFill/>
          </a:ln>
        </p:spPr>
      </p:pic>
      <p:pic>
        <p:nvPicPr>
          <p:cNvPr descr="preencoded.png" id="362" name="Google Shape;362;p13"/>
          <p:cNvPicPr preferRelativeResize="0"/>
          <p:nvPr/>
        </p:nvPicPr>
        <p:blipFill rotWithShape="1">
          <a:blip r:embed="rId5">
            <a:alphaModFix/>
          </a:blip>
          <a:srcRect b="0" l="0" r="0" t="0"/>
          <a:stretch/>
        </p:blipFill>
        <p:spPr>
          <a:xfrm>
            <a:off x="381000" y="2819400"/>
            <a:ext cx="5600700" cy="1409700"/>
          </a:xfrm>
          <a:prstGeom prst="rect">
            <a:avLst/>
          </a:prstGeom>
          <a:noFill/>
          <a:ln>
            <a:noFill/>
          </a:ln>
        </p:spPr>
      </p:pic>
      <p:pic>
        <p:nvPicPr>
          <p:cNvPr descr="preencoded.png" id="363" name="Google Shape;363;p13"/>
          <p:cNvPicPr preferRelativeResize="0"/>
          <p:nvPr/>
        </p:nvPicPr>
        <p:blipFill rotWithShape="1">
          <a:blip r:embed="rId6">
            <a:alphaModFix/>
          </a:blip>
          <a:srcRect b="0" l="0" r="0" t="0"/>
          <a:stretch/>
        </p:blipFill>
        <p:spPr>
          <a:xfrm>
            <a:off x="571500" y="3009900"/>
            <a:ext cx="457200" cy="457200"/>
          </a:xfrm>
          <a:prstGeom prst="rect">
            <a:avLst/>
          </a:prstGeom>
          <a:noFill/>
          <a:ln>
            <a:noFill/>
          </a:ln>
        </p:spPr>
      </p:pic>
      <p:pic>
        <p:nvPicPr>
          <p:cNvPr descr="preencoded.png" id="364" name="Google Shape;364;p13"/>
          <p:cNvPicPr preferRelativeResize="0"/>
          <p:nvPr/>
        </p:nvPicPr>
        <p:blipFill rotWithShape="1">
          <a:blip r:embed="rId7">
            <a:alphaModFix/>
          </a:blip>
          <a:srcRect b="0" l="0" r="0" t="0"/>
          <a:stretch/>
        </p:blipFill>
        <p:spPr>
          <a:xfrm>
            <a:off x="685800" y="3086100"/>
            <a:ext cx="228600" cy="304800"/>
          </a:xfrm>
          <a:prstGeom prst="rect">
            <a:avLst/>
          </a:prstGeom>
          <a:noFill/>
          <a:ln>
            <a:noFill/>
          </a:ln>
        </p:spPr>
      </p:pic>
      <p:pic>
        <p:nvPicPr>
          <p:cNvPr descr="preencoded.png" id="365" name="Google Shape;365;p13"/>
          <p:cNvPicPr preferRelativeResize="0"/>
          <p:nvPr/>
        </p:nvPicPr>
        <p:blipFill rotWithShape="1">
          <a:blip r:embed="rId5">
            <a:alphaModFix/>
          </a:blip>
          <a:srcRect b="0" l="0" r="0" t="0"/>
          <a:stretch/>
        </p:blipFill>
        <p:spPr>
          <a:xfrm>
            <a:off x="6210300" y="2819400"/>
            <a:ext cx="5600700" cy="1409700"/>
          </a:xfrm>
          <a:prstGeom prst="rect">
            <a:avLst/>
          </a:prstGeom>
          <a:noFill/>
          <a:ln>
            <a:noFill/>
          </a:ln>
        </p:spPr>
      </p:pic>
      <p:pic>
        <p:nvPicPr>
          <p:cNvPr descr="preencoded.png" id="366" name="Google Shape;366;p13"/>
          <p:cNvPicPr preferRelativeResize="0"/>
          <p:nvPr/>
        </p:nvPicPr>
        <p:blipFill rotWithShape="1">
          <a:blip r:embed="rId8">
            <a:alphaModFix/>
          </a:blip>
          <a:srcRect b="0" l="0" r="0" t="0"/>
          <a:stretch/>
        </p:blipFill>
        <p:spPr>
          <a:xfrm>
            <a:off x="6400800" y="3009900"/>
            <a:ext cx="457200" cy="457200"/>
          </a:xfrm>
          <a:prstGeom prst="rect">
            <a:avLst/>
          </a:prstGeom>
          <a:noFill/>
          <a:ln>
            <a:noFill/>
          </a:ln>
        </p:spPr>
      </p:pic>
      <p:pic>
        <p:nvPicPr>
          <p:cNvPr descr="preencoded.png" id="367" name="Google Shape;367;p13"/>
          <p:cNvPicPr preferRelativeResize="0"/>
          <p:nvPr/>
        </p:nvPicPr>
        <p:blipFill rotWithShape="1">
          <a:blip r:embed="rId9">
            <a:alphaModFix/>
          </a:blip>
          <a:srcRect b="0" l="0" r="0" t="0"/>
          <a:stretch/>
        </p:blipFill>
        <p:spPr>
          <a:xfrm>
            <a:off x="6515100" y="3086100"/>
            <a:ext cx="228600" cy="304800"/>
          </a:xfrm>
          <a:prstGeom prst="rect">
            <a:avLst/>
          </a:prstGeom>
          <a:noFill/>
          <a:ln>
            <a:noFill/>
          </a:ln>
        </p:spPr>
      </p:pic>
      <p:pic>
        <p:nvPicPr>
          <p:cNvPr descr="preencoded.png" id="368" name="Google Shape;368;p13"/>
          <p:cNvPicPr preferRelativeResize="0"/>
          <p:nvPr/>
        </p:nvPicPr>
        <p:blipFill rotWithShape="1">
          <a:blip r:embed="rId5">
            <a:alphaModFix/>
          </a:blip>
          <a:srcRect b="0" l="0" r="0" t="0"/>
          <a:stretch/>
        </p:blipFill>
        <p:spPr>
          <a:xfrm>
            <a:off x="381000" y="4457700"/>
            <a:ext cx="5600700" cy="1409700"/>
          </a:xfrm>
          <a:prstGeom prst="rect">
            <a:avLst/>
          </a:prstGeom>
          <a:noFill/>
          <a:ln>
            <a:noFill/>
          </a:ln>
        </p:spPr>
      </p:pic>
      <p:pic>
        <p:nvPicPr>
          <p:cNvPr descr="preencoded.png" id="369" name="Google Shape;369;p13"/>
          <p:cNvPicPr preferRelativeResize="0"/>
          <p:nvPr/>
        </p:nvPicPr>
        <p:blipFill rotWithShape="1">
          <a:blip r:embed="rId10">
            <a:alphaModFix/>
          </a:blip>
          <a:srcRect b="0" l="0" r="0" t="0"/>
          <a:stretch/>
        </p:blipFill>
        <p:spPr>
          <a:xfrm>
            <a:off x="571500" y="4648200"/>
            <a:ext cx="457200" cy="457200"/>
          </a:xfrm>
          <a:prstGeom prst="rect">
            <a:avLst/>
          </a:prstGeom>
          <a:noFill/>
          <a:ln>
            <a:noFill/>
          </a:ln>
        </p:spPr>
      </p:pic>
      <p:pic>
        <p:nvPicPr>
          <p:cNvPr descr="preencoded.png" id="370" name="Google Shape;370;p13"/>
          <p:cNvPicPr preferRelativeResize="0"/>
          <p:nvPr/>
        </p:nvPicPr>
        <p:blipFill rotWithShape="1">
          <a:blip r:embed="rId11">
            <a:alphaModFix/>
          </a:blip>
          <a:srcRect b="0" l="0" r="0" t="0"/>
          <a:stretch/>
        </p:blipFill>
        <p:spPr>
          <a:xfrm>
            <a:off x="685800" y="4724400"/>
            <a:ext cx="228600" cy="304800"/>
          </a:xfrm>
          <a:prstGeom prst="rect">
            <a:avLst/>
          </a:prstGeom>
          <a:noFill/>
          <a:ln>
            <a:noFill/>
          </a:ln>
        </p:spPr>
      </p:pic>
      <p:pic>
        <p:nvPicPr>
          <p:cNvPr descr="preencoded.png" id="371" name="Google Shape;371;p13"/>
          <p:cNvPicPr preferRelativeResize="0"/>
          <p:nvPr/>
        </p:nvPicPr>
        <p:blipFill rotWithShape="1">
          <a:blip r:embed="rId5">
            <a:alphaModFix/>
          </a:blip>
          <a:srcRect b="0" l="0" r="0" t="0"/>
          <a:stretch/>
        </p:blipFill>
        <p:spPr>
          <a:xfrm>
            <a:off x="6210300" y="4457700"/>
            <a:ext cx="5600700" cy="1409700"/>
          </a:xfrm>
          <a:prstGeom prst="rect">
            <a:avLst/>
          </a:prstGeom>
          <a:noFill/>
          <a:ln>
            <a:noFill/>
          </a:ln>
        </p:spPr>
      </p:pic>
      <p:pic>
        <p:nvPicPr>
          <p:cNvPr descr="preencoded.png" id="372" name="Google Shape;372;p13"/>
          <p:cNvPicPr preferRelativeResize="0"/>
          <p:nvPr/>
        </p:nvPicPr>
        <p:blipFill rotWithShape="1">
          <a:blip r:embed="rId12">
            <a:alphaModFix/>
          </a:blip>
          <a:srcRect b="0" l="0" r="0" t="0"/>
          <a:stretch/>
        </p:blipFill>
        <p:spPr>
          <a:xfrm>
            <a:off x="6400800" y="4648200"/>
            <a:ext cx="457200" cy="457200"/>
          </a:xfrm>
          <a:prstGeom prst="rect">
            <a:avLst/>
          </a:prstGeom>
          <a:noFill/>
          <a:ln>
            <a:noFill/>
          </a:ln>
        </p:spPr>
      </p:pic>
      <p:pic>
        <p:nvPicPr>
          <p:cNvPr descr="preencoded.png" id="373" name="Google Shape;373;p13"/>
          <p:cNvPicPr preferRelativeResize="0"/>
          <p:nvPr/>
        </p:nvPicPr>
        <p:blipFill rotWithShape="1">
          <a:blip r:embed="rId13">
            <a:alphaModFix/>
          </a:blip>
          <a:srcRect b="0" l="0" r="0" t="0"/>
          <a:stretch/>
        </p:blipFill>
        <p:spPr>
          <a:xfrm>
            <a:off x="6515100" y="4724400"/>
            <a:ext cx="228600" cy="304800"/>
          </a:xfrm>
          <a:prstGeom prst="rect">
            <a:avLst/>
          </a:prstGeom>
          <a:noFill/>
          <a:ln>
            <a:noFill/>
          </a:ln>
        </p:spPr>
      </p:pic>
      <p:sp>
        <p:nvSpPr>
          <p:cNvPr id="374" name="Google Shape;374;p13"/>
          <p:cNvSpPr/>
          <p:nvPr/>
        </p:nvSpPr>
        <p:spPr>
          <a:xfrm>
            <a:off x="381000" y="381000"/>
            <a:ext cx="13716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Continual Improvement Principles</a:t>
            </a:r>
            <a:endParaRPr sz="2700">
              <a:solidFill>
                <a:schemeClr val="dk1"/>
              </a:solidFill>
              <a:latin typeface="Calibri"/>
              <a:ea typeface="Calibri"/>
              <a:cs typeface="Calibri"/>
              <a:sym typeface="Calibri"/>
            </a:endParaRPr>
          </a:p>
        </p:txBody>
      </p:sp>
      <p:sp>
        <p:nvSpPr>
          <p:cNvPr id="375" name="Google Shape;375;p13"/>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Fundamental principles driving the evolution of ISO 27001 and ISO 42001 management systems</a:t>
            </a:r>
            <a:endParaRPr sz="1500">
              <a:solidFill>
                <a:schemeClr val="dk1"/>
              </a:solidFill>
              <a:latin typeface="Calibri"/>
              <a:ea typeface="Calibri"/>
              <a:cs typeface="Calibri"/>
              <a:sym typeface="Calibri"/>
            </a:endParaRPr>
          </a:p>
        </p:txBody>
      </p:sp>
      <p:sp>
        <p:nvSpPr>
          <p:cNvPr id="376" name="Google Shape;376;p13"/>
          <p:cNvSpPr/>
          <p:nvPr/>
        </p:nvSpPr>
        <p:spPr>
          <a:xfrm>
            <a:off x="571500" y="1600200"/>
            <a:ext cx="11049000" cy="8001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374151"/>
              </a:buClr>
              <a:buSzPts val="1350"/>
              <a:buFont typeface="Arial"/>
              <a:buNone/>
            </a:pPr>
            <a:r>
              <a:rPr lang="en-US" sz="1350">
                <a:solidFill>
                  <a:srgbClr val="374151"/>
                </a:solidFill>
                <a:latin typeface="Arial"/>
                <a:ea typeface="Arial"/>
                <a:cs typeface="Arial"/>
                <a:sym typeface="Arial"/>
              </a:rPr>
              <a:t>Continual improvement stands as the fundamental principle at the heart of both ISO 27001 (Information Security Management Systems) and ISO 42001 (Artificial Intelligence Management Systems). As a Lead Implementer, your role is pivotal in orchestrating and driving this ongoing process within the organization.</a:t>
            </a:r>
            <a:endParaRPr sz="1350">
              <a:solidFill>
                <a:schemeClr val="dk1"/>
              </a:solidFill>
              <a:latin typeface="Calibri"/>
              <a:ea typeface="Calibri"/>
              <a:cs typeface="Calibri"/>
              <a:sym typeface="Calibri"/>
            </a:endParaRPr>
          </a:p>
        </p:txBody>
      </p:sp>
      <p:sp>
        <p:nvSpPr>
          <p:cNvPr id="377" name="Google Shape;377;p13"/>
          <p:cNvSpPr/>
          <p:nvPr/>
        </p:nvSpPr>
        <p:spPr>
          <a:xfrm>
            <a:off x="1181100" y="3009900"/>
            <a:ext cx="553212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Analyze Audit Results</a:t>
            </a:r>
            <a:endParaRPr sz="1500">
              <a:solidFill>
                <a:schemeClr val="dk1"/>
              </a:solidFill>
              <a:latin typeface="Calibri"/>
              <a:ea typeface="Calibri"/>
              <a:cs typeface="Calibri"/>
              <a:sym typeface="Calibri"/>
            </a:endParaRPr>
          </a:p>
        </p:txBody>
      </p:sp>
      <p:sp>
        <p:nvSpPr>
          <p:cNvPr id="378" name="Google Shape;378;p13"/>
          <p:cNvSpPr/>
          <p:nvPr/>
        </p:nvSpPr>
        <p:spPr>
          <a:xfrm>
            <a:off x="1181100" y="3352800"/>
            <a:ext cx="461010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Utilize findings from both internal and external audits to pinpoint areas requiring enhancement and identify systemic weaknesses.</a:t>
            </a:r>
            <a:endParaRPr sz="1200">
              <a:solidFill>
                <a:schemeClr val="dk1"/>
              </a:solidFill>
              <a:latin typeface="Calibri"/>
              <a:ea typeface="Calibri"/>
              <a:cs typeface="Calibri"/>
              <a:sym typeface="Calibri"/>
            </a:endParaRPr>
          </a:p>
        </p:txBody>
      </p:sp>
      <p:sp>
        <p:nvSpPr>
          <p:cNvPr id="379" name="Google Shape;379;p13"/>
          <p:cNvSpPr/>
          <p:nvPr/>
        </p:nvSpPr>
        <p:spPr>
          <a:xfrm>
            <a:off x="7010400" y="3009900"/>
            <a:ext cx="46101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Monitor Performance</a:t>
            </a:r>
            <a:endParaRPr sz="1500">
              <a:solidFill>
                <a:schemeClr val="dk1"/>
              </a:solidFill>
              <a:latin typeface="Calibri"/>
              <a:ea typeface="Calibri"/>
              <a:cs typeface="Calibri"/>
              <a:sym typeface="Calibri"/>
            </a:endParaRPr>
          </a:p>
        </p:txBody>
      </p:sp>
      <p:sp>
        <p:nvSpPr>
          <p:cNvPr id="380" name="Google Shape;380;p13"/>
          <p:cNvSpPr/>
          <p:nvPr/>
        </p:nvSpPr>
        <p:spPr>
          <a:xfrm>
            <a:off x="7010400" y="3352800"/>
            <a:ext cx="461010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Employ metrics and Key Performance Indicators (KPIs) to continuously track the effectiveness of the ISMS and AIMS, identifying trends and potential deviations.</a:t>
            </a:r>
            <a:endParaRPr sz="1200">
              <a:solidFill>
                <a:schemeClr val="dk1"/>
              </a:solidFill>
              <a:latin typeface="Calibri"/>
              <a:ea typeface="Calibri"/>
              <a:cs typeface="Calibri"/>
              <a:sym typeface="Calibri"/>
            </a:endParaRPr>
          </a:p>
        </p:txBody>
      </p:sp>
      <p:sp>
        <p:nvSpPr>
          <p:cNvPr id="381" name="Google Shape;381;p13"/>
          <p:cNvSpPr/>
          <p:nvPr/>
        </p:nvSpPr>
        <p:spPr>
          <a:xfrm>
            <a:off x="1181100" y="4648200"/>
            <a:ext cx="46101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Learn from Incidents</a:t>
            </a:r>
            <a:endParaRPr sz="1500">
              <a:solidFill>
                <a:schemeClr val="dk1"/>
              </a:solidFill>
              <a:latin typeface="Calibri"/>
              <a:ea typeface="Calibri"/>
              <a:cs typeface="Calibri"/>
              <a:sym typeface="Calibri"/>
            </a:endParaRPr>
          </a:p>
        </p:txBody>
      </p:sp>
      <p:sp>
        <p:nvSpPr>
          <p:cNvPr id="382" name="Google Shape;382;p13"/>
          <p:cNvSpPr/>
          <p:nvPr/>
        </p:nvSpPr>
        <p:spPr>
          <a:xfrm>
            <a:off x="1181100" y="4991100"/>
            <a:ext cx="461010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Conduct thorough post-incident reviews to ascertain the root causes of security breaches or AI-related incidents and implement corrective actions.</a:t>
            </a:r>
            <a:endParaRPr sz="1200">
              <a:solidFill>
                <a:schemeClr val="dk1"/>
              </a:solidFill>
              <a:latin typeface="Calibri"/>
              <a:ea typeface="Calibri"/>
              <a:cs typeface="Calibri"/>
              <a:sym typeface="Calibri"/>
            </a:endParaRPr>
          </a:p>
        </p:txBody>
      </p:sp>
      <p:sp>
        <p:nvSpPr>
          <p:cNvPr id="383" name="Google Shape;383;p13"/>
          <p:cNvSpPr/>
          <p:nvPr/>
        </p:nvSpPr>
        <p:spPr>
          <a:xfrm>
            <a:off x="7010400" y="4648200"/>
            <a:ext cx="46101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Root Cause Analysis</a:t>
            </a:r>
            <a:endParaRPr sz="1500">
              <a:solidFill>
                <a:schemeClr val="dk1"/>
              </a:solidFill>
              <a:latin typeface="Calibri"/>
              <a:ea typeface="Calibri"/>
              <a:cs typeface="Calibri"/>
              <a:sym typeface="Calibri"/>
            </a:endParaRPr>
          </a:p>
        </p:txBody>
      </p:sp>
      <p:sp>
        <p:nvSpPr>
          <p:cNvPr id="384" name="Google Shape;384;p13"/>
          <p:cNvSpPr/>
          <p:nvPr/>
        </p:nvSpPr>
        <p:spPr>
          <a:xfrm>
            <a:off x="7010400" y="4991100"/>
            <a:ext cx="461010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Identify the true root cause of problems rather than merely addressing symptoms. Use techniques like 5 Whys and Fishbone Diagrams to dig deeper.</a:t>
            </a:r>
            <a:endParaRPr sz="1200">
              <a:solidFill>
                <a:schemeClr val="dk1"/>
              </a:solidFill>
              <a:latin typeface="Calibri"/>
              <a:ea typeface="Calibri"/>
              <a:cs typeface="Calibri"/>
              <a:sym typeface="Calibri"/>
            </a:endParaRPr>
          </a:p>
        </p:txBody>
      </p:sp>
      <p:sp>
        <p:nvSpPr>
          <p:cNvPr id="385" name="Google Shape;385;p13"/>
          <p:cNvSpPr/>
          <p:nvPr/>
        </p:nvSpPr>
        <p:spPr>
          <a:xfrm>
            <a:off x="8687098" y="6515100"/>
            <a:ext cx="393156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11/23</a:t>
            </a:r>
            <a:endParaRPr sz="105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descr="preencoded.png" id="391" name="Google Shape;3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392" name="Google Shape;392;p14"/>
          <p:cNvPicPr preferRelativeResize="0"/>
          <p:nvPr/>
        </p:nvPicPr>
        <p:blipFill rotWithShape="1">
          <a:blip r:embed="rId4">
            <a:alphaModFix/>
          </a:blip>
          <a:srcRect b="0" l="0" r="0" t="0"/>
          <a:stretch/>
        </p:blipFill>
        <p:spPr>
          <a:xfrm>
            <a:off x="5308600" y="104775"/>
            <a:ext cx="6940550" cy="2286000"/>
          </a:xfrm>
          <a:prstGeom prst="rect">
            <a:avLst/>
          </a:prstGeom>
          <a:noFill/>
          <a:ln>
            <a:noFill/>
          </a:ln>
        </p:spPr>
      </p:pic>
      <p:pic>
        <p:nvPicPr>
          <p:cNvPr descr="preencoded.png" id="393" name="Google Shape;393;p14"/>
          <p:cNvPicPr preferRelativeResize="0"/>
          <p:nvPr/>
        </p:nvPicPr>
        <p:blipFill rotWithShape="1">
          <a:blip r:embed="rId5">
            <a:alphaModFix/>
          </a:blip>
          <a:srcRect b="0" l="0" r="0" t="0"/>
          <a:stretch/>
        </p:blipFill>
        <p:spPr>
          <a:xfrm>
            <a:off x="381000" y="2247900"/>
            <a:ext cx="3657600" cy="1676400"/>
          </a:xfrm>
          <a:prstGeom prst="rect">
            <a:avLst/>
          </a:prstGeom>
          <a:noFill/>
          <a:ln>
            <a:noFill/>
          </a:ln>
        </p:spPr>
      </p:pic>
      <p:pic>
        <p:nvPicPr>
          <p:cNvPr descr="preencoded.png" id="394" name="Google Shape;394;p14"/>
          <p:cNvPicPr preferRelativeResize="0"/>
          <p:nvPr/>
        </p:nvPicPr>
        <p:blipFill rotWithShape="1">
          <a:blip r:embed="rId6">
            <a:alphaModFix/>
          </a:blip>
          <a:srcRect b="0" l="0" r="0" t="0"/>
          <a:stretch/>
        </p:blipFill>
        <p:spPr>
          <a:xfrm>
            <a:off x="533400" y="2400300"/>
            <a:ext cx="381000" cy="381000"/>
          </a:xfrm>
          <a:prstGeom prst="rect">
            <a:avLst/>
          </a:prstGeom>
          <a:noFill/>
          <a:ln>
            <a:noFill/>
          </a:ln>
        </p:spPr>
      </p:pic>
      <p:pic>
        <p:nvPicPr>
          <p:cNvPr descr="preencoded.png" id="395" name="Google Shape;395;p14"/>
          <p:cNvPicPr preferRelativeResize="0"/>
          <p:nvPr/>
        </p:nvPicPr>
        <p:blipFill rotWithShape="1">
          <a:blip r:embed="rId7">
            <a:alphaModFix/>
          </a:blip>
          <a:srcRect b="0" l="0" r="0" t="0"/>
          <a:stretch/>
        </p:blipFill>
        <p:spPr>
          <a:xfrm>
            <a:off x="628650" y="2457450"/>
            <a:ext cx="190500" cy="266700"/>
          </a:xfrm>
          <a:prstGeom prst="rect">
            <a:avLst/>
          </a:prstGeom>
          <a:noFill/>
          <a:ln>
            <a:noFill/>
          </a:ln>
        </p:spPr>
      </p:pic>
      <p:pic>
        <p:nvPicPr>
          <p:cNvPr descr="preencoded.png" id="396" name="Google Shape;396;p14"/>
          <p:cNvPicPr preferRelativeResize="0"/>
          <p:nvPr/>
        </p:nvPicPr>
        <p:blipFill rotWithShape="1">
          <a:blip r:embed="rId5">
            <a:alphaModFix/>
          </a:blip>
          <a:srcRect b="0" l="0" r="0" t="0"/>
          <a:stretch/>
        </p:blipFill>
        <p:spPr>
          <a:xfrm>
            <a:off x="4267200" y="2247900"/>
            <a:ext cx="3657600" cy="1676400"/>
          </a:xfrm>
          <a:prstGeom prst="rect">
            <a:avLst/>
          </a:prstGeom>
          <a:noFill/>
          <a:ln>
            <a:noFill/>
          </a:ln>
        </p:spPr>
      </p:pic>
      <p:pic>
        <p:nvPicPr>
          <p:cNvPr descr="preencoded.png" id="397" name="Google Shape;397;p14"/>
          <p:cNvPicPr preferRelativeResize="0"/>
          <p:nvPr/>
        </p:nvPicPr>
        <p:blipFill rotWithShape="1">
          <a:blip r:embed="rId8">
            <a:alphaModFix/>
          </a:blip>
          <a:srcRect b="0" l="0" r="0" t="0"/>
          <a:stretch/>
        </p:blipFill>
        <p:spPr>
          <a:xfrm>
            <a:off x="4419600" y="2400300"/>
            <a:ext cx="381000" cy="381000"/>
          </a:xfrm>
          <a:prstGeom prst="rect">
            <a:avLst/>
          </a:prstGeom>
          <a:noFill/>
          <a:ln>
            <a:noFill/>
          </a:ln>
        </p:spPr>
      </p:pic>
      <p:pic>
        <p:nvPicPr>
          <p:cNvPr descr="preencoded.png" id="398" name="Google Shape;398;p14"/>
          <p:cNvPicPr preferRelativeResize="0"/>
          <p:nvPr/>
        </p:nvPicPr>
        <p:blipFill rotWithShape="1">
          <a:blip r:embed="rId9">
            <a:alphaModFix/>
          </a:blip>
          <a:srcRect b="0" l="0" r="0" t="0"/>
          <a:stretch/>
        </p:blipFill>
        <p:spPr>
          <a:xfrm>
            <a:off x="4500563" y="2457450"/>
            <a:ext cx="219075" cy="266700"/>
          </a:xfrm>
          <a:prstGeom prst="rect">
            <a:avLst/>
          </a:prstGeom>
          <a:noFill/>
          <a:ln>
            <a:noFill/>
          </a:ln>
        </p:spPr>
      </p:pic>
      <p:pic>
        <p:nvPicPr>
          <p:cNvPr descr="preencoded.png" id="399" name="Google Shape;399;p14"/>
          <p:cNvPicPr preferRelativeResize="0"/>
          <p:nvPr/>
        </p:nvPicPr>
        <p:blipFill rotWithShape="1">
          <a:blip r:embed="rId5">
            <a:alphaModFix/>
          </a:blip>
          <a:srcRect b="0" l="0" r="0" t="0"/>
          <a:stretch/>
        </p:blipFill>
        <p:spPr>
          <a:xfrm>
            <a:off x="8153400" y="2247900"/>
            <a:ext cx="3657600" cy="1676400"/>
          </a:xfrm>
          <a:prstGeom prst="rect">
            <a:avLst/>
          </a:prstGeom>
          <a:noFill/>
          <a:ln>
            <a:noFill/>
          </a:ln>
        </p:spPr>
      </p:pic>
      <p:pic>
        <p:nvPicPr>
          <p:cNvPr descr="preencoded.png" id="400" name="Google Shape;400;p14"/>
          <p:cNvPicPr preferRelativeResize="0"/>
          <p:nvPr/>
        </p:nvPicPr>
        <p:blipFill rotWithShape="1">
          <a:blip r:embed="rId10">
            <a:alphaModFix/>
          </a:blip>
          <a:srcRect b="0" l="0" r="0" t="0"/>
          <a:stretch/>
        </p:blipFill>
        <p:spPr>
          <a:xfrm>
            <a:off x="8305800" y="2400300"/>
            <a:ext cx="381000" cy="381000"/>
          </a:xfrm>
          <a:prstGeom prst="rect">
            <a:avLst/>
          </a:prstGeom>
          <a:noFill/>
          <a:ln>
            <a:noFill/>
          </a:ln>
        </p:spPr>
      </p:pic>
      <p:pic>
        <p:nvPicPr>
          <p:cNvPr descr="preencoded.png" id="401" name="Google Shape;401;p14"/>
          <p:cNvPicPr preferRelativeResize="0"/>
          <p:nvPr/>
        </p:nvPicPr>
        <p:blipFill rotWithShape="1">
          <a:blip r:embed="rId11">
            <a:alphaModFix/>
          </a:blip>
          <a:srcRect b="0" l="0" r="0" t="0"/>
          <a:stretch/>
        </p:blipFill>
        <p:spPr>
          <a:xfrm>
            <a:off x="8401050" y="2457450"/>
            <a:ext cx="190500" cy="266700"/>
          </a:xfrm>
          <a:prstGeom prst="rect">
            <a:avLst/>
          </a:prstGeom>
          <a:noFill/>
          <a:ln>
            <a:noFill/>
          </a:ln>
        </p:spPr>
      </p:pic>
      <p:sp>
        <p:nvSpPr>
          <p:cNvPr id="402" name="Google Shape;402;p14"/>
          <p:cNvSpPr/>
          <p:nvPr/>
        </p:nvSpPr>
        <p:spPr>
          <a:xfrm>
            <a:off x="381000" y="381000"/>
            <a:ext cx="13716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The Improvement Cycle Process</a:t>
            </a:r>
            <a:endParaRPr sz="2700">
              <a:solidFill>
                <a:schemeClr val="dk1"/>
              </a:solidFill>
              <a:latin typeface="Calibri"/>
              <a:ea typeface="Calibri"/>
              <a:cs typeface="Calibri"/>
              <a:sym typeface="Calibri"/>
            </a:endParaRPr>
          </a:p>
        </p:txBody>
      </p:sp>
      <p:sp>
        <p:nvSpPr>
          <p:cNvPr id="403" name="Google Shape;403;p14"/>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A dynamic process ensuring ISMS and AIMS evolve and strengthen over time</a:t>
            </a:r>
            <a:endParaRPr sz="1500">
              <a:solidFill>
                <a:schemeClr val="dk1"/>
              </a:solidFill>
              <a:latin typeface="Calibri"/>
              <a:ea typeface="Calibri"/>
              <a:cs typeface="Calibri"/>
              <a:sym typeface="Calibri"/>
            </a:endParaRPr>
          </a:p>
        </p:txBody>
      </p:sp>
      <p:sp>
        <p:nvSpPr>
          <p:cNvPr id="404" name="Google Shape;404;p14"/>
          <p:cNvSpPr/>
          <p:nvPr/>
        </p:nvSpPr>
        <p:spPr>
          <a:xfrm>
            <a:off x="1028700" y="2457450"/>
            <a:ext cx="2813209"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Analyze Audit Results</a:t>
            </a:r>
            <a:endParaRPr sz="1500">
              <a:solidFill>
                <a:schemeClr val="dk1"/>
              </a:solidFill>
              <a:latin typeface="Calibri"/>
              <a:ea typeface="Calibri"/>
              <a:cs typeface="Calibri"/>
              <a:sym typeface="Calibri"/>
            </a:endParaRPr>
          </a:p>
        </p:txBody>
      </p:sp>
      <p:sp>
        <p:nvSpPr>
          <p:cNvPr id="405" name="Google Shape;405;p14"/>
          <p:cNvSpPr/>
          <p:nvPr/>
        </p:nvSpPr>
        <p:spPr>
          <a:xfrm>
            <a:off x="533400" y="2857500"/>
            <a:ext cx="402336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Utilize findings from internal audits</a:t>
            </a:r>
            <a:endParaRPr sz="1200">
              <a:solidFill>
                <a:schemeClr val="dk1"/>
              </a:solidFill>
              <a:latin typeface="Calibri"/>
              <a:ea typeface="Calibri"/>
              <a:cs typeface="Calibri"/>
              <a:sym typeface="Calibri"/>
            </a:endParaRPr>
          </a:p>
        </p:txBody>
      </p:sp>
      <p:sp>
        <p:nvSpPr>
          <p:cNvPr id="406" name="Google Shape;406;p14"/>
          <p:cNvSpPr/>
          <p:nvPr/>
        </p:nvSpPr>
        <p:spPr>
          <a:xfrm>
            <a:off x="533400" y="3086100"/>
            <a:ext cx="402336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Review external audit results</a:t>
            </a:r>
            <a:endParaRPr sz="1200">
              <a:solidFill>
                <a:schemeClr val="dk1"/>
              </a:solidFill>
              <a:latin typeface="Calibri"/>
              <a:ea typeface="Calibri"/>
              <a:cs typeface="Calibri"/>
              <a:sym typeface="Calibri"/>
            </a:endParaRPr>
          </a:p>
        </p:txBody>
      </p:sp>
      <p:sp>
        <p:nvSpPr>
          <p:cNvPr id="407" name="Google Shape;407;p14"/>
          <p:cNvSpPr/>
          <p:nvPr/>
        </p:nvSpPr>
        <p:spPr>
          <a:xfrm>
            <a:off x="533400" y="3314700"/>
            <a:ext cx="402336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Identify systemic weaknesses</a:t>
            </a:r>
            <a:endParaRPr sz="1200">
              <a:solidFill>
                <a:schemeClr val="dk1"/>
              </a:solidFill>
              <a:latin typeface="Calibri"/>
              <a:ea typeface="Calibri"/>
              <a:cs typeface="Calibri"/>
              <a:sym typeface="Calibri"/>
            </a:endParaRPr>
          </a:p>
        </p:txBody>
      </p:sp>
      <p:sp>
        <p:nvSpPr>
          <p:cNvPr id="408" name="Google Shape;408;p14"/>
          <p:cNvSpPr/>
          <p:nvPr/>
        </p:nvSpPr>
        <p:spPr>
          <a:xfrm>
            <a:off x="533400" y="3543300"/>
            <a:ext cx="402336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Pinpoint areas requiring enhancement</a:t>
            </a:r>
            <a:endParaRPr sz="1200">
              <a:solidFill>
                <a:schemeClr val="dk1"/>
              </a:solidFill>
              <a:latin typeface="Calibri"/>
              <a:ea typeface="Calibri"/>
              <a:cs typeface="Calibri"/>
              <a:sym typeface="Calibri"/>
            </a:endParaRPr>
          </a:p>
        </p:txBody>
      </p:sp>
      <p:sp>
        <p:nvSpPr>
          <p:cNvPr id="409" name="Google Shape;409;p14"/>
          <p:cNvSpPr/>
          <p:nvPr/>
        </p:nvSpPr>
        <p:spPr>
          <a:xfrm>
            <a:off x="4914900" y="2457450"/>
            <a:ext cx="2734628"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Monitor Performance</a:t>
            </a:r>
            <a:endParaRPr sz="1500">
              <a:solidFill>
                <a:schemeClr val="dk1"/>
              </a:solidFill>
              <a:latin typeface="Calibri"/>
              <a:ea typeface="Calibri"/>
              <a:cs typeface="Calibri"/>
              <a:sym typeface="Calibri"/>
            </a:endParaRPr>
          </a:p>
        </p:txBody>
      </p:sp>
      <p:sp>
        <p:nvSpPr>
          <p:cNvPr id="410" name="Google Shape;410;p14"/>
          <p:cNvSpPr/>
          <p:nvPr/>
        </p:nvSpPr>
        <p:spPr>
          <a:xfrm>
            <a:off x="4419600" y="2857500"/>
            <a:ext cx="402336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Employ metrics and KPIs</a:t>
            </a:r>
            <a:endParaRPr sz="1200">
              <a:solidFill>
                <a:schemeClr val="dk1"/>
              </a:solidFill>
              <a:latin typeface="Calibri"/>
              <a:ea typeface="Calibri"/>
              <a:cs typeface="Calibri"/>
              <a:sym typeface="Calibri"/>
            </a:endParaRPr>
          </a:p>
        </p:txBody>
      </p:sp>
      <p:sp>
        <p:nvSpPr>
          <p:cNvPr id="411" name="Google Shape;411;p14"/>
          <p:cNvSpPr/>
          <p:nvPr/>
        </p:nvSpPr>
        <p:spPr>
          <a:xfrm>
            <a:off x="4419600" y="3086100"/>
            <a:ext cx="402336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Track ISMS and AIMS effectiveness</a:t>
            </a:r>
            <a:endParaRPr sz="1200">
              <a:solidFill>
                <a:schemeClr val="dk1"/>
              </a:solidFill>
              <a:latin typeface="Calibri"/>
              <a:ea typeface="Calibri"/>
              <a:cs typeface="Calibri"/>
              <a:sym typeface="Calibri"/>
            </a:endParaRPr>
          </a:p>
        </p:txBody>
      </p:sp>
      <p:sp>
        <p:nvSpPr>
          <p:cNvPr id="412" name="Google Shape;412;p14"/>
          <p:cNvSpPr/>
          <p:nvPr/>
        </p:nvSpPr>
        <p:spPr>
          <a:xfrm>
            <a:off x="4419600" y="3314700"/>
            <a:ext cx="402336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Identify trends and deviations</a:t>
            </a:r>
            <a:endParaRPr sz="1200">
              <a:solidFill>
                <a:schemeClr val="dk1"/>
              </a:solidFill>
              <a:latin typeface="Calibri"/>
              <a:ea typeface="Calibri"/>
              <a:cs typeface="Calibri"/>
              <a:sym typeface="Calibri"/>
            </a:endParaRPr>
          </a:p>
        </p:txBody>
      </p:sp>
      <p:sp>
        <p:nvSpPr>
          <p:cNvPr id="413" name="Google Shape;413;p14"/>
          <p:cNvSpPr/>
          <p:nvPr/>
        </p:nvSpPr>
        <p:spPr>
          <a:xfrm>
            <a:off x="4419600" y="3543300"/>
            <a:ext cx="402336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Measure against objectives</a:t>
            </a:r>
            <a:endParaRPr sz="1200">
              <a:solidFill>
                <a:schemeClr val="dk1"/>
              </a:solidFill>
              <a:latin typeface="Calibri"/>
              <a:ea typeface="Calibri"/>
              <a:cs typeface="Calibri"/>
              <a:sym typeface="Calibri"/>
            </a:endParaRPr>
          </a:p>
        </p:txBody>
      </p:sp>
      <p:sp>
        <p:nvSpPr>
          <p:cNvPr id="414" name="Google Shape;414;p14"/>
          <p:cNvSpPr/>
          <p:nvPr/>
        </p:nvSpPr>
        <p:spPr>
          <a:xfrm>
            <a:off x="8801100" y="2457450"/>
            <a:ext cx="2685514"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Learn from Incidents</a:t>
            </a:r>
            <a:endParaRPr sz="1500">
              <a:solidFill>
                <a:schemeClr val="dk1"/>
              </a:solidFill>
              <a:latin typeface="Calibri"/>
              <a:ea typeface="Calibri"/>
              <a:cs typeface="Calibri"/>
              <a:sym typeface="Calibri"/>
            </a:endParaRPr>
          </a:p>
        </p:txBody>
      </p:sp>
      <p:sp>
        <p:nvSpPr>
          <p:cNvPr id="415" name="Google Shape;415;p14"/>
          <p:cNvSpPr/>
          <p:nvPr/>
        </p:nvSpPr>
        <p:spPr>
          <a:xfrm>
            <a:off x="8305800" y="2857500"/>
            <a:ext cx="402336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Conduct post-incident reviews</a:t>
            </a:r>
            <a:endParaRPr sz="1200">
              <a:solidFill>
                <a:schemeClr val="dk1"/>
              </a:solidFill>
              <a:latin typeface="Calibri"/>
              <a:ea typeface="Calibri"/>
              <a:cs typeface="Calibri"/>
              <a:sym typeface="Calibri"/>
            </a:endParaRPr>
          </a:p>
        </p:txBody>
      </p:sp>
      <p:sp>
        <p:nvSpPr>
          <p:cNvPr id="416" name="Google Shape;416;p14"/>
          <p:cNvSpPr/>
          <p:nvPr/>
        </p:nvSpPr>
        <p:spPr>
          <a:xfrm>
            <a:off x="8305800" y="3086100"/>
            <a:ext cx="402336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Determine root causes of breaches</a:t>
            </a:r>
            <a:endParaRPr sz="1200">
              <a:solidFill>
                <a:schemeClr val="dk1"/>
              </a:solidFill>
              <a:latin typeface="Calibri"/>
              <a:ea typeface="Calibri"/>
              <a:cs typeface="Calibri"/>
              <a:sym typeface="Calibri"/>
            </a:endParaRPr>
          </a:p>
        </p:txBody>
      </p:sp>
      <p:sp>
        <p:nvSpPr>
          <p:cNvPr id="417" name="Google Shape;417;p14"/>
          <p:cNvSpPr/>
          <p:nvPr/>
        </p:nvSpPr>
        <p:spPr>
          <a:xfrm>
            <a:off x="8305800" y="3314700"/>
            <a:ext cx="402336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Implement corrective actions</a:t>
            </a:r>
            <a:endParaRPr sz="1200">
              <a:solidFill>
                <a:schemeClr val="dk1"/>
              </a:solidFill>
              <a:latin typeface="Calibri"/>
              <a:ea typeface="Calibri"/>
              <a:cs typeface="Calibri"/>
              <a:sym typeface="Calibri"/>
            </a:endParaRPr>
          </a:p>
        </p:txBody>
      </p:sp>
      <p:sp>
        <p:nvSpPr>
          <p:cNvPr id="418" name="Google Shape;418;p14"/>
          <p:cNvSpPr/>
          <p:nvPr/>
        </p:nvSpPr>
        <p:spPr>
          <a:xfrm>
            <a:off x="8305800" y="3543300"/>
            <a:ext cx="402336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Prevent recurrence of incidents</a:t>
            </a:r>
            <a:endParaRPr sz="1200">
              <a:solidFill>
                <a:schemeClr val="dk1"/>
              </a:solidFill>
              <a:latin typeface="Calibri"/>
              <a:ea typeface="Calibri"/>
              <a:cs typeface="Calibri"/>
              <a:sym typeface="Calibri"/>
            </a:endParaRPr>
          </a:p>
        </p:txBody>
      </p:sp>
      <p:sp>
        <p:nvSpPr>
          <p:cNvPr id="419" name="Google Shape;419;p14"/>
          <p:cNvSpPr/>
          <p:nvPr/>
        </p:nvSpPr>
        <p:spPr>
          <a:xfrm>
            <a:off x="8687098" y="6515100"/>
            <a:ext cx="393156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12/23</a:t>
            </a:r>
            <a:endParaRPr sz="105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pic>
        <p:nvPicPr>
          <p:cNvPr descr="preencoded.png" id="425" name="Google Shape;425;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426" name="Google Shape;426;p15"/>
          <p:cNvPicPr preferRelativeResize="0"/>
          <p:nvPr/>
        </p:nvPicPr>
        <p:blipFill rotWithShape="1">
          <a:blip r:embed="rId4">
            <a:alphaModFix/>
          </a:blip>
          <a:srcRect b="0" l="0" r="0" t="0"/>
          <a:stretch/>
        </p:blipFill>
        <p:spPr>
          <a:xfrm>
            <a:off x="381000" y="1409700"/>
            <a:ext cx="5562600" cy="3905250"/>
          </a:xfrm>
          <a:prstGeom prst="rect">
            <a:avLst/>
          </a:prstGeom>
          <a:noFill/>
          <a:ln>
            <a:noFill/>
          </a:ln>
        </p:spPr>
      </p:pic>
      <p:pic>
        <p:nvPicPr>
          <p:cNvPr descr="preencoded.png" id="427" name="Google Shape;427;p15"/>
          <p:cNvPicPr preferRelativeResize="0"/>
          <p:nvPr/>
        </p:nvPicPr>
        <p:blipFill rotWithShape="1">
          <a:blip r:embed="rId5">
            <a:alphaModFix/>
          </a:blip>
          <a:srcRect b="0" l="0" r="0" t="0"/>
          <a:stretch/>
        </p:blipFill>
        <p:spPr>
          <a:xfrm>
            <a:off x="609600" y="1638300"/>
            <a:ext cx="457200" cy="457200"/>
          </a:xfrm>
          <a:prstGeom prst="rect">
            <a:avLst/>
          </a:prstGeom>
          <a:noFill/>
          <a:ln>
            <a:noFill/>
          </a:ln>
        </p:spPr>
      </p:pic>
      <p:pic>
        <p:nvPicPr>
          <p:cNvPr descr="preencoded.png" id="428" name="Google Shape;428;p15"/>
          <p:cNvPicPr preferRelativeResize="0"/>
          <p:nvPr/>
        </p:nvPicPr>
        <p:blipFill rotWithShape="1">
          <a:blip r:embed="rId6">
            <a:alphaModFix/>
          </a:blip>
          <a:srcRect b="0" l="0" r="0" t="0"/>
          <a:stretch/>
        </p:blipFill>
        <p:spPr>
          <a:xfrm>
            <a:off x="723900" y="1714500"/>
            <a:ext cx="228600" cy="304800"/>
          </a:xfrm>
          <a:prstGeom prst="rect">
            <a:avLst/>
          </a:prstGeom>
          <a:noFill/>
          <a:ln>
            <a:noFill/>
          </a:ln>
        </p:spPr>
      </p:pic>
      <p:pic>
        <p:nvPicPr>
          <p:cNvPr descr="preencoded.png" id="429" name="Google Shape;429;p15"/>
          <p:cNvPicPr preferRelativeResize="0"/>
          <p:nvPr/>
        </p:nvPicPr>
        <p:blipFill rotWithShape="1">
          <a:blip r:embed="rId7">
            <a:alphaModFix/>
          </a:blip>
          <a:srcRect b="0" l="0" r="0" t="0"/>
          <a:stretch/>
        </p:blipFill>
        <p:spPr>
          <a:xfrm>
            <a:off x="609600" y="2857500"/>
            <a:ext cx="5105400" cy="2228850"/>
          </a:xfrm>
          <a:prstGeom prst="rect">
            <a:avLst/>
          </a:prstGeom>
          <a:noFill/>
          <a:ln>
            <a:noFill/>
          </a:ln>
        </p:spPr>
      </p:pic>
      <p:pic>
        <p:nvPicPr>
          <p:cNvPr descr="preencoded.png" id="430" name="Google Shape;430;p15"/>
          <p:cNvPicPr preferRelativeResize="0"/>
          <p:nvPr/>
        </p:nvPicPr>
        <p:blipFill rotWithShape="1">
          <a:blip r:embed="rId8">
            <a:alphaModFix/>
          </a:blip>
          <a:srcRect b="0" l="0" r="0" t="0"/>
          <a:stretch/>
        </p:blipFill>
        <p:spPr>
          <a:xfrm>
            <a:off x="762000" y="3009900"/>
            <a:ext cx="381000" cy="381000"/>
          </a:xfrm>
          <a:prstGeom prst="rect">
            <a:avLst/>
          </a:prstGeom>
          <a:noFill/>
          <a:ln>
            <a:noFill/>
          </a:ln>
        </p:spPr>
      </p:pic>
      <p:pic>
        <p:nvPicPr>
          <p:cNvPr descr="preencoded.png" id="431" name="Google Shape;431;p15"/>
          <p:cNvPicPr preferRelativeResize="0"/>
          <p:nvPr/>
        </p:nvPicPr>
        <p:blipFill rotWithShape="1">
          <a:blip r:embed="rId9">
            <a:alphaModFix/>
          </a:blip>
          <a:srcRect b="0" l="0" r="0" t="0"/>
          <a:stretch/>
        </p:blipFill>
        <p:spPr>
          <a:xfrm>
            <a:off x="876300" y="3124200"/>
            <a:ext cx="152400" cy="152400"/>
          </a:xfrm>
          <a:prstGeom prst="rect">
            <a:avLst/>
          </a:prstGeom>
          <a:noFill/>
          <a:ln>
            <a:noFill/>
          </a:ln>
        </p:spPr>
      </p:pic>
      <p:pic>
        <p:nvPicPr>
          <p:cNvPr descr="preencoded.png" id="432" name="Google Shape;432;p15"/>
          <p:cNvPicPr preferRelativeResize="0"/>
          <p:nvPr/>
        </p:nvPicPr>
        <p:blipFill rotWithShape="1">
          <a:blip r:embed="rId10">
            <a:alphaModFix/>
          </a:blip>
          <a:srcRect b="0" l="0" r="0" t="0"/>
          <a:stretch/>
        </p:blipFill>
        <p:spPr>
          <a:xfrm>
            <a:off x="952500" y="3486150"/>
            <a:ext cx="1200150" cy="19050"/>
          </a:xfrm>
          <a:prstGeom prst="rect">
            <a:avLst/>
          </a:prstGeom>
          <a:noFill/>
          <a:ln>
            <a:noFill/>
          </a:ln>
        </p:spPr>
      </p:pic>
      <p:pic>
        <p:nvPicPr>
          <p:cNvPr descr="preencoded.png" id="433" name="Google Shape;433;p15"/>
          <p:cNvPicPr preferRelativeResize="0"/>
          <p:nvPr/>
        </p:nvPicPr>
        <p:blipFill rotWithShape="1">
          <a:blip r:embed="rId11">
            <a:alphaModFix/>
          </a:blip>
          <a:srcRect b="0" l="0" r="0" t="0"/>
          <a:stretch/>
        </p:blipFill>
        <p:spPr>
          <a:xfrm>
            <a:off x="1143000" y="3600450"/>
            <a:ext cx="304800" cy="304800"/>
          </a:xfrm>
          <a:prstGeom prst="rect">
            <a:avLst/>
          </a:prstGeom>
          <a:noFill/>
          <a:ln>
            <a:noFill/>
          </a:ln>
        </p:spPr>
      </p:pic>
      <p:pic>
        <p:nvPicPr>
          <p:cNvPr descr="preencoded.png" id="434" name="Google Shape;434;p15"/>
          <p:cNvPicPr preferRelativeResize="0"/>
          <p:nvPr/>
        </p:nvPicPr>
        <p:blipFill rotWithShape="1">
          <a:blip r:embed="rId12">
            <a:alphaModFix/>
          </a:blip>
          <a:srcRect b="0" l="0" r="0" t="0"/>
          <a:stretch/>
        </p:blipFill>
        <p:spPr>
          <a:xfrm>
            <a:off x="1243013" y="3676650"/>
            <a:ext cx="104775" cy="152400"/>
          </a:xfrm>
          <a:prstGeom prst="rect">
            <a:avLst/>
          </a:prstGeom>
          <a:noFill/>
          <a:ln>
            <a:noFill/>
          </a:ln>
        </p:spPr>
      </p:pic>
      <p:pic>
        <p:nvPicPr>
          <p:cNvPr descr="preencoded.png" id="435" name="Google Shape;435;p15"/>
          <p:cNvPicPr preferRelativeResize="0"/>
          <p:nvPr/>
        </p:nvPicPr>
        <p:blipFill rotWithShape="1">
          <a:blip r:embed="rId10">
            <a:alphaModFix/>
          </a:blip>
          <a:srcRect b="0" l="0" r="0" t="0"/>
          <a:stretch/>
        </p:blipFill>
        <p:spPr>
          <a:xfrm>
            <a:off x="1295400" y="4000500"/>
            <a:ext cx="1200150" cy="19050"/>
          </a:xfrm>
          <a:prstGeom prst="rect">
            <a:avLst/>
          </a:prstGeom>
          <a:noFill/>
          <a:ln>
            <a:noFill/>
          </a:ln>
        </p:spPr>
      </p:pic>
      <p:pic>
        <p:nvPicPr>
          <p:cNvPr descr="preencoded.png" id="436" name="Google Shape;436;p15"/>
          <p:cNvPicPr preferRelativeResize="0"/>
          <p:nvPr/>
        </p:nvPicPr>
        <p:blipFill rotWithShape="1">
          <a:blip r:embed="rId13">
            <a:alphaModFix/>
          </a:blip>
          <a:srcRect b="0" l="0" r="0" t="0"/>
          <a:stretch/>
        </p:blipFill>
        <p:spPr>
          <a:xfrm>
            <a:off x="1524000" y="4114800"/>
            <a:ext cx="304800" cy="304800"/>
          </a:xfrm>
          <a:prstGeom prst="rect">
            <a:avLst/>
          </a:prstGeom>
          <a:noFill/>
          <a:ln>
            <a:noFill/>
          </a:ln>
        </p:spPr>
      </p:pic>
      <p:pic>
        <p:nvPicPr>
          <p:cNvPr descr="preencoded.png" id="437" name="Google Shape;437;p15"/>
          <p:cNvPicPr preferRelativeResize="0"/>
          <p:nvPr/>
        </p:nvPicPr>
        <p:blipFill rotWithShape="1">
          <a:blip r:embed="rId14">
            <a:alphaModFix/>
          </a:blip>
          <a:srcRect b="0" l="0" r="0" t="0"/>
          <a:stretch/>
        </p:blipFill>
        <p:spPr>
          <a:xfrm>
            <a:off x="1624013" y="4191000"/>
            <a:ext cx="104775" cy="152400"/>
          </a:xfrm>
          <a:prstGeom prst="rect">
            <a:avLst/>
          </a:prstGeom>
          <a:noFill/>
          <a:ln>
            <a:noFill/>
          </a:ln>
        </p:spPr>
      </p:pic>
      <p:pic>
        <p:nvPicPr>
          <p:cNvPr descr="preencoded.png" id="438" name="Google Shape;438;p15"/>
          <p:cNvPicPr preferRelativeResize="0"/>
          <p:nvPr/>
        </p:nvPicPr>
        <p:blipFill rotWithShape="1">
          <a:blip r:embed="rId10">
            <a:alphaModFix/>
          </a:blip>
          <a:srcRect b="0" l="0" r="0" t="0"/>
          <a:stretch/>
        </p:blipFill>
        <p:spPr>
          <a:xfrm>
            <a:off x="1676400" y="4514850"/>
            <a:ext cx="1200150" cy="19050"/>
          </a:xfrm>
          <a:prstGeom prst="rect">
            <a:avLst/>
          </a:prstGeom>
          <a:noFill/>
          <a:ln>
            <a:noFill/>
          </a:ln>
        </p:spPr>
      </p:pic>
      <p:pic>
        <p:nvPicPr>
          <p:cNvPr descr="preencoded.png" id="439" name="Google Shape;439;p15"/>
          <p:cNvPicPr preferRelativeResize="0"/>
          <p:nvPr/>
        </p:nvPicPr>
        <p:blipFill rotWithShape="1">
          <a:blip r:embed="rId15">
            <a:alphaModFix/>
          </a:blip>
          <a:srcRect b="0" l="0" r="0" t="0"/>
          <a:stretch/>
        </p:blipFill>
        <p:spPr>
          <a:xfrm>
            <a:off x="762000" y="4629150"/>
            <a:ext cx="304800" cy="304800"/>
          </a:xfrm>
          <a:prstGeom prst="rect">
            <a:avLst/>
          </a:prstGeom>
          <a:noFill/>
          <a:ln>
            <a:noFill/>
          </a:ln>
        </p:spPr>
      </p:pic>
      <p:pic>
        <p:nvPicPr>
          <p:cNvPr descr="preencoded.png" id="440" name="Google Shape;440;p15"/>
          <p:cNvPicPr preferRelativeResize="0"/>
          <p:nvPr/>
        </p:nvPicPr>
        <p:blipFill rotWithShape="1">
          <a:blip r:embed="rId16">
            <a:alphaModFix/>
          </a:blip>
          <a:srcRect b="0" l="0" r="0" t="0"/>
          <a:stretch/>
        </p:blipFill>
        <p:spPr>
          <a:xfrm>
            <a:off x="838200" y="4705350"/>
            <a:ext cx="152400" cy="152400"/>
          </a:xfrm>
          <a:prstGeom prst="rect">
            <a:avLst/>
          </a:prstGeom>
          <a:noFill/>
          <a:ln>
            <a:noFill/>
          </a:ln>
        </p:spPr>
      </p:pic>
      <p:pic>
        <p:nvPicPr>
          <p:cNvPr descr="preencoded.png" id="441" name="Google Shape;441;p15"/>
          <p:cNvPicPr preferRelativeResize="0"/>
          <p:nvPr/>
        </p:nvPicPr>
        <p:blipFill rotWithShape="1">
          <a:blip r:embed="rId4">
            <a:alphaModFix/>
          </a:blip>
          <a:srcRect b="0" l="0" r="0" t="0"/>
          <a:stretch/>
        </p:blipFill>
        <p:spPr>
          <a:xfrm>
            <a:off x="6248400" y="1409700"/>
            <a:ext cx="5562600" cy="3905250"/>
          </a:xfrm>
          <a:prstGeom prst="rect">
            <a:avLst/>
          </a:prstGeom>
          <a:noFill/>
          <a:ln>
            <a:noFill/>
          </a:ln>
        </p:spPr>
      </p:pic>
      <p:pic>
        <p:nvPicPr>
          <p:cNvPr descr="preencoded.png" id="442" name="Google Shape;442;p15"/>
          <p:cNvPicPr preferRelativeResize="0"/>
          <p:nvPr/>
        </p:nvPicPr>
        <p:blipFill rotWithShape="1">
          <a:blip r:embed="rId17">
            <a:alphaModFix/>
          </a:blip>
          <a:srcRect b="0" l="0" r="0" t="0"/>
          <a:stretch/>
        </p:blipFill>
        <p:spPr>
          <a:xfrm>
            <a:off x="6477000" y="1638300"/>
            <a:ext cx="457200" cy="457200"/>
          </a:xfrm>
          <a:prstGeom prst="rect">
            <a:avLst/>
          </a:prstGeom>
          <a:noFill/>
          <a:ln>
            <a:noFill/>
          </a:ln>
        </p:spPr>
      </p:pic>
      <p:pic>
        <p:nvPicPr>
          <p:cNvPr descr="preencoded.png" id="443" name="Google Shape;443;p15"/>
          <p:cNvPicPr preferRelativeResize="0"/>
          <p:nvPr/>
        </p:nvPicPr>
        <p:blipFill rotWithShape="1">
          <a:blip r:embed="rId18">
            <a:alphaModFix/>
          </a:blip>
          <a:srcRect b="0" l="0" r="0" t="0"/>
          <a:stretch/>
        </p:blipFill>
        <p:spPr>
          <a:xfrm>
            <a:off x="6577013" y="1714500"/>
            <a:ext cx="257175" cy="304800"/>
          </a:xfrm>
          <a:prstGeom prst="rect">
            <a:avLst/>
          </a:prstGeom>
          <a:noFill/>
          <a:ln>
            <a:noFill/>
          </a:ln>
        </p:spPr>
      </p:pic>
      <p:pic>
        <p:nvPicPr>
          <p:cNvPr descr="preencoded.png" id="444" name="Google Shape;444;p15"/>
          <p:cNvPicPr preferRelativeResize="0"/>
          <p:nvPr/>
        </p:nvPicPr>
        <p:blipFill rotWithShape="1">
          <a:blip r:embed="rId19">
            <a:alphaModFix/>
          </a:blip>
          <a:srcRect b="0" l="0" r="0" t="0"/>
          <a:stretch/>
        </p:blipFill>
        <p:spPr>
          <a:xfrm>
            <a:off x="6477000" y="2857500"/>
            <a:ext cx="5105400" cy="1447800"/>
          </a:xfrm>
          <a:prstGeom prst="rect">
            <a:avLst/>
          </a:prstGeom>
          <a:noFill/>
          <a:ln>
            <a:noFill/>
          </a:ln>
        </p:spPr>
      </p:pic>
      <p:pic>
        <p:nvPicPr>
          <p:cNvPr descr="preencoded.png" id="445" name="Google Shape;445;p15"/>
          <p:cNvPicPr preferRelativeResize="0"/>
          <p:nvPr/>
        </p:nvPicPr>
        <p:blipFill rotWithShape="1">
          <a:blip r:embed="rId20">
            <a:alphaModFix/>
          </a:blip>
          <a:srcRect b="0" l="0" r="0" t="0"/>
          <a:stretch/>
        </p:blipFill>
        <p:spPr>
          <a:xfrm>
            <a:off x="8572500" y="3009900"/>
            <a:ext cx="914400" cy="381000"/>
          </a:xfrm>
          <a:prstGeom prst="rect">
            <a:avLst/>
          </a:prstGeom>
          <a:noFill/>
          <a:ln>
            <a:noFill/>
          </a:ln>
        </p:spPr>
      </p:pic>
      <p:pic>
        <p:nvPicPr>
          <p:cNvPr descr="preencoded.png" id="446" name="Google Shape;446;p15"/>
          <p:cNvPicPr preferRelativeResize="0"/>
          <p:nvPr/>
        </p:nvPicPr>
        <p:blipFill rotWithShape="1">
          <a:blip r:embed="rId21">
            <a:alphaModFix/>
          </a:blip>
          <a:srcRect b="0" l="0" r="0" t="0"/>
          <a:stretch/>
        </p:blipFill>
        <p:spPr>
          <a:xfrm>
            <a:off x="9020175" y="3467100"/>
            <a:ext cx="19050" cy="304800"/>
          </a:xfrm>
          <a:prstGeom prst="rect">
            <a:avLst/>
          </a:prstGeom>
          <a:noFill/>
          <a:ln>
            <a:noFill/>
          </a:ln>
        </p:spPr>
      </p:pic>
      <p:pic>
        <p:nvPicPr>
          <p:cNvPr descr="preencoded.png" id="447" name="Google Shape;447;p15"/>
          <p:cNvPicPr preferRelativeResize="0"/>
          <p:nvPr/>
        </p:nvPicPr>
        <p:blipFill rotWithShape="1">
          <a:blip r:embed="rId22">
            <a:alphaModFix/>
          </a:blip>
          <a:srcRect b="0" l="0" r="0" t="0"/>
          <a:stretch/>
        </p:blipFill>
        <p:spPr>
          <a:xfrm>
            <a:off x="6648450" y="3771900"/>
            <a:ext cx="762000" cy="381000"/>
          </a:xfrm>
          <a:prstGeom prst="rect">
            <a:avLst/>
          </a:prstGeom>
          <a:noFill/>
          <a:ln>
            <a:noFill/>
          </a:ln>
        </p:spPr>
      </p:pic>
      <p:pic>
        <p:nvPicPr>
          <p:cNvPr descr="preencoded.png" id="448" name="Google Shape;448;p15"/>
          <p:cNvPicPr preferRelativeResize="0"/>
          <p:nvPr/>
        </p:nvPicPr>
        <p:blipFill rotWithShape="1">
          <a:blip r:embed="rId23">
            <a:alphaModFix/>
          </a:blip>
          <a:srcRect b="0" l="0" r="0" t="0"/>
          <a:stretch/>
        </p:blipFill>
        <p:spPr>
          <a:xfrm>
            <a:off x="6671518" y="3886200"/>
            <a:ext cx="133350" cy="152400"/>
          </a:xfrm>
          <a:prstGeom prst="rect">
            <a:avLst/>
          </a:prstGeom>
          <a:noFill/>
          <a:ln>
            <a:noFill/>
          </a:ln>
        </p:spPr>
      </p:pic>
      <p:pic>
        <p:nvPicPr>
          <p:cNvPr descr="preencoded.png" id="449" name="Google Shape;449;p15"/>
          <p:cNvPicPr preferRelativeResize="0"/>
          <p:nvPr/>
        </p:nvPicPr>
        <p:blipFill rotWithShape="1">
          <a:blip r:embed="rId24">
            <a:alphaModFix/>
          </a:blip>
          <a:srcRect b="0" l="0" r="0" t="0"/>
          <a:stretch/>
        </p:blipFill>
        <p:spPr>
          <a:xfrm>
            <a:off x="7448550" y="3771900"/>
            <a:ext cx="762000" cy="381000"/>
          </a:xfrm>
          <a:prstGeom prst="rect">
            <a:avLst/>
          </a:prstGeom>
          <a:noFill/>
          <a:ln>
            <a:noFill/>
          </a:ln>
        </p:spPr>
      </p:pic>
      <p:pic>
        <p:nvPicPr>
          <p:cNvPr descr="preencoded.png" id="450" name="Google Shape;450;p15"/>
          <p:cNvPicPr preferRelativeResize="0"/>
          <p:nvPr/>
        </p:nvPicPr>
        <p:blipFill rotWithShape="1">
          <a:blip r:embed="rId25">
            <a:alphaModFix/>
          </a:blip>
          <a:srcRect b="0" l="0" r="0" t="0"/>
          <a:stretch/>
        </p:blipFill>
        <p:spPr>
          <a:xfrm>
            <a:off x="8248650" y="3771900"/>
            <a:ext cx="762000" cy="381000"/>
          </a:xfrm>
          <a:prstGeom prst="rect">
            <a:avLst/>
          </a:prstGeom>
          <a:noFill/>
          <a:ln>
            <a:noFill/>
          </a:ln>
        </p:spPr>
      </p:pic>
      <p:pic>
        <p:nvPicPr>
          <p:cNvPr descr="preencoded.png" id="451" name="Google Shape;451;p15"/>
          <p:cNvPicPr preferRelativeResize="0"/>
          <p:nvPr/>
        </p:nvPicPr>
        <p:blipFill rotWithShape="1">
          <a:blip r:embed="rId26">
            <a:alphaModFix/>
          </a:blip>
          <a:srcRect b="0" l="0" r="0" t="0"/>
          <a:stretch/>
        </p:blipFill>
        <p:spPr>
          <a:xfrm>
            <a:off x="9048750" y="3771900"/>
            <a:ext cx="762000" cy="381000"/>
          </a:xfrm>
          <a:prstGeom prst="rect">
            <a:avLst/>
          </a:prstGeom>
          <a:noFill/>
          <a:ln>
            <a:noFill/>
          </a:ln>
        </p:spPr>
      </p:pic>
      <p:pic>
        <p:nvPicPr>
          <p:cNvPr descr="preencoded.png" id="452" name="Google Shape;452;p15"/>
          <p:cNvPicPr preferRelativeResize="0"/>
          <p:nvPr/>
        </p:nvPicPr>
        <p:blipFill rotWithShape="1">
          <a:blip r:embed="rId27">
            <a:alphaModFix/>
          </a:blip>
          <a:srcRect b="0" l="0" r="0" t="0"/>
          <a:stretch/>
        </p:blipFill>
        <p:spPr>
          <a:xfrm>
            <a:off x="9848850" y="3771900"/>
            <a:ext cx="762000" cy="381000"/>
          </a:xfrm>
          <a:prstGeom prst="rect">
            <a:avLst/>
          </a:prstGeom>
          <a:noFill/>
          <a:ln>
            <a:noFill/>
          </a:ln>
        </p:spPr>
      </p:pic>
      <p:pic>
        <p:nvPicPr>
          <p:cNvPr descr="preencoded.png" id="453" name="Google Shape;453;p15"/>
          <p:cNvPicPr preferRelativeResize="0"/>
          <p:nvPr/>
        </p:nvPicPr>
        <p:blipFill rotWithShape="1">
          <a:blip r:embed="rId28">
            <a:alphaModFix/>
          </a:blip>
          <a:srcRect b="0" l="0" r="0" t="0"/>
          <a:stretch/>
        </p:blipFill>
        <p:spPr>
          <a:xfrm>
            <a:off x="10648950" y="3771900"/>
            <a:ext cx="762000" cy="381000"/>
          </a:xfrm>
          <a:prstGeom prst="rect">
            <a:avLst/>
          </a:prstGeom>
          <a:noFill/>
          <a:ln>
            <a:noFill/>
          </a:ln>
        </p:spPr>
      </p:pic>
      <p:sp>
        <p:nvSpPr>
          <p:cNvPr id="454" name="Google Shape;454;p15"/>
          <p:cNvSpPr/>
          <p:nvPr/>
        </p:nvSpPr>
        <p:spPr>
          <a:xfrm>
            <a:off x="381000" y="381000"/>
            <a:ext cx="13716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Root Cause Analysis Techniques</a:t>
            </a:r>
            <a:endParaRPr sz="2700">
              <a:solidFill>
                <a:schemeClr val="dk1"/>
              </a:solidFill>
              <a:latin typeface="Calibri"/>
              <a:ea typeface="Calibri"/>
              <a:cs typeface="Calibri"/>
              <a:sym typeface="Calibri"/>
            </a:endParaRPr>
          </a:p>
        </p:txBody>
      </p:sp>
      <p:sp>
        <p:nvSpPr>
          <p:cNvPr id="455" name="Google Shape;455;p15"/>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Systematic approaches to identify true problem causes</a:t>
            </a:r>
            <a:endParaRPr sz="1500">
              <a:solidFill>
                <a:schemeClr val="dk1"/>
              </a:solidFill>
              <a:latin typeface="Calibri"/>
              <a:ea typeface="Calibri"/>
              <a:cs typeface="Calibri"/>
              <a:sym typeface="Calibri"/>
            </a:endParaRPr>
          </a:p>
        </p:txBody>
      </p:sp>
      <p:sp>
        <p:nvSpPr>
          <p:cNvPr id="456" name="Google Shape;456;p15"/>
          <p:cNvSpPr/>
          <p:nvPr/>
        </p:nvSpPr>
        <p:spPr>
          <a:xfrm>
            <a:off x="1219200" y="1714500"/>
            <a:ext cx="2783562"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5 Whys Technique</a:t>
            </a:r>
            <a:endParaRPr sz="1800">
              <a:solidFill>
                <a:schemeClr val="dk1"/>
              </a:solidFill>
              <a:latin typeface="Calibri"/>
              <a:ea typeface="Calibri"/>
              <a:cs typeface="Calibri"/>
              <a:sym typeface="Calibri"/>
            </a:endParaRPr>
          </a:p>
        </p:txBody>
      </p:sp>
      <p:sp>
        <p:nvSpPr>
          <p:cNvPr id="457" name="Google Shape;457;p15"/>
          <p:cNvSpPr/>
          <p:nvPr/>
        </p:nvSpPr>
        <p:spPr>
          <a:xfrm>
            <a:off x="609600" y="2247900"/>
            <a:ext cx="51054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A questioning technique to explore cause-and-effect relationships. Ask "Why?" repeatedly to dig deeper into the root cause.</a:t>
            </a:r>
            <a:endParaRPr sz="1200">
              <a:solidFill>
                <a:schemeClr val="dk1"/>
              </a:solidFill>
              <a:latin typeface="Calibri"/>
              <a:ea typeface="Calibri"/>
              <a:cs typeface="Calibri"/>
              <a:sym typeface="Calibri"/>
            </a:endParaRPr>
          </a:p>
        </p:txBody>
      </p:sp>
      <p:sp>
        <p:nvSpPr>
          <p:cNvPr id="458" name="Google Shape;458;p15"/>
          <p:cNvSpPr/>
          <p:nvPr/>
        </p:nvSpPr>
        <p:spPr>
          <a:xfrm>
            <a:off x="1257300" y="3086100"/>
            <a:ext cx="239833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solidFill>
                  <a:srgbClr val="000000"/>
                </a:solidFill>
                <a:latin typeface="Arial"/>
                <a:ea typeface="Arial"/>
                <a:cs typeface="Arial"/>
                <a:sym typeface="Arial"/>
              </a:rPr>
              <a:t>Problem: Production delay</a:t>
            </a:r>
            <a:endParaRPr sz="1200">
              <a:solidFill>
                <a:schemeClr val="dk1"/>
              </a:solidFill>
              <a:latin typeface="Calibri"/>
              <a:ea typeface="Calibri"/>
              <a:cs typeface="Calibri"/>
              <a:sym typeface="Calibri"/>
            </a:endParaRPr>
          </a:p>
        </p:txBody>
      </p:sp>
      <p:sp>
        <p:nvSpPr>
          <p:cNvPr id="459" name="Google Shape;459;p15"/>
          <p:cNvSpPr/>
          <p:nvPr/>
        </p:nvSpPr>
        <p:spPr>
          <a:xfrm>
            <a:off x="1562100" y="3638550"/>
            <a:ext cx="2622292"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solidFill>
                  <a:srgbClr val="000000"/>
                </a:solidFill>
                <a:latin typeface="Arial"/>
                <a:ea typeface="Arial"/>
                <a:cs typeface="Arial"/>
                <a:sym typeface="Arial"/>
              </a:rPr>
              <a:t>Why? Equipment breakdown</a:t>
            </a:r>
            <a:endParaRPr sz="1200">
              <a:solidFill>
                <a:schemeClr val="dk1"/>
              </a:solidFill>
              <a:latin typeface="Calibri"/>
              <a:ea typeface="Calibri"/>
              <a:cs typeface="Calibri"/>
              <a:sym typeface="Calibri"/>
            </a:endParaRPr>
          </a:p>
        </p:txBody>
      </p:sp>
      <p:sp>
        <p:nvSpPr>
          <p:cNvPr id="460" name="Google Shape;460;p15"/>
          <p:cNvSpPr/>
          <p:nvPr/>
        </p:nvSpPr>
        <p:spPr>
          <a:xfrm>
            <a:off x="1943100" y="4152900"/>
            <a:ext cx="2942868"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solidFill>
                  <a:srgbClr val="000000"/>
                </a:solidFill>
                <a:latin typeface="Arial"/>
                <a:ea typeface="Arial"/>
                <a:cs typeface="Arial"/>
                <a:sym typeface="Arial"/>
              </a:rPr>
              <a:t>Why? No maintenance schedule</a:t>
            </a:r>
            <a:endParaRPr sz="1200">
              <a:solidFill>
                <a:schemeClr val="dk1"/>
              </a:solidFill>
              <a:latin typeface="Calibri"/>
              <a:ea typeface="Calibri"/>
              <a:cs typeface="Calibri"/>
              <a:sym typeface="Calibri"/>
            </a:endParaRPr>
          </a:p>
        </p:txBody>
      </p:sp>
      <p:sp>
        <p:nvSpPr>
          <p:cNvPr id="461" name="Google Shape;461;p15"/>
          <p:cNvSpPr/>
          <p:nvPr/>
        </p:nvSpPr>
        <p:spPr>
          <a:xfrm>
            <a:off x="1181100" y="4667250"/>
            <a:ext cx="435804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Root Cause: Lack of maintenance protocol</a:t>
            </a:r>
            <a:endParaRPr sz="1200">
              <a:solidFill>
                <a:schemeClr val="dk1"/>
              </a:solidFill>
              <a:latin typeface="Calibri"/>
              <a:ea typeface="Calibri"/>
              <a:cs typeface="Calibri"/>
              <a:sym typeface="Calibri"/>
            </a:endParaRPr>
          </a:p>
        </p:txBody>
      </p:sp>
      <p:sp>
        <p:nvSpPr>
          <p:cNvPr id="462" name="Google Shape;462;p15"/>
          <p:cNvSpPr/>
          <p:nvPr/>
        </p:nvSpPr>
        <p:spPr>
          <a:xfrm>
            <a:off x="7086600" y="1714500"/>
            <a:ext cx="2974479"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Fishbone Diagrams</a:t>
            </a:r>
            <a:endParaRPr sz="1800">
              <a:solidFill>
                <a:schemeClr val="dk1"/>
              </a:solidFill>
              <a:latin typeface="Calibri"/>
              <a:ea typeface="Calibri"/>
              <a:cs typeface="Calibri"/>
              <a:sym typeface="Calibri"/>
            </a:endParaRPr>
          </a:p>
        </p:txBody>
      </p:sp>
      <p:sp>
        <p:nvSpPr>
          <p:cNvPr id="463" name="Google Shape;463;p15"/>
          <p:cNvSpPr/>
          <p:nvPr/>
        </p:nvSpPr>
        <p:spPr>
          <a:xfrm>
            <a:off x="6477000" y="2247900"/>
            <a:ext cx="51054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A visual tool that categorizes potential causes to identify root causes. Groups causes into major categories.</a:t>
            </a:r>
            <a:endParaRPr sz="1200">
              <a:solidFill>
                <a:schemeClr val="dk1"/>
              </a:solidFill>
              <a:latin typeface="Calibri"/>
              <a:ea typeface="Calibri"/>
              <a:cs typeface="Calibri"/>
              <a:sym typeface="Calibri"/>
            </a:endParaRPr>
          </a:p>
        </p:txBody>
      </p:sp>
      <p:sp>
        <p:nvSpPr>
          <p:cNvPr id="464" name="Google Shape;464;p15"/>
          <p:cNvSpPr/>
          <p:nvPr/>
        </p:nvSpPr>
        <p:spPr>
          <a:xfrm>
            <a:off x="8672066" y="3086100"/>
            <a:ext cx="858143"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1E40AF"/>
              </a:buClr>
              <a:buSzPts val="1200"/>
              <a:buFont typeface="Arial"/>
              <a:buNone/>
            </a:pPr>
            <a:r>
              <a:rPr b="1" lang="en-US" sz="1200">
                <a:solidFill>
                  <a:srgbClr val="1E40AF"/>
                </a:solidFill>
                <a:latin typeface="Arial"/>
                <a:ea typeface="Arial"/>
                <a:cs typeface="Arial"/>
                <a:sym typeface="Arial"/>
              </a:rPr>
              <a:t>Problem</a:t>
            </a:r>
            <a:endParaRPr sz="1200">
              <a:solidFill>
                <a:schemeClr val="dk1"/>
              </a:solidFill>
              <a:latin typeface="Calibri"/>
              <a:ea typeface="Calibri"/>
              <a:cs typeface="Calibri"/>
              <a:sym typeface="Calibri"/>
            </a:endParaRPr>
          </a:p>
        </p:txBody>
      </p:sp>
      <p:sp>
        <p:nvSpPr>
          <p:cNvPr id="465" name="Google Shape;465;p15"/>
          <p:cNvSpPr/>
          <p:nvPr/>
        </p:nvSpPr>
        <p:spPr>
          <a:xfrm>
            <a:off x="6881068" y="3848100"/>
            <a:ext cx="607576"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solidFill>
                  <a:srgbClr val="000000"/>
                </a:solidFill>
                <a:latin typeface="Arial"/>
                <a:ea typeface="Arial"/>
                <a:cs typeface="Arial"/>
                <a:sym typeface="Arial"/>
              </a:rPr>
              <a:t>People</a:t>
            </a:r>
            <a:endParaRPr sz="1200">
              <a:solidFill>
                <a:schemeClr val="dk1"/>
              </a:solidFill>
              <a:latin typeface="Calibri"/>
              <a:ea typeface="Calibri"/>
              <a:cs typeface="Calibri"/>
              <a:sym typeface="Calibri"/>
            </a:endParaRPr>
          </a:p>
        </p:txBody>
      </p:sp>
      <p:sp>
        <p:nvSpPr>
          <p:cNvPr id="466" name="Google Shape;466;p15"/>
          <p:cNvSpPr/>
          <p:nvPr/>
        </p:nvSpPr>
        <p:spPr>
          <a:xfrm>
            <a:off x="7627060" y="3848100"/>
            <a:ext cx="693837"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solidFill>
                  <a:srgbClr val="000000"/>
                </a:solidFill>
                <a:latin typeface="Arial"/>
                <a:ea typeface="Arial"/>
                <a:cs typeface="Arial"/>
                <a:sym typeface="Arial"/>
              </a:rPr>
              <a:t>Process</a:t>
            </a:r>
            <a:endParaRPr sz="1200">
              <a:solidFill>
                <a:schemeClr val="dk1"/>
              </a:solidFill>
              <a:latin typeface="Calibri"/>
              <a:ea typeface="Calibri"/>
              <a:cs typeface="Calibri"/>
              <a:sym typeface="Calibri"/>
            </a:endParaRPr>
          </a:p>
        </p:txBody>
      </p:sp>
      <p:sp>
        <p:nvSpPr>
          <p:cNvPr id="467" name="Google Shape;467;p15"/>
          <p:cNvSpPr/>
          <p:nvPr/>
        </p:nvSpPr>
        <p:spPr>
          <a:xfrm>
            <a:off x="8284717" y="3848100"/>
            <a:ext cx="992803"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solidFill>
                  <a:srgbClr val="000000"/>
                </a:solidFill>
                <a:latin typeface="Arial"/>
                <a:ea typeface="Arial"/>
                <a:cs typeface="Arial"/>
                <a:sym typeface="Arial"/>
              </a:rPr>
              <a:t>Equipment</a:t>
            </a:r>
            <a:endParaRPr sz="1200">
              <a:solidFill>
                <a:schemeClr val="dk1"/>
              </a:solidFill>
              <a:latin typeface="Calibri"/>
              <a:ea typeface="Calibri"/>
              <a:cs typeface="Calibri"/>
              <a:sym typeface="Calibri"/>
            </a:endParaRPr>
          </a:p>
        </p:txBody>
      </p:sp>
      <p:sp>
        <p:nvSpPr>
          <p:cNvPr id="468" name="Google Shape;468;p15"/>
          <p:cNvSpPr/>
          <p:nvPr/>
        </p:nvSpPr>
        <p:spPr>
          <a:xfrm>
            <a:off x="9137125" y="3848100"/>
            <a:ext cx="838319"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solidFill>
                  <a:srgbClr val="000000"/>
                </a:solidFill>
                <a:latin typeface="Arial"/>
                <a:ea typeface="Arial"/>
                <a:cs typeface="Arial"/>
                <a:sym typeface="Arial"/>
              </a:rPr>
              <a:t>Materials</a:t>
            </a:r>
            <a:endParaRPr sz="1200">
              <a:solidFill>
                <a:schemeClr val="dk1"/>
              </a:solidFill>
              <a:latin typeface="Calibri"/>
              <a:ea typeface="Calibri"/>
              <a:cs typeface="Calibri"/>
              <a:sym typeface="Calibri"/>
            </a:endParaRPr>
          </a:p>
        </p:txBody>
      </p:sp>
      <p:sp>
        <p:nvSpPr>
          <p:cNvPr id="469" name="Google Shape;469;p15"/>
          <p:cNvSpPr/>
          <p:nvPr/>
        </p:nvSpPr>
        <p:spPr>
          <a:xfrm>
            <a:off x="9818022" y="3847123"/>
            <a:ext cx="116782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solidFill>
                  <a:srgbClr val="000000"/>
                </a:solidFill>
                <a:latin typeface="Arial"/>
                <a:ea typeface="Arial"/>
                <a:cs typeface="Arial"/>
                <a:sym typeface="Arial"/>
              </a:rPr>
              <a:t>Environment</a:t>
            </a:r>
            <a:endParaRPr sz="1200">
              <a:solidFill>
                <a:schemeClr val="dk1"/>
              </a:solidFill>
              <a:latin typeface="Calibri"/>
              <a:ea typeface="Calibri"/>
              <a:cs typeface="Calibri"/>
              <a:sym typeface="Calibri"/>
            </a:endParaRPr>
          </a:p>
        </p:txBody>
      </p:sp>
      <p:sp>
        <p:nvSpPr>
          <p:cNvPr id="470" name="Google Shape;470;p15"/>
          <p:cNvSpPr/>
          <p:nvPr/>
        </p:nvSpPr>
        <p:spPr>
          <a:xfrm>
            <a:off x="10642253" y="3848100"/>
            <a:ext cx="1204793"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solidFill>
                  <a:srgbClr val="000000"/>
                </a:solidFill>
                <a:latin typeface="Arial"/>
                <a:ea typeface="Arial"/>
                <a:cs typeface="Arial"/>
                <a:sym typeface="Arial"/>
              </a:rPr>
              <a:t>Management</a:t>
            </a:r>
            <a:endParaRPr sz="1200">
              <a:solidFill>
                <a:schemeClr val="dk1"/>
              </a:solidFill>
              <a:latin typeface="Calibri"/>
              <a:ea typeface="Calibri"/>
              <a:cs typeface="Calibri"/>
              <a:sym typeface="Calibri"/>
            </a:endParaRPr>
          </a:p>
        </p:txBody>
      </p:sp>
      <p:sp>
        <p:nvSpPr>
          <p:cNvPr id="471" name="Google Shape;471;p15"/>
          <p:cNvSpPr/>
          <p:nvPr/>
        </p:nvSpPr>
        <p:spPr>
          <a:xfrm>
            <a:off x="8687098" y="6515100"/>
            <a:ext cx="393156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13/23</a:t>
            </a:r>
            <a:endParaRPr sz="105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pic>
        <p:nvPicPr>
          <p:cNvPr descr="preencoded.png" id="477" name="Google Shape;477;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478" name="Google Shape;478;p16"/>
          <p:cNvPicPr preferRelativeResize="0"/>
          <p:nvPr/>
        </p:nvPicPr>
        <p:blipFill rotWithShape="1">
          <a:blip r:embed="rId4">
            <a:alphaModFix/>
          </a:blip>
          <a:srcRect b="0" l="0" r="0" t="0"/>
          <a:stretch/>
        </p:blipFill>
        <p:spPr>
          <a:xfrm>
            <a:off x="914400" y="1333500"/>
            <a:ext cx="2743200" cy="1257300"/>
          </a:xfrm>
          <a:prstGeom prst="rect">
            <a:avLst/>
          </a:prstGeom>
          <a:noFill/>
          <a:ln>
            <a:noFill/>
          </a:ln>
        </p:spPr>
      </p:pic>
      <p:pic>
        <p:nvPicPr>
          <p:cNvPr descr="preencoded.png" id="479" name="Google Shape;479;p16"/>
          <p:cNvPicPr preferRelativeResize="0"/>
          <p:nvPr/>
        </p:nvPicPr>
        <p:blipFill rotWithShape="1">
          <a:blip r:embed="rId5">
            <a:alphaModFix/>
          </a:blip>
          <a:srcRect b="0" l="0" r="0" t="0"/>
          <a:stretch/>
        </p:blipFill>
        <p:spPr>
          <a:xfrm>
            <a:off x="1981200" y="1485900"/>
            <a:ext cx="609600" cy="609600"/>
          </a:xfrm>
          <a:prstGeom prst="rect">
            <a:avLst/>
          </a:prstGeom>
          <a:noFill/>
          <a:ln>
            <a:noFill/>
          </a:ln>
        </p:spPr>
      </p:pic>
      <p:pic>
        <p:nvPicPr>
          <p:cNvPr descr="preencoded.png" id="480" name="Google Shape;480;p16"/>
          <p:cNvPicPr preferRelativeResize="0"/>
          <p:nvPr/>
        </p:nvPicPr>
        <p:blipFill rotWithShape="1">
          <a:blip r:embed="rId6">
            <a:alphaModFix/>
          </a:blip>
          <a:srcRect b="0" l="0" r="0" t="0"/>
          <a:stretch/>
        </p:blipFill>
        <p:spPr>
          <a:xfrm>
            <a:off x="2171700" y="1638300"/>
            <a:ext cx="228600" cy="304800"/>
          </a:xfrm>
          <a:prstGeom prst="rect">
            <a:avLst/>
          </a:prstGeom>
          <a:noFill/>
          <a:ln>
            <a:noFill/>
          </a:ln>
        </p:spPr>
      </p:pic>
      <p:pic>
        <p:nvPicPr>
          <p:cNvPr descr="preencoded.png" id="481" name="Google Shape;481;p16"/>
          <p:cNvPicPr preferRelativeResize="0"/>
          <p:nvPr/>
        </p:nvPicPr>
        <p:blipFill rotWithShape="1">
          <a:blip r:embed="rId7">
            <a:alphaModFix/>
          </a:blip>
          <a:srcRect b="0" l="0" r="0" t="0"/>
          <a:stretch/>
        </p:blipFill>
        <p:spPr>
          <a:xfrm>
            <a:off x="3733800" y="1947863"/>
            <a:ext cx="914400" cy="28575"/>
          </a:xfrm>
          <a:prstGeom prst="rect">
            <a:avLst/>
          </a:prstGeom>
          <a:noFill/>
          <a:ln>
            <a:noFill/>
          </a:ln>
        </p:spPr>
      </p:pic>
      <p:pic>
        <p:nvPicPr>
          <p:cNvPr descr="preencoded.png" id="482" name="Google Shape;482;p16"/>
          <p:cNvPicPr preferRelativeResize="0"/>
          <p:nvPr/>
        </p:nvPicPr>
        <p:blipFill rotWithShape="1">
          <a:blip r:embed="rId4">
            <a:alphaModFix/>
          </a:blip>
          <a:srcRect b="0" l="0" r="0" t="0"/>
          <a:stretch/>
        </p:blipFill>
        <p:spPr>
          <a:xfrm>
            <a:off x="4724400" y="1333500"/>
            <a:ext cx="2743200" cy="1257300"/>
          </a:xfrm>
          <a:prstGeom prst="rect">
            <a:avLst/>
          </a:prstGeom>
          <a:noFill/>
          <a:ln>
            <a:noFill/>
          </a:ln>
        </p:spPr>
      </p:pic>
      <p:pic>
        <p:nvPicPr>
          <p:cNvPr descr="preencoded.png" id="483" name="Google Shape;483;p16"/>
          <p:cNvPicPr preferRelativeResize="0"/>
          <p:nvPr/>
        </p:nvPicPr>
        <p:blipFill rotWithShape="1">
          <a:blip r:embed="rId8">
            <a:alphaModFix/>
          </a:blip>
          <a:srcRect b="0" l="0" r="0" t="0"/>
          <a:stretch/>
        </p:blipFill>
        <p:spPr>
          <a:xfrm>
            <a:off x="5791200" y="1485900"/>
            <a:ext cx="609600" cy="609600"/>
          </a:xfrm>
          <a:prstGeom prst="rect">
            <a:avLst/>
          </a:prstGeom>
          <a:noFill/>
          <a:ln>
            <a:noFill/>
          </a:ln>
        </p:spPr>
      </p:pic>
      <p:pic>
        <p:nvPicPr>
          <p:cNvPr descr="preencoded.png" id="484" name="Google Shape;484;p16"/>
          <p:cNvPicPr preferRelativeResize="0"/>
          <p:nvPr/>
        </p:nvPicPr>
        <p:blipFill rotWithShape="1">
          <a:blip r:embed="rId9">
            <a:alphaModFix/>
          </a:blip>
          <a:srcRect b="0" l="0" r="0" t="0"/>
          <a:stretch/>
        </p:blipFill>
        <p:spPr>
          <a:xfrm>
            <a:off x="5981700" y="1638300"/>
            <a:ext cx="228600" cy="304800"/>
          </a:xfrm>
          <a:prstGeom prst="rect">
            <a:avLst/>
          </a:prstGeom>
          <a:noFill/>
          <a:ln>
            <a:noFill/>
          </a:ln>
        </p:spPr>
      </p:pic>
      <p:pic>
        <p:nvPicPr>
          <p:cNvPr descr="preencoded.png" id="485" name="Google Shape;485;p16"/>
          <p:cNvPicPr preferRelativeResize="0"/>
          <p:nvPr/>
        </p:nvPicPr>
        <p:blipFill rotWithShape="1">
          <a:blip r:embed="rId10">
            <a:alphaModFix/>
          </a:blip>
          <a:srcRect b="0" l="0" r="0" t="0"/>
          <a:stretch/>
        </p:blipFill>
        <p:spPr>
          <a:xfrm>
            <a:off x="7543800" y="1947863"/>
            <a:ext cx="914400" cy="28575"/>
          </a:xfrm>
          <a:prstGeom prst="rect">
            <a:avLst/>
          </a:prstGeom>
          <a:noFill/>
          <a:ln>
            <a:noFill/>
          </a:ln>
        </p:spPr>
      </p:pic>
      <p:pic>
        <p:nvPicPr>
          <p:cNvPr descr="preencoded.png" id="486" name="Google Shape;486;p16"/>
          <p:cNvPicPr preferRelativeResize="0"/>
          <p:nvPr/>
        </p:nvPicPr>
        <p:blipFill rotWithShape="1">
          <a:blip r:embed="rId4">
            <a:alphaModFix/>
          </a:blip>
          <a:srcRect b="0" l="0" r="0" t="0"/>
          <a:stretch/>
        </p:blipFill>
        <p:spPr>
          <a:xfrm>
            <a:off x="8534400" y="1333500"/>
            <a:ext cx="2743200" cy="1257300"/>
          </a:xfrm>
          <a:prstGeom prst="rect">
            <a:avLst/>
          </a:prstGeom>
          <a:noFill/>
          <a:ln>
            <a:noFill/>
          </a:ln>
        </p:spPr>
      </p:pic>
      <p:pic>
        <p:nvPicPr>
          <p:cNvPr descr="preencoded.png" id="487" name="Google Shape;487;p16"/>
          <p:cNvPicPr preferRelativeResize="0"/>
          <p:nvPr/>
        </p:nvPicPr>
        <p:blipFill rotWithShape="1">
          <a:blip r:embed="rId11">
            <a:alphaModFix/>
          </a:blip>
          <a:srcRect b="0" l="0" r="0" t="0"/>
          <a:stretch/>
        </p:blipFill>
        <p:spPr>
          <a:xfrm>
            <a:off x="9601200" y="1485900"/>
            <a:ext cx="609600" cy="609600"/>
          </a:xfrm>
          <a:prstGeom prst="rect">
            <a:avLst/>
          </a:prstGeom>
          <a:noFill/>
          <a:ln>
            <a:noFill/>
          </a:ln>
        </p:spPr>
      </p:pic>
      <p:pic>
        <p:nvPicPr>
          <p:cNvPr descr="preencoded.png" id="488" name="Google Shape;488;p16"/>
          <p:cNvPicPr preferRelativeResize="0"/>
          <p:nvPr/>
        </p:nvPicPr>
        <p:blipFill rotWithShape="1">
          <a:blip r:embed="rId12">
            <a:alphaModFix/>
          </a:blip>
          <a:srcRect b="0" l="0" r="0" t="0"/>
          <a:stretch/>
        </p:blipFill>
        <p:spPr>
          <a:xfrm>
            <a:off x="9791700" y="1638300"/>
            <a:ext cx="228600" cy="304800"/>
          </a:xfrm>
          <a:prstGeom prst="rect">
            <a:avLst/>
          </a:prstGeom>
          <a:noFill/>
          <a:ln>
            <a:noFill/>
          </a:ln>
        </p:spPr>
      </p:pic>
      <p:pic>
        <p:nvPicPr>
          <p:cNvPr descr="preencoded.png" id="489" name="Google Shape;489;p16"/>
          <p:cNvPicPr preferRelativeResize="0"/>
          <p:nvPr/>
        </p:nvPicPr>
        <p:blipFill rotWithShape="1">
          <a:blip r:embed="rId13">
            <a:alphaModFix/>
          </a:blip>
          <a:srcRect b="0" l="0" r="0" t="0"/>
          <a:stretch/>
        </p:blipFill>
        <p:spPr>
          <a:xfrm>
            <a:off x="381000" y="2895600"/>
            <a:ext cx="3657600" cy="2171700"/>
          </a:xfrm>
          <a:prstGeom prst="rect">
            <a:avLst/>
          </a:prstGeom>
          <a:noFill/>
          <a:ln>
            <a:noFill/>
          </a:ln>
        </p:spPr>
      </p:pic>
      <p:pic>
        <p:nvPicPr>
          <p:cNvPr descr="preencoded.png" id="490" name="Google Shape;490;p16"/>
          <p:cNvPicPr preferRelativeResize="0"/>
          <p:nvPr/>
        </p:nvPicPr>
        <p:blipFill rotWithShape="1">
          <a:blip r:embed="rId14">
            <a:alphaModFix/>
          </a:blip>
          <a:srcRect b="0" l="0" r="0" t="0"/>
          <a:stretch/>
        </p:blipFill>
        <p:spPr>
          <a:xfrm>
            <a:off x="571500" y="3848100"/>
            <a:ext cx="76200" cy="152400"/>
          </a:xfrm>
          <a:prstGeom prst="rect">
            <a:avLst/>
          </a:prstGeom>
          <a:noFill/>
          <a:ln>
            <a:noFill/>
          </a:ln>
        </p:spPr>
      </p:pic>
      <p:pic>
        <p:nvPicPr>
          <p:cNvPr descr="preencoded.png" id="491" name="Google Shape;491;p16"/>
          <p:cNvPicPr preferRelativeResize="0"/>
          <p:nvPr/>
        </p:nvPicPr>
        <p:blipFill rotWithShape="1">
          <a:blip r:embed="rId14">
            <a:alphaModFix/>
          </a:blip>
          <a:srcRect b="0" l="0" r="0" t="0"/>
          <a:stretch/>
        </p:blipFill>
        <p:spPr>
          <a:xfrm>
            <a:off x="571500" y="4381500"/>
            <a:ext cx="76200" cy="152400"/>
          </a:xfrm>
          <a:prstGeom prst="rect">
            <a:avLst/>
          </a:prstGeom>
          <a:noFill/>
          <a:ln>
            <a:noFill/>
          </a:ln>
        </p:spPr>
      </p:pic>
      <p:pic>
        <p:nvPicPr>
          <p:cNvPr descr="preencoded.png" id="492" name="Google Shape;492;p16"/>
          <p:cNvPicPr preferRelativeResize="0"/>
          <p:nvPr/>
        </p:nvPicPr>
        <p:blipFill rotWithShape="1">
          <a:blip r:embed="rId14">
            <a:alphaModFix/>
          </a:blip>
          <a:srcRect b="0" l="0" r="0" t="0"/>
          <a:stretch/>
        </p:blipFill>
        <p:spPr>
          <a:xfrm>
            <a:off x="571500" y="4686300"/>
            <a:ext cx="76200" cy="152400"/>
          </a:xfrm>
          <a:prstGeom prst="rect">
            <a:avLst/>
          </a:prstGeom>
          <a:noFill/>
          <a:ln>
            <a:noFill/>
          </a:ln>
        </p:spPr>
      </p:pic>
      <p:pic>
        <p:nvPicPr>
          <p:cNvPr descr="preencoded.png" id="493" name="Google Shape;493;p16"/>
          <p:cNvPicPr preferRelativeResize="0"/>
          <p:nvPr/>
        </p:nvPicPr>
        <p:blipFill rotWithShape="1">
          <a:blip r:embed="rId13">
            <a:alphaModFix/>
          </a:blip>
          <a:srcRect b="0" l="0" r="0" t="0"/>
          <a:stretch/>
        </p:blipFill>
        <p:spPr>
          <a:xfrm>
            <a:off x="4267200" y="2895600"/>
            <a:ext cx="3657600" cy="2171700"/>
          </a:xfrm>
          <a:prstGeom prst="rect">
            <a:avLst/>
          </a:prstGeom>
          <a:noFill/>
          <a:ln>
            <a:noFill/>
          </a:ln>
        </p:spPr>
      </p:pic>
      <p:pic>
        <p:nvPicPr>
          <p:cNvPr descr="preencoded.png" id="494" name="Google Shape;494;p16"/>
          <p:cNvPicPr preferRelativeResize="0"/>
          <p:nvPr/>
        </p:nvPicPr>
        <p:blipFill rotWithShape="1">
          <a:blip r:embed="rId14">
            <a:alphaModFix/>
          </a:blip>
          <a:srcRect b="0" l="0" r="0" t="0"/>
          <a:stretch/>
        </p:blipFill>
        <p:spPr>
          <a:xfrm>
            <a:off x="4457700" y="3543300"/>
            <a:ext cx="76200" cy="152400"/>
          </a:xfrm>
          <a:prstGeom prst="rect">
            <a:avLst/>
          </a:prstGeom>
          <a:noFill/>
          <a:ln>
            <a:noFill/>
          </a:ln>
        </p:spPr>
      </p:pic>
      <p:pic>
        <p:nvPicPr>
          <p:cNvPr descr="preencoded.png" id="495" name="Google Shape;495;p16"/>
          <p:cNvPicPr preferRelativeResize="0"/>
          <p:nvPr/>
        </p:nvPicPr>
        <p:blipFill rotWithShape="1">
          <a:blip r:embed="rId14">
            <a:alphaModFix/>
          </a:blip>
          <a:srcRect b="0" l="0" r="0" t="0"/>
          <a:stretch/>
        </p:blipFill>
        <p:spPr>
          <a:xfrm>
            <a:off x="4457700" y="3848100"/>
            <a:ext cx="76200" cy="152400"/>
          </a:xfrm>
          <a:prstGeom prst="rect">
            <a:avLst/>
          </a:prstGeom>
          <a:noFill/>
          <a:ln>
            <a:noFill/>
          </a:ln>
        </p:spPr>
      </p:pic>
      <p:pic>
        <p:nvPicPr>
          <p:cNvPr descr="preencoded.png" id="496" name="Google Shape;496;p16"/>
          <p:cNvPicPr preferRelativeResize="0"/>
          <p:nvPr/>
        </p:nvPicPr>
        <p:blipFill rotWithShape="1">
          <a:blip r:embed="rId14">
            <a:alphaModFix/>
          </a:blip>
          <a:srcRect b="0" l="0" r="0" t="0"/>
          <a:stretch/>
        </p:blipFill>
        <p:spPr>
          <a:xfrm>
            <a:off x="4457700" y="4152900"/>
            <a:ext cx="76200" cy="152400"/>
          </a:xfrm>
          <a:prstGeom prst="rect">
            <a:avLst/>
          </a:prstGeom>
          <a:noFill/>
          <a:ln>
            <a:noFill/>
          </a:ln>
        </p:spPr>
      </p:pic>
      <p:pic>
        <p:nvPicPr>
          <p:cNvPr descr="preencoded.png" id="497" name="Google Shape;497;p16"/>
          <p:cNvPicPr preferRelativeResize="0"/>
          <p:nvPr/>
        </p:nvPicPr>
        <p:blipFill rotWithShape="1">
          <a:blip r:embed="rId13">
            <a:alphaModFix/>
          </a:blip>
          <a:srcRect b="0" l="0" r="0" t="0"/>
          <a:stretch/>
        </p:blipFill>
        <p:spPr>
          <a:xfrm>
            <a:off x="8153400" y="2895600"/>
            <a:ext cx="3657600" cy="2171700"/>
          </a:xfrm>
          <a:prstGeom prst="rect">
            <a:avLst/>
          </a:prstGeom>
          <a:noFill/>
          <a:ln>
            <a:noFill/>
          </a:ln>
        </p:spPr>
      </p:pic>
      <p:pic>
        <p:nvPicPr>
          <p:cNvPr descr="preencoded.png" id="498" name="Google Shape;498;p16"/>
          <p:cNvPicPr preferRelativeResize="0"/>
          <p:nvPr/>
        </p:nvPicPr>
        <p:blipFill rotWithShape="1">
          <a:blip r:embed="rId14">
            <a:alphaModFix/>
          </a:blip>
          <a:srcRect b="0" l="0" r="0" t="0"/>
          <a:stretch/>
        </p:blipFill>
        <p:spPr>
          <a:xfrm>
            <a:off x="8343900" y="3543300"/>
            <a:ext cx="76200" cy="152400"/>
          </a:xfrm>
          <a:prstGeom prst="rect">
            <a:avLst/>
          </a:prstGeom>
          <a:noFill/>
          <a:ln>
            <a:noFill/>
          </a:ln>
        </p:spPr>
      </p:pic>
      <p:pic>
        <p:nvPicPr>
          <p:cNvPr descr="preencoded.png" id="499" name="Google Shape;499;p16"/>
          <p:cNvPicPr preferRelativeResize="0"/>
          <p:nvPr/>
        </p:nvPicPr>
        <p:blipFill rotWithShape="1">
          <a:blip r:embed="rId14">
            <a:alphaModFix/>
          </a:blip>
          <a:srcRect b="0" l="0" r="0" t="0"/>
          <a:stretch/>
        </p:blipFill>
        <p:spPr>
          <a:xfrm>
            <a:off x="8343900" y="3848100"/>
            <a:ext cx="76200" cy="152400"/>
          </a:xfrm>
          <a:prstGeom prst="rect">
            <a:avLst/>
          </a:prstGeom>
          <a:noFill/>
          <a:ln>
            <a:noFill/>
          </a:ln>
        </p:spPr>
      </p:pic>
      <p:pic>
        <p:nvPicPr>
          <p:cNvPr descr="preencoded.png" id="500" name="Google Shape;500;p16"/>
          <p:cNvPicPr preferRelativeResize="0"/>
          <p:nvPr/>
        </p:nvPicPr>
        <p:blipFill rotWithShape="1">
          <a:blip r:embed="rId14">
            <a:alphaModFix/>
          </a:blip>
          <a:srcRect b="0" l="0" r="0" t="0"/>
          <a:stretch/>
        </p:blipFill>
        <p:spPr>
          <a:xfrm>
            <a:off x="8343900" y="4381500"/>
            <a:ext cx="76200" cy="152400"/>
          </a:xfrm>
          <a:prstGeom prst="rect">
            <a:avLst/>
          </a:prstGeom>
          <a:noFill/>
          <a:ln>
            <a:noFill/>
          </a:ln>
        </p:spPr>
      </p:pic>
      <p:pic>
        <p:nvPicPr>
          <p:cNvPr descr="preencoded.png" id="501" name="Google Shape;501;p16"/>
          <p:cNvPicPr preferRelativeResize="0"/>
          <p:nvPr/>
        </p:nvPicPr>
        <p:blipFill rotWithShape="1">
          <a:blip r:embed="rId15">
            <a:alphaModFix/>
          </a:blip>
          <a:srcRect b="0" l="0" r="0" t="0"/>
          <a:stretch/>
        </p:blipFill>
        <p:spPr>
          <a:xfrm>
            <a:off x="381000" y="5295900"/>
            <a:ext cx="11430000" cy="533400"/>
          </a:xfrm>
          <a:prstGeom prst="rect">
            <a:avLst/>
          </a:prstGeom>
          <a:noFill/>
          <a:ln>
            <a:noFill/>
          </a:ln>
        </p:spPr>
      </p:pic>
      <p:sp>
        <p:nvSpPr>
          <p:cNvPr id="502" name="Google Shape;502;p16"/>
          <p:cNvSpPr/>
          <p:nvPr/>
        </p:nvSpPr>
        <p:spPr>
          <a:xfrm>
            <a:off x="381000" y="381000"/>
            <a:ext cx="13716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Effective Corrective Action Development</a:t>
            </a:r>
            <a:endParaRPr sz="2700">
              <a:solidFill>
                <a:schemeClr val="dk1"/>
              </a:solidFill>
              <a:latin typeface="Calibri"/>
              <a:ea typeface="Calibri"/>
              <a:cs typeface="Calibri"/>
              <a:sym typeface="Calibri"/>
            </a:endParaRPr>
          </a:p>
        </p:txBody>
      </p:sp>
      <p:sp>
        <p:nvSpPr>
          <p:cNvPr id="503" name="Google Shape;503;p16"/>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Designing solutions that address root causes while tracking implementation progress and verifying effectiveness</a:t>
            </a:r>
            <a:endParaRPr sz="1500">
              <a:solidFill>
                <a:schemeClr val="dk1"/>
              </a:solidFill>
              <a:latin typeface="Calibri"/>
              <a:ea typeface="Calibri"/>
              <a:cs typeface="Calibri"/>
              <a:sym typeface="Calibri"/>
            </a:endParaRPr>
          </a:p>
        </p:txBody>
      </p:sp>
      <p:sp>
        <p:nvSpPr>
          <p:cNvPr id="504" name="Google Shape;504;p16"/>
          <p:cNvSpPr/>
          <p:nvPr/>
        </p:nvSpPr>
        <p:spPr>
          <a:xfrm>
            <a:off x="1066800" y="2171700"/>
            <a:ext cx="243840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Develop</a:t>
            </a:r>
            <a:endParaRPr sz="1500">
              <a:solidFill>
                <a:schemeClr val="dk1"/>
              </a:solidFill>
              <a:latin typeface="Calibri"/>
              <a:ea typeface="Calibri"/>
              <a:cs typeface="Calibri"/>
              <a:sym typeface="Calibri"/>
            </a:endParaRPr>
          </a:p>
        </p:txBody>
      </p:sp>
      <p:sp>
        <p:nvSpPr>
          <p:cNvPr id="505" name="Google Shape;505;p16"/>
          <p:cNvSpPr/>
          <p:nvPr/>
        </p:nvSpPr>
        <p:spPr>
          <a:xfrm>
            <a:off x="4876800" y="2171700"/>
            <a:ext cx="243840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Track</a:t>
            </a:r>
            <a:endParaRPr sz="1500">
              <a:solidFill>
                <a:schemeClr val="dk1"/>
              </a:solidFill>
              <a:latin typeface="Calibri"/>
              <a:ea typeface="Calibri"/>
              <a:cs typeface="Calibri"/>
              <a:sym typeface="Calibri"/>
            </a:endParaRPr>
          </a:p>
        </p:txBody>
      </p:sp>
      <p:sp>
        <p:nvSpPr>
          <p:cNvPr id="506" name="Google Shape;506;p16"/>
          <p:cNvSpPr/>
          <p:nvPr/>
        </p:nvSpPr>
        <p:spPr>
          <a:xfrm>
            <a:off x="8686800" y="2171700"/>
            <a:ext cx="243840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Verify</a:t>
            </a:r>
            <a:endParaRPr sz="1500">
              <a:solidFill>
                <a:schemeClr val="dk1"/>
              </a:solidFill>
              <a:latin typeface="Calibri"/>
              <a:ea typeface="Calibri"/>
              <a:cs typeface="Calibri"/>
              <a:sym typeface="Calibri"/>
            </a:endParaRPr>
          </a:p>
        </p:txBody>
      </p:sp>
      <p:sp>
        <p:nvSpPr>
          <p:cNvPr id="507" name="Google Shape;507;p16"/>
          <p:cNvSpPr/>
          <p:nvPr/>
        </p:nvSpPr>
        <p:spPr>
          <a:xfrm>
            <a:off x="571500" y="3086100"/>
            <a:ext cx="3276600" cy="609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Developing Effective Solutions</a:t>
            </a:r>
            <a:endParaRPr sz="1800">
              <a:solidFill>
                <a:schemeClr val="dk1"/>
              </a:solidFill>
              <a:latin typeface="Calibri"/>
              <a:ea typeface="Calibri"/>
              <a:cs typeface="Calibri"/>
              <a:sym typeface="Calibri"/>
            </a:endParaRPr>
          </a:p>
        </p:txBody>
      </p:sp>
      <p:sp>
        <p:nvSpPr>
          <p:cNvPr id="508" name="Google Shape;508;p16"/>
          <p:cNvSpPr/>
          <p:nvPr/>
        </p:nvSpPr>
        <p:spPr>
          <a:xfrm>
            <a:off x="723900" y="3810000"/>
            <a:ext cx="31242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Design actions to directly address root causes</a:t>
            </a:r>
            <a:endParaRPr sz="1200">
              <a:solidFill>
                <a:schemeClr val="dk1"/>
              </a:solidFill>
              <a:latin typeface="Calibri"/>
              <a:ea typeface="Calibri"/>
              <a:cs typeface="Calibri"/>
              <a:sym typeface="Calibri"/>
            </a:endParaRPr>
          </a:p>
        </p:txBody>
      </p:sp>
      <p:sp>
        <p:nvSpPr>
          <p:cNvPr id="509" name="Google Shape;509;p16"/>
          <p:cNvSpPr/>
          <p:nvPr/>
        </p:nvSpPr>
        <p:spPr>
          <a:xfrm>
            <a:off x="723900" y="4343400"/>
            <a:ext cx="3313093"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Ensure solutions prevent recurrence</a:t>
            </a:r>
            <a:endParaRPr sz="1200">
              <a:solidFill>
                <a:schemeClr val="dk1"/>
              </a:solidFill>
              <a:latin typeface="Calibri"/>
              <a:ea typeface="Calibri"/>
              <a:cs typeface="Calibri"/>
              <a:sym typeface="Calibri"/>
            </a:endParaRPr>
          </a:p>
        </p:txBody>
      </p:sp>
      <p:sp>
        <p:nvSpPr>
          <p:cNvPr id="510" name="Google Shape;510;p16"/>
          <p:cNvSpPr/>
          <p:nvPr/>
        </p:nvSpPr>
        <p:spPr>
          <a:xfrm>
            <a:off x="723900" y="4648200"/>
            <a:ext cx="3282553"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Create clear, actionable statements</a:t>
            </a:r>
            <a:endParaRPr sz="1200">
              <a:solidFill>
                <a:schemeClr val="dk1"/>
              </a:solidFill>
              <a:latin typeface="Calibri"/>
              <a:ea typeface="Calibri"/>
              <a:cs typeface="Calibri"/>
              <a:sym typeface="Calibri"/>
            </a:endParaRPr>
          </a:p>
        </p:txBody>
      </p:sp>
      <p:sp>
        <p:nvSpPr>
          <p:cNvPr id="511" name="Google Shape;511;p16"/>
          <p:cNvSpPr/>
          <p:nvPr/>
        </p:nvSpPr>
        <p:spPr>
          <a:xfrm>
            <a:off x="4457700" y="3086100"/>
            <a:ext cx="393192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Tracking Implementation</a:t>
            </a:r>
            <a:endParaRPr sz="1800">
              <a:solidFill>
                <a:schemeClr val="dk1"/>
              </a:solidFill>
              <a:latin typeface="Calibri"/>
              <a:ea typeface="Calibri"/>
              <a:cs typeface="Calibri"/>
              <a:sym typeface="Calibri"/>
            </a:endParaRPr>
          </a:p>
        </p:txBody>
      </p:sp>
      <p:sp>
        <p:nvSpPr>
          <p:cNvPr id="512" name="Google Shape;512;p16"/>
          <p:cNvSpPr/>
          <p:nvPr/>
        </p:nvSpPr>
        <p:spPr>
          <a:xfrm>
            <a:off x="4610100" y="3505200"/>
            <a:ext cx="3084671"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Establish robust tracking systems</a:t>
            </a:r>
            <a:endParaRPr sz="1200">
              <a:solidFill>
                <a:schemeClr val="dk1"/>
              </a:solidFill>
              <a:latin typeface="Calibri"/>
              <a:ea typeface="Calibri"/>
              <a:cs typeface="Calibri"/>
              <a:sym typeface="Calibri"/>
            </a:endParaRPr>
          </a:p>
        </p:txBody>
      </p:sp>
      <p:sp>
        <p:nvSpPr>
          <p:cNvPr id="513" name="Google Shape;513;p16"/>
          <p:cNvSpPr/>
          <p:nvPr/>
        </p:nvSpPr>
        <p:spPr>
          <a:xfrm>
            <a:off x="4610100" y="3810000"/>
            <a:ext cx="3050024"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Monitor implementation progress</a:t>
            </a:r>
            <a:endParaRPr sz="1200">
              <a:solidFill>
                <a:schemeClr val="dk1"/>
              </a:solidFill>
              <a:latin typeface="Calibri"/>
              <a:ea typeface="Calibri"/>
              <a:cs typeface="Calibri"/>
              <a:sym typeface="Calibri"/>
            </a:endParaRPr>
          </a:p>
        </p:txBody>
      </p:sp>
      <p:sp>
        <p:nvSpPr>
          <p:cNvPr id="514" name="Google Shape;514;p16"/>
          <p:cNvSpPr/>
          <p:nvPr/>
        </p:nvSpPr>
        <p:spPr>
          <a:xfrm>
            <a:off x="4610100" y="4114800"/>
            <a:ext cx="210187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Document all activities</a:t>
            </a:r>
            <a:endParaRPr sz="1200">
              <a:solidFill>
                <a:schemeClr val="dk1"/>
              </a:solidFill>
              <a:latin typeface="Calibri"/>
              <a:ea typeface="Calibri"/>
              <a:cs typeface="Calibri"/>
              <a:sym typeface="Calibri"/>
            </a:endParaRPr>
          </a:p>
        </p:txBody>
      </p:sp>
      <p:sp>
        <p:nvSpPr>
          <p:cNvPr id="515" name="Google Shape;515;p16"/>
          <p:cNvSpPr/>
          <p:nvPr/>
        </p:nvSpPr>
        <p:spPr>
          <a:xfrm>
            <a:off x="8343900" y="3086100"/>
            <a:ext cx="393192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Verifying Effectiveness</a:t>
            </a:r>
            <a:endParaRPr sz="1800">
              <a:solidFill>
                <a:schemeClr val="dk1"/>
              </a:solidFill>
              <a:latin typeface="Calibri"/>
              <a:ea typeface="Calibri"/>
              <a:cs typeface="Calibri"/>
              <a:sym typeface="Calibri"/>
            </a:endParaRPr>
          </a:p>
        </p:txBody>
      </p:sp>
      <p:sp>
        <p:nvSpPr>
          <p:cNvPr id="516" name="Google Shape;516;p16"/>
          <p:cNvSpPr/>
          <p:nvPr/>
        </p:nvSpPr>
        <p:spPr>
          <a:xfrm>
            <a:off x="8496300" y="3505200"/>
            <a:ext cx="2684978"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Monitor implemented actions</a:t>
            </a:r>
            <a:endParaRPr sz="1200">
              <a:solidFill>
                <a:schemeClr val="dk1"/>
              </a:solidFill>
              <a:latin typeface="Calibri"/>
              <a:ea typeface="Calibri"/>
              <a:cs typeface="Calibri"/>
              <a:sym typeface="Calibri"/>
            </a:endParaRPr>
          </a:p>
        </p:txBody>
      </p:sp>
      <p:sp>
        <p:nvSpPr>
          <p:cNvPr id="517" name="Google Shape;517;p16"/>
          <p:cNvSpPr/>
          <p:nvPr/>
        </p:nvSpPr>
        <p:spPr>
          <a:xfrm>
            <a:off x="8496300" y="3810000"/>
            <a:ext cx="31242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Verify solutions eliminate nonconformities</a:t>
            </a:r>
            <a:endParaRPr sz="1200">
              <a:solidFill>
                <a:schemeClr val="dk1"/>
              </a:solidFill>
              <a:latin typeface="Calibri"/>
              <a:ea typeface="Calibri"/>
              <a:cs typeface="Calibri"/>
              <a:sym typeface="Calibri"/>
            </a:endParaRPr>
          </a:p>
        </p:txBody>
      </p:sp>
      <p:sp>
        <p:nvSpPr>
          <p:cNvPr id="518" name="Google Shape;518;p16"/>
          <p:cNvSpPr/>
          <p:nvPr/>
        </p:nvSpPr>
        <p:spPr>
          <a:xfrm>
            <a:off x="8496300" y="4343400"/>
            <a:ext cx="2599611"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Prevent recurrence of issues</a:t>
            </a:r>
            <a:endParaRPr sz="1200">
              <a:solidFill>
                <a:schemeClr val="dk1"/>
              </a:solidFill>
              <a:latin typeface="Calibri"/>
              <a:ea typeface="Calibri"/>
              <a:cs typeface="Calibri"/>
              <a:sym typeface="Calibri"/>
            </a:endParaRPr>
          </a:p>
        </p:txBody>
      </p:sp>
      <p:sp>
        <p:nvSpPr>
          <p:cNvPr id="519" name="Google Shape;519;p16"/>
          <p:cNvSpPr/>
          <p:nvPr/>
        </p:nvSpPr>
        <p:spPr>
          <a:xfrm>
            <a:off x="533400" y="5448300"/>
            <a:ext cx="1335024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i="1" lang="en-US" sz="1200">
                <a:solidFill>
                  <a:srgbClr val="374151"/>
                </a:solidFill>
                <a:latin typeface="Arial"/>
                <a:ea typeface="Arial"/>
                <a:cs typeface="Arial"/>
                <a:sym typeface="Arial"/>
              </a:rPr>
              <a:t>"Effective corrective actions are not just about fixing symptoms but addressing the root causes that lead to nonconformities."</a:t>
            </a:r>
            <a:endParaRPr sz="1200">
              <a:solidFill>
                <a:schemeClr val="dk1"/>
              </a:solidFill>
              <a:latin typeface="Calibri"/>
              <a:ea typeface="Calibri"/>
              <a:cs typeface="Calibri"/>
              <a:sym typeface="Calibri"/>
            </a:endParaRPr>
          </a:p>
        </p:txBody>
      </p:sp>
      <p:sp>
        <p:nvSpPr>
          <p:cNvPr id="520" name="Google Shape;520;p16"/>
          <p:cNvSpPr/>
          <p:nvPr/>
        </p:nvSpPr>
        <p:spPr>
          <a:xfrm>
            <a:off x="8687098" y="6515100"/>
            <a:ext cx="393156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14/23</a:t>
            </a:r>
            <a:endParaRPr sz="105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pic>
        <p:nvPicPr>
          <p:cNvPr descr="preencoded.png" id="526" name="Google Shape;526;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527" name="Google Shape;527;p17"/>
          <p:cNvPicPr preferRelativeResize="0"/>
          <p:nvPr/>
        </p:nvPicPr>
        <p:blipFill rotWithShape="1">
          <a:blip r:embed="rId4">
            <a:alphaModFix/>
          </a:blip>
          <a:srcRect b="0" l="0" r="0" t="0"/>
          <a:stretch/>
        </p:blipFill>
        <p:spPr>
          <a:xfrm>
            <a:off x="381000" y="1409700"/>
            <a:ext cx="5486400" cy="1562100"/>
          </a:xfrm>
          <a:prstGeom prst="rect">
            <a:avLst/>
          </a:prstGeom>
          <a:noFill/>
          <a:ln>
            <a:noFill/>
          </a:ln>
        </p:spPr>
      </p:pic>
      <p:pic>
        <p:nvPicPr>
          <p:cNvPr descr="preencoded.png" id="528" name="Google Shape;528;p17"/>
          <p:cNvPicPr preferRelativeResize="0"/>
          <p:nvPr/>
        </p:nvPicPr>
        <p:blipFill rotWithShape="1">
          <a:blip r:embed="rId5">
            <a:alphaModFix/>
          </a:blip>
          <a:srcRect b="0" l="0" r="0" t="0"/>
          <a:stretch/>
        </p:blipFill>
        <p:spPr>
          <a:xfrm>
            <a:off x="609600" y="1666875"/>
            <a:ext cx="200025" cy="228600"/>
          </a:xfrm>
          <a:prstGeom prst="rect">
            <a:avLst/>
          </a:prstGeom>
          <a:noFill/>
          <a:ln>
            <a:noFill/>
          </a:ln>
        </p:spPr>
      </p:pic>
      <p:pic>
        <p:nvPicPr>
          <p:cNvPr descr="preencoded.png" id="529" name="Google Shape;529;p17"/>
          <p:cNvPicPr preferRelativeResize="0"/>
          <p:nvPr/>
        </p:nvPicPr>
        <p:blipFill rotWithShape="1">
          <a:blip r:embed="rId6">
            <a:alphaModFix/>
          </a:blip>
          <a:srcRect b="0" l="0" r="0" t="0"/>
          <a:stretch/>
        </p:blipFill>
        <p:spPr>
          <a:xfrm>
            <a:off x="381000" y="3200400"/>
            <a:ext cx="5486400" cy="1524000"/>
          </a:xfrm>
          <a:prstGeom prst="rect">
            <a:avLst/>
          </a:prstGeom>
          <a:noFill/>
          <a:ln>
            <a:noFill/>
          </a:ln>
        </p:spPr>
      </p:pic>
      <p:pic>
        <p:nvPicPr>
          <p:cNvPr descr="preencoded.png" id="530" name="Google Shape;530;p17"/>
          <p:cNvPicPr preferRelativeResize="0"/>
          <p:nvPr/>
        </p:nvPicPr>
        <p:blipFill rotWithShape="1">
          <a:blip r:embed="rId7">
            <a:alphaModFix/>
          </a:blip>
          <a:srcRect b="0" l="0" r="0" t="0"/>
          <a:stretch/>
        </p:blipFill>
        <p:spPr>
          <a:xfrm>
            <a:off x="6324600" y="1866900"/>
            <a:ext cx="5486400" cy="1028700"/>
          </a:xfrm>
          <a:prstGeom prst="rect">
            <a:avLst/>
          </a:prstGeom>
          <a:noFill/>
          <a:ln>
            <a:noFill/>
          </a:ln>
        </p:spPr>
      </p:pic>
      <p:pic>
        <p:nvPicPr>
          <p:cNvPr descr="preencoded.png" id="531" name="Google Shape;531;p17"/>
          <p:cNvPicPr preferRelativeResize="0"/>
          <p:nvPr/>
        </p:nvPicPr>
        <p:blipFill rotWithShape="1">
          <a:blip r:embed="rId8">
            <a:alphaModFix/>
          </a:blip>
          <a:srcRect b="0" l="0" r="0" t="0"/>
          <a:stretch/>
        </p:blipFill>
        <p:spPr>
          <a:xfrm>
            <a:off x="6477000" y="2019300"/>
            <a:ext cx="381000" cy="381000"/>
          </a:xfrm>
          <a:prstGeom prst="rect">
            <a:avLst/>
          </a:prstGeom>
          <a:noFill/>
          <a:ln>
            <a:noFill/>
          </a:ln>
        </p:spPr>
      </p:pic>
      <p:pic>
        <p:nvPicPr>
          <p:cNvPr descr="preencoded.png" id="532" name="Google Shape;532;p17"/>
          <p:cNvPicPr preferRelativeResize="0"/>
          <p:nvPr/>
        </p:nvPicPr>
        <p:blipFill rotWithShape="1">
          <a:blip r:embed="rId9">
            <a:alphaModFix/>
          </a:blip>
          <a:srcRect b="0" l="0" r="0" t="0"/>
          <a:stretch/>
        </p:blipFill>
        <p:spPr>
          <a:xfrm>
            <a:off x="6572250" y="2076450"/>
            <a:ext cx="190500" cy="266700"/>
          </a:xfrm>
          <a:prstGeom prst="rect">
            <a:avLst/>
          </a:prstGeom>
          <a:noFill/>
          <a:ln>
            <a:noFill/>
          </a:ln>
        </p:spPr>
      </p:pic>
      <p:pic>
        <p:nvPicPr>
          <p:cNvPr descr="preencoded.png" id="533" name="Google Shape;533;p17"/>
          <p:cNvPicPr preferRelativeResize="0"/>
          <p:nvPr/>
        </p:nvPicPr>
        <p:blipFill rotWithShape="1">
          <a:blip r:embed="rId10">
            <a:alphaModFix/>
          </a:blip>
          <a:srcRect b="0" l="0" r="0" t="0"/>
          <a:stretch/>
        </p:blipFill>
        <p:spPr>
          <a:xfrm>
            <a:off x="6324600" y="3048000"/>
            <a:ext cx="5486400" cy="1028700"/>
          </a:xfrm>
          <a:prstGeom prst="rect">
            <a:avLst/>
          </a:prstGeom>
          <a:noFill/>
          <a:ln>
            <a:noFill/>
          </a:ln>
        </p:spPr>
      </p:pic>
      <p:pic>
        <p:nvPicPr>
          <p:cNvPr descr="preencoded.png" id="534" name="Google Shape;534;p17"/>
          <p:cNvPicPr preferRelativeResize="0"/>
          <p:nvPr/>
        </p:nvPicPr>
        <p:blipFill rotWithShape="1">
          <a:blip r:embed="rId11">
            <a:alphaModFix/>
          </a:blip>
          <a:srcRect b="0" l="0" r="0" t="0"/>
          <a:stretch/>
        </p:blipFill>
        <p:spPr>
          <a:xfrm>
            <a:off x="6477000" y="3200400"/>
            <a:ext cx="381000" cy="381000"/>
          </a:xfrm>
          <a:prstGeom prst="rect">
            <a:avLst/>
          </a:prstGeom>
          <a:noFill/>
          <a:ln>
            <a:noFill/>
          </a:ln>
        </p:spPr>
      </p:pic>
      <p:pic>
        <p:nvPicPr>
          <p:cNvPr descr="preencoded.png" id="535" name="Google Shape;535;p17"/>
          <p:cNvPicPr preferRelativeResize="0"/>
          <p:nvPr/>
        </p:nvPicPr>
        <p:blipFill rotWithShape="1">
          <a:blip r:embed="rId12">
            <a:alphaModFix/>
          </a:blip>
          <a:srcRect b="0" l="0" r="0" t="0"/>
          <a:stretch/>
        </p:blipFill>
        <p:spPr>
          <a:xfrm>
            <a:off x="6572250" y="3257550"/>
            <a:ext cx="190500" cy="266700"/>
          </a:xfrm>
          <a:prstGeom prst="rect">
            <a:avLst/>
          </a:prstGeom>
          <a:noFill/>
          <a:ln>
            <a:noFill/>
          </a:ln>
        </p:spPr>
      </p:pic>
      <p:pic>
        <p:nvPicPr>
          <p:cNvPr descr="preencoded.png" id="536" name="Google Shape;536;p17"/>
          <p:cNvPicPr preferRelativeResize="0"/>
          <p:nvPr/>
        </p:nvPicPr>
        <p:blipFill rotWithShape="1">
          <a:blip r:embed="rId13">
            <a:alphaModFix/>
          </a:blip>
          <a:srcRect b="0" l="0" r="0" t="0"/>
          <a:stretch/>
        </p:blipFill>
        <p:spPr>
          <a:xfrm>
            <a:off x="6324600" y="4229100"/>
            <a:ext cx="5486400" cy="1257300"/>
          </a:xfrm>
          <a:prstGeom prst="rect">
            <a:avLst/>
          </a:prstGeom>
          <a:noFill/>
          <a:ln>
            <a:noFill/>
          </a:ln>
        </p:spPr>
      </p:pic>
      <p:pic>
        <p:nvPicPr>
          <p:cNvPr descr="preencoded.png" id="537" name="Google Shape;537;p17"/>
          <p:cNvPicPr preferRelativeResize="0"/>
          <p:nvPr/>
        </p:nvPicPr>
        <p:blipFill rotWithShape="1">
          <a:blip r:embed="rId8">
            <a:alphaModFix/>
          </a:blip>
          <a:srcRect b="0" l="0" r="0" t="0"/>
          <a:stretch/>
        </p:blipFill>
        <p:spPr>
          <a:xfrm>
            <a:off x="6477000" y="4381500"/>
            <a:ext cx="381000" cy="381000"/>
          </a:xfrm>
          <a:prstGeom prst="rect">
            <a:avLst/>
          </a:prstGeom>
          <a:noFill/>
          <a:ln>
            <a:noFill/>
          </a:ln>
        </p:spPr>
      </p:pic>
      <p:pic>
        <p:nvPicPr>
          <p:cNvPr descr="preencoded.png" id="538" name="Google Shape;538;p17"/>
          <p:cNvPicPr preferRelativeResize="0"/>
          <p:nvPr/>
        </p:nvPicPr>
        <p:blipFill rotWithShape="1">
          <a:blip r:embed="rId14">
            <a:alphaModFix/>
          </a:blip>
          <a:srcRect b="0" l="0" r="0" t="0"/>
          <a:stretch/>
        </p:blipFill>
        <p:spPr>
          <a:xfrm>
            <a:off x="6596063" y="4438650"/>
            <a:ext cx="142875" cy="266700"/>
          </a:xfrm>
          <a:prstGeom prst="rect">
            <a:avLst/>
          </a:prstGeom>
          <a:noFill/>
          <a:ln>
            <a:noFill/>
          </a:ln>
        </p:spPr>
      </p:pic>
      <p:sp>
        <p:nvSpPr>
          <p:cNvPr id="539" name="Google Shape;539;p17"/>
          <p:cNvSpPr/>
          <p:nvPr/>
        </p:nvSpPr>
        <p:spPr>
          <a:xfrm>
            <a:off x="381000" y="381000"/>
            <a:ext cx="13716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Strategic Management Review Purpose</a:t>
            </a:r>
            <a:endParaRPr sz="2700">
              <a:solidFill>
                <a:schemeClr val="dk1"/>
              </a:solidFill>
              <a:latin typeface="Calibri"/>
              <a:ea typeface="Calibri"/>
              <a:cs typeface="Calibri"/>
              <a:sym typeface="Calibri"/>
            </a:endParaRPr>
          </a:p>
        </p:txBody>
      </p:sp>
      <p:sp>
        <p:nvSpPr>
          <p:cNvPr id="540" name="Google Shape;540;p17"/>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Crucial strategic dialogue assessing ISMS and AIMS effectiveness and alignment with organizational objectives</a:t>
            </a:r>
            <a:endParaRPr sz="1500">
              <a:solidFill>
                <a:schemeClr val="dk1"/>
              </a:solidFill>
              <a:latin typeface="Calibri"/>
              <a:ea typeface="Calibri"/>
              <a:cs typeface="Calibri"/>
              <a:sym typeface="Calibri"/>
            </a:endParaRPr>
          </a:p>
        </p:txBody>
      </p:sp>
      <p:sp>
        <p:nvSpPr>
          <p:cNvPr id="541" name="Google Shape;541;p17"/>
          <p:cNvSpPr/>
          <p:nvPr/>
        </p:nvSpPr>
        <p:spPr>
          <a:xfrm>
            <a:off x="885825" y="1638300"/>
            <a:ext cx="603504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The Leadership Dialogue</a:t>
            </a:r>
            <a:endParaRPr sz="1800">
              <a:solidFill>
                <a:schemeClr val="dk1"/>
              </a:solidFill>
              <a:latin typeface="Calibri"/>
              <a:ea typeface="Calibri"/>
              <a:cs typeface="Calibri"/>
              <a:sym typeface="Calibri"/>
            </a:endParaRPr>
          </a:p>
        </p:txBody>
      </p:sp>
      <p:sp>
        <p:nvSpPr>
          <p:cNvPr id="542" name="Google Shape;542;p17"/>
          <p:cNvSpPr/>
          <p:nvPr/>
        </p:nvSpPr>
        <p:spPr>
          <a:xfrm>
            <a:off x="609600" y="2057400"/>
            <a:ext cx="502920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Management review is not merely a formality but a critical strategic conversation between the Lead Implementer and senior management, creating a platform for high-level decision making.</a:t>
            </a:r>
            <a:endParaRPr sz="1200">
              <a:solidFill>
                <a:schemeClr val="dk1"/>
              </a:solidFill>
              <a:latin typeface="Calibri"/>
              <a:ea typeface="Calibri"/>
              <a:cs typeface="Calibri"/>
              <a:sym typeface="Calibri"/>
            </a:endParaRPr>
          </a:p>
        </p:txBody>
      </p:sp>
      <p:sp>
        <p:nvSpPr>
          <p:cNvPr id="543" name="Google Shape;543;p17"/>
          <p:cNvSpPr/>
          <p:nvPr/>
        </p:nvSpPr>
        <p:spPr>
          <a:xfrm>
            <a:off x="685800" y="3390900"/>
            <a:ext cx="4991100" cy="1143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i="1" lang="en-US" sz="1200">
                <a:solidFill>
                  <a:srgbClr val="374151"/>
                </a:solidFill>
                <a:latin typeface="Arial"/>
                <a:ea typeface="Arial"/>
                <a:cs typeface="Arial"/>
                <a:sym typeface="Arial"/>
              </a:rPr>
              <a:t>"The management review is a vital platform for assessing the effectiveness of the Information Security Management System (ISMS) and Artificial Intelligence Management System (AIMS), ensuring their alignment with organizational objectives, and driving strategic decisions for continual improvement."</a:t>
            </a:r>
            <a:endParaRPr sz="1200">
              <a:solidFill>
                <a:schemeClr val="dk1"/>
              </a:solidFill>
              <a:latin typeface="Calibri"/>
              <a:ea typeface="Calibri"/>
              <a:cs typeface="Calibri"/>
              <a:sym typeface="Calibri"/>
            </a:endParaRPr>
          </a:p>
        </p:txBody>
      </p:sp>
      <p:sp>
        <p:nvSpPr>
          <p:cNvPr id="544" name="Google Shape;544;p17"/>
          <p:cNvSpPr/>
          <p:nvPr/>
        </p:nvSpPr>
        <p:spPr>
          <a:xfrm>
            <a:off x="6324600" y="1409700"/>
            <a:ext cx="54864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Key Purpose Areas</a:t>
            </a:r>
            <a:endParaRPr sz="1800">
              <a:solidFill>
                <a:schemeClr val="dk1"/>
              </a:solidFill>
              <a:latin typeface="Calibri"/>
              <a:ea typeface="Calibri"/>
              <a:cs typeface="Calibri"/>
              <a:sym typeface="Calibri"/>
            </a:endParaRPr>
          </a:p>
        </p:txBody>
      </p:sp>
      <p:sp>
        <p:nvSpPr>
          <p:cNvPr id="545" name="Google Shape;545;p17"/>
          <p:cNvSpPr/>
          <p:nvPr/>
        </p:nvSpPr>
        <p:spPr>
          <a:xfrm>
            <a:off x="7010400" y="2019300"/>
            <a:ext cx="557784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Effectiveness Assessment</a:t>
            </a:r>
            <a:endParaRPr sz="1500">
              <a:solidFill>
                <a:schemeClr val="dk1"/>
              </a:solidFill>
              <a:latin typeface="Calibri"/>
              <a:ea typeface="Calibri"/>
              <a:cs typeface="Calibri"/>
              <a:sym typeface="Calibri"/>
            </a:endParaRPr>
          </a:p>
        </p:txBody>
      </p:sp>
      <p:sp>
        <p:nvSpPr>
          <p:cNvPr id="546" name="Google Shape;546;p17"/>
          <p:cNvSpPr/>
          <p:nvPr/>
        </p:nvSpPr>
        <p:spPr>
          <a:xfrm>
            <a:off x="7010400" y="2286000"/>
            <a:ext cx="46482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Evaluates whether the ISMS and AIMS are functioning as intended and delivering expected outcomes.</a:t>
            </a:r>
            <a:endParaRPr sz="1200">
              <a:solidFill>
                <a:schemeClr val="dk1"/>
              </a:solidFill>
              <a:latin typeface="Calibri"/>
              <a:ea typeface="Calibri"/>
              <a:cs typeface="Calibri"/>
              <a:sym typeface="Calibri"/>
            </a:endParaRPr>
          </a:p>
        </p:txBody>
      </p:sp>
      <p:sp>
        <p:nvSpPr>
          <p:cNvPr id="547" name="Google Shape;547;p17"/>
          <p:cNvSpPr/>
          <p:nvPr/>
        </p:nvSpPr>
        <p:spPr>
          <a:xfrm>
            <a:off x="7010400" y="3200400"/>
            <a:ext cx="46482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Strategic Alignment</a:t>
            </a:r>
            <a:endParaRPr sz="1500">
              <a:solidFill>
                <a:schemeClr val="dk1"/>
              </a:solidFill>
              <a:latin typeface="Calibri"/>
              <a:ea typeface="Calibri"/>
              <a:cs typeface="Calibri"/>
              <a:sym typeface="Calibri"/>
            </a:endParaRPr>
          </a:p>
        </p:txBody>
      </p:sp>
      <p:sp>
        <p:nvSpPr>
          <p:cNvPr id="548" name="Google Shape;548;p17"/>
          <p:cNvSpPr/>
          <p:nvPr/>
        </p:nvSpPr>
        <p:spPr>
          <a:xfrm>
            <a:off x="7010400" y="3467100"/>
            <a:ext cx="46482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Ensures that security and AI governance remain aligned with evolving business objectives and strategic direction.</a:t>
            </a:r>
            <a:endParaRPr sz="1200">
              <a:solidFill>
                <a:schemeClr val="dk1"/>
              </a:solidFill>
              <a:latin typeface="Calibri"/>
              <a:ea typeface="Calibri"/>
              <a:cs typeface="Calibri"/>
              <a:sym typeface="Calibri"/>
            </a:endParaRPr>
          </a:p>
        </p:txBody>
      </p:sp>
      <p:sp>
        <p:nvSpPr>
          <p:cNvPr id="549" name="Google Shape;549;p17"/>
          <p:cNvSpPr/>
          <p:nvPr/>
        </p:nvSpPr>
        <p:spPr>
          <a:xfrm>
            <a:off x="7010400" y="4381500"/>
            <a:ext cx="557784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Resource Optimization</a:t>
            </a:r>
            <a:endParaRPr sz="1500">
              <a:solidFill>
                <a:schemeClr val="dk1"/>
              </a:solidFill>
              <a:latin typeface="Calibri"/>
              <a:ea typeface="Calibri"/>
              <a:cs typeface="Calibri"/>
              <a:sym typeface="Calibri"/>
            </a:endParaRPr>
          </a:p>
        </p:txBody>
      </p:sp>
      <p:sp>
        <p:nvSpPr>
          <p:cNvPr id="550" name="Google Shape;550;p17"/>
          <p:cNvSpPr/>
          <p:nvPr/>
        </p:nvSpPr>
        <p:spPr>
          <a:xfrm>
            <a:off x="7010400" y="4648200"/>
            <a:ext cx="464820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Facilitates informed decisions about resource allocation to maximize the value and effectiveness of management systems.</a:t>
            </a:r>
            <a:endParaRPr sz="1200">
              <a:solidFill>
                <a:schemeClr val="dk1"/>
              </a:solidFill>
              <a:latin typeface="Calibri"/>
              <a:ea typeface="Calibri"/>
              <a:cs typeface="Calibri"/>
              <a:sym typeface="Calibri"/>
            </a:endParaRPr>
          </a:p>
        </p:txBody>
      </p:sp>
      <p:sp>
        <p:nvSpPr>
          <p:cNvPr id="551" name="Google Shape;551;p17"/>
          <p:cNvSpPr/>
          <p:nvPr/>
        </p:nvSpPr>
        <p:spPr>
          <a:xfrm>
            <a:off x="8687098" y="6515100"/>
            <a:ext cx="393156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15/23</a:t>
            </a:r>
            <a:endParaRPr sz="105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pic>
        <p:nvPicPr>
          <p:cNvPr descr="preencoded.png" id="557" name="Google Shape;557;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558" name="Google Shape;558;p18"/>
          <p:cNvPicPr preferRelativeResize="0"/>
          <p:nvPr/>
        </p:nvPicPr>
        <p:blipFill rotWithShape="1">
          <a:blip r:embed="rId4">
            <a:alphaModFix/>
          </a:blip>
          <a:srcRect b="0" l="0" r="0" t="0"/>
          <a:stretch/>
        </p:blipFill>
        <p:spPr>
          <a:xfrm>
            <a:off x="381000" y="1485900"/>
            <a:ext cx="3657600" cy="2133600"/>
          </a:xfrm>
          <a:prstGeom prst="rect">
            <a:avLst/>
          </a:prstGeom>
          <a:noFill/>
          <a:ln>
            <a:noFill/>
          </a:ln>
        </p:spPr>
      </p:pic>
      <p:pic>
        <p:nvPicPr>
          <p:cNvPr descr="preencoded.png" id="559" name="Google Shape;559;p18"/>
          <p:cNvPicPr preferRelativeResize="0"/>
          <p:nvPr/>
        </p:nvPicPr>
        <p:blipFill rotWithShape="1">
          <a:blip r:embed="rId5">
            <a:alphaModFix/>
          </a:blip>
          <a:srcRect b="0" l="0" r="0" t="0"/>
          <a:stretch/>
        </p:blipFill>
        <p:spPr>
          <a:xfrm>
            <a:off x="609600" y="1714500"/>
            <a:ext cx="457200" cy="457200"/>
          </a:xfrm>
          <a:prstGeom prst="rect">
            <a:avLst/>
          </a:prstGeom>
          <a:noFill/>
          <a:ln>
            <a:noFill/>
          </a:ln>
        </p:spPr>
      </p:pic>
      <p:pic>
        <p:nvPicPr>
          <p:cNvPr descr="preencoded.png" id="560" name="Google Shape;560;p18"/>
          <p:cNvPicPr preferRelativeResize="0"/>
          <p:nvPr/>
        </p:nvPicPr>
        <p:blipFill rotWithShape="1">
          <a:blip r:embed="rId6">
            <a:alphaModFix/>
          </a:blip>
          <a:srcRect b="0" l="0" r="0" t="0"/>
          <a:stretch/>
        </p:blipFill>
        <p:spPr>
          <a:xfrm>
            <a:off x="738188" y="1790700"/>
            <a:ext cx="200025" cy="304800"/>
          </a:xfrm>
          <a:prstGeom prst="rect">
            <a:avLst/>
          </a:prstGeom>
          <a:noFill/>
          <a:ln>
            <a:noFill/>
          </a:ln>
        </p:spPr>
      </p:pic>
      <p:pic>
        <p:nvPicPr>
          <p:cNvPr descr="preencoded.png" id="561" name="Google Shape;561;p18"/>
          <p:cNvPicPr preferRelativeResize="0"/>
          <p:nvPr/>
        </p:nvPicPr>
        <p:blipFill rotWithShape="1">
          <a:blip r:embed="rId7">
            <a:alphaModFix/>
          </a:blip>
          <a:srcRect b="0" l="0" r="0" t="0"/>
          <a:stretch/>
        </p:blipFill>
        <p:spPr>
          <a:xfrm>
            <a:off x="800100" y="2362200"/>
            <a:ext cx="152400" cy="152400"/>
          </a:xfrm>
          <a:prstGeom prst="rect">
            <a:avLst/>
          </a:prstGeom>
          <a:noFill/>
          <a:ln>
            <a:noFill/>
          </a:ln>
        </p:spPr>
      </p:pic>
      <p:pic>
        <p:nvPicPr>
          <p:cNvPr descr="preencoded.png" id="562" name="Google Shape;562;p18"/>
          <p:cNvPicPr preferRelativeResize="0"/>
          <p:nvPr/>
        </p:nvPicPr>
        <p:blipFill rotWithShape="1">
          <a:blip r:embed="rId7">
            <a:alphaModFix/>
          </a:blip>
          <a:srcRect b="0" l="0" r="0" t="0"/>
          <a:stretch/>
        </p:blipFill>
        <p:spPr>
          <a:xfrm>
            <a:off x="800100" y="2895600"/>
            <a:ext cx="152400" cy="152400"/>
          </a:xfrm>
          <a:prstGeom prst="rect">
            <a:avLst/>
          </a:prstGeom>
          <a:noFill/>
          <a:ln>
            <a:noFill/>
          </a:ln>
        </p:spPr>
      </p:pic>
      <p:pic>
        <p:nvPicPr>
          <p:cNvPr descr="preencoded.png" id="563" name="Google Shape;563;p18"/>
          <p:cNvPicPr preferRelativeResize="0"/>
          <p:nvPr/>
        </p:nvPicPr>
        <p:blipFill rotWithShape="1">
          <a:blip r:embed="rId7">
            <a:alphaModFix/>
          </a:blip>
          <a:srcRect b="0" l="0" r="0" t="0"/>
          <a:stretch/>
        </p:blipFill>
        <p:spPr>
          <a:xfrm>
            <a:off x="800100" y="3200400"/>
            <a:ext cx="152400" cy="152400"/>
          </a:xfrm>
          <a:prstGeom prst="rect">
            <a:avLst/>
          </a:prstGeom>
          <a:noFill/>
          <a:ln>
            <a:noFill/>
          </a:ln>
        </p:spPr>
      </p:pic>
      <p:pic>
        <p:nvPicPr>
          <p:cNvPr descr="preencoded.png" id="564" name="Google Shape;564;p18"/>
          <p:cNvPicPr preferRelativeResize="0"/>
          <p:nvPr/>
        </p:nvPicPr>
        <p:blipFill rotWithShape="1">
          <a:blip r:embed="rId4">
            <a:alphaModFix/>
          </a:blip>
          <a:srcRect b="0" l="0" r="0" t="0"/>
          <a:stretch/>
        </p:blipFill>
        <p:spPr>
          <a:xfrm>
            <a:off x="4267200" y="1485900"/>
            <a:ext cx="3657600" cy="2133600"/>
          </a:xfrm>
          <a:prstGeom prst="rect">
            <a:avLst/>
          </a:prstGeom>
          <a:noFill/>
          <a:ln>
            <a:noFill/>
          </a:ln>
        </p:spPr>
      </p:pic>
      <p:pic>
        <p:nvPicPr>
          <p:cNvPr descr="preencoded.png" id="565" name="Google Shape;565;p18"/>
          <p:cNvPicPr preferRelativeResize="0"/>
          <p:nvPr/>
        </p:nvPicPr>
        <p:blipFill rotWithShape="1">
          <a:blip r:embed="rId8">
            <a:alphaModFix/>
          </a:blip>
          <a:srcRect b="0" l="0" r="0" t="0"/>
          <a:stretch/>
        </p:blipFill>
        <p:spPr>
          <a:xfrm>
            <a:off x="4495800" y="1714500"/>
            <a:ext cx="457200" cy="457200"/>
          </a:xfrm>
          <a:prstGeom prst="rect">
            <a:avLst/>
          </a:prstGeom>
          <a:noFill/>
          <a:ln>
            <a:noFill/>
          </a:ln>
        </p:spPr>
      </p:pic>
      <p:pic>
        <p:nvPicPr>
          <p:cNvPr descr="preencoded.png" id="566" name="Google Shape;566;p18"/>
          <p:cNvPicPr preferRelativeResize="0"/>
          <p:nvPr/>
        </p:nvPicPr>
        <p:blipFill rotWithShape="1">
          <a:blip r:embed="rId9">
            <a:alphaModFix/>
          </a:blip>
          <a:srcRect b="0" l="0" r="0" t="0"/>
          <a:stretch/>
        </p:blipFill>
        <p:spPr>
          <a:xfrm>
            <a:off x="4610100" y="1790700"/>
            <a:ext cx="228600" cy="304800"/>
          </a:xfrm>
          <a:prstGeom prst="rect">
            <a:avLst/>
          </a:prstGeom>
          <a:noFill/>
          <a:ln>
            <a:noFill/>
          </a:ln>
        </p:spPr>
      </p:pic>
      <p:pic>
        <p:nvPicPr>
          <p:cNvPr descr="preencoded.png" id="567" name="Google Shape;567;p18"/>
          <p:cNvPicPr preferRelativeResize="0"/>
          <p:nvPr/>
        </p:nvPicPr>
        <p:blipFill rotWithShape="1">
          <a:blip r:embed="rId7">
            <a:alphaModFix/>
          </a:blip>
          <a:srcRect b="0" l="0" r="0" t="0"/>
          <a:stretch/>
        </p:blipFill>
        <p:spPr>
          <a:xfrm>
            <a:off x="4686300" y="2362200"/>
            <a:ext cx="152400" cy="152400"/>
          </a:xfrm>
          <a:prstGeom prst="rect">
            <a:avLst/>
          </a:prstGeom>
          <a:noFill/>
          <a:ln>
            <a:noFill/>
          </a:ln>
        </p:spPr>
      </p:pic>
      <p:pic>
        <p:nvPicPr>
          <p:cNvPr descr="preencoded.png" id="568" name="Google Shape;568;p18"/>
          <p:cNvPicPr preferRelativeResize="0"/>
          <p:nvPr/>
        </p:nvPicPr>
        <p:blipFill rotWithShape="1">
          <a:blip r:embed="rId7">
            <a:alphaModFix/>
          </a:blip>
          <a:srcRect b="0" l="0" r="0" t="0"/>
          <a:stretch/>
        </p:blipFill>
        <p:spPr>
          <a:xfrm>
            <a:off x="4686300" y="2667000"/>
            <a:ext cx="152400" cy="152400"/>
          </a:xfrm>
          <a:prstGeom prst="rect">
            <a:avLst/>
          </a:prstGeom>
          <a:noFill/>
          <a:ln>
            <a:noFill/>
          </a:ln>
        </p:spPr>
      </p:pic>
      <p:pic>
        <p:nvPicPr>
          <p:cNvPr descr="preencoded.png" id="569" name="Google Shape;569;p18"/>
          <p:cNvPicPr preferRelativeResize="0"/>
          <p:nvPr/>
        </p:nvPicPr>
        <p:blipFill rotWithShape="1">
          <a:blip r:embed="rId7">
            <a:alphaModFix/>
          </a:blip>
          <a:srcRect b="0" l="0" r="0" t="0"/>
          <a:stretch/>
        </p:blipFill>
        <p:spPr>
          <a:xfrm>
            <a:off x="4686300" y="2971800"/>
            <a:ext cx="152400" cy="152400"/>
          </a:xfrm>
          <a:prstGeom prst="rect">
            <a:avLst/>
          </a:prstGeom>
          <a:noFill/>
          <a:ln>
            <a:noFill/>
          </a:ln>
        </p:spPr>
      </p:pic>
      <p:pic>
        <p:nvPicPr>
          <p:cNvPr descr="preencoded.png" id="570" name="Google Shape;570;p18"/>
          <p:cNvPicPr preferRelativeResize="0"/>
          <p:nvPr/>
        </p:nvPicPr>
        <p:blipFill rotWithShape="1">
          <a:blip r:embed="rId4">
            <a:alphaModFix/>
          </a:blip>
          <a:srcRect b="0" l="0" r="0" t="0"/>
          <a:stretch/>
        </p:blipFill>
        <p:spPr>
          <a:xfrm>
            <a:off x="8153400" y="1485900"/>
            <a:ext cx="3657600" cy="2133600"/>
          </a:xfrm>
          <a:prstGeom prst="rect">
            <a:avLst/>
          </a:prstGeom>
          <a:noFill/>
          <a:ln>
            <a:noFill/>
          </a:ln>
        </p:spPr>
      </p:pic>
      <p:pic>
        <p:nvPicPr>
          <p:cNvPr descr="preencoded.png" id="571" name="Google Shape;571;p18"/>
          <p:cNvPicPr preferRelativeResize="0"/>
          <p:nvPr/>
        </p:nvPicPr>
        <p:blipFill rotWithShape="1">
          <a:blip r:embed="rId10">
            <a:alphaModFix/>
          </a:blip>
          <a:srcRect b="0" l="0" r="0" t="0"/>
          <a:stretch/>
        </p:blipFill>
        <p:spPr>
          <a:xfrm>
            <a:off x="8382000" y="1790700"/>
            <a:ext cx="415379" cy="457200"/>
          </a:xfrm>
          <a:prstGeom prst="rect">
            <a:avLst/>
          </a:prstGeom>
          <a:noFill/>
          <a:ln>
            <a:noFill/>
          </a:ln>
        </p:spPr>
      </p:pic>
      <p:pic>
        <p:nvPicPr>
          <p:cNvPr descr="preencoded.png" id="572" name="Google Shape;572;p18"/>
          <p:cNvPicPr preferRelativeResize="0"/>
          <p:nvPr/>
        </p:nvPicPr>
        <p:blipFill rotWithShape="1">
          <a:blip r:embed="rId11">
            <a:alphaModFix/>
          </a:blip>
          <a:srcRect b="0" l="0" r="0" t="0"/>
          <a:stretch/>
        </p:blipFill>
        <p:spPr>
          <a:xfrm>
            <a:off x="8446740" y="1866900"/>
            <a:ext cx="285750" cy="304800"/>
          </a:xfrm>
          <a:prstGeom prst="rect">
            <a:avLst/>
          </a:prstGeom>
          <a:noFill/>
          <a:ln>
            <a:noFill/>
          </a:ln>
        </p:spPr>
      </p:pic>
      <p:pic>
        <p:nvPicPr>
          <p:cNvPr descr="preencoded.png" id="573" name="Google Shape;573;p18"/>
          <p:cNvPicPr preferRelativeResize="0"/>
          <p:nvPr/>
        </p:nvPicPr>
        <p:blipFill rotWithShape="1">
          <a:blip r:embed="rId7">
            <a:alphaModFix/>
          </a:blip>
          <a:srcRect b="0" l="0" r="0" t="0"/>
          <a:stretch/>
        </p:blipFill>
        <p:spPr>
          <a:xfrm>
            <a:off x="8572500" y="2514600"/>
            <a:ext cx="152400" cy="152400"/>
          </a:xfrm>
          <a:prstGeom prst="rect">
            <a:avLst/>
          </a:prstGeom>
          <a:noFill/>
          <a:ln>
            <a:noFill/>
          </a:ln>
        </p:spPr>
      </p:pic>
      <p:pic>
        <p:nvPicPr>
          <p:cNvPr descr="preencoded.png" id="574" name="Google Shape;574;p18"/>
          <p:cNvPicPr preferRelativeResize="0"/>
          <p:nvPr/>
        </p:nvPicPr>
        <p:blipFill rotWithShape="1">
          <a:blip r:embed="rId7">
            <a:alphaModFix/>
          </a:blip>
          <a:srcRect b="0" l="0" r="0" t="0"/>
          <a:stretch/>
        </p:blipFill>
        <p:spPr>
          <a:xfrm>
            <a:off x="8572500" y="2819400"/>
            <a:ext cx="152400" cy="152400"/>
          </a:xfrm>
          <a:prstGeom prst="rect">
            <a:avLst/>
          </a:prstGeom>
          <a:noFill/>
          <a:ln>
            <a:noFill/>
          </a:ln>
        </p:spPr>
      </p:pic>
      <p:pic>
        <p:nvPicPr>
          <p:cNvPr descr="preencoded.png" id="575" name="Google Shape;575;p18"/>
          <p:cNvPicPr preferRelativeResize="0"/>
          <p:nvPr/>
        </p:nvPicPr>
        <p:blipFill rotWithShape="1">
          <a:blip r:embed="rId7">
            <a:alphaModFix/>
          </a:blip>
          <a:srcRect b="0" l="0" r="0" t="0"/>
          <a:stretch/>
        </p:blipFill>
        <p:spPr>
          <a:xfrm>
            <a:off x="8572500" y="3124200"/>
            <a:ext cx="152400" cy="152400"/>
          </a:xfrm>
          <a:prstGeom prst="rect">
            <a:avLst/>
          </a:prstGeom>
          <a:noFill/>
          <a:ln>
            <a:noFill/>
          </a:ln>
        </p:spPr>
      </p:pic>
      <p:pic>
        <p:nvPicPr>
          <p:cNvPr descr="preencoded.png" id="576" name="Google Shape;576;p18"/>
          <p:cNvPicPr preferRelativeResize="0"/>
          <p:nvPr/>
        </p:nvPicPr>
        <p:blipFill rotWithShape="1">
          <a:blip r:embed="rId12">
            <a:alphaModFix/>
          </a:blip>
          <a:srcRect b="0" l="0" r="0" t="0"/>
          <a:stretch/>
        </p:blipFill>
        <p:spPr>
          <a:xfrm>
            <a:off x="381000" y="3848100"/>
            <a:ext cx="11430000" cy="533400"/>
          </a:xfrm>
          <a:prstGeom prst="rect">
            <a:avLst/>
          </a:prstGeom>
          <a:noFill/>
          <a:ln>
            <a:noFill/>
          </a:ln>
        </p:spPr>
      </p:pic>
      <p:pic>
        <p:nvPicPr>
          <p:cNvPr descr="preencoded.png" id="577" name="Google Shape;577;p18"/>
          <p:cNvPicPr preferRelativeResize="0"/>
          <p:nvPr/>
        </p:nvPicPr>
        <p:blipFill rotWithShape="1">
          <a:blip r:embed="rId13">
            <a:alphaModFix/>
          </a:blip>
          <a:srcRect b="0" l="0" r="0" t="0"/>
          <a:stretch/>
        </p:blipFill>
        <p:spPr>
          <a:xfrm>
            <a:off x="533400" y="4029075"/>
            <a:ext cx="114300" cy="152400"/>
          </a:xfrm>
          <a:prstGeom prst="rect">
            <a:avLst/>
          </a:prstGeom>
          <a:noFill/>
          <a:ln>
            <a:noFill/>
          </a:ln>
        </p:spPr>
      </p:pic>
      <p:sp>
        <p:nvSpPr>
          <p:cNvPr id="578" name="Google Shape;578;p18"/>
          <p:cNvSpPr/>
          <p:nvPr/>
        </p:nvSpPr>
        <p:spPr>
          <a:xfrm>
            <a:off x="381000" y="381000"/>
            <a:ext cx="13716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Management Review Preparation</a:t>
            </a:r>
            <a:endParaRPr sz="2700">
              <a:solidFill>
                <a:schemeClr val="dk1"/>
              </a:solidFill>
              <a:latin typeface="Calibri"/>
              <a:ea typeface="Calibri"/>
              <a:cs typeface="Calibri"/>
              <a:sym typeface="Calibri"/>
            </a:endParaRPr>
          </a:p>
        </p:txBody>
      </p:sp>
      <p:sp>
        <p:nvSpPr>
          <p:cNvPr id="579" name="Google Shape;579;p18"/>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Key steps for effective strategic planning and decision-making</a:t>
            </a:r>
            <a:endParaRPr sz="1500">
              <a:solidFill>
                <a:schemeClr val="dk1"/>
              </a:solidFill>
              <a:latin typeface="Calibri"/>
              <a:ea typeface="Calibri"/>
              <a:cs typeface="Calibri"/>
              <a:sym typeface="Calibri"/>
            </a:endParaRPr>
          </a:p>
        </p:txBody>
      </p:sp>
      <p:sp>
        <p:nvSpPr>
          <p:cNvPr id="580" name="Google Shape;580;p18"/>
          <p:cNvSpPr/>
          <p:nvPr/>
        </p:nvSpPr>
        <p:spPr>
          <a:xfrm>
            <a:off x="1219200" y="1790700"/>
            <a:ext cx="2622649"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Gathering Inputs</a:t>
            </a:r>
            <a:endParaRPr sz="1800">
              <a:solidFill>
                <a:schemeClr val="dk1"/>
              </a:solidFill>
              <a:latin typeface="Calibri"/>
              <a:ea typeface="Calibri"/>
              <a:cs typeface="Calibri"/>
              <a:sym typeface="Calibri"/>
            </a:endParaRPr>
          </a:p>
        </p:txBody>
      </p:sp>
      <p:sp>
        <p:nvSpPr>
          <p:cNvPr id="581" name="Google Shape;581;p18"/>
          <p:cNvSpPr/>
          <p:nvPr/>
        </p:nvSpPr>
        <p:spPr>
          <a:xfrm>
            <a:off x="1028700" y="2324100"/>
            <a:ext cx="27813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Collect audit results (internal &amp; external)</a:t>
            </a:r>
            <a:endParaRPr sz="1200">
              <a:solidFill>
                <a:schemeClr val="dk1"/>
              </a:solidFill>
              <a:latin typeface="Calibri"/>
              <a:ea typeface="Calibri"/>
              <a:cs typeface="Calibri"/>
              <a:sym typeface="Calibri"/>
            </a:endParaRPr>
          </a:p>
        </p:txBody>
      </p:sp>
      <p:sp>
        <p:nvSpPr>
          <p:cNvPr id="582" name="Google Shape;582;p18"/>
          <p:cNvSpPr/>
          <p:nvPr/>
        </p:nvSpPr>
        <p:spPr>
          <a:xfrm>
            <a:off x="1028700" y="2857500"/>
            <a:ext cx="299019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Review performance data &amp; KPIs</a:t>
            </a:r>
            <a:endParaRPr sz="1200">
              <a:solidFill>
                <a:schemeClr val="dk1"/>
              </a:solidFill>
              <a:latin typeface="Calibri"/>
              <a:ea typeface="Calibri"/>
              <a:cs typeface="Calibri"/>
              <a:sym typeface="Calibri"/>
            </a:endParaRPr>
          </a:p>
        </p:txBody>
      </p:sp>
      <p:sp>
        <p:nvSpPr>
          <p:cNvPr id="583" name="Google Shape;583;p18"/>
          <p:cNvSpPr/>
          <p:nvPr/>
        </p:nvSpPr>
        <p:spPr>
          <a:xfrm>
            <a:off x="1028700" y="3162300"/>
            <a:ext cx="269551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Include stakeholder feedback</a:t>
            </a:r>
            <a:endParaRPr sz="1200">
              <a:solidFill>
                <a:schemeClr val="dk1"/>
              </a:solidFill>
              <a:latin typeface="Calibri"/>
              <a:ea typeface="Calibri"/>
              <a:cs typeface="Calibri"/>
              <a:sym typeface="Calibri"/>
            </a:endParaRPr>
          </a:p>
        </p:txBody>
      </p:sp>
      <p:sp>
        <p:nvSpPr>
          <p:cNvPr id="584" name="Google Shape;584;p18"/>
          <p:cNvSpPr/>
          <p:nvPr/>
        </p:nvSpPr>
        <p:spPr>
          <a:xfrm>
            <a:off x="5105400" y="1790700"/>
            <a:ext cx="2791956"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Preparing Agenda</a:t>
            </a:r>
            <a:endParaRPr sz="1800">
              <a:solidFill>
                <a:schemeClr val="dk1"/>
              </a:solidFill>
              <a:latin typeface="Calibri"/>
              <a:ea typeface="Calibri"/>
              <a:cs typeface="Calibri"/>
              <a:sym typeface="Calibri"/>
            </a:endParaRPr>
          </a:p>
        </p:txBody>
      </p:sp>
      <p:sp>
        <p:nvSpPr>
          <p:cNvPr id="585" name="Google Shape;585;p18"/>
          <p:cNvSpPr/>
          <p:nvPr/>
        </p:nvSpPr>
        <p:spPr>
          <a:xfrm>
            <a:off x="4914900" y="2324100"/>
            <a:ext cx="2663547"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Create clear, concise agenda</a:t>
            </a:r>
            <a:endParaRPr sz="1200">
              <a:solidFill>
                <a:schemeClr val="dk1"/>
              </a:solidFill>
              <a:latin typeface="Calibri"/>
              <a:ea typeface="Calibri"/>
              <a:cs typeface="Calibri"/>
              <a:sym typeface="Calibri"/>
            </a:endParaRPr>
          </a:p>
        </p:txBody>
      </p:sp>
      <p:sp>
        <p:nvSpPr>
          <p:cNvPr id="586" name="Google Shape;586;p18"/>
          <p:cNvSpPr/>
          <p:nvPr/>
        </p:nvSpPr>
        <p:spPr>
          <a:xfrm>
            <a:off x="4914900" y="2628900"/>
            <a:ext cx="2270462"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Prioritize strategic topics</a:t>
            </a:r>
            <a:endParaRPr sz="1200">
              <a:solidFill>
                <a:schemeClr val="dk1"/>
              </a:solidFill>
              <a:latin typeface="Calibri"/>
              <a:ea typeface="Calibri"/>
              <a:cs typeface="Calibri"/>
              <a:sym typeface="Calibri"/>
            </a:endParaRPr>
          </a:p>
        </p:txBody>
      </p:sp>
      <p:sp>
        <p:nvSpPr>
          <p:cNvPr id="587" name="Google Shape;587;p18"/>
          <p:cNvSpPr/>
          <p:nvPr/>
        </p:nvSpPr>
        <p:spPr>
          <a:xfrm>
            <a:off x="4914900" y="2933700"/>
            <a:ext cx="297555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Focus on decision-making needs</a:t>
            </a:r>
            <a:endParaRPr sz="1200">
              <a:solidFill>
                <a:schemeClr val="dk1"/>
              </a:solidFill>
              <a:latin typeface="Calibri"/>
              <a:ea typeface="Calibri"/>
              <a:cs typeface="Calibri"/>
              <a:sym typeface="Calibri"/>
            </a:endParaRPr>
          </a:p>
        </p:txBody>
      </p:sp>
      <p:sp>
        <p:nvSpPr>
          <p:cNvPr id="588" name="Google Shape;588;p18"/>
          <p:cNvSpPr/>
          <p:nvPr/>
        </p:nvSpPr>
        <p:spPr>
          <a:xfrm>
            <a:off x="8949779" y="1714500"/>
            <a:ext cx="2632621" cy="609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Facilitating Discussion</a:t>
            </a:r>
            <a:endParaRPr sz="1800">
              <a:solidFill>
                <a:schemeClr val="dk1"/>
              </a:solidFill>
              <a:latin typeface="Calibri"/>
              <a:ea typeface="Calibri"/>
              <a:cs typeface="Calibri"/>
              <a:sym typeface="Calibri"/>
            </a:endParaRPr>
          </a:p>
        </p:txBody>
      </p:sp>
      <p:sp>
        <p:nvSpPr>
          <p:cNvPr id="589" name="Google Shape;589;p18"/>
          <p:cNvSpPr/>
          <p:nvPr/>
        </p:nvSpPr>
        <p:spPr>
          <a:xfrm>
            <a:off x="8801100" y="2476500"/>
            <a:ext cx="3203079"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Guide participants through agenda</a:t>
            </a:r>
            <a:endParaRPr sz="1200">
              <a:solidFill>
                <a:schemeClr val="dk1"/>
              </a:solidFill>
              <a:latin typeface="Calibri"/>
              <a:ea typeface="Calibri"/>
              <a:cs typeface="Calibri"/>
              <a:sym typeface="Calibri"/>
            </a:endParaRPr>
          </a:p>
        </p:txBody>
      </p:sp>
      <p:sp>
        <p:nvSpPr>
          <p:cNvPr id="590" name="Google Shape;590;p18"/>
          <p:cNvSpPr/>
          <p:nvPr/>
        </p:nvSpPr>
        <p:spPr>
          <a:xfrm>
            <a:off x="8801100" y="2781300"/>
            <a:ext cx="2334578"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Encourage open dialogue</a:t>
            </a:r>
            <a:endParaRPr sz="1200">
              <a:solidFill>
                <a:schemeClr val="dk1"/>
              </a:solidFill>
              <a:latin typeface="Calibri"/>
              <a:ea typeface="Calibri"/>
              <a:cs typeface="Calibri"/>
              <a:sym typeface="Calibri"/>
            </a:endParaRPr>
          </a:p>
        </p:txBody>
      </p:sp>
      <p:sp>
        <p:nvSpPr>
          <p:cNvPr id="591" name="Google Shape;591;p18"/>
          <p:cNvSpPr/>
          <p:nvPr/>
        </p:nvSpPr>
        <p:spPr>
          <a:xfrm>
            <a:off x="8801100" y="3086100"/>
            <a:ext cx="3060918"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Drive clear decisions &amp; outcomes</a:t>
            </a:r>
            <a:endParaRPr sz="1200">
              <a:solidFill>
                <a:schemeClr val="dk1"/>
              </a:solidFill>
              <a:latin typeface="Calibri"/>
              <a:ea typeface="Calibri"/>
              <a:cs typeface="Calibri"/>
              <a:sym typeface="Calibri"/>
            </a:endParaRPr>
          </a:p>
        </p:txBody>
      </p:sp>
      <p:sp>
        <p:nvSpPr>
          <p:cNvPr id="592" name="Google Shape;592;p18"/>
          <p:cNvSpPr/>
          <p:nvPr/>
        </p:nvSpPr>
        <p:spPr>
          <a:xfrm>
            <a:off x="762000" y="4000500"/>
            <a:ext cx="8900577"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374151"/>
              </a:buClr>
              <a:buSzPts val="1050"/>
              <a:buFont typeface="Arial"/>
              <a:buNone/>
            </a:pPr>
            <a:r>
              <a:rPr b="1" lang="en-US" sz="1050">
                <a:solidFill>
                  <a:srgbClr val="374151"/>
                </a:solidFill>
                <a:latin typeface="Arial"/>
                <a:ea typeface="Arial"/>
                <a:cs typeface="Arial"/>
                <a:sym typeface="Arial"/>
              </a:rPr>
              <a:t>Best Practice:</a:t>
            </a:r>
            <a:r>
              <a:rPr lang="en-US" sz="1050">
                <a:solidFill>
                  <a:srgbClr val="374151"/>
                </a:solidFill>
                <a:latin typeface="Arial"/>
                <a:ea typeface="Arial"/>
                <a:cs typeface="Arial"/>
                <a:sym typeface="Arial"/>
              </a:rPr>
              <a:t> Document key decisions and action items from management reviews to track implementation.</a:t>
            </a:r>
            <a:endParaRPr sz="1050">
              <a:solidFill>
                <a:schemeClr val="dk1"/>
              </a:solidFill>
              <a:latin typeface="Calibri"/>
              <a:ea typeface="Calibri"/>
              <a:cs typeface="Calibri"/>
              <a:sym typeface="Calibri"/>
            </a:endParaRPr>
          </a:p>
        </p:txBody>
      </p:sp>
      <p:sp>
        <p:nvSpPr>
          <p:cNvPr id="593" name="Google Shape;593;p18"/>
          <p:cNvSpPr/>
          <p:nvPr/>
        </p:nvSpPr>
        <p:spPr>
          <a:xfrm>
            <a:off x="8687098" y="6515100"/>
            <a:ext cx="393156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16/23</a:t>
            </a:r>
            <a:endParaRPr sz="105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pic>
        <p:nvPicPr>
          <p:cNvPr descr="preencoded.png" id="599" name="Google Shape;599;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600" name="Google Shape;600;p19"/>
          <p:cNvPicPr preferRelativeResize="0"/>
          <p:nvPr/>
        </p:nvPicPr>
        <p:blipFill rotWithShape="1">
          <a:blip r:embed="rId4">
            <a:alphaModFix/>
          </a:blip>
          <a:srcRect b="0" l="0" r="0" t="0"/>
          <a:stretch/>
        </p:blipFill>
        <p:spPr>
          <a:xfrm>
            <a:off x="381000" y="1333500"/>
            <a:ext cx="11430000" cy="762000"/>
          </a:xfrm>
          <a:prstGeom prst="rect">
            <a:avLst/>
          </a:prstGeom>
          <a:noFill/>
          <a:ln>
            <a:noFill/>
          </a:ln>
        </p:spPr>
      </p:pic>
      <p:pic>
        <p:nvPicPr>
          <p:cNvPr descr="preencoded.png" id="601" name="Google Shape;601;p19"/>
          <p:cNvPicPr preferRelativeResize="0"/>
          <p:nvPr/>
        </p:nvPicPr>
        <p:blipFill rotWithShape="1">
          <a:blip r:embed="rId5">
            <a:alphaModFix/>
          </a:blip>
          <a:srcRect b="0" l="0" r="0" t="0"/>
          <a:stretch/>
        </p:blipFill>
        <p:spPr>
          <a:xfrm>
            <a:off x="381000" y="2400300"/>
            <a:ext cx="3657600" cy="3619500"/>
          </a:xfrm>
          <a:prstGeom prst="rect">
            <a:avLst/>
          </a:prstGeom>
          <a:noFill/>
          <a:ln>
            <a:noFill/>
          </a:ln>
        </p:spPr>
      </p:pic>
      <p:pic>
        <p:nvPicPr>
          <p:cNvPr descr="preencoded.png" id="602" name="Google Shape;602;p19"/>
          <p:cNvPicPr preferRelativeResize="0"/>
          <p:nvPr/>
        </p:nvPicPr>
        <p:blipFill rotWithShape="1">
          <a:blip r:embed="rId6">
            <a:alphaModFix/>
          </a:blip>
          <a:srcRect b="0" l="0" r="0" t="0"/>
          <a:stretch/>
        </p:blipFill>
        <p:spPr>
          <a:xfrm>
            <a:off x="571500" y="2609850"/>
            <a:ext cx="457795" cy="571500"/>
          </a:xfrm>
          <a:prstGeom prst="rect">
            <a:avLst/>
          </a:prstGeom>
          <a:noFill/>
          <a:ln>
            <a:noFill/>
          </a:ln>
        </p:spPr>
      </p:pic>
      <p:pic>
        <p:nvPicPr>
          <p:cNvPr descr="preencoded.png" id="603" name="Google Shape;603;p19"/>
          <p:cNvPicPr preferRelativeResize="0"/>
          <p:nvPr/>
        </p:nvPicPr>
        <p:blipFill rotWithShape="1">
          <a:blip r:embed="rId7">
            <a:alphaModFix/>
          </a:blip>
          <a:srcRect b="0" l="0" r="0" t="0"/>
          <a:stretch/>
        </p:blipFill>
        <p:spPr>
          <a:xfrm>
            <a:off x="619423" y="2724150"/>
            <a:ext cx="361950" cy="342900"/>
          </a:xfrm>
          <a:prstGeom prst="rect">
            <a:avLst/>
          </a:prstGeom>
          <a:noFill/>
          <a:ln>
            <a:noFill/>
          </a:ln>
        </p:spPr>
      </p:pic>
      <p:pic>
        <p:nvPicPr>
          <p:cNvPr descr="preencoded.png" id="604" name="Google Shape;604;p19"/>
          <p:cNvPicPr preferRelativeResize="0"/>
          <p:nvPr/>
        </p:nvPicPr>
        <p:blipFill rotWithShape="1">
          <a:blip r:embed="rId8">
            <a:alphaModFix/>
          </a:blip>
          <a:srcRect b="0" l="0" r="0" t="0"/>
          <a:stretch/>
        </p:blipFill>
        <p:spPr>
          <a:xfrm>
            <a:off x="571500" y="5295900"/>
            <a:ext cx="3276600" cy="533400"/>
          </a:xfrm>
          <a:prstGeom prst="rect">
            <a:avLst/>
          </a:prstGeom>
          <a:noFill/>
          <a:ln>
            <a:noFill/>
          </a:ln>
        </p:spPr>
      </p:pic>
      <p:pic>
        <p:nvPicPr>
          <p:cNvPr descr="preencoded.png" id="605" name="Google Shape;605;p19"/>
          <p:cNvPicPr preferRelativeResize="0"/>
          <p:nvPr/>
        </p:nvPicPr>
        <p:blipFill rotWithShape="1">
          <a:blip r:embed="rId5">
            <a:alphaModFix/>
          </a:blip>
          <a:srcRect b="0" l="0" r="0" t="0"/>
          <a:stretch/>
        </p:blipFill>
        <p:spPr>
          <a:xfrm>
            <a:off x="4267200" y="2400300"/>
            <a:ext cx="3657600" cy="3619500"/>
          </a:xfrm>
          <a:prstGeom prst="rect">
            <a:avLst/>
          </a:prstGeom>
          <a:noFill/>
          <a:ln>
            <a:noFill/>
          </a:ln>
        </p:spPr>
      </p:pic>
      <p:pic>
        <p:nvPicPr>
          <p:cNvPr descr="preencoded.png" id="606" name="Google Shape;606;p19"/>
          <p:cNvPicPr preferRelativeResize="0"/>
          <p:nvPr/>
        </p:nvPicPr>
        <p:blipFill rotWithShape="1">
          <a:blip r:embed="rId9">
            <a:alphaModFix/>
          </a:blip>
          <a:srcRect b="0" l="0" r="0" t="0"/>
          <a:stretch/>
        </p:blipFill>
        <p:spPr>
          <a:xfrm>
            <a:off x="4457700" y="2609850"/>
            <a:ext cx="463897" cy="571500"/>
          </a:xfrm>
          <a:prstGeom prst="rect">
            <a:avLst/>
          </a:prstGeom>
          <a:noFill/>
          <a:ln>
            <a:noFill/>
          </a:ln>
        </p:spPr>
      </p:pic>
      <p:pic>
        <p:nvPicPr>
          <p:cNvPr descr="preencoded.png" id="607" name="Google Shape;607;p19"/>
          <p:cNvPicPr preferRelativeResize="0"/>
          <p:nvPr/>
        </p:nvPicPr>
        <p:blipFill rotWithShape="1">
          <a:blip r:embed="rId10">
            <a:alphaModFix/>
          </a:blip>
          <a:srcRect b="0" l="0" r="0" t="0"/>
          <a:stretch/>
        </p:blipFill>
        <p:spPr>
          <a:xfrm>
            <a:off x="4546699" y="2724150"/>
            <a:ext cx="285750" cy="342900"/>
          </a:xfrm>
          <a:prstGeom prst="rect">
            <a:avLst/>
          </a:prstGeom>
          <a:noFill/>
          <a:ln>
            <a:noFill/>
          </a:ln>
        </p:spPr>
      </p:pic>
      <p:pic>
        <p:nvPicPr>
          <p:cNvPr descr="preencoded.png" id="608" name="Google Shape;608;p19"/>
          <p:cNvPicPr preferRelativeResize="0"/>
          <p:nvPr/>
        </p:nvPicPr>
        <p:blipFill rotWithShape="1">
          <a:blip r:embed="rId11">
            <a:alphaModFix/>
          </a:blip>
          <a:srcRect b="0" l="0" r="0" t="0"/>
          <a:stretch/>
        </p:blipFill>
        <p:spPr>
          <a:xfrm>
            <a:off x="4457700" y="5067300"/>
            <a:ext cx="3276600" cy="723900"/>
          </a:xfrm>
          <a:prstGeom prst="rect">
            <a:avLst/>
          </a:prstGeom>
          <a:noFill/>
          <a:ln>
            <a:noFill/>
          </a:ln>
        </p:spPr>
      </p:pic>
      <p:pic>
        <p:nvPicPr>
          <p:cNvPr descr="preencoded.png" id="609" name="Google Shape;609;p19"/>
          <p:cNvPicPr preferRelativeResize="0"/>
          <p:nvPr/>
        </p:nvPicPr>
        <p:blipFill rotWithShape="1">
          <a:blip r:embed="rId5">
            <a:alphaModFix/>
          </a:blip>
          <a:srcRect b="0" l="0" r="0" t="0"/>
          <a:stretch/>
        </p:blipFill>
        <p:spPr>
          <a:xfrm>
            <a:off x="8153400" y="2400300"/>
            <a:ext cx="3657600" cy="3619500"/>
          </a:xfrm>
          <a:prstGeom prst="rect">
            <a:avLst/>
          </a:prstGeom>
          <a:noFill/>
          <a:ln>
            <a:noFill/>
          </a:ln>
        </p:spPr>
      </p:pic>
      <p:pic>
        <p:nvPicPr>
          <p:cNvPr descr="preencoded.png" id="610" name="Google Shape;610;p19"/>
          <p:cNvPicPr preferRelativeResize="0"/>
          <p:nvPr/>
        </p:nvPicPr>
        <p:blipFill rotWithShape="1">
          <a:blip r:embed="rId12">
            <a:alphaModFix/>
          </a:blip>
          <a:srcRect b="0" l="0" r="0" t="0"/>
          <a:stretch/>
        </p:blipFill>
        <p:spPr>
          <a:xfrm>
            <a:off x="8343900" y="2609850"/>
            <a:ext cx="405110" cy="571500"/>
          </a:xfrm>
          <a:prstGeom prst="rect">
            <a:avLst/>
          </a:prstGeom>
          <a:noFill/>
          <a:ln>
            <a:noFill/>
          </a:ln>
        </p:spPr>
      </p:pic>
      <p:pic>
        <p:nvPicPr>
          <p:cNvPr descr="preencoded.png" id="611" name="Google Shape;611;p19"/>
          <p:cNvPicPr preferRelativeResize="0"/>
          <p:nvPr/>
        </p:nvPicPr>
        <p:blipFill rotWithShape="1">
          <a:blip r:embed="rId13">
            <a:alphaModFix/>
          </a:blip>
          <a:srcRect b="0" l="0" r="0" t="0"/>
          <a:stretch/>
        </p:blipFill>
        <p:spPr>
          <a:xfrm>
            <a:off x="8403580" y="2724150"/>
            <a:ext cx="285750" cy="342900"/>
          </a:xfrm>
          <a:prstGeom prst="rect">
            <a:avLst/>
          </a:prstGeom>
          <a:noFill/>
          <a:ln>
            <a:noFill/>
          </a:ln>
        </p:spPr>
      </p:pic>
      <p:pic>
        <p:nvPicPr>
          <p:cNvPr descr="preencoded.png" id="612" name="Google Shape;612;p19"/>
          <p:cNvPicPr preferRelativeResize="0"/>
          <p:nvPr/>
        </p:nvPicPr>
        <p:blipFill rotWithShape="1">
          <a:blip r:embed="rId14">
            <a:alphaModFix/>
          </a:blip>
          <a:srcRect b="0" l="0" r="0" t="0"/>
          <a:stretch/>
        </p:blipFill>
        <p:spPr>
          <a:xfrm>
            <a:off x="8343900" y="4838700"/>
            <a:ext cx="3276600" cy="723900"/>
          </a:xfrm>
          <a:prstGeom prst="rect">
            <a:avLst/>
          </a:prstGeom>
          <a:noFill/>
          <a:ln>
            <a:noFill/>
          </a:ln>
        </p:spPr>
      </p:pic>
      <p:sp>
        <p:nvSpPr>
          <p:cNvPr id="613" name="Google Shape;613;p19"/>
          <p:cNvSpPr/>
          <p:nvPr/>
        </p:nvSpPr>
        <p:spPr>
          <a:xfrm>
            <a:off x="381000" y="381000"/>
            <a:ext cx="11430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Board Presentation Skills</a:t>
            </a:r>
            <a:endParaRPr sz="2700">
              <a:solidFill>
                <a:schemeClr val="dk1"/>
              </a:solidFill>
              <a:latin typeface="Calibri"/>
              <a:ea typeface="Calibri"/>
              <a:cs typeface="Calibri"/>
              <a:sym typeface="Calibri"/>
            </a:endParaRPr>
          </a:p>
        </p:txBody>
      </p:sp>
      <p:sp>
        <p:nvSpPr>
          <p:cNvPr id="614" name="Google Shape;614;p19"/>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Communicating effectively with senior management and boards of directors</a:t>
            </a:r>
            <a:endParaRPr sz="1500">
              <a:solidFill>
                <a:schemeClr val="dk1"/>
              </a:solidFill>
              <a:latin typeface="Calibri"/>
              <a:ea typeface="Calibri"/>
              <a:cs typeface="Calibri"/>
              <a:sym typeface="Calibri"/>
            </a:endParaRPr>
          </a:p>
        </p:txBody>
      </p:sp>
      <p:sp>
        <p:nvSpPr>
          <p:cNvPr id="615" name="Google Shape;615;p19"/>
          <p:cNvSpPr/>
          <p:nvPr/>
        </p:nvSpPr>
        <p:spPr>
          <a:xfrm>
            <a:off x="533400" y="1485900"/>
            <a:ext cx="111252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Effective communication with senior management is critical for securing support and resources for the ISMS and AIMS. The Lead Implementer must possess specific skills to convey complex information in an impactful manner.</a:t>
            </a:r>
            <a:endParaRPr sz="1200">
              <a:solidFill>
                <a:schemeClr val="dk1"/>
              </a:solidFill>
              <a:latin typeface="Calibri"/>
              <a:ea typeface="Calibri"/>
              <a:cs typeface="Calibri"/>
              <a:sym typeface="Calibri"/>
            </a:endParaRPr>
          </a:p>
        </p:txBody>
      </p:sp>
      <p:sp>
        <p:nvSpPr>
          <p:cNvPr id="616" name="Google Shape;616;p19"/>
          <p:cNvSpPr/>
          <p:nvPr/>
        </p:nvSpPr>
        <p:spPr>
          <a:xfrm>
            <a:off x="1143595" y="2590800"/>
            <a:ext cx="2704505" cy="609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Translate Technical Jargon</a:t>
            </a:r>
            <a:endParaRPr sz="1800">
              <a:solidFill>
                <a:schemeClr val="dk1"/>
              </a:solidFill>
              <a:latin typeface="Calibri"/>
              <a:ea typeface="Calibri"/>
              <a:cs typeface="Calibri"/>
              <a:sym typeface="Calibri"/>
            </a:endParaRPr>
          </a:p>
        </p:txBody>
      </p:sp>
      <p:sp>
        <p:nvSpPr>
          <p:cNvPr id="617" name="Google Shape;617;p19"/>
          <p:cNvSpPr/>
          <p:nvPr/>
        </p:nvSpPr>
        <p:spPr>
          <a:xfrm>
            <a:off x="571500" y="3352800"/>
            <a:ext cx="39319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Use plain language instead of acronyms</a:t>
            </a:r>
            <a:endParaRPr sz="1200">
              <a:solidFill>
                <a:schemeClr val="dk1"/>
              </a:solidFill>
              <a:latin typeface="Calibri"/>
              <a:ea typeface="Calibri"/>
              <a:cs typeface="Calibri"/>
              <a:sym typeface="Calibri"/>
            </a:endParaRPr>
          </a:p>
        </p:txBody>
      </p:sp>
      <p:sp>
        <p:nvSpPr>
          <p:cNvPr id="618" name="Google Shape;618;p19"/>
          <p:cNvSpPr/>
          <p:nvPr/>
        </p:nvSpPr>
        <p:spPr>
          <a:xfrm>
            <a:off x="571500" y="3657600"/>
            <a:ext cx="3276600" cy="4572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Explaining complex technical issues simply</a:t>
            </a:r>
            <a:endParaRPr sz="1200">
              <a:solidFill>
                <a:schemeClr val="dk1"/>
              </a:solidFill>
              <a:latin typeface="Calibri"/>
              <a:ea typeface="Calibri"/>
              <a:cs typeface="Calibri"/>
              <a:sym typeface="Calibri"/>
            </a:endParaRPr>
          </a:p>
        </p:txBody>
      </p:sp>
      <p:sp>
        <p:nvSpPr>
          <p:cNvPr id="619" name="Google Shape;619;p19"/>
          <p:cNvSpPr/>
          <p:nvPr/>
        </p:nvSpPr>
        <p:spPr>
          <a:xfrm>
            <a:off x="571500" y="4191000"/>
            <a:ext cx="3276600" cy="4572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Avoid specialized terms without explanation</a:t>
            </a:r>
            <a:endParaRPr sz="1200">
              <a:solidFill>
                <a:schemeClr val="dk1"/>
              </a:solidFill>
              <a:latin typeface="Calibri"/>
              <a:ea typeface="Calibri"/>
              <a:cs typeface="Calibri"/>
              <a:sym typeface="Calibri"/>
            </a:endParaRPr>
          </a:p>
        </p:txBody>
      </p:sp>
      <p:sp>
        <p:nvSpPr>
          <p:cNvPr id="620" name="Google Shape;620;p19"/>
          <p:cNvSpPr/>
          <p:nvPr/>
        </p:nvSpPr>
        <p:spPr>
          <a:xfrm>
            <a:off x="571500" y="4724400"/>
            <a:ext cx="3276600" cy="4572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Focus on concepts rather than procedures</a:t>
            </a:r>
            <a:endParaRPr sz="1200">
              <a:solidFill>
                <a:schemeClr val="dk1"/>
              </a:solidFill>
              <a:latin typeface="Calibri"/>
              <a:ea typeface="Calibri"/>
              <a:cs typeface="Calibri"/>
              <a:sym typeface="Calibri"/>
            </a:endParaRPr>
          </a:p>
        </p:txBody>
      </p:sp>
      <p:sp>
        <p:nvSpPr>
          <p:cNvPr id="621" name="Google Shape;621;p19"/>
          <p:cNvSpPr/>
          <p:nvPr/>
        </p:nvSpPr>
        <p:spPr>
          <a:xfrm>
            <a:off x="666750" y="5295900"/>
            <a:ext cx="3276600" cy="5334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i="1" lang="en-US" sz="1050">
                <a:solidFill>
                  <a:srgbClr val="4B5563"/>
                </a:solidFill>
                <a:latin typeface="Arial"/>
                <a:ea typeface="Arial"/>
                <a:cs typeface="Arial"/>
                <a:sym typeface="Arial"/>
              </a:rPr>
              <a:t> Example: "Data encryption" instead of "AES-256 encryption protocol"</a:t>
            </a:r>
            <a:endParaRPr sz="1050">
              <a:solidFill>
                <a:schemeClr val="dk1"/>
              </a:solidFill>
              <a:latin typeface="Calibri"/>
              <a:ea typeface="Calibri"/>
              <a:cs typeface="Calibri"/>
              <a:sym typeface="Calibri"/>
            </a:endParaRPr>
          </a:p>
        </p:txBody>
      </p:sp>
      <p:sp>
        <p:nvSpPr>
          <p:cNvPr id="622" name="Google Shape;622;p19"/>
          <p:cNvSpPr/>
          <p:nvPr/>
        </p:nvSpPr>
        <p:spPr>
          <a:xfrm>
            <a:off x="5035897" y="2590800"/>
            <a:ext cx="2698403" cy="609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Focus on Business Impact</a:t>
            </a:r>
            <a:endParaRPr sz="1800">
              <a:solidFill>
                <a:schemeClr val="dk1"/>
              </a:solidFill>
              <a:latin typeface="Calibri"/>
              <a:ea typeface="Calibri"/>
              <a:cs typeface="Calibri"/>
              <a:sym typeface="Calibri"/>
            </a:endParaRPr>
          </a:p>
        </p:txBody>
      </p:sp>
      <p:sp>
        <p:nvSpPr>
          <p:cNvPr id="623" name="Google Shape;623;p19"/>
          <p:cNvSpPr/>
          <p:nvPr/>
        </p:nvSpPr>
        <p:spPr>
          <a:xfrm>
            <a:off x="4457700" y="3352800"/>
            <a:ext cx="39319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Highlight business impact of risks</a:t>
            </a:r>
            <a:endParaRPr sz="1200">
              <a:solidFill>
                <a:schemeClr val="dk1"/>
              </a:solidFill>
              <a:latin typeface="Calibri"/>
              <a:ea typeface="Calibri"/>
              <a:cs typeface="Calibri"/>
              <a:sym typeface="Calibri"/>
            </a:endParaRPr>
          </a:p>
        </p:txBody>
      </p:sp>
      <p:sp>
        <p:nvSpPr>
          <p:cNvPr id="624" name="Google Shape;624;p19"/>
          <p:cNvSpPr/>
          <p:nvPr/>
        </p:nvSpPr>
        <p:spPr>
          <a:xfrm>
            <a:off x="4457700" y="3657600"/>
            <a:ext cx="3276600" cy="4572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Emphasize tangible value of ISMS and AIMS</a:t>
            </a:r>
            <a:endParaRPr sz="1200">
              <a:solidFill>
                <a:schemeClr val="dk1"/>
              </a:solidFill>
              <a:latin typeface="Calibri"/>
              <a:ea typeface="Calibri"/>
              <a:cs typeface="Calibri"/>
              <a:sym typeface="Calibri"/>
            </a:endParaRPr>
          </a:p>
        </p:txBody>
      </p:sp>
      <p:sp>
        <p:nvSpPr>
          <p:cNvPr id="625" name="Google Shape;625;p19"/>
          <p:cNvSpPr/>
          <p:nvPr/>
        </p:nvSpPr>
        <p:spPr>
          <a:xfrm>
            <a:off x="4457700" y="4191000"/>
            <a:ext cx="3276600" cy="4572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Connect security to organizational objectives</a:t>
            </a:r>
            <a:endParaRPr sz="1200">
              <a:solidFill>
                <a:schemeClr val="dk1"/>
              </a:solidFill>
              <a:latin typeface="Calibri"/>
              <a:ea typeface="Calibri"/>
              <a:cs typeface="Calibri"/>
              <a:sym typeface="Calibri"/>
            </a:endParaRPr>
          </a:p>
        </p:txBody>
      </p:sp>
      <p:sp>
        <p:nvSpPr>
          <p:cNvPr id="626" name="Google Shape;626;p19"/>
          <p:cNvSpPr/>
          <p:nvPr/>
        </p:nvSpPr>
        <p:spPr>
          <a:xfrm>
            <a:off x="4457700" y="4724400"/>
            <a:ext cx="39319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Use business language and metrics</a:t>
            </a:r>
            <a:endParaRPr sz="1200">
              <a:solidFill>
                <a:schemeClr val="dk1"/>
              </a:solidFill>
              <a:latin typeface="Calibri"/>
              <a:ea typeface="Calibri"/>
              <a:cs typeface="Calibri"/>
              <a:sym typeface="Calibri"/>
            </a:endParaRPr>
          </a:p>
        </p:txBody>
      </p:sp>
      <p:sp>
        <p:nvSpPr>
          <p:cNvPr id="627" name="Google Shape;627;p19"/>
          <p:cNvSpPr/>
          <p:nvPr/>
        </p:nvSpPr>
        <p:spPr>
          <a:xfrm>
            <a:off x="4503420" y="5118100"/>
            <a:ext cx="3276600" cy="7239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i="1" lang="en-US" sz="1050">
                <a:solidFill>
                  <a:srgbClr val="4B5563"/>
                </a:solidFill>
                <a:latin typeface="Arial"/>
                <a:ea typeface="Arial"/>
                <a:cs typeface="Arial"/>
                <a:sym typeface="Arial"/>
              </a:rPr>
              <a:t> Example: "Reduced customer churn and increased revenue" instead of "Improved security controls"</a:t>
            </a:r>
            <a:endParaRPr sz="1050">
              <a:solidFill>
                <a:schemeClr val="dk1"/>
              </a:solidFill>
              <a:latin typeface="Calibri"/>
              <a:ea typeface="Calibri"/>
              <a:cs typeface="Calibri"/>
              <a:sym typeface="Calibri"/>
            </a:endParaRPr>
          </a:p>
        </p:txBody>
      </p:sp>
      <p:sp>
        <p:nvSpPr>
          <p:cNvPr id="628" name="Google Shape;628;p19"/>
          <p:cNvSpPr/>
          <p:nvPr/>
        </p:nvSpPr>
        <p:spPr>
          <a:xfrm>
            <a:off x="8863310" y="2590800"/>
            <a:ext cx="2757190" cy="609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Make Clear Recommendations</a:t>
            </a:r>
            <a:endParaRPr sz="1800">
              <a:solidFill>
                <a:schemeClr val="dk1"/>
              </a:solidFill>
              <a:latin typeface="Calibri"/>
              <a:ea typeface="Calibri"/>
              <a:cs typeface="Calibri"/>
              <a:sym typeface="Calibri"/>
            </a:endParaRPr>
          </a:p>
        </p:txBody>
      </p:sp>
      <p:sp>
        <p:nvSpPr>
          <p:cNvPr id="629" name="Google Shape;629;p19"/>
          <p:cNvSpPr/>
          <p:nvPr/>
        </p:nvSpPr>
        <p:spPr>
          <a:xfrm>
            <a:off x="8343900" y="3352800"/>
            <a:ext cx="3276600" cy="4572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Provide concise, actionable recommendations</a:t>
            </a:r>
            <a:endParaRPr sz="1200">
              <a:solidFill>
                <a:schemeClr val="dk1"/>
              </a:solidFill>
              <a:latin typeface="Calibri"/>
              <a:ea typeface="Calibri"/>
              <a:cs typeface="Calibri"/>
              <a:sym typeface="Calibri"/>
            </a:endParaRPr>
          </a:p>
        </p:txBody>
      </p:sp>
      <p:sp>
        <p:nvSpPr>
          <p:cNvPr id="630" name="Google Shape;630;p19"/>
          <p:cNvSpPr/>
          <p:nvPr/>
        </p:nvSpPr>
        <p:spPr>
          <a:xfrm>
            <a:off x="8343900" y="3886200"/>
            <a:ext cx="39319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Support with data and analysis</a:t>
            </a:r>
            <a:endParaRPr sz="1200">
              <a:solidFill>
                <a:schemeClr val="dk1"/>
              </a:solidFill>
              <a:latin typeface="Calibri"/>
              <a:ea typeface="Calibri"/>
              <a:cs typeface="Calibri"/>
              <a:sym typeface="Calibri"/>
            </a:endParaRPr>
          </a:p>
        </p:txBody>
      </p:sp>
      <p:sp>
        <p:nvSpPr>
          <p:cNvPr id="631" name="Google Shape;631;p19"/>
          <p:cNvSpPr/>
          <p:nvPr/>
        </p:nvSpPr>
        <p:spPr>
          <a:xfrm>
            <a:off x="8343900" y="4191000"/>
            <a:ext cx="39319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Outline proposed actions and resources</a:t>
            </a:r>
            <a:endParaRPr sz="1200">
              <a:solidFill>
                <a:schemeClr val="dk1"/>
              </a:solidFill>
              <a:latin typeface="Calibri"/>
              <a:ea typeface="Calibri"/>
              <a:cs typeface="Calibri"/>
              <a:sym typeface="Calibri"/>
            </a:endParaRPr>
          </a:p>
        </p:txBody>
      </p:sp>
      <p:sp>
        <p:nvSpPr>
          <p:cNvPr id="632" name="Google Shape;632;p19"/>
          <p:cNvSpPr/>
          <p:nvPr/>
        </p:nvSpPr>
        <p:spPr>
          <a:xfrm>
            <a:off x="8343900" y="4495800"/>
            <a:ext cx="39319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Include expected benefits and ROI</a:t>
            </a:r>
            <a:endParaRPr sz="1200">
              <a:solidFill>
                <a:schemeClr val="dk1"/>
              </a:solidFill>
              <a:latin typeface="Calibri"/>
              <a:ea typeface="Calibri"/>
              <a:cs typeface="Calibri"/>
              <a:sym typeface="Calibri"/>
            </a:endParaRPr>
          </a:p>
        </p:txBody>
      </p:sp>
      <p:sp>
        <p:nvSpPr>
          <p:cNvPr id="633" name="Google Shape;633;p19"/>
          <p:cNvSpPr/>
          <p:nvPr/>
        </p:nvSpPr>
        <p:spPr>
          <a:xfrm>
            <a:off x="8382000" y="4914900"/>
            <a:ext cx="3276600" cy="7239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i="1" lang="en-US" sz="1050">
                <a:solidFill>
                  <a:srgbClr val="4B5563"/>
                </a:solidFill>
                <a:latin typeface="Arial"/>
                <a:ea typeface="Arial"/>
                <a:cs typeface="Arial"/>
                <a:sym typeface="Arial"/>
              </a:rPr>
              <a:t> Example: "Implement multi-factor authentication within 3 months" instead of "Consider additional security measures"</a:t>
            </a:r>
            <a:endParaRPr sz="1050">
              <a:solidFill>
                <a:schemeClr val="dk1"/>
              </a:solidFill>
              <a:latin typeface="Calibri"/>
              <a:ea typeface="Calibri"/>
              <a:cs typeface="Calibri"/>
              <a:sym typeface="Calibri"/>
            </a:endParaRPr>
          </a:p>
        </p:txBody>
      </p:sp>
      <p:sp>
        <p:nvSpPr>
          <p:cNvPr id="634" name="Google Shape;634;p19"/>
          <p:cNvSpPr/>
          <p:nvPr/>
        </p:nvSpPr>
        <p:spPr>
          <a:xfrm>
            <a:off x="8687098" y="6515100"/>
            <a:ext cx="393156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17/23</a:t>
            </a:r>
            <a:endParaRPr sz="105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pic>
        <p:nvPicPr>
          <p:cNvPr descr="preencoded.png" id="640" name="Google Shape;640;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641" name="Google Shape;641;p20"/>
          <p:cNvPicPr preferRelativeResize="0"/>
          <p:nvPr/>
        </p:nvPicPr>
        <p:blipFill rotWithShape="1">
          <a:blip r:embed="rId4">
            <a:alphaModFix/>
          </a:blip>
          <a:srcRect b="0" l="0" r="0" t="0"/>
          <a:stretch/>
        </p:blipFill>
        <p:spPr>
          <a:xfrm>
            <a:off x="381000" y="1276350"/>
            <a:ext cx="11430000" cy="38100"/>
          </a:xfrm>
          <a:prstGeom prst="rect">
            <a:avLst/>
          </a:prstGeom>
          <a:noFill/>
          <a:ln>
            <a:noFill/>
          </a:ln>
        </p:spPr>
      </p:pic>
      <p:pic>
        <p:nvPicPr>
          <p:cNvPr descr="preencoded.png" id="642" name="Google Shape;642;p20"/>
          <p:cNvPicPr preferRelativeResize="0"/>
          <p:nvPr/>
        </p:nvPicPr>
        <p:blipFill rotWithShape="1">
          <a:blip r:embed="rId5">
            <a:alphaModFix/>
          </a:blip>
          <a:srcRect b="0" l="0" r="0" t="0"/>
          <a:stretch/>
        </p:blipFill>
        <p:spPr>
          <a:xfrm>
            <a:off x="2571750" y="1200150"/>
            <a:ext cx="190500" cy="190500"/>
          </a:xfrm>
          <a:prstGeom prst="rect">
            <a:avLst/>
          </a:prstGeom>
          <a:noFill/>
          <a:ln>
            <a:noFill/>
          </a:ln>
        </p:spPr>
      </p:pic>
      <p:pic>
        <p:nvPicPr>
          <p:cNvPr descr="preencoded.png" id="643" name="Google Shape;643;p20"/>
          <p:cNvPicPr preferRelativeResize="0"/>
          <p:nvPr/>
        </p:nvPicPr>
        <p:blipFill rotWithShape="1">
          <a:blip r:embed="rId5">
            <a:alphaModFix/>
          </a:blip>
          <a:srcRect b="0" l="0" r="0" t="0"/>
          <a:stretch/>
        </p:blipFill>
        <p:spPr>
          <a:xfrm>
            <a:off x="4857750" y="1200150"/>
            <a:ext cx="190500" cy="190500"/>
          </a:xfrm>
          <a:prstGeom prst="rect">
            <a:avLst/>
          </a:prstGeom>
          <a:noFill/>
          <a:ln>
            <a:noFill/>
          </a:ln>
        </p:spPr>
      </p:pic>
      <p:pic>
        <p:nvPicPr>
          <p:cNvPr descr="preencoded.png" id="644" name="Google Shape;644;p20"/>
          <p:cNvPicPr preferRelativeResize="0"/>
          <p:nvPr/>
        </p:nvPicPr>
        <p:blipFill rotWithShape="1">
          <a:blip r:embed="rId6">
            <a:alphaModFix/>
          </a:blip>
          <a:srcRect b="0" l="0" r="0" t="0"/>
          <a:stretch/>
        </p:blipFill>
        <p:spPr>
          <a:xfrm>
            <a:off x="7143750" y="1200150"/>
            <a:ext cx="190500" cy="190500"/>
          </a:xfrm>
          <a:prstGeom prst="rect">
            <a:avLst/>
          </a:prstGeom>
          <a:noFill/>
          <a:ln>
            <a:noFill/>
          </a:ln>
        </p:spPr>
      </p:pic>
      <p:pic>
        <p:nvPicPr>
          <p:cNvPr descr="preencoded.png" id="645" name="Google Shape;645;p20"/>
          <p:cNvPicPr preferRelativeResize="0"/>
          <p:nvPr/>
        </p:nvPicPr>
        <p:blipFill rotWithShape="1">
          <a:blip r:embed="rId5">
            <a:alphaModFix/>
          </a:blip>
          <a:srcRect b="0" l="0" r="0" t="0"/>
          <a:stretch/>
        </p:blipFill>
        <p:spPr>
          <a:xfrm>
            <a:off x="9429750" y="1200150"/>
            <a:ext cx="190500" cy="190500"/>
          </a:xfrm>
          <a:prstGeom prst="rect">
            <a:avLst/>
          </a:prstGeom>
          <a:noFill/>
          <a:ln>
            <a:noFill/>
          </a:ln>
        </p:spPr>
      </p:pic>
      <p:pic>
        <p:nvPicPr>
          <p:cNvPr descr="preencoded.png" id="646" name="Google Shape;646;p20"/>
          <p:cNvPicPr preferRelativeResize="0"/>
          <p:nvPr/>
        </p:nvPicPr>
        <p:blipFill rotWithShape="1">
          <a:blip r:embed="rId7">
            <a:alphaModFix/>
          </a:blip>
          <a:srcRect b="0" l="0" r="0" t="0"/>
          <a:stretch/>
        </p:blipFill>
        <p:spPr>
          <a:xfrm>
            <a:off x="381000" y="1790700"/>
            <a:ext cx="5600700" cy="1524000"/>
          </a:xfrm>
          <a:prstGeom prst="rect">
            <a:avLst/>
          </a:prstGeom>
          <a:noFill/>
          <a:ln>
            <a:noFill/>
          </a:ln>
        </p:spPr>
      </p:pic>
      <p:pic>
        <p:nvPicPr>
          <p:cNvPr descr="preencoded.png" id="647" name="Google Shape;647;p20"/>
          <p:cNvPicPr preferRelativeResize="0"/>
          <p:nvPr/>
        </p:nvPicPr>
        <p:blipFill rotWithShape="1">
          <a:blip r:embed="rId8">
            <a:alphaModFix/>
          </a:blip>
          <a:srcRect b="0" l="0" r="0" t="0"/>
          <a:stretch/>
        </p:blipFill>
        <p:spPr>
          <a:xfrm>
            <a:off x="533400" y="1943100"/>
            <a:ext cx="457200" cy="457200"/>
          </a:xfrm>
          <a:prstGeom prst="rect">
            <a:avLst/>
          </a:prstGeom>
          <a:noFill/>
          <a:ln>
            <a:noFill/>
          </a:ln>
        </p:spPr>
      </p:pic>
      <p:pic>
        <p:nvPicPr>
          <p:cNvPr descr="preencoded.png" id="648" name="Google Shape;648;p20"/>
          <p:cNvPicPr preferRelativeResize="0"/>
          <p:nvPr/>
        </p:nvPicPr>
        <p:blipFill rotWithShape="1">
          <a:blip r:embed="rId9">
            <a:alphaModFix/>
          </a:blip>
          <a:srcRect b="0" l="0" r="0" t="0"/>
          <a:stretch/>
        </p:blipFill>
        <p:spPr>
          <a:xfrm>
            <a:off x="647700" y="2019300"/>
            <a:ext cx="228600" cy="304800"/>
          </a:xfrm>
          <a:prstGeom prst="rect">
            <a:avLst/>
          </a:prstGeom>
          <a:noFill/>
          <a:ln>
            <a:noFill/>
          </a:ln>
        </p:spPr>
      </p:pic>
      <p:pic>
        <p:nvPicPr>
          <p:cNvPr descr="preencoded.png" id="649" name="Google Shape;649;p20"/>
          <p:cNvPicPr preferRelativeResize="0"/>
          <p:nvPr/>
        </p:nvPicPr>
        <p:blipFill rotWithShape="1">
          <a:blip r:embed="rId7">
            <a:alphaModFix/>
          </a:blip>
          <a:srcRect b="0" l="0" r="0" t="0"/>
          <a:stretch/>
        </p:blipFill>
        <p:spPr>
          <a:xfrm>
            <a:off x="6210300" y="1790700"/>
            <a:ext cx="5600700" cy="1524000"/>
          </a:xfrm>
          <a:prstGeom prst="rect">
            <a:avLst/>
          </a:prstGeom>
          <a:noFill/>
          <a:ln>
            <a:noFill/>
          </a:ln>
        </p:spPr>
      </p:pic>
      <p:pic>
        <p:nvPicPr>
          <p:cNvPr descr="preencoded.png" id="650" name="Google Shape;650;p20"/>
          <p:cNvPicPr preferRelativeResize="0"/>
          <p:nvPr/>
        </p:nvPicPr>
        <p:blipFill rotWithShape="1">
          <a:blip r:embed="rId10">
            <a:alphaModFix/>
          </a:blip>
          <a:srcRect b="0" l="0" r="0" t="0"/>
          <a:stretch/>
        </p:blipFill>
        <p:spPr>
          <a:xfrm>
            <a:off x="6362700" y="1943100"/>
            <a:ext cx="457200" cy="457200"/>
          </a:xfrm>
          <a:prstGeom prst="rect">
            <a:avLst/>
          </a:prstGeom>
          <a:noFill/>
          <a:ln>
            <a:noFill/>
          </a:ln>
        </p:spPr>
      </p:pic>
      <p:pic>
        <p:nvPicPr>
          <p:cNvPr descr="preencoded.png" id="651" name="Google Shape;651;p20"/>
          <p:cNvPicPr preferRelativeResize="0"/>
          <p:nvPr/>
        </p:nvPicPr>
        <p:blipFill rotWithShape="1">
          <a:blip r:embed="rId11">
            <a:alphaModFix/>
          </a:blip>
          <a:srcRect b="0" l="0" r="0" t="0"/>
          <a:stretch/>
        </p:blipFill>
        <p:spPr>
          <a:xfrm>
            <a:off x="6477000" y="2019300"/>
            <a:ext cx="228600" cy="304800"/>
          </a:xfrm>
          <a:prstGeom prst="rect">
            <a:avLst/>
          </a:prstGeom>
          <a:noFill/>
          <a:ln>
            <a:noFill/>
          </a:ln>
        </p:spPr>
      </p:pic>
      <p:pic>
        <p:nvPicPr>
          <p:cNvPr descr="preencoded.png" id="652" name="Google Shape;652;p20"/>
          <p:cNvPicPr preferRelativeResize="0"/>
          <p:nvPr/>
        </p:nvPicPr>
        <p:blipFill rotWithShape="1">
          <a:blip r:embed="rId12">
            <a:alphaModFix/>
          </a:blip>
          <a:srcRect b="0" l="0" r="0" t="0"/>
          <a:stretch/>
        </p:blipFill>
        <p:spPr>
          <a:xfrm>
            <a:off x="381000" y="3543300"/>
            <a:ext cx="5600700" cy="1295400"/>
          </a:xfrm>
          <a:prstGeom prst="rect">
            <a:avLst/>
          </a:prstGeom>
          <a:noFill/>
          <a:ln>
            <a:noFill/>
          </a:ln>
        </p:spPr>
      </p:pic>
      <p:pic>
        <p:nvPicPr>
          <p:cNvPr descr="preencoded.png" id="653" name="Google Shape;653;p20"/>
          <p:cNvPicPr preferRelativeResize="0"/>
          <p:nvPr/>
        </p:nvPicPr>
        <p:blipFill rotWithShape="1">
          <a:blip r:embed="rId13">
            <a:alphaModFix/>
          </a:blip>
          <a:srcRect b="0" l="0" r="0" t="0"/>
          <a:stretch/>
        </p:blipFill>
        <p:spPr>
          <a:xfrm>
            <a:off x="533400" y="3695700"/>
            <a:ext cx="457200" cy="457200"/>
          </a:xfrm>
          <a:prstGeom prst="rect">
            <a:avLst/>
          </a:prstGeom>
          <a:noFill/>
          <a:ln>
            <a:noFill/>
          </a:ln>
        </p:spPr>
      </p:pic>
      <p:pic>
        <p:nvPicPr>
          <p:cNvPr descr="preencoded.png" id="654" name="Google Shape;654;p20"/>
          <p:cNvPicPr preferRelativeResize="0"/>
          <p:nvPr/>
        </p:nvPicPr>
        <p:blipFill rotWithShape="1">
          <a:blip r:embed="rId14">
            <a:alphaModFix/>
          </a:blip>
          <a:srcRect b="0" l="0" r="0" t="0"/>
          <a:stretch/>
        </p:blipFill>
        <p:spPr>
          <a:xfrm>
            <a:off x="647700" y="3771900"/>
            <a:ext cx="228600" cy="304800"/>
          </a:xfrm>
          <a:prstGeom prst="rect">
            <a:avLst/>
          </a:prstGeom>
          <a:noFill/>
          <a:ln>
            <a:noFill/>
          </a:ln>
        </p:spPr>
      </p:pic>
      <p:pic>
        <p:nvPicPr>
          <p:cNvPr descr="preencoded.png" id="655" name="Google Shape;655;p20"/>
          <p:cNvPicPr preferRelativeResize="0"/>
          <p:nvPr/>
        </p:nvPicPr>
        <p:blipFill rotWithShape="1">
          <a:blip r:embed="rId12">
            <a:alphaModFix/>
          </a:blip>
          <a:srcRect b="0" l="0" r="0" t="0"/>
          <a:stretch/>
        </p:blipFill>
        <p:spPr>
          <a:xfrm>
            <a:off x="6210300" y="3543300"/>
            <a:ext cx="5600700" cy="1295400"/>
          </a:xfrm>
          <a:prstGeom prst="rect">
            <a:avLst/>
          </a:prstGeom>
          <a:noFill/>
          <a:ln>
            <a:noFill/>
          </a:ln>
        </p:spPr>
      </p:pic>
      <p:pic>
        <p:nvPicPr>
          <p:cNvPr descr="preencoded.png" id="656" name="Google Shape;656;p20"/>
          <p:cNvPicPr preferRelativeResize="0"/>
          <p:nvPr/>
        </p:nvPicPr>
        <p:blipFill rotWithShape="1">
          <a:blip r:embed="rId15">
            <a:alphaModFix/>
          </a:blip>
          <a:srcRect b="0" l="0" r="0" t="0"/>
          <a:stretch/>
        </p:blipFill>
        <p:spPr>
          <a:xfrm>
            <a:off x="6362700" y="3695700"/>
            <a:ext cx="457200" cy="457200"/>
          </a:xfrm>
          <a:prstGeom prst="rect">
            <a:avLst/>
          </a:prstGeom>
          <a:noFill/>
          <a:ln>
            <a:noFill/>
          </a:ln>
        </p:spPr>
      </p:pic>
      <p:pic>
        <p:nvPicPr>
          <p:cNvPr descr="preencoded.png" id="657" name="Google Shape;657;p20"/>
          <p:cNvPicPr preferRelativeResize="0"/>
          <p:nvPr/>
        </p:nvPicPr>
        <p:blipFill rotWithShape="1">
          <a:blip r:embed="rId16">
            <a:alphaModFix/>
          </a:blip>
          <a:srcRect b="0" l="0" r="0" t="0"/>
          <a:stretch/>
        </p:blipFill>
        <p:spPr>
          <a:xfrm>
            <a:off x="6505575" y="3771900"/>
            <a:ext cx="171450" cy="304800"/>
          </a:xfrm>
          <a:prstGeom prst="rect">
            <a:avLst/>
          </a:prstGeom>
          <a:noFill/>
          <a:ln>
            <a:noFill/>
          </a:ln>
        </p:spPr>
      </p:pic>
      <p:sp>
        <p:nvSpPr>
          <p:cNvPr id="658" name="Google Shape;658;p20"/>
          <p:cNvSpPr/>
          <p:nvPr/>
        </p:nvSpPr>
        <p:spPr>
          <a:xfrm>
            <a:off x="381000" y="381000"/>
            <a:ext cx="13716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Certification as Ongoing Commitment</a:t>
            </a:r>
            <a:endParaRPr sz="2700">
              <a:solidFill>
                <a:schemeClr val="dk1"/>
              </a:solidFill>
              <a:latin typeface="Calibri"/>
              <a:ea typeface="Calibri"/>
              <a:cs typeface="Calibri"/>
              <a:sym typeface="Calibri"/>
            </a:endParaRPr>
          </a:p>
        </p:txBody>
      </p:sp>
      <p:sp>
        <p:nvSpPr>
          <p:cNvPr id="659" name="Google Shape;659;p20"/>
          <p:cNvSpPr/>
          <p:nvPr/>
        </p:nvSpPr>
        <p:spPr>
          <a:xfrm>
            <a:off x="1143000" y="2019300"/>
            <a:ext cx="3024664"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Continuous Journey</a:t>
            </a:r>
            <a:endParaRPr sz="1800">
              <a:solidFill>
                <a:schemeClr val="dk1"/>
              </a:solidFill>
              <a:latin typeface="Calibri"/>
              <a:ea typeface="Calibri"/>
              <a:cs typeface="Calibri"/>
              <a:sym typeface="Calibri"/>
            </a:endParaRPr>
          </a:p>
        </p:txBody>
      </p:sp>
      <p:sp>
        <p:nvSpPr>
          <p:cNvPr id="660" name="Google Shape;660;p20"/>
          <p:cNvSpPr/>
          <p:nvPr/>
        </p:nvSpPr>
        <p:spPr>
          <a:xfrm>
            <a:off x="533400" y="2476500"/>
            <a:ext cx="529590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Certification represents an ongoing commitment, not a final destination. It requires diligent and continuous effort to maintain compliance.</a:t>
            </a:r>
            <a:endParaRPr sz="1200">
              <a:solidFill>
                <a:schemeClr val="dk1"/>
              </a:solidFill>
              <a:latin typeface="Calibri"/>
              <a:ea typeface="Calibri"/>
              <a:cs typeface="Calibri"/>
              <a:sym typeface="Calibri"/>
            </a:endParaRPr>
          </a:p>
        </p:txBody>
      </p:sp>
      <p:sp>
        <p:nvSpPr>
          <p:cNvPr id="661" name="Google Shape;661;p20"/>
          <p:cNvSpPr/>
          <p:nvPr/>
        </p:nvSpPr>
        <p:spPr>
          <a:xfrm>
            <a:off x="6972300" y="2019300"/>
            <a:ext cx="4481274"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Active Management Systems</a:t>
            </a:r>
            <a:endParaRPr sz="1800">
              <a:solidFill>
                <a:schemeClr val="dk1"/>
              </a:solidFill>
              <a:latin typeface="Calibri"/>
              <a:ea typeface="Calibri"/>
              <a:cs typeface="Calibri"/>
              <a:sym typeface="Calibri"/>
            </a:endParaRPr>
          </a:p>
        </p:txBody>
      </p:sp>
      <p:sp>
        <p:nvSpPr>
          <p:cNvPr id="662" name="Google Shape;662;p20"/>
          <p:cNvSpPr/>
          <p:nvPr/>
        </p:nvSpPr>
        <p:spPr>
          <a:xfrm>
            <a:off x="6362700" y="2476500"/>
            <a:ext cx="52959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Keep the ISMS and AIMS alive and integrated into the organization's culture and operations.</a:t>
            </a:r>
            <a:endParaRPr sz="1200">
              <a:solidFill>
                <a:schemeClr val="dk1"/>
              </a:solidFill>
              <a:latin typeface="Calibri"/>
              <a:ea typeface="Calibri"/>
              <a:cs typeface="Calibri"/>
              <a:sym typeface="Calibri"/>
            </a:endParaRPr>
          </a:p>
        </p:txBody>
      </p:sp>
      <p:sp>
        <p:nvSpPr>
          <p:cNvPr id="663" name="Google Shape;663;p20"/>
          <p:cNvSpPr/>
          <p:nvPr/>
        </p:nvSpPr>
        <p:spPr>
          <a:xfrm>
            <a:off x="1143000" y="3771900"/>
            <a:ext cx="1959352"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Stay Current</a:t>
            </a:r>
            <a:endParaRPr sz="1800">
              <a:solidFill>
                <a:schemeClr val="dk1"/>
              </a:solidFill>
              <a:latin typeface="Calibri"/>
              <a:ea typeface="Calibri"/>
              <a:cs typeface="Calibri"/>
              <a:sym typeface="Calibri"/>
            </a:endParaRPr>
          </a:p>
        </p:txBody>
      </p:sp>
      <p:sp>
        <p:nvSpPr>
          <p:cNvPr id="664" name="Google Shape;664;p20"/>
          <p:cNvSpPr/>
          <p:nvPr/>
        </p:nvSpPr>
        <p:spPr>
          <a:xfrm>
            <a:off x="533400" y="4229100"/>
            <a:ext cx="52959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Continuously monitor and adapt to changes in the threat landscape and evolving technologies.</a:t>
            </a:r>
            <a:endParaRPr sz="1200">
              <a:solidFill>
                <a:schemeClr val="dk1"/>
              </a:solidFill>
              <a:latin typeface="Calibri"/>
              <a:ea typeface="Calibri"/>
              <a:cs typeface="Calibri"/>
              <a:sym typeface="Calibri"/>
            </a:endParaRPr>
          </a:p>
        </p:txBody>
      </p:sp>
      <p:sp>
        <p:nvSpPr>
          <p:cNvPr id="665" name="Google Shape;665;p20"/>
          <p:cNvSpPr/>
          <p:nvPr/>
        </p:nvSpPr>
        <p:spPr>
          <a:xfrm>
            <a:off x="6972300" y="3771900"/>
            <a:ext cx="3747254"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Surveillance Audit Cycle</a:t>
            </a:r>
            <a:endParaRPr sz="1800">
              <a:solidFill>
                <a:schemeClr val="dk1"/>
              </a:solidFill>
              <a:latin typeface="Calibri"/>
              <a:ea typeface="Calibri"/>
              <a:cs typeface="Calibri"/>
              <a:sym typeface="Calibri"/>
            </a:endParaRPr>
          </a:p>
        </p:txBody>
      </p:sp>
      <p:sp>
        <p:nvSpPr>
          <p:cNvPr id="666" name="Google Shape;666;p20"/>
          <p:cNvSpPr/>
          <p:nvPr/>
        </p:nvSpPr>
        <p:spPr>
          <a:xfrm>
            <a:off x="6362700" y="4229100"/>
            <a:ext cx="52959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Proactively ensure the organization is consistently ready for surveillance audits through regular internal checks.</a:t>
            </a:r>
            <a:endParaRPr sz="1200">
              <a:solidFill>
                <a:schemeClr val="dk1"/>
              </a:solidFill>
              <a:latin typeface="Calibri"/>
              <a:ea typeface="Calibri"/>
              <a:cs typeface="Calibri"/>
              <a:sym typeface="Calibri"/>
            </a:endParaRPr>
          </a:p>
        </p:txBody>
      </p:sp>
      <p:sp>
        <p:nvSpPr>
          <p:cNvPr id="667" name="Google Shape;667;p20"/>
          <p:cNvSpPr/>
          <p:nvPr/>
        </p:nvSpPr>
        <p:spPr>
          <a:xfrm>
            <a:off x="8687098" y="6515100"/>
            <a:ext cx="393156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18/23</a:t>
            </a:r>
            <a:endParaRPr sz="105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pic>
        <p:nvPicPr>
          <p:cNvPr descr="preencoded.png" id="673" name="Google Shape;673;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674" name="Google Shape;674;p21"/>
          <p:cNvPicPr preferRelativeResize="0"/>
          <p:nvPr/>
        </p:nvPicPr>
        <p:blipFill rotWithShape="1">
          <a:blip r:embed="rId4">
            <a:alphaModFix/>
          </a:blip>
          <a:srcRect b="0" l="0" r="0" t="0"/>
          <a:stretch/>
        </p:blipFill>
        <p:spPr>
          <a:xfrm>
            <a:off x="0" y="0"/>
            <a:ext cx="12192000" cy="6858000"/>
          </a:xfrm>
          <a:prstGeom prst="rect">
            <a:avLst/>
          </a:prstGeom>
          <a:noFill/>
          <a:ln>
            <a:noFill/>
          </a:ln>
        </p:spPr>
      </p:pic>
      <p:pic>
        <p:nvPicPr>
          <p:cNvPr descr="preencoded.png" id="675" name="Google Shape;675;p21"/>
          <p:cNvPicPr preferRelativeResize="0"/>
          <p:nvPr/>
        </p:nvPicPr>
        <p:blipFill rotWithShape="1">
          <a:blip r:embed="rId5">
            <a:alphaModFix/>
          </a:blip>
          <a:srcRect b="0" l="0" r="0" t="0"/>
          <a:stretch/>
        </p:blipFill>
        <p:spPr>
          <a:xfrm>
            <a:off x="4724400" y="1257300"/>
            <a:ext cx="2743200" cy="2743200"/>
          </a:xfrm>
          <a:prstGeom prst="rect">
            <a:avLst/>
          </a:prstGeom>
          <a:noFill/>
          <a:ln>
            <a:noFill/>
          </a:ln>
        </p:spPr>
      </p:pic>
      <p:pic>
        <p:nvPicPr>
          <p:cNvPr descr="preencoded.png" id="676" name="Google Shape;676;p21"/>
          <p:cNvPicPr preferRelativeResize="0"/>
          <p:nvPr/>
        </p:nvPicPr>
        <p:blipFill rotWithShape="1">
          <a:blip r:embed="rId6">
            <a:alphaModFix/>
          </a:blip>
          <a:srcRect b="0" l="0" r="0" t="0"/>
          <a:stretch/>
        </p:blipFill>
        <p:spPr>
          <a:xfrm>
            <a:off x="5791200" y="2324100"/>
            <a:ext cx="609600" cy="609600"/>
          </a:xfrm>
          <a:prstGeom prst="rect">
            <a:avLst/>
          </a:prstGeom>
          <a:noFill/>
          <a:ln>
            <a:noFill/>
          </a:ln>
        </p:spPr>
      </p:pic>
      <p:pic>
        <p:nvPicPr>
          <p:cNvPr descr="preencoded.png" id="677" name="Google Shape;677;p21"/>
          <p:cNvPicPr preferRelativeResize="0"/>
          <p:nvPr/>
        </p:nvPicPr>
        <p:blipFill rotWithShape="1">
          <a:blip r:embed="rId7">
            <a:alphaModFix/>
          </a:blip>
          <a:srcRect b="0" l="0" r="0" t="0"/>
          <a:stretch/>
        </p:blipFill>
        <p:spPr>
          <a:xfrm>
            <a:off x="5981700" y="2476500"/>
            <a:ext cx="228600" cy="304800"/>
          </a:xfrm>
          <a:prstGeom prst="rect">
            <a:avLst/>
          </a:prstGeom>
          <a:noFill/>
          <a:ln>
            <a:noFill/>
          </a:ln>
        </p:spPr>
      </p:pic>
      <p:pic>
        <p:nvPicPr>
          <p:cNvPr descr="preencoded.png" id="678" name="Google Shape;678;p21"/>
          <p:cNvPicPr preferRelativeResize="0"/>
          <p:nvPr/>
        </p:nvPicPr>
        <p:blipFill rotWithShape="1">
          <a:blip r:embed="rId8">
            <a:alphaModFix/>
          </a:blip>
          <a:srcRect b="0" l="0" r="0" t="0"/>
          <a:stretch/>
        </p:blipFill>
        <p:spPr>
          <a:xfrm>
            <a:off x="4724400" y="1257300"/>
            <a:ext cx="2667000" cy="2667000"/>
          </a:xfrm>
          <a:prstGeom prst="rect">
            <a:avLst/>
          </a:prstGeom>
          <a:noFill/>
          <a:ln>
            <a:noFill/>
          </a:ln>
        </p:spPr>
      </p:pic>
      <p:pic>
        <p:nvPicPr>
          <p:cNvPr descr="preencoded.png" id="679" name="Google Shape;679;p21"/>
          <p:cNvPicPr preferRelativeResize="0"/>
          <p:nvPr/>
        </p:nvPicPr>
        <p:blipFill rotWithShape="1">
          <a:blip r:embed="rId9">
            <a:alphaModFix/>
          </a:blip>
          <a:srcRect b="0" l="0" r="0" t="0"/>
          <a:stretch/>
        </p:blipFill>
        <p:spPr>
          <a:xfrm>
            <a:off x="381000" y="4152900"/>
            <a:ext cx="3708350" cy="1447800"/>
          </a:xfrm>
          <a:prstGeom prst="rect">
            <a:avLst/>
          </a:prstGeom>
          <a:noFill/>
          <a:ln>
            <a:noFill/>
          </a:ln>
        </p:spPr>
      </p:pic>
      <p:pic>
        <p:nvPicPr>
          <p:cNvPr descr="preencoded.png" id="680" name="Google Shape;680;p21"/>
          <p:cNvPicPr preferRelativeResize="0"/>
          <p:nvPr/>
        </p:nvPicPr>
        <p:blipFill rotWithShape="1">
          <a:blip r:embed="rId10">
            <a:alphaModFix/>
          </a:blip>
          <a:srcRect b="0" l="0" r="0" t="0"/>
          <a:stretch/>
        </p:blipFill>
        <p:spPr>
          <a:xfrm>
            <a:off x="533400" y="4305300"/>
            <a:ext cx="381000" cy="381000"/>
          </a:xfrm>
          <a:prstGeom prst="rect">
            <a:avLst/>
          </a:prstGeom>
          <a:noFill/>
          <a:ln>
            <a:noFill/>
          </a:ln>
        </p:spPr>
      </p:pic>
      <p:pic>
        <p:nvPicPr>
          <p:cNvPr descr="preencoded.png" id="681" name="Google Shape;681;p21"/>
          <p:cNvPicPr preferRelativeResize="0"/>
          <p:nvPr/>
        </p:nvPicPr>
        <p:blipFill rotWithShape="1">
          <a:blip r:embed="rId11">
            <a:alphaModFix/>
          </a:blip>
          <a:srcRect b="0" l="0" r="0" t="0"/>
          <a:stretch/>
        </p:blipFill>
        <p:spPr>
          <a:xfrm>
            <a:off x="614363" y="4362450"/>
            <a:ext cx="219075" cy="266700"/>
          </a:xfrm>
          <a:prstGeom prst="rect">
            <a:avLst/>
          </a:prstGeom>
          <a:noFill/>
          <a:ln>
            <a:noFill/>
          </a:ln>
        </p:spPr>
      </p:pic>
      <p:pic>
        <p:nvPicPr>
          <p:cNvPr descr="preencoded.png" id="682" name="Google Shape;682;p21"/>
          <p:cNvPicPr preferRelativeResize="0"/>
          <p:nvPr/>
        </p:nvPicPr>
        <p:blipFill rotWithShape="1">
          <a:blip r:embed="rId12">
            <a:alphaModFix/>
          </a:blip>
          <a:srcRect b="0" l="0" r="0" t="0"/>
          <a:stretch/>
        </p:blipFill>
        <p:spPr>
          <a:xfrm>
            <a:off x="4241750" y="4152900"/>
            <a:ext cx="3708350" cy="1447800"/>
          </a:xfrm>
          <a:prstGeom prst="rect">
            <a:avLst/>
          </a:prstGeom>
          <a:noFill/>
          <a:ln>
            <a:noFill/>
          </a:ln>
        </p:spPr>
      </p:pic>
      <p:pic>
        <p:nvPicPr>
          <p:cNvPr descr="preencoded.png" id="683" name="Google Shape;683;p21"/>
          <p:cNvPicPr preferRelativeResize="0"/>
          <p:nvPr/>
        </p:nvPicPr>
        <p:blipFill rotWithShape="1">
          <a:blip r:embed="rId13">
            <a:alphaModFix/>
          </a:blip>
          <a:srcRect b="0" l="0" r="0" t="0"/>
          <a:stretch/>
        </p:blipFill>
        <p:spPr>
          <a:xfrm>
            <a:off x="4394150" y="4305300"/>
            <a:ext cx="381000" cy="381000"/>
          </a:xfrm>
          <a:prstGeom prst="rect">
            <a:avLst/>
          </a:prstGeom>
          <a:noFill/>
          <a:ln>
            <a:noFill/>
          </a:ln>
        </p:spPr>
      </p:pic>
      <p:pic>
        <p:nvPicPr>
          <p:cNvPr descr="preencoded.png" id="684" name="Google Shape;684;p21"/>
          <p:cNvPicPr preferRelativeResize="0"/>
          <p:nvPr/>
        </p:nvPicPr>
        <p:blipFill rotWithShape="1">
          <a:blip r:embed="rId14">
            <a:alphaModFix/>
          </a:blip>
          <a:srcRect b="0" l="0" r="0" t="0"/>
          <a:stretch/>
        </p:blipFill>
        <p:spPr>
          <a:xfrm>
            <a:off x="4489400" y="4362450"/>
            <a:ext cx="190500" cy="266700"/>
          </a:xfrm>
          <a:prstGeom prst="rect">
            <a:avLst/>
          </a:prstGeom>
          <a:noFill/>
          <a:ln>
            <a:noFill/>
          </a:ln>
        </p:spPr>
      </p:pic>
      <p:pic>
        <p:nvPicPr>
          <p:cNvPr descr="preencoded.png" id="685" name="Google Shape;685;p21"/>
          <p:cNvPicPr preferRelativeResize="0"/>
          <p:nvPr/>
        </p:nvPicPr>
        <p:blipFill rotWithShape="1">
          <a:blip r:embed="rId15">
            <a:alphaModFix/>
          </a:blip>
          <a:srcRect b="0" l="0" r="0" t="0"/>
          <a:stretch/>
        </p:blipFill>
        <p:spPr>
          <a:xfrm>
            <a:off x="8102501" y="4152900"/>
            <a:ext cx="3708499" cy="1447800"/>
          </a:xfrm>
          <a:prstGeom prst="rect">
            <a:avLst/>
          </a:prstGeom>
          <a:noFill/>
          <a:ln>
            <a:noFill/>
          </a:ln>
        </p:spPr>
      </p:pic>
      <p:pic>
        <p:nvPicPr>
          <p:cNvPr descr="preencoded.png" id="686" name="Google Shape;686;p21"/>
          <p:cNvPicPr preferRelativeResize="0"/>
          <p:nvPr/>
        </p:nvPicPr>
        <p:blipFill rotWithShape="1">
          <a:blip r:embed="rId16">
            <a:alphaModFix/>
          </a:blip>
          <a:srcRect b="0" l="0" r="0" t="0"/>
          <a:stretch/>
        </p:blipFill>
        <p:spPr>
          <a:xfrm>
            <a:off x="8254901" y="4305300"/>
            <a:ext cx="381000" cy="381000"/>
          </a:xfrm>
          <a:prstGeom prst="rect">
            <a:avLst/>
          </a:prstGeom>
          <a:noFill/>
          <a:ln>
            <a:noFill/>
          </a:ln>
        </p:spPr>
      </p:pic>
      <p:pic>
        <p:nvPicPr>
          <p:cNvPr descr="preencoded.png" id="687" name="Google Shape;687;p21"/>
          <p:cNvPicPr preferRelativeResize="0"/>
          <p:nvPr/>
        </p:nvPicPr>
        <p:blipFill rotWithShape="1">
          <a:blip r:embed="rId17">
            <a:alphaModFix/>
          </a:blip>
          <a:srcRect b="0" l="0" r="0" t="0"/>
          <a:stretch/>
        </p:blipFill>
        <p:spPr>
          <a:xfrm>
            <a:off x="8373963" y="4362450"/>
            <a:ext cx="142875" cy="266700"/>
          </a:xfrm>
          <a:prstGeom prst="rect">
            <a:avLst/>
          </a:prstGeom>
          <a:noFill/>
          <a:ln>
            <a:noFill/>
          </a:ln>
        </p:spPr>
      </p:pic>
      <p:sp>
        <p:nvSpPr>
          <p:cNvPr id="688" name="Google Shape;688;p21"/>
          <p:cNvSpPr/>
          <p:nvPr/>
        </p:nvSpPr>
        <p:spPr>
          <a:xfrm>
            <a:off x="381000" y="381000"/>
            <a:ext cx="13716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115E59"/>
              </a:buClr>
              <a:buSzPts val="2700"/>
              <a:buFont typeface="Arial"/>
              <a:buNone/>
            </a:pPr>
            <a:r>
              <a:rPr b="1" lang="en-US" sz="2700">
                <a:solidFill>
                  <a:srgbClr val="115E59"/>
                </a:solidFill>
                <a:latin typeface="Arial"/>
                <a:ea typeface="Arial"/>
                <a:cs typeface="Arial"/>
                <a:sym typeface="Arial"/>
              </a:rPr>
              <a:t>Surveillance Audit Cycle Management</a:t>
            </a:r>
            <a:endParaRPr sz="2700">
              <a:solidFill>
                <a:schemeClr val="dk1"/>
              </a:solidFill>
              <a:latin typeface="Calibri"/>
              <a:ea typeface="Calibri"/>
              <a:cs typeface="Calibri"/>
              <a:sym typeface="Calibri"/>
            </a:endParaRPr>
          </a:p>
        </p:txBody>
      </p:sp>
      <p:sp>
        <p:nvSpPr>
          <p:cNvPr id="689" name="Google Shape;689;p21"/>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74151"/>
              </a:buClr>
              <a:buSzPts val="1500"/>
              <a:buFont typeface="Arial"/>
              <a:buNone/>
            </a:pPr>
            <a:r>
              <a:rPr lang="en-US" sz="1500">
                <a:solidFill>
                  <a:srgbClr val="374151"/>
                </a:solidFill>
                <a:latin typeface="Arial"/>
                <a:ea typeface="Arial"/>
                <a:cs typeface="Arial"/>
                <a:sym typeface="Arial"/>
              </a:rPr>
              <a:t>Maintaining certification requires ongoing commitment and proactive management</a:t>
            </a:r>
            <a:endParaRPr sz="1500">
              <a:solidFill>
                <a:schemeClr val="dk1"/>
              </a:solidFill>
              <a:latin typeface="Calibri"/>
              <a:ea typeface="Calibri"/>
              <a:cs typeface="Calibri"/>
              <a:sym typeface="Calibri"/>
            </a:endParaRPr>
          </a:p>
        </p:txBody>
      </p:sp>
      <p:sp>
        <p:nvSpPr>
          <p:cNvPr id="690" name="Google Shape;690;p21"/>
          <p:cNvSpPr/>
          <p:nvPr/>
        </p:nvSpPr>
        <p:spPr>
          <a:xfrm>
            <a:off x="990600" y="4362450"/>
            <a:ext cx="2643188"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1F2937"/>
              </a:buClr>
              <a:buSzPts val="1350"/>
              <a:buFont typeface="Arial"/>
              <a:buNone/>
            </a:pPr>
            <a:r>
              <a:rPr b="1" lang="en-US" sz="1350">
                <a:solidFill>
                  <a:srgbClr val="1F2937"/>
                </a:solidFill>
                <a:latin typeface="Arial"/>
                <a:ea typeface="Arial"/>
                <a:cs typeface="Arial"/>
                <a:sym typeface="Arial"/>
              </a:rPr>
              <a:t>Keeping Systems Alive</a:t>
            </a:r>
            <a:endParaRPr sz="1350">
              <a:solidFill>
                <a:schemeClr val="dk1"/>
              </a:solidFill>
              <a:latin typeface="Calibri"/>
              <a:ea typeface="Calibri"/>
              <a:cs typeface="Calibri"/>
              <a:sym typeface="Calibri"/>
            </a:endParaRPr>
          </a:p>
        </p:txBody>
      </p:sp>
      <p:sp>
        <p:nvSpPr>
          <p:cNvPr id="691" name="Google Shape;691;p21"/>
          <p:cNvSpPr/>
          <p:nvPr/>
        </p:nvSpPr>
        <p:spPr>
          <a:xfrm>
            <a:off x="533400" y="4762500"/>
            <a:ext cx="340355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Ensure ISMS and AIMS are integrated into organizational culture. Make security and AI governance part of daily operations.</a:t>
            </a:r>
            <a:endParaRPr sz="1200">
              <a:solidFill>
                <a:schemeClr val="dk1"/>
              </a:solidFill>
              <a:latin typeface="Calibri"/>
              <a:ea typeface="Calibri"/>
              <a:cs typeface="Calibri"/>
              <a:sym typeface="Calibri"/>
            </a:endParaRPr>
          </a:p>
        </p:txBody>
      </p:sp>
      <p:sp>
        <p:nvSpPr>
          <p:cNvPr id="692" name="Google Shape;692;p21"/>
          <p:cNvSpPr/>
          <p:nvPr/>
        </p:nvSpPr>
        <p:spPr>
          <a:xfrm>
            <a:off x="4851350" y="4362450"/>
            <a:ext cx="1833801"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1F2937"/>
              </a:buClr>
              <a:buSzPts val="1350"/>
              <a:buFont typeface="Arial"/>
              <a:buNone/>
            </a:pPr>
            <a:r>
              <a:rPr b="1" lang="en-US" sz="1350">
                <a:solidFill>
                  <a:srgbClr val="1F2937"/>
                </a:solidFill>
                <a:latin typeface="Arial"/>
                <a:ea typeface="Arial"/>
                <a:cs typeface="Arial"/>
                <a:sym typeface="Arial"/>
              </a:rPr>
              <a:t>Staying Current</a:t>
            </a:r>
            <a:endParaRPr sz="1350">
              <a:solidFill>
                <a:schemeClr val="dk1"/>
              </a:solidFill>
              <a:latin typeface="Calibri"/>
              <a:ea typeface="Calibri"/>
              <a:cs typeface="Calibri"/>
              <a:sym typeface="Calibri"/>
            </a:endParaRPr>
          </a:p>
        </p:txBody>
      </p:sp>
      <p:sp>
        <p:nvSpPr>
          <p:cNvPr id="693" name="Google Shape;693;p21"/>
          <p:cNvSpPr/>
          <p:nvPr/>
        </p:nvSpPr>
        <p:spPr>
          <a:xfrm>
            <a:off x="4394150" y="4762500"/>
            <a:ext cx="3403550"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Monitor changes in threat landscapes, technologies, and regulations to maintain relevance and effectiveness.</a:t>
            </a:r>
            <a:endParaRPr sz="1200">
              <a:solidFill>
                <a:schemeClr val="dk1"/>
              </a:solidFill>
              <a:latin typeface="Calibri"/>
              <a:ea typeface="Calibri"/>
              <a:cs typeface="Calibri"/>
              <a:sym typeface="Calibri"/>
            </a:endParaRPr>
          </a:p>
        </p:txBody>
      </p:sp>
      <p:sp>
        <p:nvSpPr>
          <p:cNvPr id="694" name="Google Shape;694;p21"/>
          <p:cNvSpPr/>
          <p:nvPr/>
        </p:nvSpPr>
        <p:spPr>
          <a:xfrm>
            <a:off x="8712101" y="4362450"/>
            <a:ext cx="1878985"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1F2937"/>
              </a:buClr>
              <a:buSzPts val="1350"/>
              <a:buFont typeface="Arial"/>
              <a:buNone/>
            </a:pPr>
            <a:r>
              <a:rPr b="1" lang="en-US" sz="1350">
                <a:solidFill>
                  <a:srgbClr val="1F2937"/>
                </a:solidFill>
                <a:latin typeface="Arial"/>
                <a:ea typeface="Arial"/>
                <a:cs typeface="Arial"/>
                <a:sym typeface="Arial"/>
              </a:rPr>
              <a:t>Audit Readiness</a:t>
            </a:r>
            <a:endParaRPr sz="1350">
              <a:solidFill>
                <a:schemeClr val="dk1"/>
              </a:solidFill>
              <a:latin typeface="Calibri"/>
              <a:ea typeface="Calibri"/>
              <a:cs typeface="Calibri"/>
              <a:sym typeface="Calibri"/>
            </a:endParaRPr>
          </a:p>
        </p:txBody>
      </p:sp>
      <p:sp>
        <p:nvSpPr>
          <p:cNvPr id="695" name="Google Shape;695;p21"/>
          <p:cNvSpPr/>
          <p:nvPr/>
        </p:nvSpPr>
        <p:spPr>
          <a:xfrm>
            <a:off x="8254901" y="4762500"/>
            <a:ext cx="3403699" cy="685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Proactively ensure the organization is prepared for surveillance audits through regular internal checks.</a:t>
            </a:r>
            <a:endParaRPr sz="1200">
              <a:solidFill>
                <a:schemeClr val="dk1"/>
              </a:solidFill>
              <a:latin typeface="Calibri"/>
              <a:ea typeface="Calibri"/>
              <a:cs typeface="Calibri"/>
              <a:sym typeface="Calibri"/>
            </a:endParaRPr>
          </a:p>
        </p:txBody>
      </p:sp>
      <p:sp>
        <p:nvSpPr>
          <p:cNvPr id="696" name="Google Shape;696;p21"/>
          <p:cNvSpPr/>
          <p:nvPr/>
        </p:nvSpPr>
        <p:spPr>
          <a:xfrm>
            <a:off x="8687098" y="6515100"/>
            <a:ext cx="393156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19/23</a:t>
            </a:r>
            <a:endParaRPr sz="105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pic>
        <p:nvPicPr>
          <p:cNvPr descr="preencoded.png" id="702" name="Google Shape;702;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703" name="Google Shape;703;p22"/>
          <p:cNvPicPr preferRelativeResize="0"/>
          <p:nvPr/>
        </p:nvPicPr>
        <p:blipFill rotWithShape="1">
          <a:blip r:embed="rId4">
            <a:alphaModFix/>
          </a:blip>
          <a:srcRect b="0" l="0" r="0" t="0"/>
          <a:stretch/>
        </p:blipFill>
        <p:spPr>
          <a:xfrm>
            <a:off x="381000" y="1333500"/>
            <a:ext cx="11430000" cy="762000"/>
          </a:xfrm>
          <a:prstGeom prst="rect">
            <a:avLst/>
          </a:prstGeom>
          <a:noFill/>
          <a:ln>
            <a:noFill/>
          </a:ln>
        </p:spPr>
      </p:pic>
      <p:pic>
        <p:nvPicPr>
          <p:cNvPr descr="preencoded.png" id="704" name="Google Shape;704;p22"/>
          <p:cNvPicPr preferRelativeResize="0"/>
          <p:nvPr/>
        </p:nvPicPr>
        <p:blipFill rotWithShape="1">
          <a:blip r:embed="rId5">
            <a:alphaModFix/>
          </a:blip>
          <a:srcRect b="0" l="0" r="0" t="0"/>
          <a:stretch/>
        </p:blipFill>
        <p:spPr>
          <a:xfrm>
            <a:off x="381000" y="2400300"/>
            <a:ext cx="3657600" cy="2019300"/>
          </a:xfrm>
          <a:prstGeom prst="rect">
            <a:avLst/>
          </a:prstGeom>
          <a:noFill/>
          <a:ln>
            <a:noFill/>
          </a:ln>
        </p:spPr>
      </p:pic>
      <p:pic>
        <p:nvPicPr>
          <p:cNvPr descr="preencoded.png" id="705" name="Google Shape;705;p22"/>
          <p:cNvPicPr preferRelativeResize="0"/>
          <p:nvPr/>
        </p:nvPicPr>
        <p:blipFill rotWithShape="1">
          <a:blip r:embed="rId6">
            <a:alphaModFix/>
          </a:blip>
          <a:srcRect b="0" l="0" r="0" t="0"/>
          <a:stretch/>
        </p:blipFill>
        <p:spPr>
          <a:xfrm>
            <a:off x="571500" y="2590800"/>
            <a:ext cx="457200" cy="457200"/>
          </a:xfrm>
          <a:prstGeom prst="rect">
            <a:avLst/>
          </a:prstGeom>
          <a:noFill/>
          <a:ln>
            <a:noFill/>
          </a:ln>
        </p:spPr>
      </p:pic>
      <p:pic>
        <p:nvPicPr>
          <p:cNvPr descr="preencoded.png" id="706" name="Google Shape;706;p22"/>
          <p:cNvPicPr preferRelativeResize="0"/>
          <p:nvPr/>
        </p:nvPicPr>
        <p:blipFill rotWithShape="1">
          <a:blip r:embed="rId7">
            <a:alphaModFix/>
          </a:blip>
          <a:srcRect b="0" l="0" r="0" t="0"/>
          <a:stretch/>
        </p:blipFill>
        <p:spPr>
          <a:xfrm>
            <a:off x="685800" y="2667000"/>
            <a:ext cx="228600" cy="304800"/>
          </a:xfrm>
          <a:prstGeom prst="rect">
            <a:avLst/>
          </a:prstGeom>
          <a:noFill/>
          <a:ln>
            <a:noFill/>
          </a:ln>
        </p:spPr>
      </p:pic>
      <p:pic>
        <p:nvPicPr>
          <p:cNvPr descr="preencoded.png" id="707" name="Google Shape;707;p22"/>
          <p:cNvPicPr preferRelativeResize="0"/>
          <p:nvPr/>
        </p:nvPicPr>
        <p:blipFill rotWithShape="1">
          <a:blip r:embed="rId8">
            <a:alphaModFix/>
          </a:blip>
          <a:srcRect b="0" l="0" r="0" t="0"/>
          <a:stretch/>
        </p:blipFill>
        <p:spPr>
          <a:xfrm>
            <a:off x="571500" y="3190875"/>
            <a:ext cx="152400" cy="152400"/>
          </a:xfrm>
          <a:prstGeom prst="rect">
            <a:avLst/>
          </a:prstGeom>
          <a:noFill/>
          <a:ln>
            <a:noFill/>
          </a:ln>
        </p:spPr>
      </p:pic>
      <p:pic>
        <p:nvPicPr>
          <p:cNvPr descr="preencoded.png" id="708" name="Google Shape;708;p22"/>
          <p:cNvPicPr preferRelativeResize="0"/>
          <p:nvPr/>
        </p:nvPicPr>
        <p:blipFill rotWithShape="1">
          <a:blip r:embed="rId8">
            <a:alphaModFix/>
          </a:blip>
          <a:srcRect b="0" l="0" r="0" t="0"/>
          <a:stretch/>
        </p:blipFill>
        <p:spPr>
          <a:xfrm>
            <a:off x="571500" y="3495675"/>
            <a:ext cx="152400" cy="152400"/>
          </a:xfrm>
          <a:prstGeom prst="rect">
            <a:avLst/>
          </a:prstGeom>
          <a:noFill/>
          <a:ln>
            <a:noFill/>
          </a:ln>
        </p:spPr>
      </p:pic>
      <p:pic>
        <p:nvPicPr>
          <p:cNvPr descr="preencoded.png" id="709" name="Google Shape;709;p22"/>
          <p:cNvPicPr preferRelativeResize="0"/>
          <p:nvPr/>
        </p:nvPicPr>
        <p:blipFill rotWithShape="1">
          <a:blip r:embed="rId8">
            <a:alphaModFix/>
          </a:blip>
          <a:srcRect b="0" l="0" r="0" t="0"/>
          <a:stretch/>
        </p:blipFill>
        <p:spPr>
          <a:xfrm>
            <a:off x="571500" y="3800475"/>
            <a:ext cx="152400" cy="152400"/>
          </a:xfrm>
          <a:prstGeom prst="rect">
            <a:avLst/>
          </a:prstGeom>
          <a:noFill/>
          <a:ln>
            <a:noFill/>
          </a:ln>
        </p:spPr>
      </p:pic>
      <p:pic>
        <p:nvPicPr>
          <p:cNvPr descr="preencoded.png" id="710" name="Google Shape;710;p22"/>
          <p:cNvPicPr preferRelativeResize="0"/>
          <p:nvPr/>
        </p:nvPicPr>
        <p:blipFill rotWithShape="1">
          <a:blip r:embed="rId5">
            <a:alphaModFix/>
          </a:blip>
          <a:srcRect b="0" l="0" r="0" t="0"/>
          <a:stretch/>
        </p:blipFill>
        <p:spPr>
          <a:xfrm>
            <a:off x="4267200" y="2400300"/>
            <a:ext cx="3657600" cy="2019300"/>
          </a:xfrm>
          <a:prstGeom prst="rect">
            <a:avLst/>
          </a:prstGeom>
          <a:noFill/>
          <a:ln>
            <a:noFill/>
          </a:ln>
        </p:spPr>
      </p:pic>
      <p:pic>
        <p:nvPicPr>
          <p:cNvPr descr="preencoded.png" id="711" name="Google Shape;711;p22"/>
          <p:cNvPicPr preferRelativeResize="0"/>
          <p:nvPr/>
        </p:nvPicPr>
        <p:blipFill rotWithShape="1">
          <a:blip r:embed="rId9">
            <a:alphaModFix/>
          </a:blip>
          <a:srcRect b="0" l="0" r="0" t="0"/>
          <a:stretch/>
        </p:blipFill>
        <p:spPr>
          <a:xfrm>
            <a:off x="4457700" y="2590800"/>
            <a:ext cx="457200" cy="457200"/>
          </a:xfrm>
          <a:prstGeom prst="rect">
            <a:avLst/>
          </a:prstGeom>
          <a:noFill/>
          <a:ln>
            <a:noFill/>
          </a:ln>
        </p:spPr>
      </p:pic>
      <p:pic>
        <p:nvPicPr>
          <p:cNvPr descr="preencoded.png" id="712" name="Google Shape;712;p22"/>
          <p:cNvPicPr preferRelativeResize="0"/>
          <p:nvPr/>
        </p:nvPicPr>
        <p:blipFill rotWithShape="1">
          <a:blip r:embed="rId10">
            <a:alphaModFix/>
          </a:blip>
          <a:srcRect b="0" l="0" r="0" t="0"/>
          <a:stretch/>
        </p:blipFill>
        <p:spPr>
          <a:xfrm>
            <a:off x="4543425" y="2667000"/>
            <a:ext cx="285750" cy="304800"/>
          </a:xfrm>
          <a:prstGeom prst="rect">
            <a:avLst/>
          </a:prstGeom>
          <a:noFill/>
          <a:ln>
            <a:noFill/>
          </a:ln>
        </p:spPr>
      </p:pic>
      <p:pic>
        <p:nvPicPr>
          <p:cNvPr descr="preencoded.png" id="713" name="Google Shape;713;p22"/>
          <p:cNvPicPr preferRelativeResize="0"/>
          <p:nvPr/>
        </p:nvPicPr>
        <p:blipFill rotWithShape="1">
          <a:blip r:embed="rId8">
            <a:alphaModFix/>
          </a:blip>
          <a:srcRect b="0" l="0" r="0" t="0"/>
          <a:stretch/>
        </p:blipFill>
        <p:spPr>
          <a:xfrm>
            <a:off x="4457700" y="3190875"/>
            <a:ext cx="152400" cy="152400"/>
          </a:xfrm>
          <a:prstGeom prst="rect">
            <a:avLst/>
          </a:prstGeom>
          <a:noFill/>
          <a:ln>
            <a:noFill/>
          </a:ln>
        </p:spPr>
      </p:pic>
      <p:pic>
        <p:nvPicPr>
          <p:cNvPr descr="preencoded.png" id="714" name="Google Shape;714;p22"/>
          <p:cNvPicPr preferRelativeResize="0"/>
          <p:nvPr/>
        </p:nvPicPr>
        <p:blipFill rotWithShape="1">
          <a:blip r:embed="rId8">
            <a:alphaModFix/>
          </a:blip>
          <a:srcRect b="0" l="0" r="0" t="0"/>
          <a:stretch/>
        </p:blipFill>
        <p:spPr>
          <a:xfrm>
            <a:off x="4457700" y="3495675"/>
            <a:ext cx="152400" cy="152400"/>
          </a:xfrm>
          <a:prstGeom prst="rect">
            <a:avLst/>
          </a:prstGeom>
          <a:noFill/>
          <a:ln>
            <a:noFill/>
          </a:ln>
        </p:spPr>
      </p:pic>
      <p:pic>
        <p:nvPicPr>
          <p:cNvPr descr="preencoded.png" id="715" name="Google Shape;715;p22"/>
          <p:cNvPicPr preferRelativeResize="0"/>
          <p:nvPr/>
        </p:nvPicPr>
        <p:blipFill rotWithShape="1">
          <a:blip r:embed="rId8">
            <a:alphaModFix/>
          </a:blip>
          <a:srcRect b="0" l="0" r="0" t="0"/>
          <a:stretch/>
        </p:blipFill>
        <p:spPr>
          <a:xfrm>
            <a:off x="4457700" y="4029075"/>
            <a:ext cx="152400" cy="152400"/>
          </a:xfrm>
          <a:prstGeom prst="rect">
            <a:avLst/>
          </a:prstGeom>
          <a:noFill/>
          <a:ln>
            <a:noFill/>
          </a:ln>
        </p:spPr>
      </p:pic>
      <p:pic>
        <p:nvPicPr>
          <p:cNvPr descr="preencoded.png" id="716" name="Google Shape;716;p22"/>
          <p:cNvPicPr preferRelativeResize="0"/>
          <p:nvPr/>
        </p:nvPicPr>
        <p:blipFill rotWithShape="1">
          <a:blip r:embed="rId5">
            <a:alphaModFix/>
          </a:blip>
          <a:srcRect b="0" l="0" r="0" t="0"/>
          <a:stretch/>
        </p:blipFill>
        <p:spPr>
          <a:xfrm>
            <a:off x="8153400" y="2400300"/>
            <a:ext cx="3657600" cy="2019300"/>
          </a:xfrm>
          <a:prstGeom prst="rect">
            <a:avLst/>
          </a:prstGeom>
          <a:noFill/>
          <a:ln>
            <a:noFill/>
          </a:ln>
        </p:spPr>
      </p:pic>
      <p:pic>
        <p:nvPicPr>
          <p:cNvPr descr="preencoded.png" id="717" name="Google Shape;717;p22"/>
          <p:cNvPicPr preferRelativeResize="0"/>
          <p:nvPr/>
        </p:nvPicPr>
        <p:blipFill rotWithShape="1">
          <a:blip r:embed="rId11">
            <a:alphaModFix/>
          </a:blip>
          <a:srcRect b="0" l="0" r="0" t="0"/>
          <a:stretch/>
        </p:blipFill>
        <p:spPr>
          <a:xfrm>
            <a:off x="8343900" y="2590800"/>
            <a:ext cx="457200" cy="457200"/>
          </a:xfrm>
          <a:prstGeom prst="rect">
            <a:avLst/>
          </a:prstGeom>
          <a:noFill/>
          <a:ln>
            <a:noFill/>
          </a:ln>
        </p:spPr>
      </p:pic>
      <p:pic>
        <p:nvPicPr>
          <p:cNvPr descr="preencoded.png" id="718" name="Google Shape;718;p22"/>
          <p:cNvPicPr preferRelativeResize="0"/>
          <p:nvPr/>
        </p:nvPicPr>
        <p:blipFill rotWithShape="1">
          <a:blip r:embed="rId12">
            <a:alphaModFix/>
          </a:blip>
          <a:srcRect b="0" l="0" r="0" t="0"/>
          <a:stretch/>
        </p:blipFill>
        <p:spPr>
          <a:xfrm>
            <a:off x="8486775" y="2667000"/>
            <a:ext cx="171450" cy="304800"/>
          </a:xfrm>
          <a:prstGeom prst="rect">
            <a:avLst/>
          </a:prstGeom>
          <a:noFill/>
          <a:ln>
            <a:noFill/>
          </a:ln>
        </p:spPr>
      </p:pic>
      <p:pic>
        <p:nvPicPr>
          <p:cNvPr descr="preencoded.png" id="719" name="Google Shape;719;p22"/>
          <p:cNvPicPr preferRelativeResize="0"/>
          <p:nvPr/>
        </p:nvPicPr>
        <p:blipFill rotWithShape="1">
          <a:blip r:embed="rId8">
            <a:alphaModFix/>
          </a:blip>
          <a:srcRect b="0" l="0" r="0" t="0"/>
          <a:stretch/>
        </p:blipFill>
        <p:spPr>
          <a:xfrm>
            <a:off x="8343900" y="3190875"/>
            <a:ext cx="152400" cy="152400"/>
          </a:xfrm>
          <a:prstGeom prst="rect">
            <a:avLst/>
          </a:prstGeom>
          <a:noFill/>
          <a:ln>
            <a:noFill/>
          </a:ln>
        </p:spPr>
      </p:pic>
      <p:pic>
        <p:nvPicPr>
          <p:cNvPr descr="preencoded.png" id="720" name="Google Shape;720;p22"/>
          <p:cNvPicPr preferRelativeResize="0"/>
          <p:nvPr/>
        </p:nvPicPr>
        <p:blipFill rotWithShape="1">
          <a:blip r:embed="rId8">
            <a:alphaModFix/>
          </a:blip>
          <a:srcRect b="0" l="0" r="0" t="0"/>
          <a:stretch/>
        </p:blipFill>
        <p:spPr>
          <a:xfrm>
            <a:off x="8343900" y="3495675"/>
            <a:ext cx="152400" cy="152400"/>
          </a:xfrm>
          <a:prstGeom prst="rect">
            <a:avLst/>
          </a:prstGeom>
          <a:noFill/>
          <a:ln>
            <a:noFill/>
          </a:ln>
        </p:spPr>
      </p:pic>
      <p:pic>
        <p:nvPicPr>
          <p:cNvPr descr="preencoded.png" id="721" name="Google Shape;721;p22"/>
          <p:cNvPicPr preferRelativeResize="0"/>
          <p:nvPr/>
        </p:nvPicPr>
        <p:blipFill rotWithShape="1">
          <a:blip r:embed="rId8">
            <a:alphaModFix/>
          </a:blip>
          <a:srcRect b="0" l="0" r="0" t="0"/>
          <a:stretch/>
        </p:blipFill>
        <p:spPr>
          <a:xfrm>
            <a:off x="8343900" y="3800475"/>
            <a:ext cx="152400" cy="152400"/>
          </a:xfrm>
          <a:prstGeom prst="rect">
            <a:avLst/>
          </a:prstGeom>
          <a:noFill/>
          <a:ln>
            <a:noFill/>
          </a:ln>
        </p:spPr>
      </p:pic>
      <p:pic>
        <p:nvPicPr>
          <p:cNvPr descr="preencoded.png" id="722" name="Google Shape;722;p22"/>
          <p:cNvPicPr preferRelativeResize="0"/>
          <p:nvPr/>
        </p:nvPicPr>
        <p:blipFill rotWithShape="1">
          <a:blip r:embed="rId13">
            <a:alphaModFix/>
          </a:blip>
          <a:srcRect b="0" l="0" r="0" t="0"/>
          <a:stretch/>
        </p:blipFill>
        <p:spPr>
          <a:xfrm>
            <a:off x="381000" y="4648200"/>
            <a:ext cx="11430000" cy="457200"/>
          </a:xfrm>
          <a:prstGeom prst="rect">
            <a:avLst/>
          </a:prstGeom>
          <a:noFill/>
          <a:ln>
            <a:noFill/>
          </a:ln>
        </p:spPr>
      </p:pic>
      <p:pic>
        <p:nvPicPr>
          <p:cNvPr descr="preencoded.png" id="723" name="Google Shape;723;p22"/>
          <p:cNvPicPr preferRelativeResize="0"/>
          <p:nvPr/>
        </p:nvPicPr>
        <p:blipFill rotWithShape="1">
          <a:blip r:embed="rId14">
            <a:alphaModFix/>
          </a:blip>
          <a:srcRect b="0" l="0" r="0" t="0"/>
          <a:stretch/>
        </p:blipFill>
        <p:spPr>
          <a:xfrm>
            <a:off x="495300" y="4791075"/>
            <a:ext cx="114300" cy="152400"/>
          </a:xfrm>
          <a:prstGeom prst="rect">
            <a:avLst/>
          </a:prstGeom>
          <a:noFill/>
          <a:ln>
            <a:noFill/>
          </a:ln>
        </p:spPr>
      </p:pic>
      <p:sp>
        <p:nvSpPr>
          <p:cNvPr id="724" name="Google Shape;724;p22"/>
          <p:cNvSpPr/>
          <p:nvPr/>
        </p:nvSpPr>
        <p:spPr>
          <a:xfrm>
            <a:off x="381000" y="381000"/>
            <a:ext cx="13716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Management System Maturation</a:t>
            </a:r>
            <a:endParaRPr sz="2700">
              <a:solidFill>
                <a:schemeClr val="dk1"/>
              </a:solidFill>
              <a:latin typeface="Calibri"/>
              <a:ea typeface="Calibri"/>
              <a:cs typeface="Calibri"/>
              <a:sym typeface="Calibri"/>
            </a:endParaRPr>
          </a:p>
        </p:txBody>
      </p:sp>
      <p:sp>
        <p:nvSpPr>
          <p:cNvPr id="725" name="Google Shape;725;p22"/>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Elevating your ISMS and AIMS beyond certification to strategic advantage</a:t>
            </a:r>
            <a:endParaRPr sz="1500">
              <a:solidFill>
                <a:schemeClr val="dk1"/>
              </a:solidFill>
              <a:latin typeface="Calibri"/>
              <a:ea typeface="Calibri"/>
              <a:cs typeface="Calibri"/>
              <a:sym typeface="Calibri"/>
            </a:endParaRPr>
          </a:p>
        </p:txBody>
      </p:sp>
      <p:sp>
        <p:nvSpPr>
          <p:cNvPr id="726" name="Google Shape;726;p22"/>
          <p:cNvSpPr/>
          <p:nvPr/>
        </p:nvSpPr>
        <p:spPr>
          <a:xfrm>
            <a:off x="533400" y="1485900"/>
            <a:ext cx="111252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Beyond maintaining certification, a Lead Implementer should strive to mature the ISMS and AIMS, enhancing their robustness and strategic value. This involves benchmarking against best practices, integrating with other management systems, and continuous innovation.</a:t>
            </a:r>
            <a:endParaRPr sz="1200">
              <a:solidFill>
                <a:schemeClr val="dk1"/>
              </a:solidFill>
              <a:latin typeface="Calibri"/>
              <a:ea typeface="Calibri"/>
              <a:cs typeface="Calibri"/>
              <a:sym typeface="Calibri"/>
            </a:endParaRPr>
          </a:p>
        </p:txBody>
      </p:sp>
      <p:sp>
        <p:nvSpPr>
          <p:cNvPr id="727" name="Google Shape;727;p22"/>
          <p:cNvSpPr/>
          <p:nvPr/>
        </p:nvSpPr>
        <p:spPr>
          <a:xfrm>
            <a:off x="1181100" y="2667000"/>
            <a:ext cx="2222778"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Benchmarking</a:t>
            </a:r>
            <a:endParaRPr sz="1800">
              <a:solidFill>
                <a:schemeClr val="dk1"/>
              </a:solidFill>
              <a:latin typeface="Calibri"/>
              <a:ea typeface="Calibri"/>
              <a:cs typeface="Calibri"/>
              <a:sym typeface="Calibri"/>
            </a:endParaRPr>
          </a:p>
        </p:txBody>
      </p:sp>
      <p:sp>
        <p:nvSpPr>
          <p:cNvPr id="728" name="Google Shape;728;p22"/>
          <p:cNvSpPr/>
          <p:nvPr/>
        </p:nvSpPr>
        <p:spPr>
          <a:xfrm>
            <a:off x="609600" y="3162300"/>
            <a:ext cx="41605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Compare against industry standards</a:t>
            </a:r>
            <a:endParaRPr sz="1200">
              <a:solidFill>
                <a:schemeClr val="dk1"/>
              </a:solidFill>
              <a:latin typeface="Calibri"/>
              <a:ea typeface="Calibri"/>
              <a:cs typeface="Calibri"/>
              <a:sym typeface="Calibri"/>
            </a:endParaRPr>
          </a:p>
        </p:txBody>
      </p:sp>
      <p:sp>
        <p:nvSpPr>
          <p:cNvPr id="729" name="Google Shape;729;p22"/>
          <p:cNvSpPr/>
          <p:nvPr/>
        </p:nvSpPr>
        <p:spPr>
          <a:xfrm>
            <a:off x="609600" y="3467100"/>
            <a:ext cx="41605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Identify improvement areas</a:t>
            </a:r>
            <a:endParaRPr sz="1200">
              <a:solidFill>
                <a:schemeClr val="dk1"/>
              </a:solidFill>
              <a:latin typeface="Calibri"/>
              <a:ea typeface="Calibri"/>
              <a:cs typeface="Calibri"/>
              <a:sym typeface="Calibri"/>
            </a:endParaRPr>
          </a:p>
        </p:txBody>
      </p:sp>
      <p:sp>
        <p:nvSpPr>
          <p:cNvPr id="730" name="Google Shape;730;p22"/>
          <p:cNvSpPr/>
          <p:nvPr/>
        </p:nvSpPr>
        <p:spPr>
          <a:xfrm>
            <a:off x="609600" y="3771900"/>
            <a:ext cx="41605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Drive innovation through comparison</a:t>
            </a:r>
            <a:endParaRPr sz="1200">
              <a:solidFill>
                <a:schemeClr val="dk1"/>
              </a:solidFill>
              <a:latin typeface="Calibri"/>
              <a:ea typeface="Calibri"/>
              <a:cs typeface="Calibri"/>
              <a:sym typeface="Calibri"/>
            </a:endParaRPr>
          </a:p>
        </p:txBody>
      </p:sp>
      <p:sp>
        <p:nvSpPr>
          <p:cNvPr id="731" name="Google Shape;731;p22"/>
          <p:cNvSpPr/>
          <p:nvPr/>
        </p:nvSpPr>
        <p:spPr>
          <a:xfrm>
            <a:off x="5067300" y="2667000"/>
            <a:ext cx="1740218"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Integration</a:t>
            </a:r>
            <a:endParaRPr sz="1800">
              <a:solidFill>
                <a:schemeClr val="dk1"/>
              </a:solidFill>
              <a:latin typeface="Calibri"/>
              <a:ea typeface="Calibri"/>
              <a:cs typeface="Calibri"/>
              <a:sym typeface="Calibri"/>
            </a:endParaRPr>
          </a:p>
        </p:txBody>
      </p:sp>
      <p:sp>
        <p:nvSpPr>
          <p:cNvPr id="732" name="Google Shape;732;p22"/>
          <p:cNvSpPr/>
          <p:nvPr/>
        </p:nvSpPr>
        <p:spPr>
          <a:xfrm>
            <a:off x="4495800" y="3162300"/>
            <a:ext cx="41605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Harmonize with ISO 9001, ISO 14001</a:t>
            </a:r>
            <a:endParaRPr sz="1200">
              <a:solidFill>
                <a:schemeClr val="dk1"/>
              </a:solidFill>
              <a:latin typeface="Calibri"/>
              <a:ea typeface="Calibri"/>
              <a:cs typeface="Calibri"/>
              <a:sym typeface="Calibri"/>
            </a:endParaRPr>
          </a:p>
        </p:txBody>
      </p:sp>
      <p:sp>
        <p:nvSpPr>
          <p:cNvPr id="733" name="Google Shape;733;p22"/>
          <p:cNvSpPr/>
          <p:nvPr/>
        </p:nvSpPr>
        <p:spPr>
          <a:xfrm>
            <a:off x="4495800" y="3467100"/>
            <a:ext cx="3467100" cy="4572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Create cohesive organizational framework</a:t>
            </a:r>
            <a:endParaRPr sz="1200">
              <a:solidFill>
                <a:schemeClr val="dk1"/>
              </a:solidFill>
              <a:latin typeface="Calibri"/>
              <a:ea typeface="Calibri"/>
              <a:cs typeface="Calibri"/>
              <a:sym typeface="Calibri"/>
            </a:endParaRPr>
          </a:p>
        </p:txBody>
      </p:sp>
      <p:sp>
        <p:nvSpPr>
          <p:cNvPr id="734" name="Google Shape;734;p22"/>
          <p:cNvSpPr/>
          <p:nvPr/>
        </p:nvSpPr>
        <p:spPr>
          <a:xfrm>
            <a:off x="4495800" y="4000500"/>
            <a:ext cx="41605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Eliminate system conflicts</a:t>
            </a:r>
            <a:endParaRPr sz="1200">
              <a:solidFill>
                <a:schemeClr val="dk1"/>
              </a:solidFill>
              <a:latin typeface="Calibri"/>
              <a:ea typeface="Calibri"/>
              <a:cs typeface="Calibri"/>
              <a:sym typeface="Calibri"/>
            </a:endParaRPr>
          </a:p>
        </p:txBody>
      </p:sp>
      <p:sp>
        <p:nvSpPr>
          <p:cNvPr id="735" name="Google Shape;735;p22"/>
          <p:cNvSpPr/>
          <p:nvPr/>
        </p:nvSpPr>
        <p:spPr>
          <a:xfrm>
            <a:off x="8953500" y="2667000"/>
            <a:ext cx="1653957"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Innovation</a:t>
            </a:r>
            <a:endParaRPr sz="1800">
              <a:solidFill>
                <a:schemeClr val="dk1"/>
              </a:solidFill>
              <a:latin typeface="Calibri"/>
              <a:ea typeface="Calibri"/>
              <a:cs typeface="Calibri"/>
              <a:sym typeface="Calibri"/>
            </a:endParaRPr>
          </a:p>
        </p:txBody>
      </p:sp>
      <p:sp>
        <p:nvSpPr>
          <p:cNvPr id="736" name="Google Shape;736;p22"/>
          <p:cNvSpPr/>
          <p:nvPr/>
        </p:nvSpPr>
        <p:spPr>
          <a:xfrm>
            <a:off x="8382000" y="3162300"/>
            <a:ext cx="41605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Explore new technologies</a:t>
            </a:r>
            <a:endParaRPr sz="1200">
              <a:solidFill>
                <a:schemeClr val="dk1"/>
              </a:solidFill>
              <a:latin typeface="Calibri"/>
              <a:ea typeface="Calibri"/>
              <a:cs typeface="Calibri"/>
              <a:sym typeface="Calibri"/>
            </a:endParaRPr>
          </a:p>
        </p:txBody>
      </p:sp>
      <p:sp>
        <p:nvSpPr>
          <p:cNvPr id="737" name="Google Shape;737;p22"/>
          <p:cNvSpPr/>
          <p:nvPr/>
        </p:nvSpPr>
        <p:spPr>
          <a:xfrm>
            <a:off x="8382000" y="3467100"/>
            <a:ext cx="41605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Adopt emerging methodologies</a:t>
            </a:r>
            <a:endParaRPr sz="1200">
              <a:solidFill>
                <a:schemeClr val="dk1"/>
              </a:solidFill>
              <a:latin typeface="Calibri"/>
              <a:ea typeface="Calibri"/>
              <a:cs typeface="Calibri"/>
              <a:sym typeface="Calibri"/>
            </a:endParaRPr>
          </a:p>
        </p:txBody>
      </p:sp>
      <p:sp>
        <p:nvSpPr>
          <p:cNvPr id="738" name="Google Shape;738;p22"/>
          <p:cNvSpPr/>
          <p:nvPr/>
        </p:nvSpPr>
        <p:spPr>
          <a:xfrm>
            <a:off x="8382000" y="3771900"/>
            <a:ext cx="4160520" cy="228600"/>
          </a:xfrm>
          <a:prstGeom prst="rect">
            <a:avLst/>
          </a:prstGeom>
          <a:noFill/>
          <a:ln>
            <a:noFill/>
          </a:ln>
        </p:spPr>
        <p:txBody>
          <a:bodyPr anchorCtr="0" anchor="t" bIns="0" lIns="0" spcFirstLastPara="1" rIns="0" wrap="square" tIns="0">
            <a:noAutofit/>
          </a:bodyPr>
          <a:lstStyle/>
          <a:p>
            <a:pPr indent="-342900" lvl="0" marL="342900" marR="0" rtl="0" algn="l">
              <a:lnSpc>
                <a:spcPct val="150000"/>
              </a:lnSpc>
              <a:spcBef>
                <a:spcPts val="0"/>
              </a:spcBef>
              <a:spcAft>
                <a:spcPts val="0"/>
              </a:spcAft>
              <a:buClr>
                <a:srgbClr val="374151"/>
              </a:buClr>
              <a:buSzPts val="1200"/>
              <a:buFont typeface="Arial"/>
              <a:buChar char="•"/>
            </a:pPr>
            <a:r>
              <a:rPr lang="en-US" sz="1200">
                <a:solidFill>
                  <a:srgbClr val="374151"/>
                </a:solidFill>
                <a:latin typeface="Arial"/>
                <a:ea typeface="Arial"/>
                <a:cs typeface="Arial"/>
                <a:sym typeface="Arial"/>
              </a:rPr>
              <a:t>Enhance effectiveness and resilience</a:t>
            </a:r>
            <a:endParaRPr sz="1200">
              <a:solidFill>
                <a:schemeClr val="dk1"/>
              </a:solidFill>
              <a:latin typeface="Calibri"/>
              <a:ea typeface="Calibri"/>
              <a:cs typeface="Calibri"/>
              <a:sym typeface="Calibri"/>
            </a:endParaRPr>
          </a:p>
        </p:txBody>
      </p:sp>
      <p:sp>
        <p:nvSpPr>
          <p:cNvPr id="739" name="Google Shape;739;p22"/>
          <p:cNvSpPr/>
          <p:nvPr/>
        </p:nvSpPr>
        <p:spPr>
          <a:xfrm>
            <a:off x="685800" y="4762500"/>
            <a:ext cx="1344168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115E59"/>
              </a:buClr>
              <a:buSzPts val="1200"/>
              <a:buFont typeface="Arial"/>
              <a:buNone/>
            </a:pPr>
            <a:r>
              <a:rPr lang="en-US" sz="1200">
                <a:solidFill>
                  <a:srgbClr val="115E59"/>
                </a:solidFill>
                <a:latin typeface="Arial"/>
                <a:ea typeface="Arial"/>
                <a:cs typeface="Arial"/>
                <a:sym typeface="Arial"/>
              </a:rPr>
              <a:t> maturity is a journey, not a destination. Continuously evolving your management systems creates lasting organizational value.</a:t>
            </a:r>
            <a:endParaRPr sz="1200">
              <a:solidFill>
                <a:schemeClr val="dk1"/>
              </a:solidFill>
              <a:latin typeface="Calibri"/>
              <a:ea typeface="Calibri"/>
              <a:cs typeface="Calibri"/>
              <a:sym typeface="Calibri"/>
            </a:endParaRPr>
          </a:p>
        </p:txBody>
      </p:sp>
      <p:sp>
        <p:nvSpPr>
          <p:cNvPr id="740" name="Google Shape;740;p22"/>
          <p:cNvSpPr/>
          <p:nvPr/>
        </p:nvSpPr>
        <p:spPr>
          <a:xfrm>
            <a:off x="8687098" y="6515100"/>
            <a:ext cx="393156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20/23</a:t>
            </a:r>
            <a:endParaRPr sz="105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pic>
        <p:nvPicPr>
          <p:cNvPr descr="preencoded.png" id="746" name="Google Shape;746;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747" name="Google Shape;747;p23"/>
          <p:cNvPicPr preferRelativeResize="0"/>
          <p:nvPr/>
        </p:nvPicPr>
        <p:blipFill rotWithShape="1">
          <a:blip r:embed="rId4">
            <a:alphaModFix/>
          </a:blip>
          <a:srcRect b="0" l="0" r="0" t="0"/>
          <a:stretch/>
        </p:blipFill>
        <p:spPr>
          <a:xfrm>
            <a:off x="2438400" y="1333500"/>
            <a:ext cx="7315200" cy="1828800"/>
          </a:xfrm>
          <a:prstGeom prst="rect">
            <a:avLst/>
          </a:prstGeom>
          <a:noFill/>
          <a:ln>
            <a:noFill/>
          </a:ln>
        </p:spPr>
      </p:pic>
      <p:pic>
        <p:nvPicPr>
          <p:cNvPr descr="preencoded.png" id="748" name="Google Shape;748;p23"/>
          <p:cNvPicPr preferRelativeResize="0"/>
          <p:nvPr/>
        </p:nvPicPr>
        <p:blipFill rotWithShape="1">
          <a:blip r:embed="rId5">
            <a:alphaModFix/>
          </a:blip>
          <a:srcRect b="0" l="0" r="0" t="0"/>
          <a:stretch/>
        </p:blipFill>
        <p:spPr>
          <a:xfrm>
            <a:off x="381000" y="3390900"/>
            <a:ext cx="5600700" cy="1943100"/>
          </a:xfrm>
          <a:prstGeom prst="rect">
            <a:avLst/>
          </a:prstGeom>
          <a:noFill/>
          <a:ln>
            <a:noFill/>
          </a:ln>
        </p:spPr>
      </p:pic>
      <p:pic>
        <p:nvPicPr>
          <p:cNvPr descr="preencoded.png" id="749" name="Google Shape;749;p23"/>
          <p:cNvPicPr preferRelativeResize="0"/>
          <p:nvPr/>
        </p:nvPicPr>
        <p:blipFill rotWithShape="1">
          <a:blip r:embed="rId6">
            <a:alphaModFix/>
          </a:blip>
          <a:srcRect b="0" l="0" r="0" t="0"/>
          <a:stretch/>
        </p:blipFill>
        <p:spPr>
          <a:xfrm>
            <a:off x="571500" y="3619500"/>
            <a:ext cx="257175" cy="228600"/>
          </a:xfrm>
          <a:prstGeom prst="rect">
            <a:avLst/>
          </a:prstGeom>
          <a:noFill/>
          <a:ln>
            <a:noFill/>
          </a:ln>
        </p:spPr>
      </p:pic>
      <p:pic>
        <p:nvPicPr>
          <p:cNvPr descr="preencoded.png" id="750" name="Google Shape;750;p23"/>
          <p:cNvPicPr preferRelativeResize="0"/>
          <p:nvPr/>
        </p:nvPicPr>
        <p:blipFill rotWithShape="1">
          <a:blip r:embed="rId7">
            <a:alphaModFix/>
          </a:blip>
          <a:srcRect b="0" l="0" r="0" t="0"/>
          <a:stretch/>
        </p:blipFill>
        <p:spPr>
          <a:xfrm>
            <a:off x="571500" y="4038600"/>
            <a:ext cx="152400" cy="152400"/>
          </a:xfrm>
          <a:prstGeom prst="rect">
            <a:avLst/>
          </a:prstGeom>
          <a:noFill/>
          <a:ln>
            <a:noFill/>
          </a:ln>
        </p:spPr>
      </p:pic>
      <p:pic>
        <p:nvPicPr>
          <p:cNvPr descr="preencoded.png" id="751" name="Google Shape;751;p23"/>
          <p:cNvPicPr preferRelativeResize="0"/>
          <p:nvPr/>
        </p:nvPicPr>
        <p:blipFill rotWithShape="1">
          <a:blip r:embed="rId7">
            <a:alphaModFix/>
          </a:blip>
          <a:srcRect b="0" l="0" r="0" t="0"/>
          <a:stretch/>
        </p:blipFill>
        <p:spPr>
          <a:xfrm>
            <a:off x="571500" y="4343400"/>
            <a:ext cx="152400" cy="152400"/>
          </a:xfrm>
          <a:prstGeom prst="rect">
            <a:avLst/>
          </a:prstGeom>
          <a:noFill/>
          <a:ln>
            <a:noFill/>
          </a:ln>
        </p:spPr>
      </p:pic>
      <p:pic>
        <p:nvPicPr>
          <p:cNvPr descr="preencoded.png" id="752" name="Google Shape;752;p23"/>
          <p:cNvPicPr preferRelativeResize="0"/>
          <p:nvPr/>
        </p:nvPicPr>
        <p:blipFill rotWithShape="1">
          <a:blip r:embed="rId7">
            <a:alphaModFix/>
          </a:blip>
          <a:srcRect b="0" l="0" r="0" t="0"/>
          <a:stretch/>
        </p:blipFill>
        <p:spPr>
          <a:xfrm>
            <a:off x="571500" y="4648200"/>
            <a:ext cx="152400" cy="152400"/>
          </a:xfrm>
          <a:prstGeom prst="rect">
            <a:avLst/>
          </a:prstGeom>
          <a:noFill/>
          <a:ln>
            <a:noFill/>
          </a:ln>
        </p:spPr>
      </p:pic>
      <p:pic>
        <p:nvPicPr>
          <p:cNvPr descr="preencoded.png" id="753" name="Google Shape;753;p23"/>
          <p:cNvPicPr preferRelativeResize="0"/>
          <p:nvPr/>
        </p:nvPicPr>
        <p:blipFill rotWithShape="1">
          <a:blip r:embed="rId7">
            <a:alphaModFix/>
          </a:blip>
          <a:srcRect b="0" l="0" r="0" t="0"/>
          <a:stretch/>
        </p:blipFill>
        <p:spPr>
          <a:xfrm>
            <a:off x="571500" y="4953000"/>
            <a:ext cx="152400" cy="152400"/>
          </a:xfrm>
          <a:prstGeom prst="rect">
            <a:avLst/>
          </a:prstGeom>
          <a:noFill/>
          <a:ln>
            <a:noFill/>
          </a:ln>
        </p:spPr>
      </p:pic>
      <p:pic>
        <p:nvPicPr>
          <p:cNvPr descr="preencoded.png" id="754" name="Google Shape;754;p23"/>
          <p:cNvPicPr preferRelativeResize="0"/>
          <p:nvPr/>
        </p:nvPicPr>
        <p:blipFill rotWithShape="1">
          <a:blip r:embed="rId5">
            <a:alphaModFix/>
          </a:blip>
          <a:srcRect b="0" l="0" r="0" t="0"/>
          <a:stretch/>
        </p:blipFill>
        <p:spPr>
          <a:xfrm>
            <a:off x="6210300" y="3390900"/>
            <a:ext cx="5600700" cy="1943100"/>
          </a:xfrm>
          <a:prstGeom prst="rect">
            <a:avLst/>
          </a:prstGeom>
          <a:noFill/>
          <a:ln>
            <a:noFill/>
          </a:ln>
        </p:spPr>
      </p:pic>
      <p:pic>
        <p:nvPicPr>
          <p:cNvPr descr="preencoded.png" id="755" name="Google Shape;755;p23"/>
          <p:cNvPicPr preferRelativeResize="0"/>
          <p:nvPr/>
        </p:nvPicPr>
        <p:blipFill rotWithShape="1">
          <a:blip r:embed="rId8">
            <a:alphaModFix/>
          </a:blip>
          <a:srcRect b="0" l="0" r="0" t="0"/>
          <a:stretch/>
        </p:blipFill>
        <p:spPr>
          <a:xfrm>
            <a:off x="6400800" y="3619500"/>
            <a:ext cx="228600" cy="228600"/>
          </a:xfrm>
          <a:prstGeom prst="rect">
            <a:avLst/>
          </a:prstGeom>
          <a:noFill/>
          <a:ln>
            <a:noFill/>
          </a:ln>
        </p:spPr>
      </p:pic>
      <p:pic>
        <p:nvPicPr>
          <p:cNvPr descr="preencoded.png" id="756" name="Google Shape;756;p23"/>
          <p:cNvPicPr preferRelativeResize="0"/>
          <p:nvPr/>
        </p:nvPicPr>
        <p:blipFill rotWithShape="1">
          <a:blip r:embed="rId9">
            <a:alphaModFix/>
          </a:blip>
          <a:srcRect b="0" l="0" r="0" t="0"/>
          <a:stretch/>
        </p:blipFill>
        <p:spPr>
          <a:xfrm>
            <a:off x="6400800" y="4038600"/>
            <a:ext cx="133350" cy="152400"/>
          </a:xfrm>
          <a:prstGeom prst="rect">
            <a:avLst/>
          </a:prstGeom>
          <a:noFill/>
          <a:ln>
            <a:noFill/>
          </a:ln>
        </p:spPr>
      </p:pic>
      <p:pic>
        <p:nvPicPr>
          <p:cNvPr descr="preencoded.png" id="757" name="Google Shape;757;p23"/>
          <p:cNvPicPr preferRelativeResize="0"/>
          <p:nvPr/>
        </p:nvPicPr>
        <p:blipFill rotWithShape="1">
          <a:blip r:embed="rId9">
            <a:alphaModFix/>
          </a:blip>
          <a:srcRect b="0" l="0" r="0" t="0"/>
          <a:stretch/>
        </p:blipFill>
        <p:spPr>
          <a:xfrm>
            <a:off x="6400800" y="4343400"/>
            <a:ext cx="133350" cy="152400"/>
          </a:xfrm>
          <a:prstGeom prst="rect">
            <a:avLst/>
          </a:prstGeom>
          <a:noFill/>
          <a:ln>
            <a:noFill/>
          </a:ln>
        </p:spPr>
      </p:pic>
      <p:pic>
        <p:nvPicPr>
          <p:cNvPr descr="preencoded.png" id="758" name="Google Shape;758;p23"/>
          <p:cNvPicPr preferRelativeResize="0"/>
          <p:nvPr/>
        </p:nvPicPr>
        <p:blipFill rotWithShape="1">
          <a:blip r:embed="rId9">
            <a:alphaModFix/>
          </a:blip>
          <a:srcRect b="0" l="0" r="0" t="0"/>
          <a:stretch/>
        </p:blipFill>
        <p:spPr>
          <a:xfrm>
            <a:off x="6400800" y="4648200"/>
            <a:ext cx="133350" cy="152400"/>
          </a:xfrm>
          <a:prstGeom prst="rect">
            <a:avLst/>
          </a:prstGeom>
          <a:noFill/>
          <a:ln>
            <a:noFill/>
          </a:ln>
        </p:spPr>
      </p:pic>
      <p:pic>
        <p:nvPicPr>
          <p:cNvPr descr="preencoded.png" id="759" name="Google Shape;759;p23"/>
          <p:cNvPicPr preferRelativeResize="0"/>
          <p:nvPr/>
        </p:nvPicPr>
        <p:blipFill rotWithShape="1">
          <a:blip r:embed="rId9">
            <a:alphaModFix/>
          </a:blip>
          <a:srcRect b="0" l="0" r="0" t="0"/>
          <a:stretch/>
        </p:blipFill>
        <p:spPr>
          <a:xfrm>
            <a:off x="6400800" y="4953000"/>
            <a:ext cx="133350" cy="152400"/>
          </a:xfrm>
          <a:prstGeom prst="rect">
            <a:avLst/>
          </a:prstGeom>
          <a:noFill/>
          <a:ln>
            <a:noFill/>
          </a:ln>
        </p:spPr>
      </p:pic>
      <p:sp>
        <p:nvSpPr>
          <p:cNvPr id="760" name="Google Shape;760;p23"/>
          <p:cNvSpPr/>
          <p:nvPr/>
        </p:nvSpPr>
        <p:spPr>
          <a:xfrm>
            <a:off x="381000" y="381000"/>
            <a:ext cx="13716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Integration with Other Standards</a:t>
            </a:r>
            <a:endParaRPr sz="2700">
              <a:solidFill>
                <a:schemeClr val="dk1"/>
              </a:solidFill>
              <a:latin typeface="Calibri"/>
              <a:ea typeface="Calibri"/>
              <a:cs typeface="Calibri"/>
              <a:sym typeface="Calibri"/>
            </a:endParaRPr>
          </a:p>
        </p:txBody>
      </p:sp>
      <p:sp>
        <p:nvSpPr>
          <p:cNvPr id="761" name="Google Shape;761;p23"/>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Creating a cohesive organizational framework by harmonizing management systems</a:t>
            </a:r>
            <a:endParaRPr sz="1500">
              <a:solidFill>
                <a:schemeClr val="dk1"/>
              </a:solidFill>
              <a:latin typeface="Calibri"/>
              <a:ea typeface="Calibri"/>
              <a:cs typeface="Calibri"/>
              <a:sym typeface="Calibri"/>
            </a:endParaRPr>
          </a:p>
        </p:txBody>
      </p:sp>
      <p:sp>
        <p:nvSpPr>
          <p:cNvPr id="762" name="Google Shape;762;p23"/>
          <p:cNvSpPr/>
          <p:nvPr/>
        </p:nvSpPr>
        <p:spPr>
          <a:xfrm>
            <a:off x="942975" y="3581400"/>
            <a:ext cx="626364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Benefits of Integration</a:t>
            </a:r>
            <a:endParaRPr sz="1800">
              <a:solidFill>
                <a:schemeClr val="dk1"/>
              </a:solidFill>
              <a:latin typeface="Calibri"/>
              <a:ea typeface="Calibri"/>
              <a:cs typeface="Calibri"/>
              <a:sym typeface="Calibri"/>
            </a:endParaRPr>
          </a:p>
        </p:txBody>
      </p:sp>
      <p:sp>
        <p:nvSpPr>
          <p:cNvPr id="763" name="Google Shape;763;p23"/>
          <p:cNvSpPr/>
          <p:nvPr/>
        </p:nvSpPr>
        <p:spPr>
          <a:xfrm>
            <a:off x="800100" y="4000500"/>
            <a:ext cx="3971746"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Eliminates duplicated efforts and resources</a:t>
            </a:r>
            <a:endParaRPr sz="1200">
              <a:solidFill>
                <a:schemeClr val="dk1"/>
              </a:solidFill>
              <a:latin typeface="Calibri"/>
              <a:ea typeface="Calibri"/>
              <a:cs typeface="Calibri"/>
              <a:sym typeface="Calibri"/>
            </a:endParaRPr>
          </a:p>
        </p:txBody>
      </p:sp>
      <p:sp>
        <p:nvSpPr>
          <p:cNvPr id="764" name="Google Shape;764;p23"/>
          <p:cNvSpPr/>
          <p:nvPr/>
        </p:nvSpPr>
        <p:spPr>
          <a:xfrm>
            <a:off x="800100" y="4305300"/>
            <a:ext cx="486918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Creates consistent processes across the organization</a:t>
            </a:r>
            <a:endParaRPr sz="1200">
              <a:solidFill>
                <a:schemeClr val="dk1"/>
              </a:solidFill>
              <a:latin typeface="Calibri"/>
              <a:ea typeface="Calibri"/>
              <a:cs typeface="Calibri"/>
              <a:sym typeface="Calibri"/>
            </a:endParaRPr>
          </a:p>
        </p:txBody>
      </p:sp>
      <p:sp>
        <p:nvSpPr>
          <p:cNvPr id="765" name="Google Shape;765;p23"/>
          <p:cNvSpPr/>
          <p:nvPr/>
        </p:nvSpPr>
        <p:spPr>
          <a:xfrm>
            <a:off x="800100" y="4610100"/>
            <a:ext cx="4173557"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Enhances overall efficiency and effectiveness</a:t>
            </a:r>
            <a:endParaRPr sz="1200">
              <a:solidFill>
                <a:schemeClr val="dk1"/>
              </a:solidFill>
              <a:latin typeface="Calibri"/>
              <a:ea typeface="Calibri"/>
              <a:cs typeface="Calibri"/>
              <a:sym typeface="Calibri"/>
            </a:endParaRPr>
          </a:p>
        </p:txBody>
      </p:sp>
      <p:sp>
        <p:nvSpPr>
          <p:cNvPr id="766" name="Google Shape;766;p23"/>
          <p:cNvSpPr/>
          <p:nvPr/>
        </p:nvSpPr>
        <p:spPr>
          <a:xfrm>
            <a:off x="800100" y="4914900"/>
            <a:ext cx="4088011"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Provides a holistic approach to management</a:t>
            </a:r>
            <a:endParaRPr sz="1200">
              <a:solidFill>
                <a:schemeClr val="dk1"/>
              </a:solidFill>
              <a:latin typeface="Calibri"/>
              <a:ea typeface="Calibri"/>
              <a:cs typeface="Calibri"/>
              <a:sym typeface="Calibri"/>
            </a:endParaRPr>
          </a:p>
        </p:txBody>
      </p:sp>
      <p:sp>
        <p:nvSpPr>
          <p:cNvPr id="767" name="Google Shape;767;p23"/>
          <p:cNvSpPr/>
          <p:nvPr/>
        </p:nvSpPr>
        <p:spPr>
          <a:xfrm>
            <a:off x="6743700" y="3581400"/>
            <a:ext cx="626364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Integration Approaches</a:t>
            </a:r>
            <a:endParaRPr sz="1800">
              <a:solidFill>
                <a:schemeClr val="dk1"/>
              </a:solidFill>
              <a:latin typeface="Calibri"/>
              <a:ea typeface="Calibri"/>
              <a:cs typeface="Calibri"/>
              <a:sym typeface="Calibri"/>
            </a:endParaRPr>
          </a:p>
        </p:txBody>
      </p:sp>
      <p:sp>
        <p:nvSpPr>
          <p:cNvPr id="768" name="Google Shape;768;p23"/>
          <p:cNvSpPr/>
          <p:nvPr/>
        </p:nvSpPr>
        <p:spPr>
          <a:xfrm>
            <a:off x="6610350" y="4000500"/>
            <a:ext cx="5264229"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Common framework: Use one standard as the foundation</a:t>
            </a:r>
            <a:endParaRPr sz="1200">
              <a:solidFill>
                <a:schemeClr val="dk1"/>
              </a:solidFill>
              <a:latin typeface="Calibri"/>
              <a:ea typeface="Calibri"/>
              <a:cs typeface="Calibri"/>
              <a:sym typeface="Calibri"/>
            </a:endParaRPr>
          </a:p>
        </p:txBody>
      </p:sp>
      <p:sp>
        <p:nvSpPr>
          <p:cNvPr id="769" name="Google Shape;769;p23"/>
          <p:cNvSpPr/>
          <p:nvPr/>
        </p:nvSpPr>
        <p:spPr>
          <a:xfrm>
            <a:off x="6610350" y="4305300"/>
            <a:ext cx="4422338"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Process alignment: Harmonize similar processes</a:t>
            </a:r>
            <a:endParaRPr sz="1200">
              <a:solidFill>
                <a:schemeClr val="dk1"/>
              </a:solidFill>
              <a:latin typeface="Calibri"/>
              <a:ea typeface="Calibri"/>
              <a:cs typeface="Calibri"/>
              <a:sym typeface="Calibri"/>
            </a:endParaRPr>
          </a:p>
        </p:txBody>
      </p:sp>
      <p:sp>
        <p:nvSpPr>
          <p:cNvPr id="770" name="Google Shape;770;p23"/>
          <p:cNvSpPr/>
          <p:nvPr/>
        </p:nvSpPr>
        <p:spPr>
          <a:xfrm>
            <a:off x="6610350" y="4610100"/>
            <a:ext cx="4888111"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Document integration: Share policies and procedures</a:t>
            </a:r>
            <a:endParaRPr sz="1200">
              <a:solidFill>
                <a:schemeClr val="dk1"/>
              </a:solidFill>
              <a:latin typeface="Calibri"/>
              <a:ea typeface="Calibri"/>
              <a:cs typeface="Calibri"/>
              <a:sym typeface="Calibri"/>
            </a:endParaRPr>
          </a:p>
        </p:txBody>
      </p:sp>
      <p:sp>
        <p:nvSpPr>
          <p:cNvPr id="771" name="Google Shape;771;p23"/>
          <p:cNvSpPr/>
          <p:nvPr/>
        </p:nvSpPr>
        <p:spPr>
          <a:xfrm>
            <a:off x="6610350" y="4914900"/>
            <a:ext cx="4905256"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Joint audits: Conduct combined management reviews</a:t>
            </a:r>
            <a:endParaRPr sz="1200">
              <a:solidFill>
                <a:schemeClr val="dk1"/>
              </a:solidFill>
              <a:latin typeface="Calibri"/>
              <a:ea typeface="Calibri"/>
              <a:cs typeface="Calibri"/>
              <a:sym typeface="Calibri"/>
            </a:endParaRPr>
          </a:p>
        </p:txBody>
      </p:sp>
      <p:sp>
        <p:nvSpPr>
          <p:cNvPr id="772" name="Google Shape;772;p23"/>
          <p:cNvSpPr/>
          <p:nvPr/>
        </p:nvSpPr>
        <p:spPr>
          <a:xfrm>
            <a:off x="8687098" y="6515100"/>
            <a:ext cx="393156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21/23</a:t>
            </a:r>
            <a:endParaRPr sz="105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pic>
        <p:nvPicPr>
          <p:cNvPr descr="preencoded.png" id="778" name="Google Shape;778;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779" name="Google Shape;779;p24"/>
          <p:cNvPicPr preferRelativeResize="0"/>
          <p:nvPr/>
        </p:nvPicPr>
        <p:blipFill rotWithShape="1">
          <a:blip r:embed="rId4">
            <a:alphaModFix/>
          </a:blip>
          <a:srcRect b="0" l="0" r="0" t="0"/>
          <a:stretch/>
        </p:blipFill>
        <p:spPr>
          <a:xfrm>
            <a:off x="381000" y="1485900"/>
            <a:ext cx="3657600" cy="1485900"/>
          </a:xfrm>
          <a:prstGeom prst="rect">
            <a:avLst/>
          </a:prstGeom>
          <a:noFill/>
          <a:ln>
            <a:noFill/>
          </a:ln>
        </p:spPr>
      </p:pic>
      <p:pic>
        <p:nvPicPr>
          <p:cNvPr descr="preencoded.png" id="780" name="Google Shape;780;p24"/>
          <p:cNvPicPr preferRelativeResize="0"/>
          <p:nvPr/>
        </p:nvPicPr>
        <p:blipFill rotWithShape="1">
          <a:blip r:embed="rId5">
            <a:alphaModFix/>
          </a:blip>
          <a:srcRect b="0" l="0" r="0" t="0"/>
          <a:stretch/>
        </p:blipFill>
        <p:spPr>
          <a:xfrm>
            <a:off x="571500" y="1676400"/>
            <a:ext cx="381000" cy="381000"/>
          </a:xfrm>
          <a:prstGeom prst="rect">
            <a:avLst/>
          </a:prstGeom>
          <a:noFill/>
          <a:ln>
            <a:noFill/>
          </a:ln>
        </p:spPr>
      </p:pic>
      <p:pic>
        <p:nvPicPr>
          <p:cNvPr descr="preencoded.png" id="781" name="Google Shape;781;p24"/>
          <p:cNvPicPr preferRelativeResize="0"/>
          <p:nvPr/>
        </p:nvPicPr>
        <p:blipFill rotWithShape="1">
          <a:blip r:embed="rId6">
            <a:alphaModFix/>
          </a:blip>
          <a:srcRect b="0" l="0" r="0" t="0"/>
          <a:stretch/>
        </p:blipFill>
        <p:spPr>
          <a:xfrm>
            <a:off x="690563" y="1733550"/>
            <a:ext cx="142875" cy="266700"/>
          </a:xfrm>
          <a:prstGeom prst="rect">
            <a:avLst/>
          </a:prstGeom>
          <a:noFill/>
          <a:ln>
            <a:noFill/>
          </a:ln>
        </p:spPr>
      </p:pic>
      <p:pic>
        <p:nvPicPr>
          <p:cNvPr descr="preencoded.png" id="782" name="Google Shape;782;p24"/>
          <p:cNvPicPr preferRelativeResize="0"/>
          <p:nvPr/>
        </p:nvPicPr>
        <p:blipFill rotWithShape="1">
          <a:blip r:embed="rId4">
            <a:alphaModFix/>
          </a:blip>
          <a:srcRect b="0" l="0" r="0" t="0"/>
          <a:stretch/>
        </p:blipFill>
        <p:spPr>
          <a:xfrm>
            <a:off x="4267200" y="1485900"/>
            <a:ext cx="3657600" cy="1485900"/>
          </a:xfrm>
          <a:prstGeom prst="rect">
            <a:avLst/>
          </a:prstGeom>
          <a:noFill/>
          <a:ln>
            <a:noFill/>
          </a:ln>
        </p:spPr>
      </p:pic>
      <p:pic>
        <p:nvPicPr>
          <p:cNvPr descr="preencoded.png" id="783" name="Google Shape;783;p24"/>
          <p:cNvPicPr preferRelativeResize="0"/>
          <p:nvPr/>
        </p:nvPicPr>
        <p:blipFill rotWithShape="1">
          <a:blip r:embed="rId7">
            <a:alphaModFix/>
          </a:blip>
          <a:srcRect b="0" l="0" r="0" t="0"/>
          <a:stretch/>
        </p:blipFill>
        <p:spPr>
          <a:xfrm>
            <a:off x="4457700" y="1676400"/>
            <a:ext cx="381000" cy="381000"/>
          </a:xfrm>
          <a:prstGeom prst="rect">
            <a:avLst/>
          </a:prstGeom>
          <a:noFill/>
          <a:ln>
            <a:noFill/>
          </a:ln>
        </p:spPr>
      </p:pic>
      <p:pic>
        <p:nvPicPr>
          <p:cNvPr descr="preencoded.png" id="784" name="Google Shape;784;p24"/>
          <p:cNvPicPr preferRelativeResize="0"/>
          <p:nvPr/>
        </p:nvPicPr>
        <p:blipFill rotWithShape="1">
          <a:blip r:embed="rId8">
            <a:alphaModFix/>
          </a:blip>
          <a:srcRect b="0" l="0" r="0" t="0"/>
          <a:stretch/>
        </p:blipFill>
        <p:spPr>
          <a:xfrm>
            <a:off x="4552950" y="1733550"/>
            <a:ext cx="190500" cy="266700"/>
          </a:xfrm>
          <a:prstGeom prst="rect">
            <a:avLst/>
          </a:prstGeom>
          <a:noFill/>
          <a:ln>
            <a:noFill/>
          </a:ln>
        </p:spPr>
      </p:pic>
      <p:pic>
        <p:nvPicPr>
          <p:cNvPr descr="preencoded.png" id="785" name="Google Shape;785;p24"/>
          <p:cNvPicPr preferRelativeResize="0"/>
          <p:nvPr/>
        </p:nvPicPr>
        <p:blipFill rotWithShape="1">
          <a:blip r:embed="rId4">
            <a:alphaModFix/>
          </a:blip>
          <a:srcRect b="0" l="0" r="0" t="0"/>
          <a:stretch/>
        </p:blipFill>
        <p:spPr>
          <a:xfrm>
            <a:off x="8153400" y="1485900"/>
            <a:ext cx="3657600" cy="1485900"/>
          </a:xfrm>
          <a:prstGeom prst="rect">
            <a:avLst/>
          </a:prstGeom>
          <a:noFill/>
          <a:ln>
            <a:noFill/>
          </a:ln>
        </p:spPr>
      </p:pic>
      <p:pic>
        <p:nvPicPr>
          <p:cNvPr descr="preencoded.png" id="786" name="Google Shape;786;p24"/>
          <p:cNvPicPr preferRelativeResize="0"/>
          <p:nvPr/>
        </p:nvPicPr>
        <p:blipFill rotWithShape="1">
          <a:blip r:embed="rId9">
            <a:alphaModFix/>
          </a:blip>
          <a:srcRect b="0" l="0" r="0" t="0"/>
          <a:stretch/>
        </p:blipFill>
        <p:spPr>
          <a:xfrm>
            <a:off x="8343900" y="1752600"/>
            <a:ext cx="367010" cy="381000"/>
          </a:xfrm>
          <a:prstGeom prst="rect">
            <a:avLst/>
          </a:prstGeom>
          <a:noFill/>
          <a:ln>
            <a:noFill/>
          </a:ln>
        </p:spPr>
      </p:pic>
      <p:pic>
        <p:nvPicPr>
          <p:cNvPr descr="preencoded.png" id="787" name="Google Shape;787;p24"/>
          <p:cNvPicPr preferRelativeResize="0"/>
          <p:nvPr/>
        </p:nvPicPr>
        <p:blipFill rotWithShape="1">
          <a:blip r:embed="rId10">
            <a:alphaModFix/>
          </a:blip>
          <a:srcRect b="0" l="0" r="0" t="0"/>
          <a:stretch/>
        </p:blipFill>
        <p:spPr>
          <a:xfrm>
            <a:off x="8408343" y="1809750"/>
            <a:ext cx="238125" cy="266700"/>
          </a:xfrm>
          <a:prstGeom prst="rect">
            <a:avLst/>
          </a:prstGeom>
          <a:noFill/>
          <a:ln>
            <a:noFill/>
          </a:ln>
        </p:spPr>
      </p:pic>
      <p:pic>
        <p:nvPicPr>
          <p:cNvPr descr="preencoded.png" id="788" name="Google Shape;788;p24"/>
          <p:cNvPicPr preferRelativeResize="0"/>
          <p:nvPr/>
        </p:nvPicPr>
        <p:blipFill rotWithShape="1">
          <a:blip r:embed="rId11">
            <a:alphaModFix/>
          </a:blip>
          <a:srcRect b="0" l="0" r="0" t="0"/>
          <a:stretch/>
        </p:blipFill>
        <p:spPr>
          <a:xfrm>
            <a:off x="381000" y="3200400"/>
            <a:ext cx="3657600" cy="1485900"/>
          </a:xfrm>
          <a:prstGeom prst="rect">
            <a:avLst/>
          </a:prstGeom>
          <a:noFill/>
          <a:ln>
            <a:noFill/>
          </a:ln>
        </p:spPr>
      </p:pic>
      <p:pic>
        <p:nvPicPr>
          <p:cNvPr descr="preencoded.png" id="789" name="Google Shape;789;p24"/>
          <p:cNvPicPr preferRelativeResize="0"/>
          <p:nvPr/>
        </p:nvPicPr>
        <p:blipFill rotWithShape="1">
          <a:blip r:embed="rId12">
            <a:alphaModFix/>
          </a:blip>
          <a:srcRect b="0" l="0" r="0" t="0"/>
          <a:stretch/>
        </p:blipFill>
        <p:spPr>
          <a:xfrm>
            <a:off x="571500" y="3467100"/>
            <a:ext cx="372666" cy="381000"/>
          </a:xfrm>
          <a:prstGeom prst="rect">
            <a:avLst/>
          </a:prstGeom>
          <a:noFill/>
          <a:ln>
            <a:noFill/>
          </a:ln>
        </p:spPr>
      </p:pic>
      <p:pic>
        <p:nvPicPr>
          <p:cNvPr descr="preencoded.png" id="790" name="Google Shape;790;p24"/>
          <p:cNvPicPr preferRelativeResize="0"/>
          <p:nvPr/>
        </p:nvPicPr>
        <p:blipFill rotWithShape="1">
          <a:blip r:embed="rId13">
            <a:alphaModFix/>
          </a:blip>
          <a:srcRect b="0" l="0" r="0" t="0"/>
          <a:stretch/>
        </p:blipFill>
        <p:spPr>
          <a:xfrm>
            <a:off x="648295" y="3524250"/>
            <a:ext cx="219075" cy="266700"/>
          </a:xfrm>
          <a:prstGeom prst="rect">
            <a:avLst/>
          </a:prstGeom>
          <a:noFill/>
          <a:ln>
            <a:noFill/>
          </a:ln>
        </p:spPr>
      </p:pic>
      <p:pic>
        <p:nvPicPr>
          <p:cNvPr descr="preencoded.png" id="791" name="Google Shape;791;p24"/>
          <p:cNvPicPr preferRelativeResize="0"/>
          <p:nvPr/>
        </p:nvPicPr>
        <p:blipFill rotWithShape="1">
          <a:blip r:embed="rId14">
            <a:alphaModFix/>
          </a:blip>
          <a:srcRect b="0" l="0" r="0" t="0"/>
          <a:stretch/>
        </p:blipFill>
        <p:spPr>
          <a:xfrm>
            <a:off x="4267200" y="3200400"/>
            <a:ext cx="7543800" cy="1485900"/>
          </a:xfrm>
          <a:prstGeom prst="rect">
            <a:avLst/>
          </a:prstGeom>
          <a:noFill/>
          <a:ln>
            <a:noFill/>
          </a:ln>
        </p:spPr>
      </p:pic>
      <p:pic>
        <p:nvPicPr>
          <p:cNvPr descr="preencoded.png" id="792" name="Google Shape;792;p24"/>
          <p:cNvPicPr preferRelativeResize="0"/>
          <p:nvPr/>
        </p:nvPicPr>
        <p:blipFill rotWithShape="1">
          <a:blip r:embed="rId15">
            <a:alphaModFix/>
          </a:blip>
          <a:srcRect b="0" l="0" r="0" t="0"/>
          <a:stretch/>
        </p:blipFill>
        <p:spPr>
          <a:xfrm>
            <a:off x="4457700" y="3390900"/>
            <a:ext cx="381000" cy="381000"/>
          </a:xfrm>
          <a:prstGeom prst="rect">
            <a:avLst/>
          </a:prstGeom>
          <a:noFill/>
          <a:ln>
            <a:noFill/>
          </a:ln>
        </p:spPr>
      </p:pic>
      <p:pic>
        <p:nvPicPr>
          <p:cNvPr descr="preencoded.png" id="793" name="Google Shape;793;p24"/>
          <p:cNvPicPr preferRelativeResize="0"/>
          <p:nvPr/>
        </p:nvPicPr>
        <p:blipFill rotWithShape="1">
          <a:blip r:embed="rId16">
            <a:alphaModFix/>
          </a:blip>
          <a:srcRect b="0" l="0" r="0" t="0"/>
          <a:stretch/>
        </p:blipFill>
        <p:spPr>
          <a:xfrm>
            <a:off x="4538663" y="3448050"/>
            <a:ext cx="219075" cy="266700"/>
          </a:xfrm>
          <a:prstGeom prst="rect">
            <a:avLst/>
          </a:prstGeom>
          <a:noFill/>
          <a:ln>
            <a:noFill/>
          </a:ln>
        </p:spPr>
      </p:pic>
      <p:sp>
        <p:nvSpPr>
          <p:cNvPr id="794" name="Google Shape;794;p24"/>
          <p:cNvSpPr/>
          <p:nvPr/>
        </p:nvSpPr>
        <p:spPr>
          <a:xfrm>
            <a:off x="381000" y="381000"/>
            <a:ext cx="11430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Key Leadership Takeaways</a:t>
            </a:r>
            <a:endParaRPr sz="2700">
              <a:solidFill>
                <a:schemeClr val="dk1"/>
              </a:solidFill>
              <a:latin typeface="Calibri"/>
              <a:ea typeface="Calibri"/>
              <a:cs typeface="Calibri"/>
              <a:sym typeface="Calibri"/>
            </a:endParaRPr>
          </a:p>
        </p:txBody>
      </p:sp>
      <p:sp>
        <p:nvSpPr>
          <p:cNvPr id="795" name="Google Shape;795;p24"/>
          <p:cNvSpPr/>
          <p:nvPr/>
        </p:nvSpPr>
        <p:spPr>
          <a:xfrm>
            <a:off x="381000" y="838200"/>
            <a:ext cx="11430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Core principles for ISO Lead Implementers</a:t>
            </a:r>
            <a:endParaRPr sz="1500">
              <a:solidFill>
                <a:schemeClr val="dk1"/>
              </a:solidFill>
              <a:latin typeface="Calibri"/>
              <a:ea typeface="Calibri"/>
              <a:cs typeface="Calibri"/>
              <a:sym typeface="Calibri"/>
            </a:endParaRPr>
          </a:p>
        </p:txBody>
      </p:sp>
      <p:sp>
        <p:nvSpPr>
          <p:cNvPr id="796" name="Google Shape;796;p24"/>
          <p:cNvSpPr/>
          <p:nvPr/>
        </p:nvSpPr>
        <p:spPr>
          <a:xfrm>
            <a:off x="1066800" y="1733550"/>
            <a:ext cx="2925187"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Own the Audit Process</a:t>
            </a:r>
            <a:endParaRPr sz="1500">
              <a:solidFill>
                <a:schemeClr val="dk1"/>
              </a:solidFill>
              <a:latin typeface="Calibri"/>
              <a:ea typeface="Calibri"/>
              <a:cs typeface="Calibri"/>
              <a:sym typeface="Calibri"/>
            </a:endParaRPr>
          </a:p>
        </p:txBody>
      </p:sp>
      <p:sp>
        <p:nvSpPr>
          <p:cNvPr id="797" name="Google Shape;797;p24"/>
          <p:cNvSpPr/>
          <p:nvPr/>
        </p:nvSpPr>
        <p:spPr>
          <a:xfrm>
            <a:off x="571500" y="2171700"/>
            <a:ext cx="32766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Manage the entire audit program, not just participate in it.</a:t>
            </a:r>
            <a:endParaRPr sz="1200">
              <a:solidFill>
                <a:schemeClr val="dk1"/>
              </a:solidFill>
              <a:latin typeface="Calibri"/>
              <a:ea typeface="Calibri"/>
              <a:cs typeface="Calibri"/>
              <a:sym typeface="Calibri"/>
            </a:endParaRPr>
          </a:p>
        </p:txBody>
      </p:sp>
      <p:sp>
        <p:nvSpPr>
          <p:cNvPr id="798" name="Google Shape;798;p24"/>
          <p:cNvSpPr/>
          <p:nvPr/>
        </p:nvSpPr>
        <p:spPr>
          <a:xfrm>
            <a:off x="4953000" y="1733550"/>
            <a:ext cx="331791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Improvement is a Journey</a:t>
            </a:r>
            <a:endParaRPr sz="1500">
              <a:solidFill>
                <a:schemeClr val="dk1"/>
              </a:solidFill>
              <a:latin typeface="Calibri"/>
              <a:ea typeface="Calibri"/>
              <a:cs typeface="Calibri"/>
              <a:sym typeface="Calibri"/>
            </a:endParaRPr>
          </a:p>
        </p:txBody>
      </p:sp>
      <p:sp>
        <p:nvSpPr>
          <p:cNvPr id="799" name="Google Shape;799;p24"/>
          <p:cNvSpPr/>
          <p:nvPr/>
        </p:nvSpPr>
        <p:spPr>
          <a:xfrm>
            <a:off x="4457700" y="2171700"/>
            <a:ext cx="32766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Continual improvement requires constant attention and adaptation.</a:t>
            </a:r>
            <a:endParaRPr sz="1200">
              <a:solidFill>
                <a:schemeClr val="dk1"/>
              </a:solidFill>
              <a:latin typeface="Calibri"/>
              <a:ea typeface="Calibri"/>
              <a:cs typeface="Calibri"/>
              <a:sym typeface="Calibri"/>
            </a:endParaRPr>
          </a:p>
        </p:txBody>
      </p:sp>
      <p:sp>
        <p:nvSpPr>
          <p:cNvPr id="800" name="Google Shape;800;p24"/>
          <p:cNvSpPr/>
          <p:nvPr/>
        </p:nvSpPr>
        <p:spPr>
          <a:xfrm>
            <a:off x="8825210" y="1676400"/>
            <a:ext cx="2795290" cy="533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Communicate Strategically</a:t>
            </a:r>
            <a:endParaRPr sz="1500">
              <a:solidFill>
                <a:schemeClr val="dk1"/>
              </a:solidFill>
              <a:latin typeface="Calibri"/>
              <a:ea typeface="Calibri"/>
              <a:cs typeface="Calibri"/>
              <a:sym typeface="Calibri"/>
            </a:endParaRPr>
          </a:p>
        </p:txBody>
      </p:sp>
      <p:sp>
        <p:nvSpPr>
          <p:cNvPr id="801" name="Google Shape;801;p24"/>
          <p:cNvSpPr/>
          <p:nvPr/>
        </p:nvSpPr>
        <p:spPr>
          <a:xfrm>
            <a:off x="8343900" y="2324100"/>
            <a:ext cx="32766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Use management reviews for strategic dialogue with senior management.</a:t>
            </a:r>
            <a:endParaRPr sz="1200">
              <a:solidFill>
                <a:schemeClr val="dk1"/>
              </a:solidFill>
              <a:latin typeface="Calibri"/>
              <a:ea typeface="Calibri"/>
              <a:cs typeface="Calibri"/>
              <a:sym typeface="Calibri"/>
            </a:endParaRPr>
          </a:p>
        </p:txBody>
      </p:sp>
      <p:sp>
        <p:nvSpPr>
          <p:cNvPr id="802" name="Google Shape;802;p24"/>
          <p:cNvSpPr/>
          <p:nvPr/>
        </p:nvSpPr>
        <p:spPr>
          <a:xfrm>
            <a:off x="1058466" y="3390900"/>
            <a:ext cx="2789634" cy="533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Think Beyond Certification</a:t>
            </a:r>
            <a:endParaRPr sz="1500">
              <a:solidFill>
                <a:schemeClr val="dk1"/>
              </a:solidFill>
              <a:latin typeface="Calibri"/>
              <a:ea typeface="Calibri"/>
              <a:cs typeface="Calibri"/>
              <a:sym typeface="Calibri"/>
            </a:endParaRPr>
          </a:p>
        </p:txBody>
      </p:sp>
      <p:sp>
        <p:nvSpPr>
          <p:cNvPr id="803" name="Google Shape;803;p24"/>
          <p:cNvSpPr/>
          <p:nvPr/>
        </p:nvSpPr>
        <p:spPr>
          <a:xfrm>
            <a:off x="571500" y="4038600"/>
            <a:ext cx="32766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Foster a secure and resilient organization, not just meet requirements.</a:t>
            </a:r>
            <a:endParaRPr sz="1200">
              <a:solidFill>
                <a:schemeClr val="dk1"/>
              </a:solidFill>
              <a:latin typeface="Calibri"/>
              <a:ea typeface="Calibri"/>
              <a:cs typeface="Calibri"/>
              <a:sym typeface="Calibri"/>
            </a:endParaRPr>
          </a:p>
        </p:txBody>
      </p:sp>
      <p:sp>
        <p:nvSpPr>
          <p:cNvPr id="804" name="Google Shape;804;p24"/>
          <p:cNvSpPr/>
          <p:nvPr/>
        </p:nvSpPr>
        <p:spPr>
          <a:xfrm>
            <a:off x="4953000" y="3448050"/>
            <a:ext cx="2652117"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Never Stop Learning</a:t>
            </a:r>
            <a:endParaRPr sz="1500">
              <a:solidFill>
                <a:schemeClr val="dk1"/>
              </a:solidFill>
              <a:latin typeface="Calibri"/>
              <a:ea typeface="Calibri"/>
              <a:cs typeface="Calibri"/>
              <a:sym typeface="Calibri"/>
            </a:endParaRPr>
          </a:p>
        </p:txBody>
      </p:sp>
      <p:sp>
        <p:nvSpPr>
          <p:cNvPr id="805" name="Google Shape;805;p24"/>
          <p:cNvSpPr/>
          <p:nvPr/>
        </p:nvSpPr>
        <p:spPr>
          <a:xfrm>
            <a:off x="4457700" y="3886200"/>
            <a:ext cx="859536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Adapt to dynamic threats and technologies through lifelong learning.</a:t>
            </a:r>
            <a:endParaRPr sz="1200">
              <a:solidFill>
                <a:schemeClr val="dk1"/>
              </a:solidFill>
              <a:latin typeface="Calibri"/>
              <a:ea typeface="Calibri"/>
              <a:cs typeface="Calibri"/>
              <a:sym typeface="Calibri"/>
            </a:endParaRPr>
          </a:p>
        </p:txBody>
      </p:sp>
      <p:sp>
        <p:nvSpPr>
          <p:cNvPr id="806" name="Google Shape;806;p24"/>
          <p:cNvSpPr/>
          <p:nvPr/>
        </p:nvSpPr>
        <p:spPr>
          <a:xfrm>
            <a:off x="8687098" y="6515100"/>
            <a:ext cx="393156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22/23</a:t>
            </a:r>
            <a:endParaRPr sz="105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pic>
        <p:nvPicPr>
          <p:cNvPr descr="preencoded.png" id="812" name="Google Shape;812;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813" name="Google Shape;813;p25"/>
          <p:cNvPicPr preferRelativeResize="0"/>
          <p:nvPr/>
        </p:nvPicPr>
        <p:blipFill rotWithShape="1">
          <a:blip r:embed="rId4">
            <a:alphaModFix/>
          </a:blip>
          <a:srcRect b="0" l="0" r="0" t="0"/>
          <a:stretch/>
        </p:blipFill>
        <p:spPr>
          <a:xfrm>
            <a:off x="381000" y="1333500"/>
            <a:ext cx="5562600" cy="1295400"/>
          </a:xfrm>
          <a:prstGeom prst="rect">
            <a:avLst/>
          </a:prstGeom>
          <a:noFill/>
          <a:ln>
            <a:noFill/>
          </a:ln>
        </p:spPr>
      </p:pic>
      <p:pic>
        <p:nvPicPr>
          <p:cNvPr descr="preencoded.png" id="814" name="Google Shape;814;p25"/>
          <p:cNvPicPr preferRelativeResize="0"/>
          <p:nvPr/>
        </p:nvPicPr>
        <p:blipFill rotWithShape="1">
          <a:blip r:embed="rId5">
            <a:alphaModFix/>
          </a:blip>
          <a:srcRect b="0" l="0" r="0" t="0"/>
          <a:stretch/>
        </p:blipFill>
        <p:spPr>
          <a:xfrm>
            <a:off x="571500" y="1524000"/>
            <a:ext cx="381000" cy="381000"/>
          </a:xfrm>
          <a:prstGeom prst="rect">
            <a:avLst/>
          </a:prstGeom>
          <a:noFill/>
          <a:ln>
            <a:noFill/>
          </a:ln>
        </p:spPr>
      </p:pic>
      <p:pic>
        <p:nvPicPr>
          <p:cNvPr descr="preencoded.png" id="815" name="Google Shape;815;p25"/>
          <p:cNvPicPr preferRelativeResize="0"/>
          <p:nvPr/>
        </p:nvPicPr>
        <p:blipFill rotWithShape="1">
          <a:blip r:embed="rId6">
            <a:alphaModFix/>
          </a:blip>
          <a:srcRect b="0" l="0" r="0" t="0"/>
          <a:stretch/>
        </p:blipFill>
        <p:spPr>
          <a:xfrm>
            <a:off x="666750" y="1581150"/>
            <a:ext cx="190500" cy="266700"/>
          </a:xfrm>
          <a:prstGeom prst="rect">
            <a:avLst/>
          </a:prstGeom>
          <a:noFill/>
          <a:ln>
            <a:noFill/>
          </a:ln>
        </p:spPr>
      </p:pic>
      <p:pic>
        <p:nvPicPr>
          <p:cNvPr descr="preencoded.png" id="816" name="Google Shape;816;p25"/>
          <p:cNvPicPr preferRelativeResize="0"/>
          <p:nvPr/>
        </p:nvPicPr>
        <p:blipFill rotWithShape="1">
          <a:blip r:embed="rId4">
            <a:alphaModFix/>
          </a:blip>
          <a:srcRect b="0" l="0" r="0" t="0"/>
          <a:stretch/>
        </p:blipFill>
        <p:spPr>
          <a:xfrm>
            <a:off x="381000" y="2857500"/>
            <a:ext cx="5562600" cy="1295400"/>
          </a:xfrm>
          <a:prstGeom prst="rect">
            <a:avLst/>
          </a:prstGeom>
          <a:noFill/>
          <a:ln>
            <a:noFill/>
          </a:ln>
        </p:spPr>
      </p:pic>
      <p:pic>
        <p:nvPicPr>
          <p:cNvPr descr="preencoded.png" id="817" name="Google Shape;817;p25"/>
          <p:cNvPicPr preferRelativeResize="0"/>
          <p:nvPr/>
        </p:nvPicPr>
        <p:blipFill rotWithShape="1">
          <a:blip r:embed="rId7">
            <a:alphaModFix/>
          </a:blip>
          <a:srcRect b="0" l="0" r="0" t="0"/>
          <a:stretch/>
        </p:blipFill>
        <p:spPr>
          <a:xfrm>
            <a:off x="571500" y="3048000"/>
            <a:ext cx="381000" cy="381000"/>
          </a:xfrm>
          <a:prstGeom prst="rect">
            <a:avLst/>
          </a:prstGeom>
          <a:noFill/>
          <a:ln>
            <a:noFill/>
          </a:ln>
        </p:spPr>
      </p:pic>
      <p:pic>
        <p:nvPicPr>
          <p:cNvPr descr="preencoded.png" id="818" name="Google Shape;818;p25"/>
          <p:cNvPicPr preferRelativeResize="0"/>
          <p:nvPr/>
        </p:nvPicPr>
        <p:blipFill rotWithShape="1">
          <a:blip r:embed="rId8">
            <a:alphaModFix/>
          </a:blip>
          <a:srcRect b="0" l="0" r="0" t="0"/>
          <a:stretch/>
        </p:blipFill>
        <p:spPr>
          <a:xfrm>
            <a:off x="642938" y="3105150"/>
            <a:ext cx="238125" cy="266700"/>
          </a:xfrm>
          <a:prstGeom prst="rect">
            <a:avLst/>
          </a:prstGeom>
          <a:noFill/>
          <a:ln>
            <a:noFill/>
          </a:ln>
        </p:spPr>
      </p:pic>
      <p:pic>
        <p:nvPicPr>
          <p:cNvPr descr="preencoded.png" id="819" name="Google Shape;819;p25"/>
          <p:cNvPicPr preferRelativeResize="0"/>
          <p:nvPr/>
        </p:nvPicPr>
        <p:blipFill rotWithShape="1">
          <a:blip r:embed="rId4">
            <a:alphaModFix/>
          </a:blip>
          <a:srcRect b="0" l="0" r="0" t="0"/>
          <a:stretch/>
        </p:blipFill>
        <p:spPr>
          <a:xfrm>
            <a:off x="6248400" y="1333500"/>
            <a:ext cx="5562600" cy="1295400"/>
          </a:xfrm>
          <a:prstGeom prst="rect">
            <a:avLst/>
          </a:prstGeom>
          <a:noFill/>
          <a:ln>
            <a:noFill/>
          </a:ln>
        </p:spPr>
      </p:pic>
      <p:pic>
        <p:nvPicPr>
          <p:cNvPr descr="preencoded.png" id="820" name="Google Shape;820;p25"/>
          <p:cNvPicPr preferRelativeResize="0"/>
          <p:nvPr/>
        </p:nvPicPr>
        <p:blipFill rotWithShape="1">
          <a:blip r:embed="rId9">
            <a:alphaModFix/>
          </a:blip>
          <a:srcRect b="0" l="0" r="0" t="0"/>
          <a:stretch/>
        </p:blipFill>
        <p:spPr>
          <a:xfrm>
            <a:off x="6438900" y="1524000"/>
            <a:ext cx="381000" cy="381000"/>
          </a:xfrm>
          <a:prstGeom prst="rect">
            <a:avLst/>
          </a:prstGeom>
          <a:noFill/>
          <a:ln>
            <a:noFill/>
          </a:ln>
        </p:spPr>
      </p:pic>
      <p:pic>
        <p:nvPicPr>
          <p:cNvPr descr="preencoded.png" id="821" name="Google Shape;821;p25"/>
          <p:cNvPicPr preferRelativeResize="0"/>
          <p:nvPr/>
        </p:nvPicPr>
        <p:blipFill rotWithShape="1">
          <a:blip r:embed="rId10">
            <a:alphaModFix/>
          </a:blip>
          <a:srcRect b="0" l="0" r="0" t="0"/>
          <a:stretch/>
        </p:blipFill>
        <p:spPr>
          <a:xfrm>
            <a:off x="6510338" y="1581150"/>
            <a:ext cx="238125" cy="266700"/>
          </a:xfrm>
          <a:prstGeom prst="rect">
            <a:avLst/>
          </a:prstGeom>
          <a:noFill/>
          <a:ln>
            <a:noFill/>
          </a:ln>
        </p:spPr>
      </p:pic>
      <p:pic>
        <p:nvPicPr>
          <p:cNvPr descr="preencoded.png" id="822" name="Google Shape;822;p25"/>
          <p:cNvPicPr preferRelativeResize="0"/>
          <p:nvPr/>
        </p:nvPicPr>
        <p:blipFill rotWithShape="1">
          <a:blip r:embed="rId4">
            <a:alphaModFix/>
          </a:blip>
          <a:srcRect b="0" l="0" r="0" t="0"/>
          <a:stretch/>
        </p:blipFill>
        <p:spPr>
          <a:xfrm>
            <a:off x="6248400" y="2857500"/>
            <a:ext cx="5562600" cy="1295400"/>
          </a:xfrm>
          <a:prstGeom prst="rect">
            <a:avLst/>
          </a:prstGeom>
          <a:noFill/>
          <a:ln>
            <a:noFill/>
          </a:ln>
        </p:spPr>
      </p:pic>
      <p:pic>
        <p:nvPicPr>
          <p:cNvPr descr="preencoded.png" id="823" name="Google Shape;823;p25"/>
          <p:cNvPicPr preferRelativeResize="0"/>
          <p:nvPr/>
        </p:nvPicPr>
        <p:blipFill rotWithShape="1">
          <a:blip r:embed="rId11">
            <a:alphaModFix/>
          </a:blip>
          <a:srcRect b="0" l="0" r="0" t="0"/>
          <a:stretch/>
        </p:blipFill>
        <p:spPr>
          <a:xfrm>
            <a:off x="6438900" y="3048000"/>
            <a:ext cx="381000" cy="381000"/>
          </a:xfrm>
          <a:prstGeom prst="rect">
            <a:avLst/>
          </a:prstGeom>
          <a:noFill/>
          <a:ln>
            <a:noFill/>
          </a:ln>
        </p:spPr>
      </p:pic>
      <p:pic>
        <p:nvPicPr>
          <p:cNvPr descr="preencoded.png" id="824" name="Google Shape;824;p25"/>
          <p:cNvPicPr preferRelativeResize="0"/>
          <p:nvPr/>
        </p:nvPicPr>
        <p:blipFill rotWithShape="1">
          <a:blip r:embed="rId12">
            <a:alphaModFix/>
          </a:blip>
          <a:srcRect b="0" l="0" r="0" t="0"/>
          <a:stretch/>
        </p:blipFill>
        <p:spPr>
          <a:xfrm>
            <a:off x="6510338" y="3105150"/>
            <a:ext cx="238125" cy="266700"/>
          </a:xfrm>
          <a:prstGeom prst="rect">
            <a:avLst/>
          </a:prstGeom>
          <a:noFill/>
          <a:ln>
            <a:noFill/>
          </a:ln>
        </p:spPr>
      </p:pic>
      <p:pic>
        <p:nvPicPr>
          <p:cNvPr descr="preencoded.png" id="825" name="Google Shape;825;p25"/>
          <p:cNvPicPr preferRelativeResize="0"/>
          <p:nvPr/>
        </p:nvPicPr>
        <p:blipFill rotWithShape="1">
          <a:blip r:embed="rId13">
            <a:alphaModFix/>
          </a:blip>
          <a:srcRect b="0" l="0" r="0" t="0"/>
          <a:stretch/>
        </p:blipFill>
        <p:spPr>
          <a:xfrm>
            <a:off x="381000" y="4457700"/>
            <a:ext cx="11430000" cy="1028700"/>
          </a:xfrm>
          <a:prstGeom prst="rect">
            <a:avLst/>
          </a:prstGeom>
          <a:noFill/>
          <a:ln>
            <a:noFill/>
          </a:ln>
        </p:spPr>
      </p:pic>
      <p:pic>
        <p:nvPicPr>
          <p:cNvPr descr="preencoded.png" id="826" name="Google Shape;826;p25"/>
          <p:cNvPicPr preferRelativeResize="0"/>
          <p:nvPr/>
        </p:nvPicPr>
        <p:blipFill rotWithShape="1">
          <a:blip r:embed="rId14">
            <a:alphaModFix/>
          </a:blip>
          <a:srcRect b="0" l="0" r="0" t="0"/>
          <a:stretch/>
        </p:blipFill>
        <p:spPr>
          <a:xfrm>
            <a:off x="609600" y="4781550"/>
            <a:ext cx="342900" cy="342900"/>
          </a:xfrm>
          <a:prstGeom prst="rect">
            <a:avLst/>
          </a:prstGeom>
          <a:noFill/>
          <a:ln>
            <a:noFill/>
          </a:ln>
        </p:spPr>
      </p:pic>
      <p:sp>
        <p:nvSpPr>
          <p:cNvPr id="827" name="Google Shape;827;p25"/>
          <p:cNvSpPr/>
          <p:nvPr/>
        </p:nvSpPr>
        <p:spPr>
          <a:xfrm>
            <a:off x="381000" y="381000"/>
            <a:ext cx="11430000" cy="381000"/>
          </a:xfrm>
          <a:prstGeom prst="rect">
            <a:avLst/>
          </a:prstGeom>
          <a:noFill/>
          <a:ln>
            <a:noFill/>
          </a:ln>
        </p:spPr>
        <p:txBody>
          <a:bodyPr anchorCtr="0" anchor="t" bIns="0" lIns="0" spcFirstLastPara="1" rIns="0" wrap="square" tIns="0">
            <a:noAutofit/>
          </a:bodyPr>
          <a:lstStyle/>
          <a:p>
            <a:pPr indent="0" lvl="0" marL="0" marR="0" rtl="0" algn="l">
              <a:lnSpc>
                <a:spcPct val="111111"/>
              </a:lnSpc>
              <a:spcBef>
                <a:spcPts val="0"/>
              </a:spcBef>
              <a:spcAft>
                <a:spcPts val="0"/>
              </a:spcAft>
              <a:buClr>
                <a:srgbClr val="008080"/>
              </a:buClr>
              <a:buSzPts val="2700"/>
              <a:buFont typeface="Arial"/>
              <a:buNone/>
            </a:pPr>
            <a:r>
              <a:rPr b="1" lang="en-US" sz="2700">
                <a:solidFill>
                  <a:srgbClr val="008080"/>
                </a:solidFill>
                <a:latin typeface="Arial"/>
                <a:ea typeface="Arial"/>
                <a:cs typeface="Arial"/>
                <a:sym typeface="Arial"/>
              </a:rPr>
              <a:t>Building Security Culture</a:t>
            </a:r>
            <a:endParaRPr sz="2700">
              <a:solidFill>
                <a:schemeClr val="dk1"/>
              </a:solidFill>
              <a:latin typeface="Calibri"/>
              <a:ea typeface="Calibri"/>
              <a:cs typeface="Calibri"/>
              <a:sym typeface="Calibri"/>
            </a:endParaRPr>
          </a:p>
        </p:txBody>
      </p:sp>
      <p:sp>
        <p:nvSpPr>
          <p:cNvPr id="828" name="Google Shape;828;p25"/>
          <p:cNvSpPr/>
          <p:nvPr/>
        </p:nvSpPr>
        <p:spPr>
          <a:xfrm>
            <a:off x="381000" y="838200"/>
            <a:ext cx="13716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Embedding continuous improvement for a secure, resilient enterprise</a:t>
            </a:r>
            <a:endParaRPr sz="1500">
              <a:solidFill>
                <a:schemeClr val="dk1"/>
              </a:solidFill>
              <a:latin typeface="Calibri"/>
              <a:ea typeface="Calibri"/>
              <a:cs typeface="Calibri"/>
              <a:sym typeface="Calibri"/>
            </a:endParaRPr>
          </a:p>
        </p:txBody>
      </p:sp>
      <p:sp>
        <p:nvSpPr>
          <p:cNvPr id="829" name="Google Shape;829;p25"/>
          <p:cNvSpPr/>
          <p:nvPr/>
        </p:nvSpPr>
        <p:spPr>
          <a:xfrm>
            <a:off x="1066800" y="1581150"/>
            <a:ext cx="3594199"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From Compliance to Culture</a:t>
            </a:r>
            <a:endParaRPr sz="1500">
              <a:solidFill>
                <a:schemeClr val="dk1"/>
              </a:solidFill>
              <a:latin typeface="Calibri"/>
              <a:ea typeface="Calibri"/>
              <a:cs typeface="Calibri"/>
              <a:sym typeface="Calibri"/>
            </a:endParaRPr>
          </a:p>
        </p:txBody>
      </p:sp>
      <p:sp>
        <p:nvSpPr>
          <p:cNvPr id="830" name="Google Shape;830;p25"/>
          <p:cNvSpPr/>
          <p:nvPr/>
        </p:nvSpPr>
        <p:spPr>
          <a:xfrm>
            <a:off x="571500" y="1981200"/>
            <a:ext cx="51816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Transform from mere certification focus to embedding security and improvement as core organizational values</a:t>
            </a:r>
            <a:endParaRPr sz="1200">
              <a:solidFill>
                <a:schemeClr val="dk1"/>
              </a:solidFill>
              <a:latin typeface="Calibri"/>
              <a:ea typeface="Calibri"/>
              <a:cs typeface="Calibri"/>
              <a:sym typeface="Calibri"/>
            </a:endParaRPr>
          </a:p>
        </p:txBody>
      </p:sp>
      <p:sp>
        <p:nvSpPr>
          <p:cNvPr id="831" name="Google Shape;831;p25"/>
          <p:cNvSpPr/>
          <p:nvPr/>
        </p:nvSpPr>
        <p:spPr>
          <a:xfrm>
            <a:off x="1066800" y="3105150"/>
            <a:ext cx="299216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Leadership by Example</a:t>
            </a:r>
            <a:endParaRPr sz="1500">
              <a:solidFill>
                <a:schemeClr val="dk1"/>
              </a:solidFill>
              <a:latin typeface="Calibri"/>
              <a:ea typeface="Calibri"/>
              <a:cs typeface="Calibri"/>
              <a:sym typeface="Calibri"/>
            </a:endParaRPr>
          </a:p>
        </p:txBody>
      </p:sp>
      <p:sp>
        <p:nvSpPr>
          <p:cNvPr id="832" name="Google Shape;832;p25"/>
          <p:cNvSpPr/>
          <p:nvPr/>
        </p:nvSpPr>
        <p:spPr>
          <a:xfrm>
            <a:off x="571500" y="3505200"/>
            <a:ext cx="51816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Demonstrate commitment to security culture through active participation and resource allocation</a:t>
            </a:r>
            <a:endParaRPr sz="1200">
              <a:solidFill>
                <a:schemeClr val="dk1"/>
              </a:solidFill>
              <a:latin typeface="Calibri"/>
              <a:ea typeface="Calibri"/>
              <a:cs typeface="Calibri"/>
              <a:sym typeface="Calibri"/>
            </a:endParaRPr>
          </a:p>
        </p:txBody>
      </p:sp>
      <p:sp>
        <p:nvSpPr>
          <p:cNvPr id="833" name="Google Shape;833;p25"/>
          <p:cNvSpPr/>
          <p:nvPr/>
        </p:nvSpPr>
        <p:spPr>
          <a:xfrm>
            <a:off x="6934200" y="1581150"/>
            <a:ext cx="267140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Continuous Learning</a:t>
            </a:r>
            <a:endParaRPr sz="1500">
              <a:solidFill>
                <a:schemeClr val="dk1"/>
              </a:solidFill>
              <a:latin typeface="Calibri"/>
              <a:ea typeface="Calibri"/>
              <a:cs typeface="Calibri"/>
              <a:sym typeface="Calibri"/>
            </a:endParaRPr>
          </a:p>
        </p:txBody>
      </p:sp>
      <p:sp>
        <p:nvSpPr>
          <p:cNvPr id="834" name="Google Shape;834;p25"/>
          <p:cNvSpPr/>
          <p:nvPr/>
        </p:nvSpPr>
        <p:spPr>
          <a:xfrm>
            <a:off x="6438900" y="1981200"/>
            <a:ext cx="51816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Foster environment where staying current with threats and technologies is valued and encouraged</a:t>
            </a:r>
            <a:endParaRPr sz="1200">
              <a:solidFill>
                <a:schemeClr val="dk1"/>
              </a:solidFill>
              <a:latin typeface="Calibri"/>
              <a:ea typeface="Calibri"/>
              <a:cs typeface="Calibri"/>
              <a:sym typeface="Calibri"/>
            </a:endParaRPr>
          </a:p>
        </p:txBody>
      </p:sp>
      <p:sp>
        <p:nvSpPr>
          <p:cNvPr id="835" name="Google Shape;835;p25"/>
          <p:cNvSpPr/>
          <p:nvPr/>
        </p:nvSpPr>
        <p:spPr>
          <a:xfrm>
            <a:off x="6934200" y="3105150"/>
            <a:ext cx="3134142"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Integration &amp; Alignment</a:t>
            </a:r>
            <a:endParaRPr sz="1500">
              <a:solidFill>
                <a:schemeClr val="dk1"/>
              </a:solidFill>
              <a:latin typeface="Calibri"/>
              <a:ea typeface="Calibri"/>
              <a:cs typeface="Calibri"/>
              <a:sym typeface="Calibri"/>
            </a:endParaRPr>
          </a:p>
        </p:txBody>
      </p:sp>
      <p:sp>
        <p:nvSpPr>
          <p:cNvPr id="836" name="Google Shape;836;p25"/>
          <p:cNvSpPr/>
          <p:nvPr/>
        </p:nvSpPr>
        <p:spPr>
          <a:xfrm>
            <a:off x="6438900" y="3505200"/>
            <a:ext cx="51816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Connect security efforts with business objectives and other management systems for cohesive approach</a:t>
            </a:r>
            <a:endParaRPr sz="1200">
              <a:solidFill>
                <a:schemeClr val="dk1"/>
              </a:solidFill>
              <a:latin typeface="Calibri"/>
              <a:ea typeface="Calibri"/>
              <a:cs typeface="Calibri"/>
              <a:sym typeface="Calibri"/>
            </a:endParaRPr>
          </a:p>
        </p:txBody>
      </p:sp>
      <p:sp>
        <p:nvSpPr>
          <p:cNvPr id="837" name="Google Shape;837;p25"/>
          <p:cNvSpPr/>
          <p:nvPr/>
        </p:nvSpPr>
        <p:spPr>
          <a:xfrm>
            <a:off x="1104900" y="4686300"/>
            <a:ext cx="979557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F2937"/>
              </a:buClr>
              <a:buSzPts val="1800"/>
              <a:buFont typeface="Arial"/>
              <a:buNone/>
            </a:pPr>
            <a:r>
              <a:rPr b="1" lang="en-US" sz="1800">
                <a:solidFill>
                  <a:srgbClr val="1F2937"/>
                </a:solidFill>
                <a:latin typeface="Arial"/>
                <a:ea typeface="Arial"/>
                <a:cs typeface="Arial"/>
                <a:sym typeface="Arial"/>
              </a:rPr>
              <a:t>Your Journey Continues</a:t>
            </a:r>
            <a:endParaRPr sz="1800">
              <a:solidFill>
                <a:schemeClr val="dk1"/>
              </a:solidFill>
              <a:latin typeface="Calibri"/>
              <a:ea typeface="Calibri"/>
              <a:cs typeface="Calibri"/>
              <a:sym typeface="Calibri"/>
            </a:endParaRPr>
          </a:p>
        </p:txBody>
      </p:sp>
      <p:sp>
        <p:nvSpPr>
          <p:cNvPr id="838" name="Google Shape;838;p25"/>
          <p:cNvSpPr/>
          <p:nvPr/>
        </p:nvSpPr>
        <p:spPr>
          <a:xfrm>
            <a:off x="1104900" y="5029200"/>
            <a:ext cx="11754683"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Building a secure, resilient enterprise is an ongoing journey. Your role as ISO Lead Implementer is crucial in navigating this path.</a:t>
            </a:r>
            <a:endParaRPr sz="1200">
              <a:solidFill>
                <a:schemeClr val="dk1"/>
              </a:solidFill>
              <a:latin typeface="Calibri"/>
              <a:ea typeface="Calibri"/>
              <a:cs typeface="Calibri"/>
              <a:sym typeface="Calibri"/>
            </a:endParaRPr>
          </a:p>
        </p:txBody>
      </p:sp>
      <p:sp>
        <p:nvSpPr>
          <p:cNvPr id="839" name="Google Shape;839;p25"/>
          <p:cNvSpPr/>
          <p:nvPr/>
        </p:nvSpPr>
        <p:spPr>
          <a:xfrm>
            <a:off x="8687098" y="6515100"/>
            <a:ext cx="3931563" cy="1905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4B5563"/>
              </a:buClr>
              <a:buSzPts val="1050"/>
              <a:buFont typeface="Arial"/>
              <a:buNone/>
            </a:pPr>
            <a:r>
              <a:rPr lang="en-US" sz="1050">
                <a:solidFill>
                  <a:srgbClr val="4B5563"/>
                </a:solidFill>
                <a:latin typeface="Arial"/>
                <a:ea typeface="Arial"/>
                <a:cs typeface="Arial"/>
                <a:sym typeface="Arial"/>
              </a:rPr>
              <a:t>ISO Lead Implementer Advanced Training | 23/23</a:t>
            </a:r>
            <a:endParaRPr sz="10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