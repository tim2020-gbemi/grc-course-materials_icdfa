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0054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023577"/>
          </a:xfrm>
          <a:prstGeom prst="rect">
            <a:avLst/>
          </a:prstGeom>
        </p:spPr>
      </p:pic>
      <p:sp>
        <p:nvSpPr>
          <p:cNvPr id="3" name="Shape 0"/>
          <p:cNvSpPr/>
          <p:nvPr/>
        </p:nvSpPr>
        <p:spPr>
          <a:xfrm>
            <a:off x="0" y="0"/>
            <a:ext cx="9144000" cy="307181"/>
          </a:xfrm>
          <a:prstGeom prst="rect">
            <a:avLst/>
          </a:prstGeom>
          <a:solidFill>
            <a:srgbClr val="0A1628"/>
          </a:solidFill>
          <a:ln/>
        </p:spPr>
      </p:sp>
      <p:sp>
        <p:nvSpPr>
          <p:cNvPr id="4" name="Shape 1"/>
          <p:cNvSpPr/>
          <p:nvPr/>
        </p:nvSpPr>
        <p:spPr>
          <a:xfrm>
            <a:off x="0" y="285750"/>
            <a:ext cx="9144000" cy="21431"/>
          </a:xfrm>
          <a:prstGeom prst="rect">
            <a:avLst/>
          </a:prstGeom>
          <a:solidFill>
            <a:srgbClr val="00D9FF"/>
          </a:solidFill>
          <a:ln/>
        </p:spPr>
      </p:sp>
      <p:sp>
        <p:nvSpPr>
          <p:cNvPr id="5" name="Text 2"/>
          <p:cNvSpPr/>
          <p:nvPr/>
        </p:nvSpPr>
        <p:spPr>
          <a:xfrm>
            <a:off x="285750" y="80367"/>
            <a:ext cx="1498932" cy="135731"/>
          </a:xfrm>
          <a:prstGeom prst="rect">
            <a:avLst/>
          </a:prstGeom>
          <a:noFill/>
          <a:ln/>
        </p:spPr>
        <p:txBody>
          <a:bodyPr wrap="none" lIns="0" tIns="0" rIns="0" bIns="0" rtlCol="0" anchor="t">
            <a:spAutoFit/>
          </a:bodyPr>
          <a:lstStyle/>
          <a:p>
            <a:pPr marL="0" indent="0" algn="l">
              <a:lnSpc>
                <a:spcPts val="1200"/>
              </a:lnSpc>
              <a:buNone/>
            </a:pPr>
            <a:r>
              <a:rPr lang="en-US" sz="683" b="1" kern="0" spc="1" dirty="0">
                <a:solidFill>
                  <a:srgbClr val="E8EDF2"/>
                </a:solidFill>
              </a:rPr>
              <a:t>ICDFA TRAINING PROGRAM</a:t>
            </a:r>
            <a:endParaRPr lang="en-US" sz="683" dirty="0"/>
          </a:p>
        </p:txBody>
      </p:sp>
      <p:sp>
        <p:nvSpPr>
          <p:cNvPr id="6" name="Text 3"/>
          <p:cNvSpPr/>
          <p:nvPr/>
        </p:nvSpPr>
        <p:spPr>
          <a:xfrm>
            <a:off x="357188" y="714375"/>
            <a:ext cx="4995569" cy="1009187"/>
          </a:xfrm>
          <a:prstGeom prst="rect">
            <a:avLst/>
          </a:prstGeom>
          <a:noFill/>
          <a:ln/>
        </p:spPr>
        <p:txBody>
          <a:bodyPr wrap="square" lIns="0" tIns="0" rIns="0" bIns="0" rtlCol="0" anchor="t">
            <a:spAutoFit/>
          </a:bodyPr>
          <a:lstStyle/>
          <a:p>
            <a:pPr marL="0" indent="0" algn="l">
              <a:lnSpc>
                <a:spcPts val="4000"/>
              </a:lnSpc>
              <a:buNone/>
            </a:pPr>
            <a:r>
              <a:rPr lang="en-US" sz="3294" b="1" kern="0" spc="2" dirty="0">
                <a:solidFill>
                  <a:srgbClr val="FF3B3F"/>
                </a:solidFill>
              </a:rPr>
              <a:t>INCIDENT RESPONSE PLANNING</a:t>
            </a:r>
            <a:endParaRPr lang="en-US" sz="3294" dirty="0"/>
          </a:p>
        </p:txBody>
      </p:sp>
      <p:sp>
        <p:nvSpPr>
          <p:cNvPr id="7" name="Shape 4"/>
          <p:cNvSpPr/>
          <p:nvPr/>
        </p:nvSpPr>
        <p:spPr>
          <a:xfrm>
            <a:off x="357188" y="2491483"/>
            <a:ext cx="4772025" cy="635794"/>
          </a:xfrm>
          <a:prstGeom prst="rect">
            <a:avLst/>
          </a:prstGeom>
          <a:solidFill>
            <a:srgbClr val="00D9FF">
              <a:alpha val="5000"/>
            </a:srgbClr>
          </a:solidFill>
          <a:ln w="18288">
            <a:solidFill>
              <a:srgbClr val="00D9FF"/>
            </a:solidFill>
            <a:prstDash val="solid"/>
          </a:ln>
        </p:spPr>
      </p:sp>
      <p:sp>
        <p:nvSpPr>
          <p:cNvPr id="8" name="Text 5"/>
          <p:cNvSpPr/>
          <p:nvPr/>
        </p:nvSpPr>
        <p:spPr>
          <a:xfrm>
            <a:off x="500063" y="2577208"/>
            <a:ext cx="4486275"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E8EDF2">
                    <a:alpha val="70000"/>
                  </a:srgbClr>
                </a:solidFill>
              </a:rPr>
              <a:t>COURSE CODE</a:t>
            </a:r>
            <a:endParaRPr lang="en-US" sz="727" dirty="0"/>
          </a:p>
        </p:txBody>
      </p:sp>
      <p:sp>
        <p:nvSpPr>
          <p:cNvPr id="9" name="Text 6"/>
          <p:cNvSpPr/>
          <p:nvPr/>
        </p:nvSpPr>
        <p:spPr>
          <a:xfrm>
            <a:off x="500063" y="2755802"/>
            <a:ext cx="4486275"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00D9FF"/>
                </a:solidFill>
              </a:rPr>
              <a:t>GRC105</a:t>
            </a:r>
            <a:endParaRPr lang="en-US" sz="1193" dirty="0"/>
          </a:p>
        </p:txBody>
      </p:sp>
      <p:sp>
        <p:nvSpPr>
          <p:cNvPr id="10" name="Shape 7"/>
          <p:cNvSpPr/>
          <p:nvPr/>
        </p:nvSpPr>
        <p:spPr>
          <a:xfrm>
            <a:off x="357188" y="3213002"/>
            <a:ext cx="4772025" cy="571500"/>
          </a:xfrm>
          <a:prstGeom prst="rect">
            <a:avLst/>
          </a:prstGeom>
          <a:solidFill>
            <a:srgbClr val="00D9FF">
              <a:alpha val="5000"/>
            </a:srgbClr>
          </a:solidFill>
          <a:ln w="18288">
            <a:solidFill>
              <a:srgbClr val="00D9FF"/>
            </a:solidFill>
            <a:prstDash val="solid"/>
          </a:ln>
        </p:spPr>
      </p:sp>
      <p:sp>
        <p:nvSpPr>
          <p:cNvPr id="11" name="Text 8"/>
          <p:cNvSpPr/>
          <p:nvPr/>
        </p:nvSpPr>
        <p:spPr>
          <a:xfrm>
            <a:off x="500063" y="3298727"/>
            <a:ext cx="4486275"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E8EDF2">
                    <a:alpha val="70000"/>
                  </a:srgbClr>
                </a:solidFill>
              </a:rPr>
              <a:t>MODULE</a:t>
            </a:r>
            <a:endParaRPr lang="en-US" sz="727" dirty="0"/>
          </a:p>
        </p:txBody>
      </p:sp>
      <p:sp>
        <p:nvSpPr>
          <p:cNvPr id="12" name="Text 9"/>
          <p:cNvSpPr/>
          <p:nvPr/>
        </p:nvSpPr>
        <p:spPr>
          <a:xfrm>
            <a:off x="500063" y="3477321"/>
            <a:ext cx="448627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E8EDF2"/>
                </a:solidFill>
              </a:rPr>
              <a:t>Incident Management and Business Continuity</a:t>
            </a:r>
            <a:endParaRPr lang="en-US" sz="885" dirty="0"/>
          </a:p>
        </p:txBody>
      </p:sp>
      <p:sp>
        <p:nvSpPr>
          <p:cNvPr id="13" name="Shape 10"/>
          <p:cNvSpPr/>
          <p:nvPr/>
        </p:nvSpPr>
        <p:spPr>
          <a:xfrm>
            <a:off x="357188" y="3870227"/>
            <a:ext cx="2328863" cy="678656"/>
          </a:xfrm>
          <a:prstGeom prst="rect">
            <a:avLst/>
          </a:prstGeom>
          <a:solidFill>
            <a:srgbClr val="00D9FF">
              <a:alpha val="5000"/>
            </a:srgbClr>
          </a:solidFill>
          <a:ln w="18288">
            <a:solidFill>
              <a:srgbClr val="00D9FF"/>
            </a:solidFill>
            <a:prstDash val="solid"/>
          </a:ln>
        </p:spPr>
      </p:sp>
      <p:sp>
        <p:nvSpPr>
          <p:cNvPr id="14" name="Text 11"/>
          <p:cNvSpPr/>
          <p:nvPr/>
        </p:nvSpPr>
        <p:spPr>
          <a:xfrm>
            <a:off x="500063" y="3955952"/>
            <a:ext cx="2043113"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E8EDF2">
                    <a:alpha val="70000"/>
                  </a:srgbClr>
                </a:solidFill>
              </a:rPr>
              <a:t>WEEK</a:t>
            </a:r>
            <a:endParaRPr lang="en-US" sz="727" dirty="0"/>
          </a:p>
        </p:txBody>
      </p:sp>
      <p:sp>
        <p:nvSpPr>
          <p:cNvPr id="15" name="Text 12"/>
          <p:cNvSpPr/>
          <p:nvPr/>
        </p:nvSpPr>
        <p:spPr>
          <a:xfrm>
            <a:off x="500063" y="4134546"/>
            <a:ext cx="2043113" cy="300038"/>
          </a:xfrm>
          <a:prstGeom prst="rect">
            <a:avLst/>
          </a:prstGeom>
          <a:noFill/>
          <a:ln/>
        </p:spPr>
        <p:txBody>
          <a:bodyPr wrap="none" lIns="0" tIns="0" rIns="0" bIns="0" rtlCol="0" anchor="t">
            <a:spAutoFit/>
          </a:bodyPr>
          <a:lstStyle/>
          <a:p>
            <a:pPr marL="0" indent="0" algn="l">
              <a:lnSpc>
                <a:spcPts val="2400"/>
              </a:lnSpc>
              <a:buNone/>
            </a:pPr>
            <a:r>
              <a:rPr lang="en-US" sz="1397" b="1" dirty="0">
                <a:solidFill>
                  <a:srgbClr val="FFB800"/>
                </a:solidFill>
              </a:rPr>
              <a:t>20</a:t>
            </a:r>
            <a:endParaRPr lang="en-US" sz="1397" dirty="0"/>
          </a:p>
        </p:txBody>
      </p:sp>
      <p:sp>
        <p:nvSpPr>
          <p:cNvPr id="16" name="Shape 13"/>
          <p:cNvSpPr/>
          <p:nvPr/>
        </p:nvSpPr>
        <p:spPr>
          <a:xfrm>
            <a:off x="2800350" y="3870227"/>
            <a:ext cx="2328863" cy="650081"/>
          </a:xfrm>
          <a:prstGeom prst="rect">
            <a:avLst/>
          </a:prstGeom>
          <a:solidFill>
            <a:srgbClr val="00D9FF">
              <a:alpha val="5000"/>
            </a:srgbClr>
          </a:solidFill>
          <a:ln w="18288">
            <a:solidFill>
              <a:srgbClr val="00D9FF"/>
            </a:solidFill>
            <a:prstDash val="solid"/>
          </a:ln>
        </p:spPr>
      </p:sp>
      <p:sp>
        <p:nvSpPr>
          <p:cNvPr id="17" name="Text 14"/>
          <p:cNvSpPr/>
          <p:nvPr/>
        </p:nvSpPr>
        <p:spPr>
          <a:xfrm>
            <a:off x="2943225" y="3955952"/>
            <a:ext cx="2043113"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E8EDF2">
                    <a:alpha val="70000"/>
                  </a:srgbClr>
                </a:solidFill>
              </a:rPr>
              <a:t>DURATION</a:t>
            </a:r>
            <a:endParaRPr lang="en-US" sz="727" dirty="0"/>
          </a:p>
        </p:txBody>
      </p:sp>
      <p:sp>
        <p:nvSpPr>
          <p:cNvPr id="18" name="Text 15"/>
          <p:cNvSpPr/>
          <p:nvPr/>
        </p:nvSpPr>
        <p:spPr>
          <a:xfrm>
            <a:off x="2943225" y="4134546"/>
            <a:ext cx="2043113"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E8EDF2"/>
                </a:solidFill>
              </a:rPr>
              <a:t>Dec 1-7</a:t>
            </a:r>
            <a:endParaRPr lang="en-US" sz="987" dirty="0"/>
          </a:p>
        </p:txBody>
      </p:sp>
      <p:sp>
        <p:nvSpPr>
          <p:cNvPr id="19" name="Text 16"/>
          <p:cNvSpPr/>
          <p:nvPr/>
        </p:nvSpPr>
        <p:spPr>
          <a:xfrm>
            <a:off x="357188" y="4793088"/>
            <a:ext cx="4772025"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E8EDF2"/>
                </a:solidFill>
              </a:rPr>
              <a:t>International Cybersecurity and Digital Forensics Academy</a:t>
            </a:r>
            <a:endParaRPr lang="en-US" sz="784" dirty="0"/>
          </a:p>
        </p:txBody>
      </p:sp>
      <p:sp>
        <p:nvSpPr>
          <p:cNvPr id="20" name="Text 17"/>
          <p:cNvSpPr/>
          <p:nvPr/>
        </p:nvSpPr>
        <p:spPr>
          <a:xfrm>
            <a:off x="357188" y="4993113"/>
            <a:ext cx="4772025"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E8EDF2">
                    <a:alpha val="70000"/>
                  </a:srgbClr>
                </a:solidFill>
              </a:rPr>
              <a:t>Governance, Compliance, and Risk Training Program</a:t>
            </a:r>
            <a:endParaRPr lang="en-US" sz="727" dirty="0"/>
          </a:p>
        </p:txBody>
      </p:sp>
      <p:pic>
        <p:nvPicPr>
          <p:cNvPr id="21" name="Image 1" descr="preencoded.png"/>
          <p:cNvPicPr>
            <a:picLocks noChangeAspect="1"/>
          </p:cNvPicPr>
          <p:nvPr/>
        </p:nvPicPr>
        <p:blipFill>
          <a:blip r:embed="rId4"/>
          <a:stretch>
            <a:fillRect/>
          </a:stretch>
        </p:blipFill>
        <p:spPr>
          <a:xfrm>
            <a:off x="5772150" y="1315148"/>
            <a:ext cx="3086100" cy="3571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772150"/>
          </a:xfrm>
          <a:prstGeom prst="rect">
            <a:avLst/>
          </a:prstGeom>
        </p:spPr>
      </p:pic>
      <p:sp>
        <p:nvSpPr>
          <p:cNvPr id="3" name="Text 0"/>
          <p:cNvSpPr/>
          <p:nvPr/>
        </p:nvSpPr>
        <p:spPr>
          <a:xfrm>
            <a:off x="571500" y="357188"/>
            <a:ext cx="8001000"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WEEK 20: LEARNING OBJECTIVES</a:t>
            </a:r>
            <a:endParaRPr lang="en-US" sz="1808" dirty="0"/>
          </a:p>
        </p:txBody>
      </p:sp>
      <p:sp>
        <p:nvSpPr>
          <p:cNvPr id="4" name="Shape 1"/>
          <p:cNvSpPr/>
          <p:nvPr/>
        </p:nvSpPr>
        <p:spPr>
          <a:xfrm>
            <a:off x="571500" y="1193006"/>
            <a:ext cx="8001000" cy="828675"/>
          </a:xfrm>
          <a:prstGeom prst="rect">
            <a:avLst/>
          </a:prstGeom>
          <a:solidFill>
            <a:srgbClr val="00D9FF">
              <a:alpha val="5000"/>
            </a:srgbClr>
          </a:solidFill>
          <a:ln w="18288">
            <a:solidFill>
              <a:srgbClr val="00D9FF"/>
            </a:solidFill>
            <a:prstDash val="solid"/>
          </a:ln>
        </p:spPr>
      </p:sp>
      <p:sp>
        <p:nvSpPr>
          <p:cNvPr id="5" name="Text 2"/>
          <p:cNvSpPr/>
          <p:nvPr/>
        </p:nvSpPr>
        <p:spPr>
          <a:xfrm>
            <a:off x="785813" y="1364456"/>
            <a:ext cx="428625" cy="342900"/>
          </a:xfrm>
          <a:prstGeom prst="rect">
            <a:avLst/>
          </a:prstGeom>
          <a:noFill/>
          <a:ln/>
        </p:spPr>
        <p:txBody>
          <a:bodyPr wrap="none" lIns="0" tIns="0" rIns="0" bIns="0" rtlCol="0" anchor="t">
            <a:spAutoFit/>
          </a:bodyPr>
          <a:lstStyle/>
          <a:p>
            <a:pPr marL="0" indent="0" algn="l">
              <a:lnSpc>
                <a:spcPts val="2700"/>
              </a:lnSpc>
              <a:buNone/>
            </a:pPr>
            <a:r>
              <a:rPr lang="en-US" sz="1602" b="1" dirty="0">
                <a:solidFill>
                  <a:srgbClr val="FFB800"/>
                </a:solidFill>
              </a:rPr>
              <a:t>01</a:t>
            </a:r>
            <a:endParaRPr lang="en-US" sz="1602" dirty="0"/>
          </a:p>
        </p:txBody>
      </p:sp>
      <p:sp>
        <p:nvSpPr>
          <p:cNvPr id="6" name="Text 3"/>
          <p:cNvSpPr/>
          <p:nvPr/>
        </p:nvSpPr>
        <p:spPr>
          <a:xfrm>
            <a:off x="1357313" y="1364456"/>
            <a:ext cx="7000875"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E8EDF2"/>
                </a:solidFill>
              </a:rPr>
              <a:t>Understand the fundamental principles and importance of incident response planning in organizational cybersecurity strategy</a:t>
            </a:r>
            <a:endParaRPr lang="en-US" sz="1050" dirty="0"/>
          </a:p>
        </p:txBody>
      </p:sp>
      <p:sp>
        <p:nvSpPr>
          <p:cNvPr id="7" name="Shape 4"/>
          <p:cNvSpPr/>
          <p:nvPr/>
        </p:nvSpPr>
        <p:spPr>
          <a:xfrm>
            <a:off x="571500" y="2164556"/>
            <a:ext cx="8001000" cy="714375"/>
          </a:xfrm>
          <a:prstGeom prst="rect">
            <a:avLst/>
          </a:prstGeom>
          <a:solidFill>
            <a:srgbClr val="00D9FF">
              <a:alpha val="5000"/>
            </a:srgbClr>
          </a:solidFill>
          <a:ln w="18288">
            <a:solidFill>
              <a:srgbClr val="00D9FF"/>
            </a:solidFill>
            <a:prstDash val="solid"/>
          </a:ln>
        </p:spPr>
      </p:sp>
      <p:sp>
        <p:nvSpPr>
          <p:cNvPr id="8" name="Text 5"/>
          <p:cNvSpPr/>
          <p:nvPr/>
        </p:nvSpPr>
        <p:spPr>
          <a:xfrm>
            <a:off x="785813" y="2336006"/>
            <a:ext cx="428625" cy="342900"/>
          </a:xfrm>
          <a:prstGeom prst="rect">
            <a:avLst/>
          </a:prstGeom>
          <a:noFill/>
          <a:ln/>
        </p:spPr>
        <p:txBody>
          <a:bodyPr wrap="none" lIns="0" tIns="0" rIns="0" bIns="0" rtlCol="0" anchor="t">
            <a:spAutoFit/>
          </a:bodyPr>
          <a:lstStyle/>
          <a:p>
            <a:pPr marL="0" indent="0" algn="l">
              <a:lnSpc>
                <a:spcPts val="2700"/>
              </a:lnSpc>
              <a:buNone/>
            </a:pPr>
            <a:r>
              <a:rPr lang="en-US" sz="1602" b="1" dirty="0">
                <a:solidFill>
                  <a:srgbClr val="FFB800"/>
                </a:solidFill>
              </a:rPr>
              <a:t>02</a:t>
            </a:r>
            <a:endParaRPr lang="en-US" sz="1602" dirty="0"/>
          </a:p>
        </p:txBody>
      </p:sp>
      <p:sp>
        <p:nvSpPr>
          <p:cNvPr id="9" name="Text 6"/>
          <p:cNvSpPr/>
          <p:nvPr/>
        </p:nvSpPr>
        <p:spPr>
          <a:xfrm>
            <a:off x="1357313" y="2336006"/>
            <a:ext cx="6773559" cy="228600"/>
          </a:xfrm>
          <a:prstGeom prst="rect">
            <a:avLst/>
          </a:prstGeom>
          <a:noFill/>
          <a:ln/>
        </p:spPr>
        <p:txBody>
          <a:bodyPr wrap="none" lIns="0" tIns="0" rIns="0" bIns="0" rtlCol="0" anchor="t">
            <a:spAutoFit/>
          </a:bodyPr>
          <a:lstStyle/>
          <a:p>
            <a:pPr marL="0" indent="0" algn="l">
              <a:lnSpc>
                <a:spcPts val="1800"/>
              </a:lnSpc>
              <a:buNone/>
            </a:pPr>
            <a:r>
              <a:rPr lang="en-US" sz="1050" dirty="0">
                <a:solidFill>
                  <a:srgbClr val="E8EDF2"/>
                </a:solidFill>
              </a:rPr>
              <a:t>Master the NIST SP 800-61r3 incident response lifecycle and apply each phase to real-world scenarios</a:t>
            </a:r>
            <a:endParaRPr lang="en-US" sz="1050" dirty="0"/>
          </a:p>
        </p:txBody>
      </p:sp>
      <p:sp>
        <p:nvSpPr>
          <p:cNvPr id="10" name="Shape 7"/>
          <p:cNvSpPr/>
          <p:nvPr/>
        </p:nvSpPr>
        <p:spPr>
          <a:xfrm>
            <a:off x="571500" y="3021806"/>
            <a:ext cx="8001000" cy="828675"/>
          </a:xfrm>
          <a:prstGeom prst="rect">
            <a:avLst/>
          </a:prstGeom>
          <a:solidFill>
            <a:srgbClr val="00D9FF">
              <a:alpha val="5000"/>
            </a:srgbClr>
          </a:solidFill>
          <a:ln w="18288">
            <a:solidFill>
              <a:srgbClr val="00D9FF"/>
            </a:solidFill>
            <a:prstDash val="solid"/>
          </a:ln>
        </p:spPr>
      </p:sp>
      <p:sp>
        <p:nvSpPr>
          <p:cNvPr id="11" name="Text 8"/>
          <p:cNvSpPr/>
          <p:nvPr/>
        </p:nvSpPr>
        <p:spPr>
          <a:xfrm>
            <a:off x="785813" y="3193256"/>
            <a:ext cx="428625" cy="342900"/>
          </a:xfrm>
          <a:prstGeom prst="rect">
            <a:avLst/>
          </a:prstGeom>
          <a:noFill/>
          <a:ln/>
        </p:spPr>
        <p:txBody>
          <a:bodyPr wrap="none" lIns="0" tIns="0" rIns="0" bIns="0" rtlCol="0" anchor="t">
            <a:spAutoFit/>
          </a:bodyPr>
          <a:lstStyle/>
          <a:p>
            <a:pPr marL="0" indent="0" algn="l">
              <a:lnSpc>
                <a:spcPts val="2700"/>
              </a:lnSpc>
              <a:buNone/>
            </a:pPr>
            <a:r>
              <a:rPr lang="en-US" sz="1602" b="1" dirty="0">
                <a:solidFill>
                  <a:srgbClr val="FFB800"/>
                </a:solidFill>
              </a:rPr>
              <a:t>03</a:t>
            </a:r>
            <a:endParaRPr lang="en-US" sz="1602" dirty="0"/>
          </a:p>
        </p:txBody>
      </p:sp>
      <p:sp>
        <p:nvSpPr>
          <p:cNvPr id="12" name="Text 9"/>
          <p:cNvSpPr/>
          <p:nvPr/>
        </p:nvSpPr>
        <p:spPr>
          <a:xfrm>
            <a:off x="1357313" y="3193256"/>
            <a:ext cx="7000875"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E8EDF2"/>
                </a:solidFill>
              </a:rPr>
              <a:t>Develop comprehensive incident response plans including team structure, roles, and communication protocols</a:t>
            </a:r>
            <a:endParaRPr lang="en-US" sz="1050" dirty="0"/>
          </a:p>
        </p:txBody>
      </p:sp>
      <p:sp>
        <p:nvSpPr>
          <p:cNvPr id="13" name="Shape 10"/>
          <p:cNvSpPr/>
          <p:nvPr/>
        </p:nvSpPr>
        <p:spPr>
          <a:xfrm>
            <a:off x="571500" y="3993356"/>
            <a:ext cx="8001000" cy="828675"/>
          </a:xfrm>
          <a:prstGeom prst="rect">
            <a:avLst/>
          </a:prstGeom>
          <a:solidFill>
            <a:srgbClr val="00D9FF">
              <a:alpha val="5000"/>
            </a:srgbClr>
          </a:solidFill>
          <a:ln w="18288">
            <a:solidFill>
              <a:srgbClr val="00D9FF"/>
            </a:solidFill>
            <a:prstDash val="solid"/>
          </a:ln>
        </p:spPr>
      </p:sp>
      <p:sp>
        <p:nvSpPr>
          <p:cNvPr id="14" name="Text 11"/>
          <p:cNvSpPr/>
          <p:nvPr/>
        </p:nvSpPr>
        <p:spPr>
          <a:xfrm>
            <a:off x="785813" y="4164806"/>
            <a:ext cx="428625" cy="342900"/>
          </a:xfrm>
          <a:prstGeom prst="rect">
            <a:avLst/>
          </a:prstGeom>
          <a:noFill/>
          <a:ln/>
        </p:spPr>
        <p:txBody>
          <a:bodyPr wrap="none" lIns="0" tIns="0" rIns="0" bIns="0" rtlCol="0" anchor="t">
            <a:spAutoFit/>
          </a:bodyPr>
          <a:lstStyle/>
          <a:p>
            <a:pPr marL="0" indent="0" algn="l">
              <a:lnSpc>
                <a:spcPts val="2700"/>
              </a:lnSpc>
              <a:buNone/>
            </a:pPr>
            <a:r>
              <a:rPr lang="en-US" sz="1602" b="1" dirty="0">
                <a:solidFill>
                  <a:srgbClr val="FFB800"/>
                </a:solidFill>
              </a:rPr>
              <a:t>04</a:t>
            </a:r>
            <a:endParaRPr lang="en-US" sz="1602" dirty="0"/>
          </a:p>
        </p:txBody>
      </p:sp>
      <p:sp>
        <p:nvSpPr>
          <p:cNvPr id="15" name="Text 12"/>
          <p:cNvSpPr/>
          <p:nvPr/>
        </p:nvSpPr>
        <p:spPr>
          <a:xfrm>
            <a:off x="1357313" y="4164806"/>
            <a:ext cx="7000875"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E8EDF2"/>
                </a:solidFill>
              </a:rPr>
              <a:t>Analyze case studies to identify best practices and lessons learned from actual incident response operations</a:t>
            </a:r>
            <a:endParaRPr lang="en-US" sz="1050" dirty="0"/>
          </a:p>
        </p:txBody>
      </p:sp>
      <p:sp>
        <p:nvSpPr>
          <p:cNvPr id="16" name="Text 13"/>
          <p:cNvSpPr/>
          <p:nvPr/>
        </p:nvSpPr>
        <p:spPr>
          <a:xfrm>
            <a:off x="3714778" y="5150644"/>
            <a:ext cx="1714444" cy="150019"/>
          </a:xfrm>
          <a:prstGeom prst="rect">
            <a:avLst/>
          </a:prstGeom>
          <a:noFill/>
          <a:ln/>
        </p:spPr>
        <p:txBody>
          <a:bodyPr wrap="none" lIns="0" tIns="0" rIns="0" bIns="0" rtlCol="0" anchor="t">
            <a:spAutoFit/>
          </a:bodyPr>
          <a:lstStyle/>
          <a:p>
            <a:pPr marL="0" indent="0" algn="l">
              <a:lnSpc>
                <a:spcPts val="1200"/>
              </a:lnSpc>
              <a:buNone/>
            </a:pPr>
            <a:r>
              <a:rPr lang="en-US" sz="727" kern="0" spc="1" dirty="0">
                <a:solidFill>
                  <a:srgbClr val="00D9FF"/>
                </a:solidFill>
              </a:rPr>
              <a:t>INCIDENT RESPONSE PLANNING</a:t>
            </a:r>
            <a:endParaRPr lang="en-US" sz="7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574916"/>
          </a:xfrm>
          <a:prstGeom prst="rect">
            <a:avLst/>
          </a:prstGeom>
        </p:spPr>
      </p:pic>
      <p:sp>
        <p:nvSpPr>
          <p:cNvPr id="3" name="Text 0"/>
          <p:cNvSpPr/>
          <p:nvPr/>
        </p:nvSpPr>
        <p:spPr>
          <a:xfrm>
            <a:off x="428625" y="285750"/>
            <a:ext cx="8286750"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WEEK 20: KEY TOPICS AND EXPECTATIONS</a:t>
            </a:r>
            <a:endParaRPr lang="en-US" sz="1808" dirty="0"/>
          </a:p>
        </p:txBody>
      </p:sp>
      <p:sp>
        <p:nvSpPr>
          <p:cNvPr id="4" name="Text 1"/>
          <p:cNvSpPr/>
          <p:nvPr/>
        </p:nvSpPr>
        <p:spPr>
          <a:xfrm>
            <a:off x="428625" y="978694"/>
            <a:ext cx="8286750" cy="285750"/>
          </a:xfrm>
          <a:prstGeom prst="rect">
            <a:avLst/>
          </a:prstGeom>
          <a:noFill/>
          <a:ln/>
        </p:spPr>
        <p:txBody>
          <a:bodyPr wrap="none" lIns="0" tIns="0" rIns="0" bIns="68072" rtlCol="0" anchor="t">
            <a:spAutoFit/>
          </a:bodyPr>
          <a:lstStyle/>
          <a:p>
            <a:pPr marL="0" indent="0" algn="l">
              <a:lnSpc>
                <a:spcPts val="1700"/>
              </a:lnSpc>
              <a:buNone/>
            </a:pPr>
            <a:r>
              <a:rPr lang="en-US" sz="987" b="1" kern="0" spc="1" dirty="0">
                <a:solidFill>
                  <a:srgbClr val="00D9FF"/>
                </a:solidFill>
              </a:rPr>
              <a:t>KEY TOPICS COVERED</a:t>
            </a:r>
            <a:endParaRPr lang="en-US" sz="987" dirty="0"/>
          </a:p>
        </p:txBody>
      </p:sp>
      <p:sp>
        <p:nvSpPr>
          <p:cNvPr id="5" name="Shape 2"/>
          <p:cNvSpPr/>
          <p:nvPr/>
        </p:nvSpPr>
        <p:spPr>
          <a:xfrm>
            <a:off x="428625" y="1393031"/>
            <a:ext cx="4093369" cy="964406"/>
          </a:xfrm>
          <a:prstGeom prst="rect">
            <a:avLst/>
          </a:prstGeom>
          <a:solidFill>
            <a:srgbClr val="00D9FF">
              <a:alpha val="5000"/>
            </a:srgbClr>
          </a:solidFill>
          <a:ln w="18288">
            <a:solidFill>
              <a:srgbClr val="00D9FF"/>
            </a:solidFill>
            <a:prstDash val="solid"/>
          </a:ln>
        </p:spPr>
      </p:sp>
      <p:sp>
        <p:nvSpPr>
          <p:cNvPr id="6" name="Text 3"/>
          <p:cNvSpPr/>
          <p:nvPr/>
        </p:nvSpPr>
        <p:spPr>
          <a:xfrm>
            <a:off x="571500" y="1521619"/>
            <a:ext cx="3807619"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00D9FF"/>
                </a:solidFill>
              </a:rPr>
              <a:t>Incident Response Frameworks</a:t>
            </a:r>
            <a:endParaRPr lang="en-US" sz="1090" dirty="0"/>
          </a:p>
        </p:txBody>
      </p:sp>
      <p:sp>
        <p:nvSpPr>
          <p:cNvPr id="7" name="Text 4"/>
          <p:cNvSpPr/>
          <p:nvPr/>
        </p:nvSpPr>
        <p:spPr>
          <a:xfrm>
            <a:off x="571500" y="1814513"/>
            <a:ext cx="3807619"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E8EDF2">
                    <a:alpha val="90000"/>
                  </a:srgbClr>
                </a:solidFill>
              </a:rPr>
              <a:t>NIST SP 800-61r3, SANS incident handling, ISO/IEC 27035 standards and methodologies</a:t>
            </a:r>
            <a:endParaRPr lang="en-US" sz="942" dirty="0"/>
          </a:p>
        </p:txBody>
      </p:sp>
      <p:sp>
        <p:nvSpPr>
          <p:cNvPr id="8" name="Shape 5"/>
          <p:cNvSpPr/>
          <p:nvPr/>
        </p:nvSpPr>
        <p:spPr>
          <a:xfrm>
            <a:off x="4622006" y="1393031"/>
            <a:ext cx="4093369" cy="964406"/>
          </a:xfrm>
          <a:prstGeom prst="rect">
            <a:avLst/>
          </a:prstGeom>
          <a:solidFill>
            <a:srgbClr val="00D9FF">
              <a:alpha val="5000"/>
            </a:srgbClr>
          </a:solidFill>
          <a:ln w="18288">
            <a:solidFill>
              <a:srgbClr val="00D9FF"/>
            </a:solidFill>
            <a:prstDash val="solid"/>
          </a:ln>
        </p:spPr>
      </p:sp>
      <p:sp>
        <p:nvSpPr>
          <p:cNvPr id="9" name="Text 6"/>
          <p:cNvSpPr/>
          <p:nvPr/>
        </p:nvSpPr>
        <p:spPr>
          <a:xfrm>
            <a:off x="4764881" y="1521619"/>
            <a:ext cx="3807619"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00D9FF"/>
                </a:solidFill>
              </a:rPr>
              <a:t>IR Plan Development</a:t>
            </a:r>
            <a:endParaRPr lang="en-US" sz="1090" dirty="0"/>
          </a:p>
        </p:txBody>
      </p:sp>
      <p:sp>
        <p:nvSpPr>
          <p:cNvPr id="10" name="Text 7"/>
          <p:cNvSpPr/>
          <p:nvPr/>
        </p:nvSpPr>
        <p:spPr>
          <a:xfrm>
            <a:off x="4764881" y="1814513"/>
            <a:ext cx="3807619"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E8EDF2">
                    <a:alpha val="90000"/>
                  </a:srgbClr>
                </a:solidFill>
              </a:rPr>
              <a:t>Policy creation, procedure documentation, playbook development, and resource allocation</a:t>
            </a:r>
            <a:endParaRPr lang="en-US" sz="942" dirty="0"/>
          </a:p>
        </p:txBody>
      </p:sp>
      <p:sp>
        <p:nvSpPr>
          <p:cNvPr id="11" name="Shape 8"/>
          <p:cNvSpPr/>
          <p:nvPr/>
        </p:nvSpPr>
        <p:spPr>
          <a:xfrm>
            <a:off x="428625" y="2428875"/>
            <a:ext cx="4093369" cy="964406"/>
          </a:xfrm>
          <a:prstGeom prst="rect">
            <a:avLst/>
          </a:prstGeom>
          <a:solidFill>
            <a:srgbClr val="00D9FF">
              <a:alpha val="5000"/>
            </a:srgbClr>
          </a:solidFill>
          <a:ln w="18288">
            <a:solidFill>
              <a:srgbClr val="00D9FF"/>
            </a:solidFill>
            <a:prstDash val="solid"/>
          </a:ln>
        </p:spPr>
      </p:sp>
      <p:sp>
        <p:nvSpPr>
          <p:cNvPr id="12" name="Text 9"/>
          <p:cNvSpPr/>
          <p:nvPr/>
        </p:nvSpPr>
        <p:spPr>
          <a:xfrm>
            <a:off x="571500" y="2557463"/>
            <a:ext cx="3807619"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00D9FF"/>
                </a:solidFill>
              </a:rPr>
              <a:t>Team Organization</a:t>
            </a:r>
            <a:endParaRPr lang="en-US" sz="1090" dirty="0"/>
          </a:p>
        </p:txBody>
      </p:sp>
      <p:sp>
        <p:nvSpPr>
          <p:cNvPr id="13" name="Text 10"/>
          <p:cNvSpPr/>
          <p:nvPr/>
        </p:nvSpPr>
        <p:spPr>
          <a:xfrm>
            <a:off x="571500" y="2850356"/>
            <a:ext cx="3807619"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E8EDF2">
                    <a:alpha val="90000"/>
                  </a:srgbClr>
                </a:solidFill>
              </a:rPr>
              <a:t>CSIRT structure, role definitions, RACI matrices, and stakeholder coordination</a:t>
            </a:r>
            <a:endParaRPr lang="en-US" sz="942" dirty="0"/>
          </a:p>
        </p:txBody>
      </p:sp>
      <p:sp>
        <p:nvSpPr>
          <p:cNvPr id="14" name="Shape 11"/>
          <p:cNvSpPr/>
          <p:nvPr/>
        </p:nvSpPr>
        <p:spPr>
          <a:xfrm>
            <a:off x="4622006" y="2428875"/>
            <a:ext cx="4093369" cy="964406"/>
          </a:xfrm>
          <a:prstGeom prst="rect">
            <a:avLst/>
          </a:prstGeom>
          <a:solidFill>
            <a:srgbClr val="00D9FF">
              <a:alpha val="5000"/>
            </a:srgbClr>
          </a:solidFill>
          <a:ln w="18288">
            <a:solidFill>
              <a:srgbClr val="00D9FF"/>
            </a:solidFill>
            <a:prstDash val="solid"/>
          </a:ln>
        </p:spPr>
      </p:sp>
      <p:sp>
        <p:nvSpPr>
          <p:cNvPr id="15" name="Text 12"/>
          <p:cNvSpPr/>
          <p:nvPr/>
        </p:nvSpPr>
        <p:spPr>
          <a:xfrm>
            <a:off x="4764881" y="2557463"/>
            <a:ext cx="3807619"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00D9FF"/>
                </a:solidFill>
              </a:rPr>
              <a:t>Practical Application</a:t>
            </a:r>
            <a:endParaRPr lang="en-US" sz="1090" dirty="0"/>
          </a:p>
        </p:txBody>
      </p:sp>
      <p:sp>
        <p:nvSpPr>
          <p:cNvPr id="16" name="Text 13"/>
          <p:cNvSpPr/>
          <p:nvPr/>
        </p:nvSpPr>
        <p:spPr>
          <a:xfrm>
            <a:off x="4764881" y="2850356"/>
            <a:ext cx="3807619"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E8EDF2">
                    <a:alpha val="90000"/>
                  </a:srgbClr>
                </a:solidFill>
              </a:rPr>
              <a:t>Real-world case studies, tabletop exercises, and hands-on scenario analysis</a:t>
            </a:r>
            <a:endParaRPr lang="en-US" sz="942" dirty="0"/>
          </a:p>
        </p:txBody>
      </p:sp>
      <p:sp>
        <p:nvSpPr>
          <p:cNvPr id="17" name="Shape 14"/>
          <p:cNvSpPr/>
          <p:nvPr/>
        </p:nvSpPr>
        <p:spPr>
          <a:xfrm>
            <a:off x="428625" y="3579019"/>
            <a:ext cx="8286750" cy="1288666"/>
          </a:xfrm>
          <a:prstGeom prst="rect">
            <a:avLst/>
          </a:prstGeom>
          <a:solidFill>
            <a:srgbClr val="FF3B3F">
              <a:alpha val="5000"/>
            </a:srgbClr>
          </a:solidFill>
          <a:ln w="18288">
            <a:solidFill>
              <a:srgbClr val="FF3B3F"/>
            </a:solidFill>
            <a:prstDash val="solid"/>
          </a:ln>
        </p:spPr>
      </p:sp>
      <p:sp>
        <p:nvSpPr>
          <p:cNvPr id="18" name="Text 15"/>
          <p:cNvSpPr/>
          <p:nvPr/>
        </p:nvSpPr>
        <p:spPr>
          <a:xfrm>
            <a:off x="628650" y="3750469"/>
            <a:ext cx="1915837" cy="214313"/>
          </a:xfrm>
          <a:prstGeom prst="rect">
            <a:avLst/>
          </a:prstGeom>
          <a:noFill/>
          <a:ln/>
        </p:spPr>
        <p:txBody>
          <a:bodyPr wrap="none" lIns="0" tIns="0" rIns="0" bIns="0" rtlCol="0" anchor="t">
            <a:spAutoFit/>
          </a:bodyPr>
          <a:lstStyle/>
          <a:p>
            <a:pPr marL="0" indent="0" algn="l">
              <a:lnSpc>
                <a:spcPts val="1700"/>
              </a:lnSpc>
              <a:buNone/>
            </a:pPr>
            <a:r>
              <a:rPr lang="en-US" sz="987" b="1" kern="0" spc="2" dirty="0">
                <a:solidFill>
                  <a:srgbClr val="FF3B3F"/>
                </a:solidFill>
              </a:rPr>
              <a:t>COURSE EXPECTATIONS</a:t>
            </a:r>
            <a:endParaRPr lang="en-US" sz="987" dirty="0"/>
          </a:p>
        </p:txBody>
      </p:sp>
      <p:sp>
        <p:nvSpPr>
          <p:cNvPr id="19" name="Text 16"/>
          <p:cNvSpPr/>
          <p:nvPr/>
        </p:nvSpPr>
        <p:spPr>
          <a:xfrm>
            <a:off x="628650" y="4050506"/>
            <a:ext cx="788670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E8EDF2"/>
                </a:solidFill>
              </a:rPr>
              <a:t>Students will engage in comprehensive study of incident response planning methodologies, participate in scenario-based exercises, and develop practical skills necessary for creating and implementing effective incident response programs in organizational settings.</a:t>
            </a:r>
            <a:endParaRPr lang="en-US" sz="942" dirty="0"/>
          </a:p>
        </p:txBody>
      </p:sp>
      <p:sp>
        <p:nvSpPr>
          <p:cNvPr id="20" name="Text 17"/>
          <p:cNvSpPr/>
          <p:nvPr/>
        </p:nvSpPr>
        <p:spPr>
          <a:xfrm>
            <a:off x="3714778" y="5053422"/>
            <a:ext cx="1714444" cy="150019"/>
          </a:xfrm>
          <a:prstGeom prst="rect">
            <a:avLst/>
          </a:prstGeom>
          <a:noFill/>
          <a:ln/>
        </p:spPr>
        <p:txBody>
          <a:bodyPr wrap="none" lIns="0" tIns="0" rIns="0" bIns="0" rtlCol="0" anchor="t">
            <a:spAutoFit/>
          </a:bodyPr>
          <a:lstStyle/>
          <a:p>
            <a:pPr marL="0" indent="0" algn="l">
              <a:lnSpc>
                <a:spcPts val="1200"/>
              </a:lnSpc>
              <a:buNone/>
            </a:pPr>
            <a:r>
              <a:rPr lang="en-US" sz="727" kern="0" spc="1" dirty="0">
                <a:solidFill>
                  <a:srgbClr val="00D9FF"/>
                </a:solidFill>
              </a:rPr>
              <a:t>INCIDENT RESPONSE PLANNING</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350557"/>
          </a:xfrm>
          <a:prstGeom prst="rect">
            <a:avLst/>
          </a:prstGeom>
        </p:spPr>
      </p:pic>
      <p:sp>
        <p:nvSpPr>
          <p:cNvPr id="3" name="Text 0"/>
          <p:cNvSpPr/>
          <p:nvPr/>
        </p:nvSpPr>
        <p:spPr>
          <a:xfrm>
            <a:off x="357188" y="178594"/>
            <a:ext cx="8429625"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UNDERSTANDING SECURITY INCIDENTS</a:t>
            </a:r>
            <a:endParaRPr lang="en-US" sz="1808" dirty="0"/>
          </a:p>
        </p:txBody>
      </p:sp>
      <p:sp>
        <p:nvSpPr>
          <p:cNvPr id="4" name="Shape 1"/>
          <p:cNvSpPr/>
          <p:nvPr/>
        </p:nvSpPr>
        <p:spPr>
          <a:xfrm>
            <a:off x="357188" y="785813"/>
            <a:ext cx="8429625" cy="878681"/>
          </a:xfrm>
          <a:prstGeom prst="rect">
            <a:avLst/>
          </a:prstGeom>
          <a:solidFill>
            <a:srgbClr val="00D9FF">
              <a:alpha val="5000"/>
            </a:srgbClr>
          </a:solidFill>
          <a:ln w="18288">
            <a:solidFill>
              <a:srgbClr val="00D9FF"/>
            </a:solidFill>
            <a:prstDash val="solid"/>
          </a:ln>
        </p:spPr>
      </p:sp>
      <p:sp>
        <p:nvSpPr>
          <p:cNvPr id="5" name="Text 2"/>
          <p:cNvSpPr/>
          <p:nvPr/>
        </p:nvSpPr>
        <p:spPr>
          <a:xfrm>
            <a:off x="471488" y="871538"/>
            <a:ext cx="8201025" cy="192881"/>
          </a:xfrm>
          <a:prstGeom prst="rect">
            <a:avLst/>
          </a:prstGeom>
          <a:noFill/>
          <a:ln/>
        </p:spPr>
        <p:txBody>
          <a:bodyPr wrap="none" lIns="0" tIns="0" rIns="0" bIns="0" rtlCol="0" anchor="t">
            <a:spAutoFit/>
          </a:bodyPr>
          <a:lstStyle/>
          <a:p>
            <a:pPr marL="0" indent="0" algn="l">
              <a:lnSpc>
                <a:spcPts val="1500"/>
              </a:lnSpc>
              <a:buNone/>
            </a:pPr>
            <a:r>
              <a:rPr lang="en-US" sz="885" b="1" kern="0" spc="1" dirty="0">
                <a:solidFill>
                  <a:srgbClr val="00D9FF"/>
                </a:solidFill>
              </a:rPr>
              <a:t>SECURITY INCIDENT DEFINITION</a:t>
            </a:r>
            <a:endParaRPr lang="en-US" sz="885" dirty="0"/>
          </a:p>
        </p:txBody>
      </p:sp>
      <p:sp>
        <p:nvSpPr>
          <p:cNvPr id="6" name="Text 3"/>
          <p:cNvSpPr/>
          <p:nvPr/>
        </p:nvSpPr>
        <p:spPr>
          <a:xfrm>
            <a:off x="471488" y="1121569"/>
            <a:ext cx="8201025"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E8EDF2"/>
                </a:solidFill>
              </a:rPr>
              <a:t>A security incident is any event that compromises the confidentiality, integrity, or availability of information assets, or violates security policies, procedures, or acceptable use guidelines.</a:t>
            </a:r>
            <a:endParaRPr lang="en-US" sz="1050" dirty="0"/>
          </a:p>
        </p:txBody>
      </p:sp>
      <p:sp>
        <p:nvSpPr>
          <p:cNvPr id="7" name="Shape 4"/>
          <p:cNvSpPr/>
          <p:nvPr/>
        </p:nvSpPr>
        <p:spPr>
          <a:xfrm>
            <a:off x="357188" y="1743075"/>
            <a:ext cx="8429625" cy="271463"/>
          </a:xfrm>
          <a:prstGeom prst="rect">
            <a:avLst/>
          </a:prstGeom>
          <a:solidFill>
            <a:srgbClr val="000000">
              <a:alpha val="0"/>
            </a:srgbClr>
          </a:solidFill>
          <a:ln/>
        </p:spPr>
      </p:sp>
      <p:sp>
        <p:nvSpPr>
          <p:cNvPr id="8" name="Shape 5"/>
          <p:cNvSpPr/>
          <p:nvPr/>
        </p:nvSpPr>
        <p:spPr>
          <a:xfrm>
            <a:off x="357188" y="2000250"/>
            <a:ext cx="8429625" cy="14288"/>
          </a:xfrm>
          <a:prstGeom prst="rect">
            <a:avLst/>
          </a:prstGeom>
          <a:solidFill>
            <a:srgbClr val="FFB800"/>
          </a:solidFill>
          <a:ln/>
        </p:spPr>
      </p:sp>
      <p:sp>
        <p:nvSpPr>
          <p:cNvPr id="9" name="Text 6"/>
          <p:cNvSpPr/>
          <p:nvPr/>
        </p:nvSpPr>
        <p:spPr>
          <a:xfrm>
            <a:off x="357188" y="1743075"/>
            <a:ext cx="8429625" cy="271463"/>
          </a:xfrm>
          <a:prstGeom prst="rect">
            <a:avLst/>
          </a:prstGeom>
          <a:noFill/>
          <a:ln/>
        </p:spPr>
        <p:txBody>
          <a:bodyPr wrap="none" lIns="0" tIns="0" rIns="0" bIns="51054" rtlCol="0" anchor="t">
            <a:spAutoFit/>
          </a:bodyPr>
          <a:lstStyle/>
          <a:p>
            <a:pPr marL="0" indent="0" algn="l">
              <a:lnSpc>
                <a:spcPts val="1700"/>
              </a:lnSpc>
              <a:buNone/>
            </a:pPr>
            <a:r>
              <a:rPr lang="en-US" sz="987" b="1" kern="0" spc="1" dirty="0">
                <a:solidFill>
                  <a:srgbClr val="FFB800"/>
                </a:solidFill>
              </a:rPr>
              <a:t>COMMON INCIDENT TYPES</a:t>
            </a:r>
            <a:endParaRPr lang="en-US" sz="987" dirty="0"/>
          </a:p>
        </p:txBody>
      </p:sp>
      <p:sp>
        <p:nvSpPr>
          <p:cNvPr id="10" name="Shape 7"/>
          <p:cNvSpPr/>
          <p:nvPr/>
        </p:nvSpPr>
        <p:spPr>
          <a:xfrm>
            <a:off x="357188" y="2085975"/>
            <a:ext cx="8429625" cy="562905"/>
          </a:xfrm>
          <a:prstGeom prst="rect">
            <a:avLst/>
          </a:prstGeom>
          <a:solidFill>
            <a:srgbClr val="FF3B3F">
              <a:alpha val="5000"/>
            </a:srgbClr>
          </a:solidFill>
          <a:ln w="18288">
            <a:solidFill>
              <a:srgbClr val="FF3B3F"/>
            </a:solidFill>
            <a:prstDash val="solid"/>
          </a:ln>
        </p:spPr>
      </p:sp>
      <p:sp>
        <p:nvSpPr>
          <p:cNvPr id="11" name="Text 8"/>
          <p:cNvSpPr/>
          <p:nvPr/>
        </p:nvSpPr>
        <p:spPr>
          <a:xfrm>
            <a:off x="457200" y="2157413"/>
            <a:ext cx="122481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3B3F"/>
                </a:solidFill>
              </a:rPr>
              <a:t>MALWARE ATTACKS</a:t>
            </a:r>
            <a:endParaRPr lang="en-US" sz="885" dirty="0"/>
          </a:p>
        </p:txBody>
      </p:sp>
      <p:sp>
        <p:nvSpPr>
          <p:cNvPr id="12" name="Text 9"/>
          <p:cNvSpPr/>
          <p:nvPr/>
        </p:nvSpPr>
        <p:spPr>
          <a:xfrm>
            <a:off x="8441345" y="2184202"/>
            <a:ext cx="245455"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FFB800"/>
                </a:solidFill>
              </a:rPr>
              <a:t>HIGH</a:t>
            </a:r>
            <a:endParaRPr lang="en-US" sz="634" dirty="0"/>
          </a:p>
        </p:txBody>
      </p:sp>
      <p:sp>
        <p:nvSpPr>
          <p:cNvPr id="13" name="Text 10"/>
          <p:cNvSpPr/>
          <p:nvPr/>
        </p:nvSpPr>
        <p:spPr>
          <a:xfrm>
            <a:off x="457200" y="2378869"/>
            <a:ext cx="8229600"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E8EDF2"/>
                </a:solidFill>
              </a:rPr>
              <a:t>Malicious software including viruses, trojans, worms, and spyware designed to damage or gain unauthorized access to systems</a:t>
            </a:r>
            <a:endParaRPr lang="en-US" sz="888" dirty="0"/>
          </a:p>
        </p:txBody>
      </p:sp>
      <p:sp>
        <p:nvSpPr>
          <p:cNvPr id="14" name="Shape 11"/>
          <p:cNvSpPr/>
          <p:nvPr/>
        </p:nvSpPr>
        <p:spPr>
          <a:xfrm>
            <a:off x="357188" y="2677455"/>
            <a:ext cx="8429625" cy="562905"/>
          </a:xfrm>
          <a:prstGeom prst="rect">
            <a:avLst/>
          </a:prstGeom>
          <a:solidFill>
            <a:srgbClr val="FF3B3F">
              <a:alpha val="5000"/>
            </a:srgbClr>
          </a:solidFill>
          <a:ln w="18288">
            <a:solidFill>
              <a:srgbClr val="FF3B3F"/>
            </a:solidFill>
            <a:prstDash val="solid"/>
          </a:ln>
        </p:spPr>
      </p:sp>
      <p:sp>
        <p:nvSpPr>
          <p:cNvPr id="15" name="Text 12"/>
          <p:cNvSpPr/>
          <p:nvPr/>
        </p:nvSpPr>
        <p:spPr>
          <a:xfrm>
            <a:off x="457200" y="2748893"/>
            <a:ext cx="937422"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3B3F"/>
                </a:solidFill>
              </a:rPr>
              <a:t>RANSOMWARE</a:t>
            </a:r>
            <a:endParaRPr lang="en-US" sz="885" dirty="0"/>
          </a:p>
        </p:txBody>
      </p:sp>
      <p:sp>
        <p:nvSpPr>
          <p:cNvPr id="16" name="Text 13"/>
          <p:cNvSpPr/>
          <p:nvPr/>
        </p:nvSpPr>
        <p:spPr>
          <a:xfrm>
            <a:off x="8264593" y="2775682"/>
            <a:ext cx="422207"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FFB800"/>
                </a:solidFill>
              </a:rPr>
              <a:t>CRITICAL</a:t>
            </a:r>
            <a:endParaRPr lang="en-US" sz="634" dirty="0"/>
          </a:p>
        </p:txBody>
      </p:sp>
      <p:sp>
        <p:nvSpPr>
          <p:cNvPr id="17" name="Text 14"/>
          <p:cNvSpPr/>
          <p:nvPr/>
        </p:nvSpPr>
        <p:spPr>
          <a:xfrm>
            <a:off x="457200" y="2970349"/>
            <a:ext cx="8229600"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E8EDF2"/>
                </a:solidFill>
              </a:rPr>
              <a:t>Encryption-based attacks that hold data hostage until ransom payment is made, causing operational disruption</a:t>
            </a:r>
            <a:endParaRPr lang="en-US" sz="888" dirty="0"/>
          </a:p>
        </p:txBody>
      </p:sp>
      <p:sp>
        <p:nvSpPr>
          <p:cNvPr id="18" name="Shape 15"/>
          <p:cNvSpPr/>
          <p:nvPr/>
        </p:nvSpPr>
        <p:spPr>
          <a:xfrm>
            <a:off x="357188" y="3268935"/>
            <a:ext cx="8429625" cy="562905"/>
          </a:xfrm>
          <a:prstGeom prst="rect">
            <a:avLst/>
          </a:prstGeom>
          <a:solidFill>
            <a:srgbClr val="FF3B3F">
              <a:alpha val="5000"/>
            </a:srgbClr>
          </a:solidFill>
          <a:ln w="18288">
            <a:solidFill>
              <a:srgbClr val="FF3B3F"/>
            </a:solidFill>
            <a:prstDash val="solid"/>
          </a:ln>
        </p:spPr>
      </p:sp>
      <p:sp>
        <p:nvSpPr>
          <p:cNvPr id="19" name="Text 16"/>
          <p:cNvSpPr/>
          <p:nvPr/>
        </p:nvSpPr>
        <p:spPr>
          <a:xfrm>
            <a:off x="457200" y="3340373"/>
            <a:ext cx="101251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3B3F"/>
                </a:solidFill>
              </a:rPr>
              <a:t>DATA BREACHES</a:t>
            </a:r>
            <a:endParaRPr lang="en-US" sz="885" dirty="0"/>
          </a:p>
        </p:txBody>
      </p:sp>
      <p:sp>
        <p:nvSpPr>
          <p:cNvPr id="20" name="Text 17"/>
          <p:cNvSpPr/>
          <p:nvPr/>
        </p:nvSpPr>
        <p:spPr>
          <a:xfrm>
            <a:off x="8264593" y="3367162"/>
            <a:ext cx="422207"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FFB800"/>
                </a:solidFill>
              </a:rPr>
              <a:t>CRITICAL</a:t>
            </a:r>
            <a:endParaRPr lang="en-US" sz="634" dirty="0"/>
          </a:p>
        </p:txBody>
      </p:sp>
      <p:sp>
        <p:nvSpPr>
          <p:cNvPr id="21" name="Text 18"/>
          <p:cNvSpPr/>
          <p:nvPr/>
        </p:nvSpPr>
        <p:spPr>
          <a:xfrm>
            <a:off x="457200" y="3561829"/>
            <a:ext cx="8229600"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E8EDF2"/>
                </a:solidFill>
              </a:rPr>
              <a:t>Unauthorized access and exfiltration of sensitive information including personal data, intellectual property, or credentials</a:t>
            </a:r>
            <a:endParaRPr lang="en-US" sz="888" dirty="0"/>
          </a:p>
        </p:txBody>
      </p:sp>
      <p:sp>
        <p:nvSpPr>
          <p:cNvPr id="22" name="Shape 19"/>
          <p:cNvSpPr/>
          <p:nvPr/>
        </p:nvSpPr>
        <p:spPr>
          <a:xfrm>
            <a:off x="357188" y="3860416"/>
            <a:ext cx="8429625" cy="562905"/>
          </a:xfrm>
          <a:prstGeom prst="rect">
            <a:avLst/>
          </a:prstGeom>
          <a:solidFill>
            <a:srgbClr val="FF3B3F">
              <a:alpha val="5000"/>
            </a:srgbClr>
          </a:solidFill>
          <a:ln w="18288">
            <a:solidFill>
              <a:srgbClr val="FF3B3F"/>
            </a:solidFill>
            <a:prstDash val="solid"/>
          </a:ln>
        </p:spPr>
      </p:sp>
      <p:sp>
        <p:nvSpPr>
          <p:cNvPr id="23" name="Text 20"/>
          <p:cNvSpPr/>
          <p:nvPr/>
        </p:nvSpPr>
        <p:spPr>
          <a:xfrm>
            <a:off x="457200" y="3931853"/>
            <a:ext cx="920707"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3B3F"/>
                </a:solidFill>
              </a:rPr>
              <a:t>DDoS ATTACKS</a:t>
            </a:r>
            <a:endParaRPr lang="en-US" sz="885" dirty="0"/>
          </a:p>
        </p:txBody>
      </p:sp>
      <p:sp>
        <p:nvSpPr>
          <p:cNvPr id="24" name="Text 21"/>
          <p:cNvSpPr/>
          <p:nvPr/>
        </p:nvSpPr>
        <p:spPr>
          <a:xfrm>
            <a:off x="8441345" y="3958642"/>
            <a:ext cx="245455"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FFB800"/>
                </a:solidFill>
              </a:rPr>
              <a:t>HIGH</a:t>
            </a:r>
            <a:endParaRPr lang="en-US" sz="634" dirty="0"/>
          </a:p>
        </p:txBody>
      </p:sp>
      <p:sp>
        <p:nvSpPr>
          <p:cNvPr id="25" name="Text 22"/>
          <p:cNvSpPr/>
          <p:nvPr/>
        </p:nvSpPr>
        <p:spPr>
          <a:xfrm>
            <a:off x="457200" y="4153309"/>
            <a:ext cx="8229600"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E8EDF2"/>
                </a:solidFill>
              </a:rPr>
              <a:t>Distributed denial-of-service attacks overwhelming systems with traffic to disrupt availability and business operations</a:t>
            </a:r>
            <a:endParaRPr lang="en-US" sz="888" dirty="0"/>
          </a:p>
        </p:txBody>
      </p:sp>
      <p:sp>
        <p:nvSpPr>
          <p:cNvPr id="26" name="Shape 23"/>
          <p:cNvSpPr/>
          <p:nvPr/>
        </p:nvSpPr>
        <p:spPr>
          <a:xfrm>
            <a:off x="357188" y="4451896"/>
            <a:ext cx="8429625" cy="562905"/>
          </a:xfrm>
          <a:prstGeom prst="rect">
            <a:avLst/>
          </a:prstGeom>
          <a:solidFill>
            <a:srgbClr val="FF3B3F">
              <a:alpha val="5000"/>
            </a:srgbClr>
          </a:solidFill>
          <a:ln w="18288">
            <a:solidFill>
              <a:srgbClr val="FF3B3F"/>
            </a:solidFill>
            <a:prstDash val="solid"/>
          </a:ln>
        </p:spPr>
      </p:sp>
      <p:sp>
        <p:nvSpPr>
          <p:cNvPr id="27" name="Text 24"/>
          <p:cNvSpPr/>
          <p:nvPr/>
        </p:nvSpPr>
        <p:spPr>
          <a:xfrm>
            <a:off x="457200" y="4523333"/>
            <a:ext cx="1115653"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3B3F"/>
                </a:solidFill>
              </a:rPr>
              <a:t>INSIDER THREATS</a:t>
            </a:r>
            <a:endParaRPr lang="en-US" sz="885" dirty="0"/>
          </a:p>
        </p:txBody>
      </p:sp>
      <p:sp>
        <p:nvSpPr>
          <p:cNvPr id="28" name="Text 25"/>
          <p:cNvSpPr/>
          <p:nvPr/>
        </p:nvSpPr>
        <p:spPr>
          <a:xfrm>
            <a:off x="8441345" y="4550122"/>
            <a:ext cx="245455"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FFB800"/>
                </a:solidFill>
              </a:rPr>
              <a:t>HIGH</a:t>
            </a:r>
            <a:endParaRPr lang="en-US" sz="634" dirty="0"/>
          </a:p>
        </p:txBody>
      </p:sp>
      <p:sp>
        <p:nvSpPr>
          <p:cNvPr id="29" name="Text 26"/>
          <p:cNvSpPr/>
          <p:nvPr/>
        </p:nvSpPr>
        <p:spPr>
          <a:xfrm>
            <a:off x="457200" y="4744789"/>
            <a:ext cx="8229600"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E8EDF2"/>
                </a:solidFill>
              </a:rPr>
              <a:t>Malicious or negligent actions by authorized users causing data loss, sabotage, or policy violations</a:t>
            </a:r>
            <a:endParaRPr lang="en-US" sz="88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394996"/>
          </a:xfrm>
          <a:prstGeom prst="rect">
            <a:avLst/>
          </a:prstGeom>
        </p:spPr>
      </p:pic>
      <p:sp>
        <p:nvSpPr>
          <p:cNvPr id="3" name="Text 0"/>
          <p:cNvSpPr/>
          <p:nvPr/>
        </p:nvSpPr>
        <p:spPr>
          <a:xfrm>
            <a:off x="428625" y="250031"/>
            <a:ext cx="8286750"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THE IMPORTANCE OF STRUCTURED INCIDENT RESPONSE</a:t>
            </a:r>
            <a:endParaRPr lang="en-US" sz="1808" dirty="0"/>
          </a:p>
        </p:txBody>
      </p:sp>
      <p:sp>
        <p:nvSpPr>
          <p:cNvPr id="4" name="Shape 1"/>
          <p:cNvSpPr/>
          <p:nvPr/>
        </p:nvSpPr>
        <p:spPr>
          <a:xfrm>
            <a:off x="428625" y="914400"/>
            <a:ext cx="4972050" cy="1322933"/>
          </a:xfrm>
          <a:prstGeom prst="rect">
            <a:avLst/>
          </a:prstGeom>
          <a:solidFill>
            <a:srgbClr val="00D9FF">
              <a:alpha val="5000"/>
            </a:srgbClr>
          </a:solidFill>
          <a:ln w="18288">
            <a:solidFill>
              <a:srgbClr val="00D9FF"/>
            </a:solidFill>
            <a:prstDash val="solid"/>
          </a:ln>
        </p:spPr>
      </p:sp>
      <p:sp>
        <p:nvSpPr>
          <p:cNvPr id="5" name="Text 2"/>
          <p:cNvSpPr/>
          <p:nvPr/>
        </p:nvSpPr>
        <p:spPr>
          <a:xfrm>
            <a:off x="571500" y="1028700"/>
            <a:ext cx="4686300"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WHY STRUCTURED RESPONSE MATTERS</a:t>
            </a:r>
            <a:endParaRPr lang="en-US" sz="784" dirty="0"/>
          </a:p>
        </p:txBody>
      </p:sp>
      <p:sp>
        <p:nvSpPr>
          <p:cNvPr id="6" name="Text 3"/>
          <p:cNvSpPr/>
          <p:nvPr/>
        </p:nvSpPr>
        <p:spPr>
          <a:xfrm>
            <a:off x="571500" y="1271588"/>
            <a:ext cx="4686300"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E8EDF2"/>
                </a:solidFill>
              </a:rPr>
              <a:t>Without a structured incident response plan, organizations face prolonged downtime, increased damage, regulatory penalties, reputational harm, and higher recovery costs. Coordinated team response is essential for effective incident management.</a:t>
            </a:r>
            <a:endParaRPr lang="en-US" sz="942" dirty="0"/>
          </a:p>
        </p:txBody>
      </p:sp>
      <p:sp>
        <p:nvSpPr>
          <p:cNvPr id="7" name="Text 4"/>
          <p:cNvSpPr/>
          <p:nvPr/>
        </p:nvSpPr>
        <p:spPr>
          <a:xfrm>
            <a:off x="428625" y="2351633"/>
            <a:ext cx="4972050" cy="250031"/>
          </a:xfrm>
          <a:prstGeom prst="rect">
            <a:avLst/>
          </a:prstGeom>
          <a:noFill/>
          <a:ln/>
        </p:spPr>
        <p:txBody>
          <a:bodyPr wrap="none" lIns="0" tIns="0" rIns="0" bIns="51054" rtlCol="0" anchor="t">
            <a:spAutoFit/>
          </a:bodyPr>
          <a:lstStyle/>
          <a:p>
            <a:pPr marL="0" indent="0" algn="l">
              <a:lnSpc>
                <a:spcPts val="1500"/>
              </a:lnSpc>
              <a:buNone/>
            </a:pPr>
            <a:r>
              <a:rPr lang="en-US" sz="885" b="1" kern="0" spc="1" dirty="0">
                <a:solidFill>
                  <a:srgbClr val="FFB800"/>
                </a:solidFill>
              </a:rPr>
              <a:t>CONSEQUENCES OF LACKING IR PLANS</a:t>
            </a:r>
            <a:endParaRPr lang="en-US" sz="885" dirty="0"/>
          </a:p>
        </p:txBody>
      </p:sp>
      <p:sp>
        <p:nvSpPr>
          <p:cNvPr id="8" name="Shape 5"/>
          <p:cNvSpPr/>
          <p:nvPr/>
        </p:nvSpPr>
        <p:spPr>
          <a:xfrm>
            <a:off x="428625" y="2715964"/>
            <a:ext cx="4972050" cy="785813"/>
          </a:xfrm>
          <a:prstGeom prst="rect">
            <a:avLst/>
          </a:prstGeom>
          <a:solidFill>
            <a:srgbClr val="FF3B3F">
              <a:alpha val="5000"/>
            </a:srgbClr>
          </a:solidFill>
          <a:ln w="18288">
            <a:solidFill>
              <a:srgbClr val="FF3B3F"/>
            </a:solidFill>
            <a:prstDash val="solid"/>
          </a:ln>
        </p:spPr>
      </p:sp>
      <p:sp>
        <p:nvSpPr>
          <p:cNvPr id="9" name="Text 6"/>
          <p:cNvSpPr/>
          <p:nvPr/>
        </p:nvSpPr>
        <p:spPr>
          <a:xfrm>
            <a:off x="700088" y="2815977"/>
            <a:ext cx="1274685"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3B3F"/>
                </a:solidFill>
              </a:rPr>
              <a:t>OPERATIONAL IMPACT</a:t>
            </a:r>
            <a:endParaRPr lang="en-US" sz="784" dirty="0"/>
          </a:p>
        </p:txBody>
      </p:sp>
      <p:sp>
        <p:nvSpPr>
          <p:cNvPr id="10" name="Text 7"/>
          <p:cNvSpPr/>
          <p:nvPr/>
        </p:nvSpPr>
        <p:spPr>
          <a:xfrm>
            <a:off x="557213" y="3030289"/>
            <a:ext cx="471487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Prolonged downtime and increased damage due to delayed or ineffective response actions, resulting in extended business disruption</a:t>
            </a:r>
            <a:endParaRPr lang="en-US" sz="834" dirty="0"/>
          </a:p>
        </p:txBody>
      </p:sp>
      <p:sp>
        <p:nvSpPr>
          <p:cNvPr id="11" name="Shape 8"/>
          <p:cNvSpPr/>
          <p:nvPr/>
        </p:nvSpPr>
        <p:spPr>
          <a:xfrm>
            <a:off x="428625" y="3558927"/>
            <a:ext cx="4972050" cy="785813"/>
          </a:xfrm>
          <a:prstGeom prst="rect">
            <a:avLst/>
          </a:prstGeom>
          <a:solidFill>
            <a:srgbClr val="FF3B3F">
              <a:alpha val="5000"/>
            </a:srgbClr>
          </a:solidFill>
          <a:ln w="18288">
            <a:solidFill>
              <a:srgbClr val="FF3B3F"/>
            </a:solidFill>
            <a:prstDash val="solid"/>
          </a:ln>
        </p:spPr>
      </p:sp>
      <p:sp>
        <p:nvSpPr>
          <p:cNvPr id="12" name="Text 9"/>
          <p:cNvSpPr/>
          <p:nvPr/>
        </p:nvSpPr>
        <p:spPr>
          <a:xfrm>
            <a:off x="700088" y="3658939"/>
            <a:ext cx="1096259"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3B3F"/>
                </a:solidFill>
              </a:rPr>
              <a:t>FINANCIAL IMPACT</a:t>
            </a:r>
            <a:endParaRPr lang="en-US" sz="784" dirty="0"/>
          </a:p>
        </p:txBody>
      </p:sp>
      <p:sp>
        <p:nvSpPr>
          <p:cNvPr id="13" name="Text 10"/>
          <p:cNvSpPr/>
          <p:nvPr/>
        </p:nvSpPr>
        <p:spPr>
          <a:xfrm>
            <a:off x="557213" y="3873252"/>
            <a:ext cx="471487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Higher recovery costs from emergency response, forensic investigation, system restoration, and potential ransom payments</a:t>
            </a:r>
            <a:endParaRPr lang="en-US" sz="834" dirty="0"/>
          </a:p>
        </p:txBody>
      </p:sp>
      <p:sp>
        <p:nvSpPr>
          <p:cNvPr id="14" name="Shape 11"/>
          <p:cNvSpPr/>
          <p:nvPr/>
        </p:nvSpPr>
        <p:spPr>
          <a:xfrm>
            <a:off x="428625" y="4401889"/>
            <a:ext cx="4972050" cy="785813"/>
          </a:xfrm>
          <a:prstGeom prst="rect">
            <a:avLst/>
          </a:prstGeom>
          <a:solidFill>
            <a:srgbClr val="FF3B3F">
              <a:alpha val="5000"/>
            </a:srgbClr>
          </a:solidFill>
          <a:ln w="18288">
            <a:solidFill>
              <a:srgbClr val="FF3B3F"/>
            </a:solidFill>
            <a:prstDash val="solid"/>
          </a:ln>
        </p:spPr>
      </p:sp>
      <p:sp>
        <p:nvSpPr>
          <p:cNvPr id="15" name="Text 12"/>
          <p:cNvSpPr/>
          <p:nvPr/>
        </p:nvSpPr>
        <p:spPr>
          <a:xfrm>
            <a:off x="700088" y="4501902"/>
            <a:ext cx="1222335"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3B3F"/>
                </a:solidFill>
              </a:rPr>
              <a:t>COMPLIANCE IMPACT</a:t>
            </a:r>
            <a:endParaRPr lang="en-US" sz="784" dirty="0"/>
          </a:p>
        </p:txBody>
      </p:sp>
      <p:sp>
        <p:nvSpPr>
          <p:cNvPr id="16" name="Text 13"/>
          <p:cNvSpPr/>
          <p:nvPr/>
        </p:nvSpPr>
        <p:spPr>
          <a:xfrm>
            <a:off x="557213" y="4716214"/>
            <a:ext cx="471487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Regulatory penalties for failure to meet incident notification requirements and data protection obligations</a:t>
            </a:r>
            <a:endParaRPr lang="en-US" sz="834" dirty="0"/>
          </a:p>
        </p:txBody>
      </p:sp>
      <p:sp>
        <p:nvSpPr>
          <p:cNvPr id="17" name="Shape 14"/>
          <p:cNvSpPr/>
          <p:nvPr/>
        </p:nvSpPr>
        <p:spPr>
          <a:xfrm>
            <a:off x="428625" y="5244852"/>
            <a:ext cx="4972050" cy="785813"/>
          </a:xfrm>
          <a:prstGeom prst="rect">
            <a:avLst/>
          </a:prstGeom>
          <a:solidFill>
            <a:srgbClr val="FF3B3F">
              <a:alpha val="5000"/>
            </a:srgbClr>
          </a:solidFill>
          <a:ln w="18288">
            <a:solidFill>
              <a:srgbClr val="FF3B3F"/>
            </a:solidFill>
            <a:prstDash val="solid"/>
          </a:ln>
        </p:spPr>
      </p:sp>
      <p:sp>
        <p:nvSpPr>
          <p:cNvPr id="18" name="Text 15"/>
          <p:cNvSpPr/>
          <p:nvPr/>
        </p:nvSpPr>
        <p:spPr>
          <a:xfrm>
            <a:off x="700088" y="5344864"/>
            <a:ext cx="132829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3B3F"/>
                </a:solidFill>
              </a:rPr>
              <a:t>REPUTATIONAL IMPACT</a:t>
            </a:r>
            <a:endParaRPr lang="en-US" sz="784" dirty="0"/>
          </a:p>
        </p:txBody>
      </p:sp>
      <p:sp>
        <p:nvSpPr>
          <p:cNvPr id="19" name="Text 16"/>
          <p:cNvSpPr/>
          <p:nvPr/>
        </p:nvSpPr>
        <p:spPr>
          <a:xfrm>
            <a:off x="557213" y="5559177"/>
            <a:ext cx="471487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Reputational harm from public disclosure of security failures, loss of customer trust, and negative media coverage</a:t>
            </a:r>
            <a:endParaRPr lang="en-US" sz="834" dirty="0"/>
          </a:p>
        </p:txBody>
      </p:sp>
      <p:sp>
        <p:nvSpPr>
          <p:cNvPr id="20" name="Text 17"/>
          <p:cNvSpPr/>
          <p:nvPr/>
        </p:nvSpPr>
        <p:spPr>
          <a:xfrm>
            <a:off x="5614988" y="548639"/>
            <a:ext cx="3148943" cy="150019"/>
          </a:xfrm>
          <a:prstGeom prst="rect">
            <a:avLst/>
          </a:prstGeom>
          <a:noFill/>
          <a:ln/>
        </p:spPr>
        <p:txBody>
          <a:bodyPr wrap="none" lIns="0" tIns="0" rIns="0" bIns="0" rtlCol="0" anchor="t">
            <a:spAutoFit/>
          </a:bodyPr>
          <a:lstStyle/>
          <a:p>
            <a:pPr marL="0" indent="0" algn="ctr">
              <a:lnSpc>
                <a:spcPts val="1200"/>
              </a:lnSpc>
              <a:buNone/>
            </a:pPr>
            <a:r>
              <a:rPr lang="en-US" sz="683" b="1" kern="0" spc="1" dirty="0">
                <a:solidFill>
                  <a:srgbClr val="00D9FF"/>
                </a:solidFill>
              </a:rPr>
              <a:t>COORDINATED TEAM RESPONSE</a:t>
            </a:r>
            <a:endParaRPr lang="en-US" sz="683" dirty="0"/>
          </a:p>
        </p:txBody>
      </p:sp>
      <p:pic>
        <p:nvPicPr>
          <p:cNvPr id="21" name="Image 1" descr="preencoded.png"/>
          <p:cNvPicPr>
            <a:picLocks noChangeAspect="1"/>
          </p:cNvPicPr>
          <p:nvPr/>
        </p:nvPicPr>
        <p:blipFill>
          <a:blip r:embed="rId4"/>
          <a:stretch>
            <a:fillRect/>
          </a:stretch>
        </p:blipFill>
        <p:spPr>
          <a:xfrm>
            <a:off x="5614988" y="784383"/>
            <a:ext cx="3148943" cy="2000250"/>
          </a:xfrm>
          <a:prstGeom prst="rect">
            <a:avLst/>
          </a:prstGeom>
        </p:spPr>
      </p:pic>
      <p:sp>
        <p:nvSpPr>
          <p:cNvPr id="22" name="Shape 18"/>
          <p:cNvSpPr/>
          <p:nvPr/>
        </p:nvSpPr>
        <p:spPr>
          <a:xfrm>
            <a:off x="5614988" y="3131686"/>
            <a:ext cx="3148943" cy="1231516"/>
          </a:xfrm>
          <a:prstGeom prst="rect">
            <a:avLst/>
          </a:prstGeom>
          <a:solidFill>
            <a:srgbClr val="00D9FF">
              <a:alpha val="5000"/>
            </a:srgbClr>
          </a:solidFill>
          <a:ln w="18288">
            <a:solidFill>
              <a:srgbClr val="00D9FF"/>
            </a:solidFill>
            <a:prstDash val="solid"/>
          </a:ln>
        </p:spPr>
      </p:sp>
      <p:sp>
        <p:nvSpPr>
          <p:cNvPr id="23" name="Text 19"/>
          <p:cNvSpPr/>
          <p:nvPr/>
        </p:nvSpPr>
        <p:spPr>
          <a:xfrm>
            <a:off x="5757863" y="3274561"/>
            <a:ext cx="2863193"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FFB800"/>
                </a:solidFill>
              </a:rPr>
              <a:t>ESSENTIAL REQUIREMENT</a:t>
            </a:r>
            <a:endParaRPr lang="en-US" sz="784" dirty="0"/>
          </a:p>
        </p:txBody>
      </p:sp>
      <p:sp>
        <p:nvSpPr>
          <p:cNvPr id="24" name="Text 20"/>
          <p:cNvSpPr/>
          <p:nvPr/>
        </p:nvSpPr>
        <p:spPr>
          <a:xfrm>
            <a:off x="5757863" y="3517448"/>
            <a:ext cx="2863193"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Coordinated team response with clearly defined roles, established procedures, and effective communication channels is essential for effective incident management and organizational resilience.</a:t>
            </a:r>
            <a:endParaRPr lang="en-US" sz="8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972175"/>
          </a:xfrm>
          <a:prstGeom prst="rect">
            <a:avLst/>
          </a:prstGeom>
        </p:spPr>
      </p:pic>
      <p:sp>
        <p:nvSpPr>
          <p:cNvPr id="3" name="Text 0"/>
          <p:cNvSpPr/>
          <p:nvPr/>
        </p:nvSpPr>
        <p:spPr>
          <a:xfrm>
            <a:off x="428625" y="250031"/>
            <a:ext cx="8286750"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NIST INCIDENT RESPONSE LIFECYCLE</a:t>
            </a:r>
            <a:endParaRPr lang="en-US" sz="1808" dirty="0"/>
          </a:p>
        </p:txBody>
      </p:sp>
      <p:sp>
        <p:nvSpPr>
          <p:cNvPr id="4" name="Text 1"/>
          <p:cNvSpPr/>
          <p:nvPr/>
        </p:nvSpPr>
        <p:spPr>
          <a:xfrm>
            <a:off x="428625" y="771525"/>
            <a:ext cx="8286750"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E8EDF2">
                    <a:alpha val="80000"/>
                  </a:srgbClr>
                </a:solidFill>
              </a:rPr>
              <a:t>NIST SP 800-61 Revision 3 Framework</a:t>
            </a:r>
            <a:endParaRPr lang="en-US" sz="834" dirty="0"/>
          </a:p>
        </p:txBody>
      </p:sp>
      <p:pic>
        <p:nvPicPr>
          <p:cNvPr id="5" name="Image 1" descr="preencoded.png"/>
          <p:cNvPicPr>
            <a:picLocks noChangeAspect="1"/>
          </p:cNvPicPr>
          <p:nvPr/>
        </p:nvPicPr>
        <p:blipFill>
          <a:blip r:embed="rId4"/>
          <a:stretch>
            <a:fillRect/>
          </a:stretch>
        </p:blipFill>
        <p:spPr>
          <a:xfrm>
            <a:off x="535781" y="1521619"/>
            <a:ext cx="3514725" cy="3429000"/>
          </a:xfrm>
          <a:prstGeom prst="rect">
            <a:avLst/>
          </a:prstGeom>
        </p:spPr>
      </p:pic>
      <p:sp>
        <p:nvSpPr>
          <p:cNvPr id="6" name="Shape 2"/>
          <p:cNvSpPr/>
          <p:nvPr/>
        </p:nvSpPr>
        <p:spPr>
          <a:xfrm>
            <a:off x="4393406" y="474782"/>
            <a:ext cx="4094792" cy="992981"/>
          </a:xfrm>
          <a:prstGeom prst="rect">
            <a:avLst/>
          </a:prstGeom>
          <a:solidFill>
            <a:srgbClr val="00D9FF">
              <a:alpha val="5000"/>
            </a:srgbClr>
          </a:solidFill>
          <a:ln w="18288">
            <a:solidFill>
              <a:srgbClr val="00D9FF"/>
            </a:solidFill>
            <a:prstDash val="solid"/>
          </a:ln>
        </p:spPr>
      </p:sp>
      <p:sp>
        <p:nvSpPr>
          <p:cNvPr id="7" name="Text 3"/>
          <p:cNvSpPr/>
          <p:nvPr/>
        </p:nvSpPr>
        <p:spPr>
          <a:xfrm>
            <a:off x="4521994" y="574795"/>
            <a:ext cx="122448"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FFB800"/>
                </a:solidFill>
              </a:rPr>
              <a:t>1.</a:t>
            </a:r>
            <a:endParaRPr lang="en-US" sz="987" dirty="0"/>
          </a:p>
        </p:txBody>
      </p:sp>
      <p:sp>
        <p:nvSpPr>
          <p:cNvPr id="8" name="Text 4"/>
          <p:cNvSpPr/>
          <p:nvPr/>
        </p:nvSpPr>
        <p:spPr>
          <a:xfrm>
            <a:off x="4730167" y="574795"/>
            <a:ext cx="3629444"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PREPARATION</a:t>
            </a:r>
            <a:endParaRPr lang="en-US" sz="987" dirty="0"/>
          </a:p>
        </p:txBody>
      </p:sp>
      <p:sp>
        <p:nvSpPr>
          <p:cNvPr id="9" name="Text 5"/>
          <p:cNvSpPr/>
          <p:nvPr/>
        </p:nvSpPr>
        <p:spPr>
          <a:xfrm>
            <a:off x="4730167" y="824826"/>
            <a:ext cx="3629444"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Establish IR capabilities, develop policies and procedures, deploy tools, train personnel, and create communication plans before incidents occur.</a:t>
            </a:r>
            <a:endParaRPr lang="en-US" sz="834" dirty="0"/>
          </a:p>
        </p:txBody>
      </p:sp>
      <p:sp>
        <p:nvSpPr>
          <p:cNvPr id="10" name="Shape 6"/>
          <p:cNvSpPr/>
          <p:nvPr/>
        </p:nvSpPr>
        <p:spPr>
          <a:xfrm>
            <a:off x="4393406" y="1510626"/>
            <a:ext cx="4094792" cy="992981"/>
          </a:xfrm>
          <a:prstGeom prst="rect">
            <a:avLst/>
          </a:prstGeom>
          <a:solidFill>
            <a:srgbClr val="00D9FF">
              <a:alpha val="5000"/>
            </a:srgbClr>
          </a:solidFill>
          <a:ln w="18288">
            <a:solidFill>
              <a:srgbClr val="00D9FF"/>
            </a:solidFill>
            <a:prstDash val="solid"/>
          </a:ln>
        </p:spPr>
      </p:sp>
      <p:sp>
        <p:nvSpPr>
          <p:cNvPr id="11" name="Text 7"/>
          <p:cNvSpPr/>
          <p:nvPr/>
        </p:nvSpPr>
        <p:spPr>
          <a:xfrm>
            <a:off x="4521994" y="1610638"/>
            <a:ext cx="122448"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FFB800"/>
                </a:solidFill>
              </a:rPr>
              <a:t>2.</a:t>
            </a:r>
            <a:endParaRPr lang="en-US" sz="987" dirty="0"/>
          </a:p>
        </p:txBody>
      </p:sp>
      <p:sp>
        <p:nvSpPr>
          <p:cNvPr id="12" name="Text 8"/>
          <p:cNvSpPr/>
          <p:nvPr/>
        </p:nvSpPr>
        <p:spPr>
          <a:xfrm>
            <a:off x="4730167" y="1610638"/>
            <a:ext cx="3629444"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DETECTION AND ANALYSIS</a:t>
            </a:r>
            <a:endParaRPr lang="en-US" sz="987" dirty="0"/>
          </a:p>
        </p:txBody>
      </p:sp>
      <p:sp>
        <p:nvSpPr>
          <p:cNvPr id="13" name="Text 9"/>
          <p:cNvSpPr/>
          <p:nvPr/>
        </p:nvSpPr>
        <p:spPr>
          <a:xfrm>
            <a:off x="4730167" y="1860670"/>
            <a:ext cx="3629444"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Monitor systems for indicators of compromise, analyze alerts, validate incidents, determine scope and severity, and initiate response procedures.</a:t>
            </a:r>
            <a:endParaRPr lang="en-US" sz="834" dirty="0"/>
          </a:p>
        </p:txBody>
      </p:sp>
      <p:sp>
        <p:nvSpPr>
          <p:cNvPr id="14" name="Shape 10"/>
          <p:cNvSpPr/>
          <p:nvPr/>
        </p:nvSpPr>
        <p:spPr>
          <a:xfrm>
            <a:off x="4393406" y="2546470"/>
            <a:ext cx="4094792" cy="992981"/>
          </a:xfrm>
          <a:prstGeom prst="rect">
            <a:avLst/>
          </a:prstGeom>
          <a:solidFill>
            <a:srgbClr val="00D9FF">
              <a:alpha val="5000"/>
            </a:srgbClr>
          </a:solidFill>
          <a:ln w="18288">
            <a:solidFill>
              <a:srgbClr val="00D9FF"/>
            </a:solidFill>
            <a:prstDash val="solid"/>
          </a:ln>
        </p:spPr>
      </p:sp>
      <p:sp>
        <p:nvSpPr>
          <p:cNvPr id="15" name="Text 11"/>
          <p:cNvSpPr/>
          <p:nvPr/>
        </p:nvSpPr>
        <p:spPr>
          <a:xfrm>
            <a:off x="4521994" y="2646482"/>
            <a:ext cx="122448"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FFB800"/>
                </a:solidFill>
              </a:rPr>
              <a:t>3.</a:t>
            </a:r>
            <a:endParaRPr lang="en-US" sz="987" dirty="0"/>
          </a:p>
        </p:txBody>
      </p:sp>
      <p:sp>
        <p:nvSpPr>
          <p:cNvPr id="16" name="Text 12"/>
          <p:cNvSpPr/>
          <p:nvPr/>
        </p:nvSpPr>
        <p:spPr>
          <a:xfrm>
            <a:off x="4730167" y="2646482"/>
            <a:ext cx="3629444"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CONTAINMENT, ERADICATION &amp; RECOVERY</a:t>
            </a:r>
            <a:endParaRPr lang="en-US" sz="987" dirty="0"/>
          </a:p>
        </p:txBody>
      </p:sp>
      <p:sp>
        <p:nvSpPr>
          <p:cNvPr id="17" name="Text 13"/>
          <p:cNvSpPr/>
          <p:nvPr/>
        </p:nvSpPr>
        <p:spPr>
          <a:xfrm>
            <a:off x="4730167" y="2896513"/>
            <a:ext cx="3629444"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Isolate affected systems, eliminate threat presence, restore operations, verify system integrity, and implement additional safeguards.</a:t>
            </a:r>
            <a:endParaRPr lang="en-US" sz="834" dirty="0"/>
          </a:p>
        </p:txBody>
      </p:sp>
      <p:sp>
        <p:nvSpPr>
          <p:cNvPr id="18" name="Shape 14"/>
          <p:cNvSpPr/>
          <p:nvPr/>
        </p:nvSpPr>
        <p:spPr>
          <a:xfrm>
            <a:off x="4393406" y="3582313"/>
            <a:ext cx="4094792" cy="992981"/>
          </a:xfrm>
          <a:prstGeom prst="rect">
            <a:avLst/>
          </a:prstGeom>
          <a:solidFill>
            <a:srgbClr val="00D9FF">
              <a:alpha val="5000"/>
            </a:srgbClr>
          </a:solidFill>
          <a:ln w="18288">
            <a:solidFill>
              <a:srgbClr val="00D9FF"/>
            </a:solidFill>
            <a:prstDash val="solid"/>
          </a:ln>
        </p:spPr>
      </p:sp>
      <p:sp>
        <p:nvSpPr>
          <p:cNvPr id="19" name="Text 15"/>
          <p:cNvSpPr/>
          <p:nvPr/>
        </p:nvSpPr>
        <p:spPr>
          <a:xfrm>
            <a:off x="4521994" y="3682326"/>
            <a:ext cx="122448"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FFB800"/>
                </a:solidFill>
              </a:rPr>
              <a:t>4.</a:t>
            </a:r>
            <a:endParaRPr lang="en-US" sz="987" dirty="0"/>
          </a:p>
        </p:txBody>
      </p:sp>
      <p:sp>
        <p:nvSpPr>
          <p:cNvPr id="20" name="Text 16"/>
          <p:cNvSpPr/>
          <p:nvPr/>
        </p:nvSpPr>
        <p:spPr>
          <a:xfrm>
            <a:off x="4730167" y="3682326"/>
            <a:ext cx="3629444"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POST-INCIDENT ACTIVITY</a:t>
            </a:r>
            <a:endParaRPr lang="en-US" sz="987" dirty="0"/>
          </a:p>
        </p:txBody>
      </p:sp>
      <p:sp>
        <p:nvSpPr>
          <p:cNvPr id="21" name="Text 17"/>
          <p:cNvSpPr/>
          <p:nvPr/>
        </p:nvSpPr>
        <p:spPr>
          <a:xfrm>
            <a:off x="4730167" y="3932357"/>
            <a:ext cx="3629444"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Conduct lessons learned sessions, document findings, update procedures, improve defenses, and share intelligence with stakeholders.</a:t>
            </a:r>
            <a:endParaRPr lang="en-US" sz="834" dirty="0"/>
          </a:p>
        </p:txBody>
      </p:sp>
      <p:sp>
        <p:nvSpPr>
          <p:cNvPr id="22" name="Shape 18"/>
          <p:cNvSpPr/>
          <p:nvPr/>
        </p:nvSpPr>
        <p:spPr>
          <a:xfrm>
            <a:off x="428625" y="5357813"/>
            <a:ext cx="8286750" cy="250031"/>
          </a:xfrm>
          <a:prstGeom prst="rect">
            <a:avLst/>
          </a:prstGeom>
          <a:solidFill>
            <a:srgbClr val="000000">
              <a:alpha val="0"/>
            </a:srgbClr>
          </a:solidFill>
          <a:ln/>
        </p:spPr>
      </p:sp>
      <p:sp>
        <p:nvSpPr>
          <p:cNvPr id="23" name="Shape 19"/>
          <p:cNvSpPr/>
          <p:nvPr/>
        </p:nvSpPr>
        <p:spPr>
          <a:xfrm>
            <a:off x="428625" y="5357813"/>
            <a:ext cx="8286750" cy="14288"/>
          </a:xfrm>
          <a:prstGeom prst="rect">
            <a:avLst/>
          </a:prstGeom>
          <a:solidFill>
            <a:srgbClr val="FF3B3F"/>
          </a:solidFill>
          <a:ln/>
        </p:spPr>
      </p:sp>
      <p:sp>
        <p:nvSpPr>
          <p:cNvPr id="24" name="Text 20"/>
          <p:cNvSpPr/>
          <p:nvPr/>
        </p:nvSpPr>
        <p:spPr>
          <a:xfrm>
            <a:off x="428625" y="5443538"/>
            <a:ext cx="8286750"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800">
                    <a:alpha val="70000"/>
                  </a:srgbClr>
                </a:solidFill>
              </a:rPr>
              <a:t>Reference:</a:t>
            </a:r>
            <a:r>
              <a:rPr lang="en-US" sz="727" dirty="0">
                <a:solidFill>
                  <a:srgbClr val="E8EDF2">
                    <a:alpha val="70000"/>
                  </a:srgbClr>
                </a:solidFill>
              </a:rPr>
              <a:t> NIST Special Publication 800-61 Revision 3 - Computer Security Incident Handling Guide</a:t>
            </a:r>
            <a:endParaRPr lang="en-US" sz="68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859103"/>
          </a:xfrm>
          <a:prstGeom prst="rect">
            <a:avLst/>
          </a:prstGeom>
        </p:spPr>
      </p:pic>
      <p:sp>
        <p:nvSpPr>
          <p:cNvPr id="3" name="Shape 0"/>
          <p:cNvSpPr/>
          <p:nvPr/>
        </p:nvSpPr>
        <p:spPr>
          <a:xfrm>
            <a:off x="0" y="0"/>
            <a:ext cx="9144000" cy="578644"/>
          </a:xfrm>
          <a:prstGeom prst="rect">
            <a:avLst/>
          </a:prstGeom>
          <a:solidFill>
            <a:srgbClr val="0A1628"/>
          </a:solidFill>
          <a:ln/>
        </p:spPr>
      </p:sp>
      <p:sp>
        <p:nvSpPr>
          <p:cNvPr id="4" name="Shape 1"/>
          <p:cNvSpPr/>
          <p:nvPr/>
        </p:nvSpPr>
        <p:spPr>
          <a:xfrm>
            <a:off x="0" y="557213"/>
            <a:ext cx="9144000" cy="21431"/>
          </a:xfrm>
          <a:prstGeom prst="rect">
            <a:avLst/>
          </a:prstGeom>
          <a:solidFill>
            <a:srgbClr val="00D9FF"/>
          </a:solidFill>
          <a:ln/>
        </p:spPr>
      </p:sp>
      <p:sp>
        <p:nvSpPr>
          <p:cNvPr id="5" name="Text 2"/>
          <p:cNvSpPr/>
          <p:nvPr/>
        </p:nvSpPr>
        <p:spPr>
          <a:xfrm>
            <a:off x="357188" y="107156"/>
            <a:ext cx="8429625" cy="342900"/>
          </a:xfrm>
          <a:prstGeom prst="rect">
            <a:avLst/>
          </a:prstGeom>
          <a:noFill/>
          <a:ln/>
        </p:spPr>
        <p:txBody>
          <a:bodyPr wrap="none" lIns="0" tIns="0" rIns="0" bIns="0" rtlCol="0" anchor="t">
            <a:spAutoFit/>
          </a:bodyPr>
          <a:lstStyle/>
          <a:p>
            <a:pPr marL="0" indent="0" algn="l">
              <a:lnSpc>
                <a:spcPts val="2700"/>
              </a:lnSpc>
              <a:buNone/>
            </a:pPr>
            <a:r>
              <a:rPr lang="en-US" sz="1602" b="1" kern="0" spc="2" dirty="0">
                <a:solidFill>
                  <a:srgbClr val="FF3B3F"/>
                </a:solidFill>
              </a:rPr>
              <a:t>PHASE 1: PREPARATION - PART 1</a:t>
            </a:r>
            <a:endParaRPr lang="en-US" sz="1602" dirty="0"/>
          </a:p>
        </p:txBody>
      </p:sp>
      <p:sp>
        <p:nvSpPr>
          <p:cNvPr id="6" name="Shape 3"/>
          <p:cNvSpPr/>
          <p:nvPr/>
        </p:nvSpPr>
        <p:spPr>
          <a:xfrm>
            <a:off x="571500" y="807244"/>
            <a:ext cx="8001000" cy="1374391"/>
          </a:xfrm>
          <a:prstGeom prst="rect">
            <a:avLst/>
          </a:prstGeom>
          <a:solidFill>
            <a:srgbClr val="00D9FF">
              <a:alpha val="5000"/>
            </a:srgbClr>
          </a:solidFill>
          <a:ln w="18288">
            <a:solidFill>
              <a:srgbClr val="00D9FF"/>
            </a:solidFill>
            <a:prstDash val="solid"/>
          </a:ln>
        </p:spPr>
      </p:sp>
      <p:sp>
        <p:nvSpPr>
          <p:cNvPr id="7" name="Text 4"/>
          <p:cNvSpPr/>
          <p:nvPr/>
        </p:nvSpPr>
        <p:spPr>
          <a:xfrm>
            <a:off x="728663" y="935831"/>
            <a:ext cx="357188"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FFB800"/>
                </a:solidFill>
              </a:rPr>
              <a:t>01</a:t>
            </a:r>
            <a:endParaRPr lang="en-US" sz="1193" dirty="0"/>
          </a:p>
        </p:txBody>
      </p:sp>
      <p:sp>
        <p:nvSpPr>
          <p:cNvPr id="8" name="Text 5"/>
          <p:cNvSpPr/>
          <p:nvPr/>
        </p:nvSpPr>
        <p:spPr>
          <a:xfrm>
            <a:off x="1193006" y="935831"/>
            <a:ext cx="1793388"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00D9FF"/>
                </a:solidFill>
              </a:rPr>
              <a:t>IR Team Establishment</a:t>
            </a:r>
            <a:endParaRPr lang="en-US" sz="1090" dirty="0"/>
          </a:p>
        </p:txBody>
      </p:sp>
      <p:sp>
        <p:nvSpPr>
          <p:cNvPr id="9" name="Text 6"/>
          <p:cNvSpPr/>
          <p:nvPr/>
        </p:nvSpPr>
        <p:spPr>
          <a:xfrm>
            <a:off x="1193006" y="1278731"/>
            <a:ext cx="722233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8EDF2"/>
                </a:solidFill>
              </a:rPr>
              <a:t>• Define CSIRT structure and reporting hierarchy</a:t>
            </a:r>
            <a:endParaRPr lang="en-US" sz="942" dirty="0"/>
          </a:p>
        </p:txBody>
      </p:sp>
      <p:sp>
        <p:nvSpPr>
          <p:cNvPr id="10" name="Text 7"/>
          <p:cNvSpPr/>
          <p:nvPr/>
        </p:nvSpPr>
        <p:spPr>
          <a:xfrm>
            <a:off x="1193006" y="1527311"/>
            <a:ext cx="722233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8EDF2"/>
                </a:solidFill>
              </a:rPr>
              <a:t>• Assign roles: Incident Manager, Analysts, Forensics Specialists</a:t>
            </a:r>
            <a:endParaRPr lang="en-US" sz="942" dirty="0"/>
          </a:p>
        </p:txBody>
      </p:sp>
      <p:sp>
        <p:nvSpPr>
          <p:cNvPr id="11" name="Text 8"/>
          <p:cNvSpPr/>
          <p:nvPr/>
        </p:nvSpPr>
        <p:spPr>
          <a:xfrm>
            <a:off x="1193006" y="1775892"/>
            <a:ext cx="722233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8EDF2"/>
                </a:solidFill>
              </a:rPr>
              <a:t>• Establish 24/7 on-call rotation and escalation procedures</a:t>
            </a:r>
            <a:endParaRPr lang="en-US" sz="942" dirty="0"/>
          </a:p>
        </p:txBody>
      </p:sp>
      <p:sp>
        <p:nvSpPr>
          <p:cNvPr id="12" name="Shape 9"/>
          <p:cNvSpPr/>
          <p:nvPr/>
        </p:nvSpPr>
        <p:spPr>
          <a:xfrm>
            <a:off x="571500" y="2281647"/>
            <a:ext cx="8001000" cy="1374391"/>
          </a:xfrm>
          <a:prstGeom prst="rect">
            <a:avLst/>
          </a:prstGeom>
          <a:solidFill>
            <a:srgbClr val="00D9FF">
              <a:alpha val="5000"/>
            </a:srgbClr>
          </a:solidFill>
          <a:ln w="18288">
            <a:solidFill>
              <a:srgbClr val="00D9FF"/>
            </a:solidFill>
            <a:prstDash val="solid"/>
          </a:ln>
        </p:spPr>
      </p:sp>
      <p:sp>
        <p:nvSpPr>
          <p:cNvPr id="13" name="Text 10"/>
          <p:cNvSpPr/>
          <p:nvPr/>
        </p:nvSpPr>
        <p:spPr>
          <a:xfrm>
            <a:off x="728663" y="2410234"/>
            <a:ext cx="357188"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FFB800"/>
                </a:solidFill>
              </a:rPr>
              <a:t>02</a:t>
            </a:r>
            <a:endParaRPr lang="en-US" sz="1193" dirty="0"/>
          </a:p>
        </p:txBody>
      </p:sp>
      <p:sp>
        <p:nvSpPr>
          <p:cNvPr id="14" name="Text 11"/>
          <p:cNvSpPr/>
          <p:nvPr/>
        </p:nvSpPr>
        <p:spPr>
          <a:xfrm>
            <a:off x="1193006" y="2410234"/>
            <a:ext cx="1670968"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00D9FF"/>
                </a:solidFill>
              </a:rPr>
              <a:t>Policies &amp; Procedures</a:t>
            </a:r>
            <a:endParaRPr lang="en-US" sz="1090" dirty="0"/>
          </a:p>
        </p:txBody>
      </p:sp>
      <p:sp>
        <p:nvSpPr>
          <p:cNvPr id="15" name="Text 12"/>
          <p:cNvSpPr/>
          <p:nvPr/>
        </p:nvSpPr>
        <p:spPr>
          <a:xfrm>
            <a:off x="1193006" y="2753134"/>
            <a:ext cx="722233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8EDF2"/>
                </a:solidFill>
              </a:rPr>
              <a:t>• Develop incident response policy aligned with organizational objectives</a:t>
            </a:r>
            <a:endParaRPr lang="en-US" sz="942" dirty="0"/>
          </a:p>
        </p:txBody>
      </p:sp>
      <p:sp>
        <p:nvSpPr>
          <p:cNvPr id="16" name="Text 13"/>
          <p:cNvSpPr/>
          <p:nvPr/>
        </p:nvSpPr>
        <p:spPr>
          <a:xfrm>
            <a:off x="1193006" y="3001714"/>
            <a:ext cx="722233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8EDF2"/>
                </a:solidFill>
              </a:rPr>
              <a:t>• Create incident handling procedures and playbooks</a:t>
            </a:r>
            <a:endParaRPr lang="en-US" sz="942" dirty="0"/>
          </a:p>
        </p:txBody>
      </p:sp>
      <p:sp>
        <p:nvSpPr>
          <p:cNvPr id="17" name="Text 14"/>
          <p:cNvSpPr/>
          <p:nvPr/>
        </p:nvSpPr>
        <p:spPr>
          <a:xfrm>
            <a:off x="1193006" y="3250295"/>
            <a:ext cx="722233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8EDF2"/>
                </a:solidFill>
              </a:rPr>
              <a:t>• Document evidence handling and chain of custody protocols</a:t>
            </a:r>
            <a:endParaRPr lang="en-US" sz="942" dirty="0"/>
          </a:p>
        </p:txBody>
      </p:sp>
      <p:sp>
        <p:nvSpPr>
          <p:cNvPr id="18" name="Shape 15"/>
          <p:cNvSpPr/>
          <p:nvPr/>
        </p:nvSpPr>
        <p:spPr>
          <a:xfrm>
            <a:off x="571500" y="3756050"/>
            <a:ext cx="8001000" cy="1374391"/>
          </a:xfrm>
          <a:prstGeom prst="rect">
            <a:avLst/>
          </a:prstGeom>
          <a:solidFill>
            <a:srgbClr val="00D9FF">
              <a:alpha val="5000"/>
            </a:srgbClr>
          </a:solidFill>
          <a:ln w="18288">
            <a:solidFill>
              <a:srgbClr val="00D9FF"/>
            </a:solidFill>
            <a:prstDash val="solid"/>
          </a:ln>
        </p:spPr>
      </p:sp>
      <p:sp>
        <p:nvSpPr>
          <p:cNvPr id="19" name="Text 16"/>
          <p:cNvSpPr/>
          <p:nvPr/>
        </p:nvSpPr>
        <p:spPr>
          <a:xfrm>
            <a:off x="728663" y="3884637"/>
            <a:ext cx="357188"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FFB800"/>
                </a:solidFill>
              </a:rPr>
              <a:t>03</a:t>
            </a:r>
            <a:endParaRPr lang="en-US" sz="1193" dirty="0"/>
          </a:p>
        </p:txBody>
      </p:sp>
      <p:sp>
        <p:nvSpPr>
          <p:cNvPr id="20" name="Text 17"/>
          <p:cNvSpPr/>
          <p:nvPr/>
        </p:nvSpPr>
        <p:spPr>
          <a:xfrm>
            <a:off x="1193006" y="3884637"/>
            <a:ext cx="1621296"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00D9FF"/>
                </a:solidFill>
              </a:rPr>
              <a:t>Tools &amp; Technologies</a:t>
            </a:r>
            <a:endParaRPr lang="en-US" sz="1090" dirty="0"/>
          </a:p>
        </p:txBody>
      </p:sp>
      <p:sp>
        <p:nvSpPr>
          <p:cNvPr id="21" name="Text 18"/>
          <p:cNvSpPr/>
          <p:nvPr/>
        </p:nvSpPr>
        <p:spPr>
          <a:xfrm>
            <a:off x="1193006" y="4227537"/>
            <a:ext cx="722233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8EDF2"/>
                </a:solidFill>
              </a:rPr>
              <a:t>• Deploy SIEM, EDR, and network monitoring solutions</a:t>
            </a:r>
            <a:endParaRPr lang="en-US" sz="942" dirty="0"/>
          </a:p>
        </p:txBody>
      </p:sp>
      <p:sp>
        <p:nvSpPr>
          <p:cNvPr id="22" name="Text 19"/>
          <p:cNvSpPr/>
          <p:nvPr/>
        </p:nvSpPr>
        <p:spPr>
          <a:xfrm>
            <a:off x="1193006" y="4476117"/>
            <a:ext cx="722233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8EDF2"/>
                </a:solidFill>
              </a:rPr>
              <a:t>• Implement forensics tools and incident ticketing systems</a:t>
            </a:r>
            <a:endParaRPr lang="en-US" sz="942" dirty="0"/>
          </a:p>
        </p:txBody>
      </p:sp>
      <p:sp>
        <p:nvSpPr>
          <p:cNvPr id="23" name="Text 20"/>
          <p:cNvSpPr/>
          <p:nvPr/>
        </p:nvSpPr>
        <p:spPr>
          <a:xfrm>
            <a:off x="1193006" y="4724698"/>
            <a:ext cx="722233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8EDF2"/>
                </a:solidFill>
              </a:rPr>
              <a:t>• Establish secure communication channels and jump kits</a:t>
            </a:r>
            <a:endParaRPr lang="en-US" sz="942" dirty="0"/>
          </a:p>
        </p:txBody>
      </p:sp>
      <p:sp>
        <p:nvSpPr>
          <p:cNvPr id="24" name="Text 21"/>
          <p:cNvSpPr/>
          <p:nvPr/>
        </p:nvSpPr>
        <p:spPr>
          <a:xfrm>
            <a:off x="3824669" y="5351897"/>
            <a:ext cx="1494690" cy="150019"/>
          </a:xfrm>
          <a:prstGeom prst="rect">
            <a:avLst/>
          </a:prstGeom>
          <a:noFill/>
          <a:ln/>
        </p:spPr>
        <p:txBody>
          <a:bodyPr wrap="none" lIns="0" tIns="0" rIns="0" bIns="0" rtlCol="0" anchor="t">
            <a:spAutoFit/>
          </a:bodyPr>
          <a:lstStyle/>
          <a:p>
            <a:pPr marL="0" indent="0" algn="l">
              <a:lnSpc>
                <a:spcPts val="1200"/>
              </a:lnSpc>
              <a:buNone/>
            </a:pPr>
            <a:r>
              <a:rPr lang="en-US" sz="727" kern="0" spc="1" dirty="0">
                <a:solidFill>
                  <a:srgbClr val="FFB800"/>
                </a:solidFill>
              </a:rPr>
              <a:t>CONTINUED ON NEXT SLIDE</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673449"/>
          </a:xfrm>
          <a:prstGeom prst="rect">
            <a:avLst/>
          </a:prstGeom>
        </p:spPr>
      </p:pic>
      <p:sp>
        <p:nvSpPr>
          <p:cNvPr id="3" name="Shape 0"/>
          <p:cNvSpPr/>
          <p:nvPr/>
        </p:nvSpPr>
        <p:spPr>
          <a:xfrm>
            <a:off x="0" y="0"/>
            <a:ext cx="9144000" cy="578644"/>
          </a:xfrm>
          <a:prstGeom prst="rect">
            <a:avLst/>
          </a:prstGeom>
          <a:solidFill>
            <a:srgbClr val="0A1628"/>
          </a:solidFill>
          <a:ln/>
        </p:spPr>
      </p:sp>
      <p:sp>
        <p:nvSpPr>
          <p:cNvPr id="4" name="Shape 1"/>
          <p:cNvSpPr/>
          <p:nvPr/>
        </p:nvSpPr>
        <p:spPr>
          <a:xfrm>
            <a:off x="0" y="557213"/>
            <a:ext cx="9144000" cy="21431"/>
          </a:xfrm>
          <a:prstGeom prst="rect">
            <a:avLst/>
          </a:prstGeom>
          <a:solidFill>
            <a:srgbClr val="00D9FF"/>
          </a:solidFill>
          <a:ln/>
        </p:spPr>
      </p:sp>
      <p:sp>
        <p:nvSpPr>
          <p:cNvPr id="5" name="Text 2"/>
          <p:cNvSpPr/>
          <p:nvPr/>
        </p:nvSpPr>
        <p:spPr>
          <a:xfrm>
            <a:off x="285750" y="107156"/>
            <a:ext cx="8572500" cy="342900"/>
          </a:xfrm>
          <a:prstGeom prst="rect">
            <a:avLst/>
          </a:prstGeom>
          <a:noFill/>
          <a:ln/>
        </p:spPr>
        <p:txBody>
          <a:bodyPr wrap="none" lIns="0" tIns="0" rIns="0" bIns="0" rtlCol="0" anchor="t">
            <a:spAutoFit/>
          </a:bodyPr>
          <a:lstStyle/>
          <a:p>
            <a:pPr marL="0" indent="0" algn="l">
              <a:lnSpc>
                <a:spcPts val="2700"/>
              </a:lnSpc>
              <a:buNone/>
            </a:pPr>
            <a:r>
              <a:rPr lang="en-US" sz="1602" b="1" kern="0" spc="2" dirty="0">
                <a:solidFill>
                  <a:srgbClr val="FF3B3F"/>
                </a:solidFill>
              </a:rPr>
              <a:t>PHASE 1: PREPARATION - PART 2</a:t>
            </a:r>
            <a:endParaRPr lang="en-US" sz="1602" dirty="0"/>
          </a:p>
        </p:txBody>
      </p:sp>
      <p:sp>
        <p:nvSpPr>
          <p:cNvPr id="6" name="Shape 3"/>
          <p:cNvSpPr/>
          <p:nvPr/>
        </p:nvSpPr>
        <p:spPr>
          <a:xfrm>
            <a:off x="285750" y="914400"/>
            <a:ext cx="5372100" cy="1441559"/>
          </a:xfrm>
          <a:prstGeom prst="rect">
            <a:avLst/>
          </a:prstGeom>
          <a:solidFill>
            <a:srgbClr val="00D9FF">
              <a:alpha val="5000"/>
            </a:srgbClr>
          </a:solidFill>
          <a:ln w="18288">
            <a:solidFill>
              <a:srgbClr val="00D9FF"/>
            </a:solidFill>
            <a:prstDash val="solid"/>
          </a:ln>
        </p:spPr>
      </p:sp>
      <p:sp>
        <p:nvSpPr>
          <p:cNvPr id="7" name="Text 4"/>
          <p:cNvSpPr/>
          <p:nvPr/>
        </p:nvSpPr>
        <p:spPr>
          <a:xfrm>
            <a:off x="457200" y="1057275"/>
            <a:ext cx="163469"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FFB800"/>
                </a:solidFill>
              </a:rPr>
              <a:t>04</a:t>
            </a:r>
            <a:endParaRPr lang="en-US" sz="987" dirty="0"/>
          </a:p>
        </p:txBody>
      </p:sp>
      <p:sp>
        <p:nvSpPr>
          <p:cNvPr id="8" name="Text 5"/>
          <p:cNvSpPr/>
          <p:nvPr/>
        </p:nvSpPr>
        <p:spPr>
          <a:xfrm>
            <a:off x="692107" y="1057275"/>
            <a:ext cx="1544641"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Training &amp; Awareness</a:t>
            </a:r>
            <a:endParaRPr lang="en-US" sz="987" dirty="0"/>
          </a:p>
        </p:txBody>
      </p:sp>
      <p:sp>
        <p:nvSpPr>
          <p:cNvPr id="9" name="Text 6"/>
          <p:cNvSpPr/>
          <p:nvPr/>
        </p:nvSpPr>
        <p:spPr>
          <a:xfrm>
            <a:off x="671513" y="1357313"/>
            <a:ext cx="481488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 Conduct tabletop exercises and simulation drills</a:t>
            </a:r>
            <a:endParaRPr lang="en-US" sz="942" dirty="0"/>
          </a:p>
        </p:txBody>
      </p:sp>
      <p:sp>
        <p:nvSpPr>
          <p:cNvPr id="10" name="Text 7"/>
          <p:cNvSpPr/>
          <p:nvPr/>
        </p:nvSpPr>
        <p:spPr>
          <a:xfrm>
            <a:off x="671513" y="1633045"/>
            <a:ext cx="481488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 Provide role-specific training for IR team members</a:t>
            </a:r>
            <a:endParaRPr lang="en-US" sz="942" dirty="0"/>
          </a:p>
        </p:txBody>
      </p:sp>
      <p:sp>
        <p:nvSpPr>
          <p:cNvPr id="11" name="Text 8"/>
          <p:cNvSpPr/>
          <p:nvPr/>
        </p:nvSpPr>
        <p:spPr>
          <a:xfrm>
            <a:off x="671513" y="1908777"/>
            <a:ext cx="481488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 Deliver security awareness programs for all staff</a:t>
            </a:r>
            <a:endParaRPr lang="en-US" sz="942" dirty="0"/>
          </a:p>
        </p:txBody>
      </p:sp>
      <p:sp>
        <p:nvSpPr>
          <p:cNvPr id="12" name="Shape 9"/>
          <p:cNvSpPr/>
          <p:nvPr/>
        </p:nvSpPr>
        <p:spPr>
          <a:xfrm>
            <a:off x="285750" y="2541696"/>
            <a:ext cx="5372100" cy="1441559"/>
          </a:xfrm>
          <a:prstGeom prst="rect">
            <a:avLst/>
          </a:prstGeom>
          <a:solidFill>
            <a:srgbClr val="00D9FF">
              <a:alpha val="5000"/>
            </a:srgbClr>
          </a:solidFill>
          <a:ln w="18288">
            <a:solidFill>
              <a:srgbClr val="00D9FF"/>
            </a:solidFill>
            <a:prstDash val="solid"/>
          </a:ln>
        </p:spPr>
      </p:sp>
      <p:sp>
        <p:nvSpPr>
          <p:cNvPr id="13" name="Text 10"/>
          <p:cNvSpPr/>
          <p:nvPr/>
        </p:nvSpPr>
        <p:spPr>
          <a:xfrm>
            <a:off x="457200" y="2684571"/>
            <a:ext cx="163469"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FFB800"/>
                </a:solidFill>
              </a:rPr>
              <a:t>05</a:t>
            </a:r>
            <a:endParaRPr lang="en-US" sz="987" dirty="0"/>
          </a:p>
        </p:txBody>
      </p:sp>
      <p:sp>
        <p:nvSpPr>
          <p:cNvPr id="14" name="Text 11"/>
          <p:cNvSpPr/>
          <p:nvPr/>
        </p:nvSpPr>
        <p:spPr>
          <a:xfrm>
            <a:off x="692107" y="2684571"/>
            <a:ext cx="1560630"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Communication Plans</a:t>
            </a:r>
            <a:endParaRPr lang="en-US" sz="987" dirty="0"/>
          </a:p>
        </p:txBody>
      </p:sp>
      <p:sp>
        <p:nvSpPr>
          <p:cNvPr id="15" name="Text 12"/>
          <p:cNvSpPr/>
          <p:nvPr/>
        </p:nvSpPr>
        <p:spPr>
          <a:xfrm>
            <a:off x="671513" y="2984609"/>
            <a:ext cx="481488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 Define internal notification procedures and contact lists</a:t>
            </a:r>
            <a:endParaRPr lang="en-US" sz="942" dirty="0"/>
          </a:p>
        </p:txBody>
      </p:sp>
      <p:sp>
        <p:nvSpPr>
          <p:cNvPr id="16" name="Text 13"/>
          <p:cNvSpPr/>
          <p:nvPr/>
        </p:nvSpPr>
        <p:spPr>
          <a:xfrm>
            <a:off x="671513" y="3260341"/>
            <a:ext cx="481488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 Establish external communication protocols (legal, PR, regulators)</a:t>
            </a:r>
            <a:endParaRPr lang="en-US" sz="942" dirty="0"/>
          </a:p>
        </p:txBody>
      </p:sp>
      <p:sp>
        <p:nvSpPr>
          <p:cNvPr id="17" name="Text 14"/>
          <p:cNvSpPr/>
          <p:nvPr/>
        </p:nvSpPr>
        <p:spPr>
          <a:xfrm>
            <a:off x="671513" y="3536073"/>
            <a:ext cx="481488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 Prepare incident notification templates and media statements</a:t>
            </a:r>
            <a:endParaRPr lang="en-US" sz="942" dirty="0"/>
          </a:p>
        </p:txBody>
      </p:sp>
      <p:sp>
        <p:nvSpPr>
          <p:cNvPr id="18" name="Shape 15"/>
          <p:cNvSpPr/>
          <p:nvPr/>
        </p:nvSpPr>
        <p:spPr>
          <a:xfrm>
            <a:off x="285750" y="4168992"/>
            <a:ext cx="5372100" cy="1140126"/>
          </a:xfrm>
          <a:prstGeom prst="rect">
            <a:avLst/>
          </a:prstGeom>
          <a:solidFill>
            <a:srgbClr val="FFB800">
              <a:alpha val="5000"/>
            </a:srgbClr>
          </a:solidFill>
          <a:ln w="18288">
            <a:solidFill>
              <a:srgbClr val="FFB800"/>
            </a:solidFill>
            <a:prstDash val="solid"/>
          </a:ln>
        </p:spPr>
      </p:sp>
      <p:sp>
        <p:nvSpPr>
          <p:cNvPr id="19" name="Text 16"/>
          <p:cNvSpPr/>
          <p:nvPr/>
        </p:nvSpPr>
        <p:spPr>
          <a:xfrm>
            <a:off x="457200" y="4311867"/>
            <a:ext cx="5029200"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FFB800"/>
                </a:solidFill>
              </a:rPr>
              <a:t>PREPARATION KEY TAKEAWAY</a:t>
            </a:r>
            <a:endParaRPr lang="en-US" sz="784" dirty="0"/>
          </a:p>
        </p:txBody>
      </p:sp>
      <p:sp>
        <p:nvSpPr>
          <p:cNvPr id="20" name="Text 17"/>
          <p:cNvSpPr/>
          <p:nvPr/>
        </p:nvSpPr>
        <p:spPr>
          <a:xfrm>
            <a:off x="457200" y="4554755"/>
            <a:ext cx="5029200" cy="582913"/>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E8EDF2"/>
                </a:solidFill>
              </a:rPr>
              <a:t>Effective preparation is continuous and cyclical. Organizations must regularly train personnel, test procedures, update plans, and maintain readiness to respond swiftly when incidents occur.</a:t>
            </a:r>
            <a:endParaRPr lang="en-US" sz="888" dirty="0"/>
          </a:p>
        </p:txBody>
      </p:sp>
      <p:sp>
        <p:nvSpPr>
          <p:cNvPr id="21" name="Text 18"/>
          <p:cNvSpPr/>
          <p:nvPr/>
        </p:nvSpPr>
        <p:spPr>
          <a:xfrm>
            <a:off x="6966747" y="1168645"/>
            <a:ext cx="1154106" cy="342900"/>
          </a:xfrm>
          <a:prstGeom prst="rect">
            <a:avLst/>
          </a:prstGeom>
          <a:noFill/>
          <a:ln/>
        </p:spPr>
        <p:txBody>
          <a:bodyPr wrap="square" lIns="0" tIns="0" rIns="0" bIns="0" rtlCol="0" anchor="t">
            <a:spAutoFit/>
          </a:bodyPr>
          <a:lstStyle/>
          <a:p>
            <a:pPr marL="0" indent="0" algn="ctr">
              <a:lnSpc>
                <a:spcPts val="1400"/>
              </a:lnSpc>
              <a:buNone/>
            </a:pPr>
            <a:r>
              <a:rPr lang="en-US" sz="784" b="1" kern="0" spc="1" dirty="0">
                <a:solidFill>
                  <a:srgbClr val="FFB800"/>
                </a:solidFill>
              </a:rPr>
              <a:t>CYBER RESILIENCE
FRAMEWORK</a:t>
            </a:r>
            <a:endParaRPr lang="en-US" sz="784" dirty="0"/>
          </a:p>
        </p:txBody>
      </p:sp>
      <p:pic>
        <p:nvPicPr>
          <p:cNvPr id="22" name="Image 1" descr="preencoded.png"/>
          <p:cNvPicPr>
            <a:picLocks noChangeAspect="1"/>
          </p:cNvPicPr>
          <p:nvPr/>
        </p:nvPicPr>
        <p:blipFill>
          <a:blip r:embed="rId4"/>
          <a:stretch>
            <a:fillRect/>
          </a:stretch>
        </p:blipFill>
        <p:spPr>
          <a:xfrm>
            <a:off x="6157913" y="1654420"/>
            <a:ext cx="2771775" cy="2857500"/>
          </a:xfrm>
          <a:prstGeom prst="rect">
            <a:avLst/>
          </a:prstGeom>
        </p:spPr>
      </p:pic>
      <p:sp>
        <p:nvSpPr>
          <p:cNvPr id="23" name="Text 19"/>
          <p:cNvSpPr/>
          <p:nvPr/>
        </p:nvSpPr>
        <p:spPr>
          <a:xfrm>
            <a:off x="6157913" y="4654795"/>
            <a:ext cx="2771775" cy="300038"/>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E8EDF2">
                    <a:alpha val="80000"/>
                  </a:srgbClr>
                </a:solidFill>
              </a:rPr>
              <a:t>Continuous preparation cycle integrating planning, implementation, and improvement</a:t>
            </a:r>
            <a:endParaRPr lang="en-US" sz="72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772066"/>
          </a:xfrm>
          <a:prstGeom prst="rect">
            <a:avLst/>
          </a:prstGeom>
        </p:spPr>
      </p:pic>
      <p:sp>
        <p:nvSpPr>
          <p:cNvPr id="3" name="Text 0"/>
          <p:cNvSpPr/>
          <p:nvPr/>
        </p:nvSpPr>
        <p:spPr>
          <a:xfrm>
            <a:off x="664369" y="285750"/>
            <a:ext cx="6844159"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PHASE 2: DETECTION METHODS AND INDICATORS</a:t>
            </a:r>
            <a:endParaRPr lang="en-US" sz="1808" dirty="0"/>
          </a:p>
        </p:txBody>
      </p:sp>
      <p:sp>
        <p:nvSpPr>
          <p:cNvPr id="4" name="Shape 1"/>
          <p:cNvSpPr/>
          <p:nvPr/>
        </p:nvSpPr>
        <p:spPr>
          <a:xfrm>
            <a:off x="500063" y="964406"/>
            <a:ext cx="8143875" cy="1078706"/>
          </a:xfrm>
          <a:prstGeom prst="rect">
            <a:avLst/>
          </a:prstGeom>
          <a:solidFill>
            <a:srgbClr val="00D9FF">
              <a:alpha val="5000"/>
            </a:srgbClr>
          </a:solidFill>
          <a:ln w="18288">
            <a:solidFill>
              <a:srgbClr val="00D9FF"/>
            </a:solidFill>
            <a:prstDash val="solid"/>
          </a:ln>
        </p:spPr>
      </p:sp>
      <p:sp>
        <p:nvSpPr>
          <p:cNvPr id="5" name="Text 2"/>
          <p:cNvSpPr/>
          <p:nvPr/>
        </p:nvSpPr>
        <p:spPr>
          <a:xfrm>
            <a:off x="671513" y="1092994"/>
            <a:ext cx="7800975" cy="192881"/>
          </a:xfrm>
          <a:prstGeom prst="rect">
            <a:avLst/>
          </a:prstGeom>
          <a:noFill/>
          <a:ln/>
        </p:spPr>
        <p:txBody>
          <a:bodyPr wrap="none" lIns="0" tIns="0" rIns="0" bIns="0" rtlCol="0" anchor="t">
            <a:spAutoFit/>
          </a:bodyPr>
          <a:lstStyle/>
          <a:p>
            <a:pPr marL="0" indent="0" algn="l">
              <a:lnSpc>
                <a:spcPts val="1500"/>
              </a:lnSpc>
              <a:buNone/>
            </a:pPr>
            <a:r>
              <a:rPr lang="en-US" sz="885" b="1" kern="0" spc="1" dirty="0">
                <a:solidFill>
                  <a:srgbClr val="00D9FF"/>
                </a:solidFill>
              </a:rPr>
              <a:t>DETECTION METHODS &amp; SOURCES</a:t>
            </a:r>
            <a:endParaRPr lang="en-US" sz="885" dirty="0"/>
          </a:p>
        </p:txBody>
      </p:sp>
      <p:pic>
        <p:nvPicPr>
          <p:cNvPr id="6" name="Image 1" descr="preencoded.png"/>
          <p:cNvPicPr>
            <a:picLocks noChangeAspect="1"/>
          </p:cNvPicPr>
          <p:nvPr/>
        </p:nvPicPr>
        <p:blipFill>
          <a:blip r:embed="rId4"/>
          <a:stretch>
            <a:fillRect/>
          </a:stretch>
        </p:blipFill>
        <p:spPr>
          <a:xfrm>
            <a:off x="671513" y="1410891"/>
            <a:ext cx="142875" cy="142875"/>
          </a:xfrm>
          <a:prstGeom prst="rect">
            <a:avLst/>
          </a:prstGeom>
        </p:spPr>
      </p:pic>
      <p:sp>
        <p:nvSpPr>
          <p:cNvPr id="7" name="Text 3"/>
          <p:cNvSpPr/>
          <p:nvPr/>
        </p:nvSpPr>
        <p:spPr>
          <a:xfrm>
            <a:off x="900113" y="1385888"/>
            <a:ext cx="834284"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E8EDF2"/>
                </a:solidFill>
              </a:rPr>
              <a:t>SIEM Systems</a:t>
            </a:r>
            <a:endParaRPr lang="en-US" sz="942" dirty="0"/>
          </a:p>
        </p:txBody>
      </p:sp>
      <p:pic>
        <p:nvPicPr>
          <p:cNvPr id="8" name="Image 2" descr="preencoded.png"/>
          <p:cNvPicPr>
            <a:picLocks noChangeAspect="1"/>
          </p:cNvPicPr>
          <p:nvPr/>
        </p:nvPicPr>
        <p:blipFill>
          <a:blip r:embed="rId5"/>
          <a:stretch>
            <a:fillRect/>
          </a:stretch>
        </p:blipFill>
        <p:spPr>
          <a:xfrm>
            <a:off x="3309928" y="1410891"/>
            <a:ext cx="142875" cy="142875"/>
          </a:xfrm>
          <a:prstGeom prst="rect">
            <a:avLst/>
          </a:prstGeom>
        </p:spPr>
      </p:pic>
      <p:sp>
        <p:nvSpPr>
          <p:cNvPr id="9" name="Text 4"/>
          <p:cNvSpPr/>
          <p:nvPr/>
        </p:nvSpPr>
        <p:spPr>
          <a:xfrm>
            <a:off x="3538528" y="1385888"/>
            <a:ext cx="830294"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E8EDF2"/>
                </a:solidFill>
              </a:rPr>
              <a:t>IDS/IPS Alerts</a:t>
            </a:r>
            <a:endParaRPr lang="en-US" sz="942" dirty="0"/>
          </a:p>
        </p:txBody>
      </p:sp>
      <p:pic>
        <p:nvPicPr>
          <p:cNvPr id="10" name="Image 3" descr="preencoded.png"/>
          <p:cNvPicPr>
            <a:picLocks noChangeAspect="1"/>
          </p:cNvPicPr>
          <p:nvPr/>
        </p:nvPicPr>
        <p:blipFill>
          <a:blip r:embed="rId6"/>
          <a:stretch>
            <a:fillRect/>
          </a:stretch>
        </p:blipFill>
        <p:spPr>
          <a:xfrm>
            <a:off x="5948344" y="1410891"/>
            <a:ext cx="160734" cy="142875"/>
          </a:xfrm>
          <a:prstGeom prst="rect">
            <a:avLst/>
          </a:prstGeom>
        </p:spPr>
      </p:pic>
      <p:sp>
        <p:nvSpPr>
          <p:cNvPr id="11" name="Text 5"/>
          <p:cNvSpPr/>
          <p:nvPr/>
        </p:nvSpPr>
        <p:spPr>
          <a:xfrm>
            <a:off x="6194803" y="1385888"/>
            <a:ext cx="838274"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E8EDF2"/>
                </a:solidFill>
              </a:rPr>
              <a:t>EDR Solutions</a:t>
            </a:r>
            <a:endParaRPr lang="en-US" sz="942" dirty="0"/>
          </a:p>
        </p:txBody>
      </p:sp>
      <p:pic>
        <p:nvPicPr>
          <p:cNvPr id="12" name="Image 4" descr="preencoded.png"/>
          <p:cNvPicPr>
            <a:picLocks noChangeAspect="1"/>
          </p:cNvPicPr>
          <p:nvPr/>
        </p:nvPicPr>
        <p:blipFill>
          <a:blip r:embed="rId7"/>
          <a:stretch>
            <a:fillRect/>
          </a:stretch>
        </p:blipFill>
        <p:spPr>
          <a:xfrm>
            <a:off x="671513" y="1718072"/>
            <a:ext cx="107156" cy="142875"/>
          </a:xfrm>
          <a:prstGeom prst="rect">
            <a:avLst/>
          </a:prstGeom>
        </p:spPr>
      </p:pic>
      <p:sp>
        <p:nvSpPr>
          <p:cNvPr id="13" name="Text 6"/>
          <p:cNvSpPr/>
          <p:nvPr/>
        </p:nvSpPr>
        <p:spPr>
          <a:xfrm>
            <a:off x="864394" y="1693069"/>
            <a:ext cx="746606"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E8EDF2"/>
                </a:solidFill>
              </a:rPr>
              <a:t>Log Analysis</a:t>
            </a:r>
            <a:endParaRPr lang="en-US" sz="942" dirty="0"/>
          </a:p>
        </p:txBody>
      </p:sp>
      <p:pic>
        <p:nvPicPr>
          <p:cNvPr id="14" name="Image 5" descr="preencoded.png"/>
          <p:cNvPicPr>
            <a:picLocks noChangeAspect="1"/>
          </p:cNvPicPr>
          <p:nvPr/>
        </p:nvPicPr>
        <p:blipFill>
          <a:blip r:embed="rId8"/>
          <a:stretch>
            <a:fillRect/>
          </a:stretch>
        </p:blipFill>
        <p:spPr>
          <a:xfrm>
            <a:off x="3309928" y="1718072"/>
            <a:ext cx="178594" cy="142875"/>
          </a:xfrm>
          <a:prstGeom prst="rect">
            <a:avLst/>
          </a:prstGeom>
        </p:spPr>
      </p:pic>
      <p:sp>
        <p:nvSpPr>
          <p:cNvPr id="15" name="Text 7"/>
          <p:cNvSpPr/>
          <p:nvPr/>
        </p:nvSpPr>
        <p:spPr>
          <a:xfrm>
            <a:off x="3574247" y="1693069"/>
            <a:ext cx="785171"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E8EDF2"/>
                </a:solidFill>
              </a:rPr>
              <a:t>User Reports</a:t>
            </a:r>
            <a:endParaRPr lang="en-US" sz="942" dirty="0"/>
          </a:p>
        </p:txBody>
      </p:sp>
      <p:pic>
        <p:nvPicPr>
          <p:cNvPr id="16" name="Image 6" descr="preencoded.png"/>
          <p:cNvPicPr>
            <a:picLocks noChangeAspect="1"/>
          </p:cNvPicPr>
          <p:nvPr/>
        </p:nvPicPr>
        <p:blipFill>
          <a:blip r:embed="rId9"/>
          <a:stretch>
            <a:fillRect/>
          </a:stretch>
        </p:blipFill>
        <p:spPr>
          <a:xfrm>
            <a:off x="5948344" y="1718072"/>
            <a:ext cx="178594" cy="142875"/>
          </a:xfrm>
          <a:prstGeom prst="rect">
            <a:avLst/>
          </a:prstGeom>
        </p:spPr>
      </p:pic>
      <p:sp>
        <p:nvSpPr>
          <p:cNvPr id="17" name="Text 8"/>
          <p:cNvSpPr/>
          <p:nvPr/>
        </p:nvSpPr>
        <p:spPr>
          <a:xfrm>
            <a:off x="6212663" y="1693069"/>
            <a:ext cx="1226855"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E8EDF2"/>
                </a:solidFill>
              </a:rPr>
              <a:t>Network Monitoring</a:t>
            </a:r>
            <a:endParaRPr lang="en-US" sz="942" dirty="0"/>
          </a:p>
        </p:txBody>
      </p:sp>
      <p:sp>
        <p:nvSpPr>
          <p:cNvPr id="18" name="Shape 9"/>
          <p:cNvSpPr/>
          <p:nvPr/>
        </p:nvSpPr>
        <p:spPr>
          <a:xfrm>
            <a:off x="500063" y="2157413"/>
            <a:ext cx="8143875" cy="1520140"/>
          </a:xfrm>
          <a:prstGeom prst="rect">
            <a:avLst/>
          </a:prstGeom>
          <a:solidFill>
            <a:srgbClr val="00D9FF">
              <a:alpha val="5000"/>
            </a:srgbClr>
          </a:solidFill>
          <a:ln w="18288">
            <a:solidFill>
              <a:srgbClr val="00D9FF"/>
            </a:solidFill>
            <a:prstDash val="solid"/>
          </a:ln>
        </p:spPr>
      </p:sp>
      <p:sp>
        <p:nvSpPr>
          <p:cNvPr id="19" name="Text 10"/>
          <p:cNvSpPr/>
          <p:nvPr/>
        </p:nvSpPr>
        <p:spPr>
          <a:xfrm>
            <a:off x="671513" y="2286000"/>
            <a:ext cx="7800975" cy="192881"/>
          </a:xfrm>
          <a:prstGeom prst="rect">
            <a:avLst/>
          </a:prstGeom>
          <a:noFill/>
          <a:ln/>
        </p:spPr>
        <p:txBody>
          <a:bodyPr wrap="none" lIns="0" tIns="0" rIns="0" bIns="0" rtlCol="0" anchor="t">
            <a:spAutoFit/>
          </a:bodyPr>
          <a:lstStyle/>
          <a:p>
            <a:pPr marL="0" indent="0" algn="l">
              <a:lnSpc>
                <a:spcPts val="1500"/>
              </a:lnSpc>
              <a:buNone/>
            </a:pPr>
            <a:r>
              <a:rPr lang="en-US" sz="885" b="1" kern="0" spc="1" dirty="0">
                <a:solidFill>
                  <a:srgbClr val="00D9FF"/>
                </a:solidFill>
              </a:rPr>
              <a:t>INCIDENT INDICATORS &amp; PRECURSORS</a:t>
            </a:r>
            <a:endParaRPr lang="en-US" sz="885" dirty="0"/>
          </a:p>
        </p:txBody>
      </p:sp>
      <p:sp>
        <p:nvSpPr>
          <p:cNvPr id="20" name="Text 11"/>
          <p:cNvSpPr/>
          <p:nvPr/>
        </p:nvSpPr>
        <p:spPr>
          <a:xfrm>
            <a:off x="671513" y="2578894"/>
            <a:ext cx="3775472"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FFB800"/>
                </a:solidFill>
              </a:rPr>
              <a:t>Precursors</a:t>
            </a:r>
            <a:endParaRPr lang="en-US" sz="987" dirty="0"/>
          </a:p>
        </p:txBody>
      </p:sp>
      <p:sp>
        <p:nvSpPr>
          <p:cNvPr id="21" name="Text 12"/>
          <p:cNvSpPr/>
          <p:nvPr/>
        </p:nvSpPr>
        <p:spPr>
          <a:xfrm>
            <a:off x="850106" y="2864644"/>
            <a:ext cx="359687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Vulnerability scans</a:t>
            </a:r>
            <a:endParaRPr lang="en-US" sz="942" dirty="0"/>
          </a:p>
        </p:txBody>
      </p:sp>
      <p:sp>
        <p:nvSpPr>
          <p:cNvPr id="22" name="Text 13"/>
          <p:cNvSpPr/>
          <p:nvPr/>
        </p:nvSpPr>
        <p:spPr>
          <a:xfrm>
            <a:off x="850106" y="3083226"/>
            <a:ext cx="359687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Threat intelligence</a:t>
            </a:r>
            <a:endParaRPr lang="en-US" sz="942" dirty="0"/>
          </a:p>
        </p:txBody>
      </p:sp>
      <p:sp>
        <p:nvSpPr>
          <p:cNvPr id="23" name="Text 14"/>
          <p:cNvSpPr/>
          <p:nvPr/>
        </p:nvSpPr>
        <p:spPr>
          <a:xfrm>
            <a:off x="850106" y="3301808"/>
            <a:ext cx="359687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Reconnaissance activity</a:t>
            </a:r>
            <a:endParaRPr lang="en-US" sz="942" dirty="0"/>
          </a:p>
        </p:txBody>
      </p:sp>
      <p:sp>
        <p:nvSpPr>
          <p:cNvPr id="24" name="Text 15"/>
          <p:cNvSpPr/>
          <p:nvPr/>
        </p:nvSpPr>
        <p:spPr>
          <a:xfrm>
            <a:off x="4697016" y="2578894"/>
            <a:ext cx="3775472"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FFB800"/>
                </a:solidFill>
              </a:rPr>
              <a:t>Indicators</a:t>
            </a:r>
            <a:endParaRPr lang="en-US" sz="987" dirty="0"/>
          </a:p>
        </p:txBody>
      </p:sp>
      <p:sp>
        <p:nvSpPr>
          <p:cNvPr id="25" name="Text 16"/>
          <p:cNvSpPr/>
          <p:nvPr/>
        </p:nvSpPr>
        <p:spPr>
          <a:xfrm>
            <a:off x="4875609" y="2864644"/>
            <a:ext cx="359687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Anomalous network traffic</a:t>
            </a:r>
            <a:endParaRPr lang="en-US" sz="942" dirty="0"/>
          </a:p>
        </p:txBody>
      </p:sp>
      <p:sp>
        <p:nvSpPr>
          <p:cNvPr id="26" name="Text 17"/>
          <p:cNvSpPr/>
          <p:nvPr/>
        </p:nvSpPr>
        <p:spPr>
          <a:xfrm>
            <a:off x="4875609" y="3083226"/>
            <a:ext cx="359687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Unauthorized access</a:t>
            </a:r>
            <a:endParaRPr lang="en-US" sz="942" dirty="0"/>
          </a:p>
        </p:txBody>
      </p:sp>
      <p:sp>
        <p:nvSpPr>
          <p:cNvPr id="27" name="Text 18"/>
          <p:cNvSpPr/>
          <p:nvPr/>
        </p:nvSpPr>
        <p:spPr>
          <a:xfrm>
            <a:off x="4875609" y="3301808"/>
            <a:ext cx="3596878" cy="218582"/>
          </a:xfrm>
          <a:prstGeom prst="rect">
            <a:avLst/>
          </a:prstGeom>
          <a:noFill/>
          <a:ln/>
        </p:spPr>
        <p:txBody>
          <a:bodyPr wrap="none" lIns="0" tIns="0" rIns="0" bIns="0" rtlCol="0" anchor="t">
            <a:spAutoFit/>
          </a:bodyPr>
          <a:lstStyle/>
          <a:p>
            <a:pPr marL="0" indent="0" algn="l">
              <a:lnSpc>
                <a:spcPts val="1700"/>
              </a:lnSpc>
              <a:buNone/>
            </a:pPr>
            <a:r>
              <a:rPr lang="en-US" sz="942" dirty="0">
                <a:solidFill>
                  <a:srgbClr val="E8EDF2"/>
                </a:solidFill>
              </a:rPr>
              <a:t>Malware signatures</a:t>
            </a:r>
            <a:endParaRPr lang="en-US" sz="942" dirty="0"/>
          </a:p>
        </p:txBody>
      </p:sp>
      <p:sp>
        <p:nvSpPr>
          <p:cNvPr id="28" name="Shape 19"/>
          <p:cNvSpPr/>
          <p:nvPr/>
        </p:nvSpPr>
        <p:spPr>
          <a:xfrm>
            <a:off x="500063" y="3791852"/>
            <a:ext cx="8143875" cy="1272983"/>
          </a:xfrm>
          <a:prstGeom prst="rect">
            <a:avLst/>
          </a:prstGeom>
          <a:solidFill>
            <a:srgbClr val="00D9FF">
              <a:alpha val="5000"/>
            </a:srgbClr>
          </a:solidFill>
          <a:ln w="18288">
            <a:solidFill>
              <a:srgbClr val="00D9FF"/>
            </a:solidFill>
            <a:prstDash val="solid"/>
          </a:ln>
        </p:spPr>
      </p:sp>
      <p:sp>
        <p:nvSpPr>
          <p:cNvPr id="29" name="Text 20"/>
          <p:cNvSpPr/>
          <p:nvPr/>
        </p:nvSpPr>
        <p:spPr>
          <a:xfrm>
            <a:off x="671513" y="3920440"/>
            <a:ext cx="7800975" cy="192881"/>
          </a:xfrm>
          <a:prstGeom prst="rect">
            <a:avLst/>
          </a:prstGeom>
          <a:noFill/>
          <a:ln/>
        </p:spPr>
        <p:txBody>
          <a:bodyPr wrap="none" lIns="0" tIns="0" rIns="0" bIns="0" rtlCol="0" anchor="t">
            <a:spAutoFit/>
          </a:bodyPr>
          <a:lstStyle/>
          <a:p>
            <a:pPr marL="0" indent="0" algn="l">
              <a:lnSpc>
                <a:spcPts val="1500"/>
              </a:lnSpc>
              <a:buNone/>
            </a:pPr>
            <a:r>
              <a:rPr lang="en-US" sz="885" b="1" kern="0" spc="1" dirty="0">
                <a:solidFill>
                  <a:srgbClr val="00D9FF"/>
                </a:solidFill>
              </a:rPr>
              <a:t>ANALYSIS TECHNIQUES</a:t>
            </a:r>
            <a:endParaRPr lang="en-US" sz="885" dirty="0"/>
          </a:p>
        </p:txBody>
      </p:sp>
      <p:sp>
        <p:nvSpPr>
          <p:cNvPr id="30" name="Text 21"/>
          <p:cNvSpPr/>
          <p:nvPr/>
        </p:nvSpPr>
        <p:spPr>
          <a:xfrm>
            <a:off x="671513" y="4213334"/>
            <a:ext cx="7800975" cy="694339"/>
          </a:xfrm>
          <a:prstGeom prst="rect">
            <a:avLst/>
          </a:prstGeom>
          <a:noFill/>
          <a:ln/>
        </p:spPr>
        <p:txBody>
          <a:bodyPr wrap="square" lIns="0" tIns="0" rIns="0" bIns="0" rtlCol="0" anchor="t">
            <a:spAutoFit/>
          </a:bodyPr>
          <a:lstStyle/>
          <a:p>
            <a:pPr marL="0" indent="0" algn="l">
              <a:lnSpc>
                <a:spcPts val="1800"/>
              </a:lnSpc>
              <a:buNone/>
            </a:pPr>
            <a:r>
              <a:rPr lang="en-US" sz="885" b="1" dirty="0">
                <a:solidFill>
                  <a:srgbClr val="00D9FF"/>
                </a:solidFill>
              </a:rPr>
              <a:t>Correlation Analysis:</a:t>
            </a:r>
            <a:r>
              <a:rPr lang="en-US" sz="942" dirty="0">
                <a:solidFill>
                  <a:srgbClr val="E8EDF2"/>
                </a:solidFill>
              </a:rPr>
              <a:t> Link events across multiple sources to identify patterns and relationships
</a:t>
            </a:r>
            <a:r>
              <a:rPr lang="en-US" sz="885" b="1" dirty="0">
                <a:solidFill>
                  <a:srgbClr val="00D9FF"/>
                </a:solidFill>
              </a:rPr>
              <a:t>Behavioral Analysis:</a:t>
            </a:r>
            <a:r>
              <a:rPr lang="en-US" sz="942" dirty="0">
                <a:solidFill>
                  <a:srgbClr val="E8EDF2"/>
                </a:solidFill>
              </a:rPr>
              <a:t> Identify deviations from baseline activity to detect anomalies
</a:t>
            </a:r>
            <a:r>
              <a:rPr lang="en-US" sz="885" b="1" dirty="0">
                <a:solidFill>
                  <a:srgbClr val="00D9FF"/>
                </a:solidFill>
              </a:rPr>
              <a:t>Forensic Analysis:</a:t>
            </a:r>
            <a:r>
              <a:rPr lang="en-US" sz="942" dirty="0">
                <a:solidFill>
                  <a:srgbClr val="E8EDF2"/>
                </a:solidFill>
              </a:rPr>
              <a:t> Deep investigation of artifacts and evidence for root cause determination</a:t>
            </a:r>
            <a:endParaRPr lang="en-US" sz="885" dirty="0"/>
          </a:p>
        </p:txBody>
      </p:sp>
      <p:sp>
        <p:nvSpPr>
          <p:cNvPr id="31" name="Text 22"/>
          <p:cNvSpPr/>
          <p:nvPr/>
        </p:nvSpPr>
        <p:spPr>
          <a:xfrm>
            <a:off x="3231570" y="5250573"/>
            <a:ext cx="2680860" cy="150019"/>
          </a:xfrm>
          <a:prstGeom prst="rect">
            <a:avLst/>
          </a:prstGeom>
          <a:noFill/>
          <a:ln/>
        </p:spPr>
        <p:txBody>
          <a:bodyPr wrap="none" lIns="0" tIns="0" rIns="0" bIns="0" rtlCol="0" anchor="t">
            <a:spAutoFit/>
          </a:bodyPr>
          <a:lstStyle/>
          <a:p>
            <a:pPr marL="0" indent="0" algn="l">
              <a:lnSpc>
                <a:spcPts val="1200"/>
              </a:lnSpc>
              <a:buNone/>
            </a:pPr>
            <a:r>
              <a:rPr lang="en-US" sz="727" kern="0" spc="1" dirty="0">
                <a:solidFill>
                  <a:srgbClr val="FFB800"/>
                </a:solidFill>
              </a:rPr>
              <a:t>CONTINUED: CLASSIFICATION &amp; TEAM STRUCTURE</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763555"/>
          </a:xfrm>
          <a:prstGeom prst="rect">
            <a:avLst/>
          </a:prstGeom>
        </p:spPr>
      </p:pic>
      <p:sp>
        <p:nvSpPr>
          <p:cNvPr id="3" name="Text 0"/>
          <p:cNvSpPr/>
          <p:nvPr/>
        </p:nvSpPr>
        <p:spPr>
          <a:xfrm>
            <a:off x="521494" y="250031"/>
            <a:ext cx="6838913"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PHASE 2: CLASSIFICATION AND TEAM STRUCTURE</a:t>
            </a:r>
            <a:endParaRPr lang="en-US" sz="1808" dirty="0"/>
          </a:p>
        </p:txBody>
      </p:sp>
      <p:sp>
        <p:nvSpPr>
          <p:cNvPr id="4" name="Shape 1"/>
          <p:cNvSpPr/>
          <p:nvPr/>
        </p:nvSpPr>
        <p:spPr>
          <a:xfrm>
            <a:off x="357188" y="892969"/>
            <a:ext cx="2213111" cy="1599195"/>
          </a:xfrm>
          <a:prstGeom prst="rect">
            <a:avLst/>
          </a:prstGeom>
          <a:solidFill>
            <a:srgbClr val="00D9FF">
              <a:alpha val="5000"/>
            </a:srgbClr>
          </a:solidFill>
          <a:ln w="18288">
            <a:solidFill>
              <a:srgbClr val="00D9FF"/>
            </a:solidFill>
            <a:prstDash val="solid"/>
          </a:ln>
        </p:spPr>
      </p:sp>
      <p:sp>
        <p:nvSpPr>
          <p:cNvPr id="5" name="Text 2"/>
          <p:cNvSpPr/>
          <p:nvPr/>
        </p:nvSpPr>
        <p:spPr>
          <a:xfrm>
            <a:off x="500063" y="1007269"/>
            <a:ext cx="1927361"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CLASSIFICATION</a:t>
            </a:r>
            <a:endParaRPr lang="en-US" sz="784" dirty="0"/>
          </a:p>
        </p:txBody>
      </p:sp>
      <p:sp>
        <p:nvSpPr>
          <p:cNvPr id="6" name="Text 3"/>
          <p:cNvSpPr/>
          <p:nvPr/>
        </p:nvSpPr>
        <p:spPr>
          <a:xfrm>
            <a:off x="500063" y="1264444"/>
            <a:ext cx="1927361"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 Incident Type
 • Attack Vector
 • Affected Systems
 • Scope of Impact</a:t>
            </a:r>
            <a:endParaRPr lang="en-US" sz="834" dirty="0"/>
          </a:p>
        </p:txBody>
      </p:sp>
      <p:sp>
        <p:nvSpPr>
          <p:cNvPr id="7" name="Shape 4"/>
          <p:cNvSpPr/>
          <p:nvPr/>
        </p:nvSpPr>
        <p:spPr>
          <a:xfrm>
            <a:off x="2670311" y="892969"/>
            <a:ext cx="2213139" cy="1580164"/>
          </a:xfrm>
          <a:prstGeom prst="rect">
            <a:avLst/>
          </a:prstGeom>
          <a:solidFill>
            <a:srgbClr val="00D9FF">
              <a:alpha val="5000"/>
            </a:srgbClr>
          </a:solidFill>
          <a:ln w="18288">
            <a:solidFill>
              <a:srgbClr val="00D9FF"/>
            </a:solidFill>
            <a:prstDash val="solid"/>
          </a:ln>
        </p:spPr>
      </p:sp>
      <p:sp>
        <p:nvSpPr>
          <p:cNvPr id="8" name="Text 5"/>
          <p:cNvSpPr/>
          <p:nvPr/>
        </p:nvSpPr>
        <p:spPr>
          <a:xfrm>
            <a:off x="2813186" y="1007269"/>
            <a:ext cx="192738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PRIORITIZATION</a:t>
            </a:r>
            <a:endParaRPr lang="en-US" sz="784" dirty="0"/>
          </a:p>
        </p:txBody>
      </p:sp>
      <p:sp>
        <p:nvSpPr>
          <p:cNvPr id="9" name="Text 6"/>
          <p:cNvSpPr/>
          <p:nvPr/>
        </p:nvSpPr>
        <p:spPr>
          <a:xfrm>
            <a:off x="2998924" y="1264444"/>
            <a:ext cx="392069"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E8EDF2"/>
                </a:solidFill>
              </a:rPr>
              <a:t>Critical</a:t>
            </a:r>
            <a:endParaRPr lang="en-US" sz="784" dirty="0"/>
          </a:p>
        </p:txBody>
      </p:sp>
      <p:sp>
        <p:nvSpPr>
          <p:cNvPr id="10" name="Text 7"/>
          <p:cNvSpPr/>
          <p:nvPr/>
        </p:nvSpPr>
        <p:spPr>
          <a:xfrm>
            <a:off x="2998924" y="1493044"/>
            <a:ext cx="26415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E8EDF2"/>
                </a:solidFill>
              </a:rPr>
              <a:t>High</a:t>
            </a:r>
            <a:endParaRPr lang="en-US" sz="784" dirty="0"/>
          </a:p>
        </p:txBody>
      </p:sp>
      <p:sp>
        <p:nvSpPr>
          <p:cNvPr id="11" name="Text 8"/>
          <p:cNvSpPr/>
          <p:nvPr/>
        </p:nvSpPr>
        <p:spPr>
          <a:xfrm>
            <a:off x="2998924" y="1721644"/>
            <a:ext cx="731648"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E8EDF2"/>
                </a:solidFill>
              </a:rPr>
              <a:t>Medium/Low</a:t>
            </a:r>
            <a:endParaRPr lang="en-US" sz="784" dirty="0"/>
          </a:p>
        </p:txBody>
      </p:sp>
      <p:sp>
        <p:nvSpPr>
          <p:cNvPr id="12" name="Shape 9"/>
          <p:cNvSpPr/>
          <p:nvPr/>
        </p:nvSpPr>
        <p:spPr>
          <a:xfrm>
            <a:off x="357188" y="2573145"/>
            <a:ext cx="4526263" cy="1185863"/>
          </a:xfrm>
          <a:prstGeom prst="rect">
            <a:avLst/>
          </a:prstGeom>
          <a:solidFill>
            <a:srgbClr val="FF3B3F">
              <a:alpha val="5000"/>
            </a:srgbClr>
          </a:solidFill>
          <a:ln w="18288">
            <a:solidFill>
              <a:srgbClr val="FF3B3F"/>
            </a:solidFill>
            <a:prstDash val="solid"/>
          </a:ln>
        </p:spPr>
      </p:sp>
      <p:sp>
        <p:nvSpPr>
          <p:cNvPr id="13" name="Text 10"/>
          <p:cNvSpPr/>
          <p:nvPr/>
        </p:nvSpPr>
        <p:spPr>
          <a:xfrm>
            <a:off x="485775" y="2682673"/>
            <a:ext cx="4269088"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FF3B3F"/>
                </a:solidFill>
              </a:rPr>
              <a:t>DOCUMENTATION REQUIREMENTS</a:t>
            </a:r>
            <a:endParaRPr lang="en-US" sz="784" dirty="0"/>
          </a:p>
        </p:txBody>
      </p:sp>
      <p:sp>
        <p:nvSpPr>
          <p:cNvPr id="14" name="Text 11"/>
          <p:cNvSpPr/>
          <p:nvPr/>
        </p:nvSpPr>
        <p:spPr>
          <a:xfrm>
            <a:off x="485775" y="2911273"/>
            <a:ext cx="426908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Record detection time, initial indicators, affected systems, actions taken, and evidence collected for chain of custody</a:t>
            </a:r>
            <a:endParaRPr lang="en-US" sz="834" dirty="0"/>
          </a:p>
        </p:txBody>
      </p:sp>
      <p:sp>
        <p:nvSpPr>
          <p:cNvPr id="15" name="Shape 12"/>
          <p:cNvSpPr/>
          <p:nvPr/>
        </p:nvSpPr>
        <p:spPr>
          <a:xfrm>
            <a:off x="357188" y="3849477"/>
            <a:ext cx="4526263" cy="1664047"/>
          </a:xfrm>
          <a:prstGeom prst="rect">
            <a:avLst/>
          </a:prstGeom>
          <a:solidFill>
            <a:srgbClr val="00D9FF">
              <a:alpha val="5000"/>
            </a:srgbClr>
          </a:solidFill>
          <a:ln w="18288">
            <a:solidFill>
              <a:srgbClr val="00D9FF"/>
            </a:solidFill>
            <a:prstDash val="solid"/>
          </a:ln>
        </p:spPr>
      </p:sp>
      <p:sp>
        <p:nvSpPr>
          <p:cNvPr id="16" name="Text 13"/>
          <p:cNvSpPr/>
          <p:nvPr/>
        </p:nvSpPr>
        <p:spPr>
          <a:xfrm>
            <a:off x="500063" y="3982836"/>
            <a:ext cx="4240513"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KEY DETECTION &amp; ANALYSIS ACTIVITIES</a:t>
            </a:r>
            <a:endParaRPr lang="en-US" sz="784" dirty="0"/>
          </a:p>
        </p:txBody>
      </p:sp>
      <p:sp>
        <p:nvSpPr>
          <p:cNvPr id="17" name="Text 14"/>
          <p:cNvSpPr/>
          <p:nvPr/>
        </p:nvSpPr>
        <p:spPr>
          <a:xfrm>
            <a:off x="500063" y="4240011"/>
            <a:ext cx="4240513" cy="777218"/>
          </a:xfrm>
          <a:prstGeom prst="rect">
            <a:avLst/>
          </a:prstGeom>
          <a:noFill/>
          <a:ln/>
        </p:spPr>
        <p:txBody>
          <a:bodyPr wrap="square" lIns="0" tIns="0" rIns="0" bIns="0" rtlCol="0" anchor="t">
            <a:spAutoFit/>
          </a:bodyPr>
          <a:lstStyle/>
          <a:p>
            <a:pPr marL="0" indent="0" algn="l">
              <a:lnSpc>
                <a:spcPts val="1500"/>
              </a:lnSpc>
              <a:buNone/>
            </a:pPr>
            <a:r>
              <a:rPr lang="en-US" sz="784" b="1" dirty="0">
                <a:solidFill>
                  <a:srgbClr val="00D9FF"/>
                </a:solidFill>
              </a:rPr>
              <a:t>Validate Incidents:</a:t>
            </a:r>
            <a:r>
              <a:rPr lang="en-US" sz="834" dirty="0">
                <a:solidFill>
                  <a:srgbClr val="E8EDF2"/>
                </a:solidFill>
              </a:rPr>
              <a:t> Confirm true positives vs false alarms
</a:t>
            </a:r>
            <a:r>
              <a:rPr lang="en-US" sz="784" b="1" dirty="0">
                <a:solidFill>
                  <a:srgbClr val="00D9FF"/>
                </a:solidFill>
              </a:rPr>
              <a:t>Determine Scope:</a:t>
            </a:r>
            <a:r>
              <a:rPr lang="en-US" sz="834" dirty="0">
                <a:solidFill>
                  <a:srgbClr val="E8EDF2"/>
                </a:solidFill>
              </a:rPr>
              <a:t> Identify all affected systems and data
</a:t>
            </a:r>
            <a:r>
              <a:rPr lang="en-US" sz="784" b="1" dirty="0">
                <a:solidFill>
                  <a:srgbClr val="00D9FF"/>
                </a:solidFill>
              </a:rPr>
              <a:t>Assess Severity:</a:t>
            </a:r>
            <a:r>
              <a:rPr lang="en-US" sz="834" dirty="0">
                <a:solidFill>
                  <a:srgbClr val="E8EDF2"/>
                </a:solidFill>
              </a:rPr>
              <a:t> Evaluate business impact and urgency
</a:t>
            </a:r>
            <a:r>
              <a:rPr lang="en-US" sz="784" b="1" dirty="0">
                <a:solidFill>
                  <a:srgbClr val="00D9FF"/>
                </a:solidFill>
              </a:rPr>
              <a:t>Initiate Response:</a:t>
            </a:r>
            <a:r>
              <a:rPr lang="en-US" sz="834" dirty="0">
                <a:solidFill>
                  <a:srgbClr val="E8EDF2"/>
                </a:solidFill>
              </a:rPr>
              <a:t> Activate appropriate response procedures</a:t>
            </a:r>
            <a:endParaRPr lang="en-US" sz="784" dirty="0"/>
          </a:p>
        </p:txBody>
      </p:sp>
      <p:sp>
        <p:nvSpPr>
          <p:cNvPr id="18" name="Shape 15"/>
          <p:cNvSpPr/>
          <p:nvPr/>
        </p:nvSpPr>
        <p:spPr>
          <a:xfrm>
            <a:off x="5083476" y="892969"/>
            <a:ext cx="3703337" cy="2343150"/>
          </a:xfrm>
          <a:prstGeom prst="rect">
            <a:avLst/>
          </a:prstGeom>
          <a:solidFill>
            <a:srgbClr val="00D9FF">
              <a:alpha val="5000"/>
            </a:srgbClr>
          </a:solidFill>
          <a:ln w="18288">
            <a:solidFill>
              <a:srgbClr val="00D9FF"/>
            </a:solidFill>
            <a:prstDash val="solid"/>
          </a:ln>
        </p:spPr>
      </p:sp>
      <p:sp>
        <p:nvSpPr>
          <p:cNvPr id="19" name="Text 16"/>
          <p:cNvSpPr/>
          <p:nvPr/>
        </p:nvSpPr>
        <p:spPr>
          <a:xfrm>
            <a:off x="5226351" y="1007269"/>
            <a:ext cx="3417587"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DETECTION &amp; ANALYSIS TEAM</a:t>
            </a:r>
            <a:endParaRPr lang="en-US" sz="784" dirty="0"/>
          </a:p>
        </p:txBody>
      </p:sp>
      <p:pic>
        <p:nvPicPr>
          <p:cNvPr id="20" name="Image 1" descr="preencoded.png"/>
          <p:cNvPicPr>
            <a:picLocks noChangeAspect="1"/>
          </p:cNvPicPr>
          <p:nvPr/>
        </p:nvPicPr>
        <p:blipFill>
          <a:blip r:embed="rId4"/>
          <a:stretch>
            <a:fillRect/>
          </a:stretch>
        </p:blipFill>
        <p:spPr>
          <a:xfrm>
            <a:off x="5283501" y="1321594"/>
            <a:ext cx="3303287" cy="1714500"/>
          </a:xfrm>
          <a:prstGeom prst="rect">
            <a:avLst/>
          </a:prstGeom>
        </p:spPr>
      </p:pic>
      <p:sp>
        <p:nvSpPr>
          <p:cNvPr id="21" name="Shape 17"/>
          <p:cNvSpPr/>
          <p:nvPr/>
        </p:nvSpPr>
        <p:spPr>
          <a:xfrm>
            <a:off x="5083476" y="3321844"/>
            <a:ext cx="3703337" cy="1291568"/>
          </a:xfrm>
          <a:prstGeom prst="rect">
            <a:avLst/>
          </a:prstGeom>
          <a:solidFill>
            <a:srgbClr val="00D9FF">
              <a:alpha val="5000"/>
            </a:srgbClr>
          </a:solidFill>
          <a:ln w="18288">
            <a:solidFill>
              <a:srgbClr val="00D9FF"/>
            </a:solidFill>
            <a:prstDash val="solid"/>
          </a:ln>
        </p:spPr>
      </p:sp>
      <p:sp>
        <p:nvSpPr>
          <p:cNvPr id="22" name="Text 18"/>
          <p:cNvSpPr/>
          <p:nvPr/>
        </p:nvSpPr>
        <p:spPr>
          <a:xfrm>
            <a:off x="5226351" y="3436144"/>
            <a:ext cx="3417587"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KEY ROLES</a:t>
            </a:r>
            <a:endParaRPr lang="en-US" sz="784" dirty="0"/>
          </a:p>
        </p:txBody>
      </p:sp>
      <p:sp>
        <p:nvSpPr>
          <p:cNvPr id="23" name="Text 19"/>
          <p:cNvSpPr/>
          <p:nvPr/>
        </p:nvSpPr>
        <p:spPr>
          <a:xfrm>
            <a:off x="5226351" y="3693319"/>
            <a:ext cx="3417587" cy="777218"/>
          </a:xfrm>
          <a:prstGeom prst="rect">
            <a:avLst/>
          </a:prstGeom>
          <a:noFill/>
          <a:ln/>
        </p:spPr>
        <p:txBody>
          <a:bodyPr wrap="square" lIns="0" tIns="0" rIns="0" bIns="0" rtlCol="0" anchor="t">
            <a:spAutoFit/>
          </a:bodyPr>
          <a:lstStyle/>
          <a:p>
            <a:pPr marL="0" indent="0" algn="l">
              <a:lnSpc>
                <a:spcPts val="1500"/>
              </a:lnSpc>
              <a:buNone/>
            </a:pPr>
            <a:r>
              <a:rPr lang="en-US" sz="784" b="1" dirty="0">
                <a:solidFill>
                  <a:srgbClr val="00D9FF"/>
                </a:solidFill>
              </a:rPr>
              <a:t>SOC Analysts:</a:t>
            </a:r>
            <a:r>
              <a:rPr lang="en-US" sz="834" dirty="0">
                <a:solidFill>
                  <a:srgbClr val="E8EDF2"/>
                </a:solidFill>
              </a:rPr>
              <a:t> Monitor and triage alerts
</a:t>
            </a:r>
            <a:r>
              <a:rPr lang="en-US" sz="784" b="1" dirty="0">
                <a:solidFill>
                  <a:srgbClr val="00D9FF"/>
                </a:solidFill>
              </a:rPr>
              <a:t>Incident Handlers:</a:t>
            </a:r>
            <a:r>
              <a:rPr lang="en-US" sz="834" dirty="0">
                <a:solidFill>
                  <a:srgbClr val="E8EDF2"/>
                </a:solidFill>
              </a:rPr>
              <a:t> Investigate and respond
</a:t>
            </a:r>
            <a:r>
              <a:rPr lang="en-US" sz="784" b="1" dirty="0">
                <a:solidFill>
                  <a:srgbClr val="00D9FF"/>
                </a:solidFill>
              </a:rPr>
              <a:t>Threat Hunters:</a:t>
            </a:r>
            <a:r>
              <a:rPr lang="en-US" sz="834" dirty="0">
                <a:solidFill>
                  <a:srgbClr val="E8EDF2"/>
                </a:solidFill>
              </a:rPr>
              <a:t> Proactive threat detection
</a:t>
            </a:r>
            <a:r>
              <a:rPr lang="en-US" sz="784" b="1" dirty="0">
                <a:solidFill>
                  <a:srgbClr val="00D9FF"/>
                </a:solidFill>
              </a:rPr>
              <a:t>Forensics Team:</a:t>
            </a:r>
            <a:r>
              <a:rPr lang="en-US" sz="834" dirty="0">
                <a:solidFill>
                  <a:srgbClr val="E8EDF2"/>
                </a:solidFill>
              </a:rPr>
              <a:t> Deep technical analysis</a:t>
            </a:r>
            <a:endParaRPr lang="en-US" sz="784" dirty="0"/>
          </a:p>
        </p:txBody>
      </p:sp>
      <p:sp>
        <p:nvSpPr>
          <p:cNvPr id="24" name="Shape 20"/>
          <p:cNvSpPr/>
          <p:nvPr/>
        </p:nvSpPr>
        <p:spPr>
          <a:xfrm>
            <a:off x="5083476" y="4699136"/>
            <a:ext cx="3703337" cy="757238"/>
          </a:xfrm>
          <a:prstGeom prst="rect">
            <a:avLst/>
          </a:prstGeom>
          <a:solidFill>
            <a:srgbClr val="FFB800">
              <a:alpha val="5000"/>
            </a:srgbClr>
          </a:solidFill>
          <a:ln w="18288">
            <a:solidFill>
              <a:srgbClr val="FFB800"/>
            </a:solidFill>
            <a:prstDash val="solid"/>
          </a:ln>
        </p:spPr>
      </p:sp>
      <p:sp>
        <p:nvSpPr>
          <p:cNvPr id="25" name="Text 21"/>
          <p:cNvSpPr/>
          <p:nvPr/>
        </p:nvSpPr>
        <p:spPr>
          <a:xfrm>
            <a:off x="5212063" y="4799149"/>
            <a:ext cx="3446162" cy="150019"/>
          </a:xfrm>
          <a:prstGeom prst="rect">
            <a:avLst/>
          </a:prstGeom>
          <a:noFill/>
          <a:ln/>
        </p:spPr>
        <p:txBody>
          <a:bodyPr wrap="none" lIns="0" tIns="0" rIns="0" bIns="0" rtlCol="0" anchor="t">
            <a:spAutoFit/>
          </a:bodyPr>
          <a:lstStyle/>
          <a:p>
            <a:pPr marL="0" indent="0" algn="l">
              <a:lnSpc>
                <a:spcPts val="1200"/>
              </a:lnSpc>
              <a:buNone/>
            </a:pPr>
            <a:r>
              <a:rPr lang="en-US" sz="683" b="1" kern="0" spc="1" dirty="0">
                <a:solidFill>
                  <a:srgbClr val="FFB800"/>
                </a:solidFill>
              </a:rPr>
              <a:t>COLLABORATION</a:t>
            </a:r>
            <a:endParaRPr lang="en-US" sz="683" dirty="0"/>
          </a:p>
        </p:txBody>
      </p:sp>
      <p:sp>
        <p:nvSpPr>
          <p:cNvPr id="26" name="Text 22"/>
          <p:cNvSpPr/>
          <p:nvPr/>
        </p:nvSpPr>
        <p:spPr>
          <a:xfrm>
            <a:off x="5212063" y="5006318"/>
            <a:ext cx="3446162"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Effective detection requires coordination between SOC, IT operations, and business units</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374346"/>
          </a:xfrm>
          <a:prstGeom prst="rect">
            <a:avLst/>
          </a:prstGeom>
        </p:spPr>
      </p:pic>
      <p:sp>
        <p:nvSpPr>
          <p:cNvPr id="3" name="Shape 0"/>
          <p:cNvSpPr/>
          <p:nvPr/>
        </p:nvSpPr>
        <p:spPr>
          <a:xfrm>
            <a:off x="0" y="0"/>
            <a:ext cx="9144000" cy="578644"/>
          </a:xfrm>
          <a:prstGeom prst="rect">
            <a:avLst/>
          </a:prstGeom>
          <a:solidFill>
            <a:srgbClr val="0A1628"/>
          </a:solidFill>
          <a:ln/>
        </p:spPr>
      </p:sp>
      <p:sp>
        <p:nvSpPr>
          <p:cNvPr id="4" name="Shape 1"/>
          <p:cNvSpPr/>
          <p:nvPr/>
        </p:nvSpPr>
        <p:spPr>
          <a:xfrm>
            <a:off x="0" y="557213"/>
            <a:ext cx="9144000" cy="21431"/>
          </a:xfrm>
          <a:prstGeom prst="rect">
            <a:avLst/>
          </a:prstGeom>
          <a:solidFill>
            <a:srgbClr val="00D9FF"/>
          </a:solidFill>
          <a:ln/>
        </p:spPr>
      </p:sp>
      <p:sp>
        <p:nvSpPr>
          <p:cNvPr id="5" name="Text 2"/>
          <p:cNvSpPr/>
          <p:nvPr/>
        </p:nvSpPr>
        <p:spPr>
          <a:xfrm>
            <a:off x="285750" y="107156"/>
            <a:ext cx="8572500" cy="342900"/>
          </a:xfrm>
          <a:prstGeom prst="rect">
            <a:avLst/>
          </a:prstGeom>
          <a:noFill/>
          <a:ln/>
        </p:spPr>
        <p:txBody>
          <a:bodyPr wrap="none" lIns="0" tIns="0" rIns="0" bIns="0" rtlCol="0" anchor="t">
            <a:spAutoFit/>
          </a:bodyPr>
          <a:lstStyle/>
          <a:p>
            <a:pPr marL="0" indent="0" algn="l">
              <a:lnSpc>
                <a:spcPts val="2700"/>
              </a:lnSpc>
              <a:buNone/>
            </a:pPr>
            <a:r>
              <a:rPr lang="en-US" sz="1602" b="1" kern="0" spc="2" dirty="0">
                <a:solidFill>
                  <a:srgbClr val="FF3B3F"/>
                </a:solidFill>
              </a:rPr>
              <a:t>PHASE 3: CONTAINMENT, ERADICATION &amp; RECOVERY</a:t>
            </a:r>
            <a:endParaRPr lang="en-US" sz="1602" dirty="0"/>
          </a:p>
        </p:txBody>
      </p:sp>
      <p:sp>
        <p:nvSpPr>
          <p:cNvPr id="6" name="Shape 3"/>
          <p:cNvSpPr/>
          <p:nvPr/>
        </p:nvSpPr>
        <p:spPr>
          <a:xfrm>
            <a:off x="285750" y="807244"/>
            <a:ext cx="4950619" cy="1428750"/>
          </a:xfrm>
          <a:prstGeom prst="rect">
            <a:avLst/>
          </a:prstGeom>
          <a:solidFill>
            <a:srgbClr val="00D9FF">
              <a:alpha val="5000"/>
            </a:srgbClr>
          </a:solidFill>
          <a:ln w="18288">
            <a:solidFill>
              <a:srgbClr val="00D9FF"/>
            </a:solidFill>
            <a:prstDash val="solid"/>
          </a:ln>
        </p:spPr>
      </p:sp>
      <p:sp>
        <p:nvSpPr>
          <p:cNvPr id="7" name="Text 4"/>
          <p:cNvSpPr/>
          <p:nvPr/>
        </p:nvSpPr>
        <p:spPr>
          <a:xfrm>
            <a:off x="428625" y="921544"/>
            <a:ext cx="466486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CONTAINMENT STRATEGIES</a:t>
            </a:r>
            <a:endParaRPr lang="en-US" sz="784" dirty="0"/>
          </a:p>
        </p:txBody>
      </p:sp>
      <p:sp>
        <p:nvSpPr>
          <p:cNvPr id="8" name="Text 5"/>
          <p:cNvSpPr/>
          <p:nvPr/>
        </p:nvSpPr>
        <p:spPr>
          <a:xfrm>
            <a:off x="428625" y="1178719"/>
            <a:ext cx="2275284"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B800"/>
                </a:solidFill>
              </a:rPr>
              <a:t>Short-Term Containment</a:t>
            </a:r>
            <a:endParaRPr lang="en-US" sz="784" dirty="0"/>
          </a:p>
        </p:txBody>
      </p:sp>
      <p:sp>
        <p:nvSpPr>
          <p:cNvPr id="9" name="Text 6"/>
          <p:cNvSpPr/>
          <p:nvPr/>
        </p:nvSpPr>
        <p:spPr>
          <a:xfrm>
            <a:off x="571500" y="1407319"/>
            <a:ext cx="2132409"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Isolate affected systems</a:t>
            </a:r>
            <a:endParaRPr lang="en-US" sz="780" dirty="0"/>
          </a:p>
        </p:txBody>
      </p:sp>
      <p:sp>
        <p:nvSpPr>
          <p:cNvPr id="10" name="Text 7"/>
          <p:cNvSpPr/>
          <p:nvPr/>
        </p:nvSpPr>
        <p:spPr>
          <a:xfrm>
            <a:off x="571500" y="1578769"/>
            <a:ext cx="2132409"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Block malicious IPs/domains</a:t>
            </a:r>
            <a:endParaRPr lang="en-US" sz="780" dirty="0"/>
          </a:p>
        </p:txBody>
      </p:sp>
      <p:sp>
        <p:nvSpPr>
          <p:cNvPr id="11" name="Text 8"/>
          <p:cNvSpPr/>
          <p:nvPr/>
        </p:nvSpPr>
        <p:spPr>
          <a:xfrm>
            <a:off x="571500" y="1750219"/>
            <a:ext cx="2132409"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Disable compromised accounts</a:t>
            </a:r>
            <a:endParaRPr lang="en-US" sz="780" dirty="0"/>
          </a:p>
        </p:txBody>
      </p:sp>
      <p:sp>
        <p:nvSpPr>
          <p:cNvPr id="12" name="Text 9"/>
          <p:cNvSpPr/>
          <p:nvPr/>
        </p:nvSpPr>
        <p:spPr>
          <a:xfrm>
            <a:off x="571500" y="1921669"/>
            <a:ext cx="2132409"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Preserve evidence</a:t>
            </a:r>
            <a:endParaRPr lang="en-US" sz="780" dirty="0"/>
          </a:p>
        </p:txBody>
      </p:sp>
      <p:sp>
        <p:nvSpPr>
          <p:cNvPr id="13" name="Text 10"/>
          <p:cNvSpPr/>
          <p:nvPr/>
        </p:nvSpPr>
        <p:spPr>
          <a:xfrm>
            <a:off x="2818209" y="1178719"/>
            <a:ext cx="2275284"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B800"/>
                </a:solidFill>
              </a:rPr>
              <a:t>Long-Term Containment</a:t>
            </a:r>
            <a:endParaRPr lang="en-US" sz="784" dirty="0"/>
          </a:p>
        </p:txBody>
      </p:sp>
      <p:sp>
        <p:nvSpPr>
          <p:cNvPr id="14" name="Text 11"/>
          <p:cNvSpPr/>
          <p:nvPr/>
        </p:nvSpPr>
        <p:spPr>
          <a:xfrm>
            <a:off x="2961084" y="1407319"/>
            <a:ext cx="2132409"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Apply security patches</a:t>
            </a:r>
            <a:endParaRPr lang="en-US" sz="780" dirty="0"/>
          </a:p>
        </p:txBody>
      </p:sp>
      <p:sp>
        <p:nvSpPr>
          <p:cNvPr id="15" name="Text 12"/>
          <p:cNvSpPr/>
          <p:nvPr/>
        </p:nvSpPr>
        <p:spPr>
          <a:xfrm>
            <a:off x="2961084" y="1578769"/>
            <a:ext cx="2132409"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Implement compensating controls</a:t>
            </a:r>
            <a:endParaRPr lang="en-US" sz="780" dirty="0"/>
          </a:p>
        </p:txBody>
      </p:sp>
      <p:sp>
        <p:nvSpPr>
          <p:cNvPr id="16" name="Text 13"/>
          <p:cNvSpPr/>
          <p:nvPr/>
        </p:nvSpPr>
        <p:spPr>
          <a:xfrm>
            <a:off x="2961084" y="1750219"/>
            <a:ext cx="2132409"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Segment network architecture</a:t>
            </a:r>
            <a:endParaRPr lang="en-US" sz="780" dirty="0"/>
          </a:p>
        </p:txBody>
      </p:sp>
      <p:sp>
        <p:nvSpPr>
          <p:cNvPr id="17" name="Text 14"/>
          <p:cNvSpPr/>
          <p:nvPr/>
        </p:nvSpPr>
        <p:spPr>
          <a:xfrm>
            <a:off x="2961084" y="1921669"/>
            <a:ext cx="2132409"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Strengthen access controls</a:t>
            </a:r>
            <a:endParaRPr lang="en-US" sz="780" dirty="0"/>
          </a:p>
        </p:txBody>
      </p:sp>
      <p:sp>
        <p:nvSpPr>
          <p:cNvPr id="18" name="Shape 15"/>
          <p:cNvSpPr/>
          <p:nvPr/>
        </p:nvSpPr>
        <p:spPr>
          <a:xfrm>
            <a:off x="285750" y="2336006"/>
            <a:ext cx="4950619" cy="1291568"/>
          </a:xfrm>
          <a:prstGeom prst="rect">
            <a:avLst/>
          </a:prstGeom>
          <a:solidFill>
            <a:srgbClr val="00D9FF">
              <a:alpha val="5000"/>
            </a:srgbClr>
          </a:solidFill>
          <a:ln w="18288">
            <a:solidFill>
              <a:srgbClr val="00D9FF"/>
            </a:solidFill>
            <a:prstDash val="solid"/>
          </a:ln>
        </p:spPr>
      </p:sp>
      <p:sp>
        <p:nvSpPr>
          <p:cNvPr id="19" name="Text 16"/>
          <p:cNvSpPr/>
          <p:nvPr/>
        </p:nvSpPr>
        <p:spPr>
          <a:xfrm>
            <a:off x="428625" y="2450306"/>
            <a:ext cx="466486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ERADICATION PROCEDURES</a:t>
            </a:r>
            <a:endParaRPr lang="en-US" sz="784" dirty="0"/>
          </a:p>
        </p:txBody>
      </p:sp>
      <p:sp>
        <p:nvSpPr>
          <p:cNvPr id="20" name="Text 17"/>
          <p:cNvSpPr/>
          <p:nvPr/>
        </p:nvSpPr>
        <p:spPr>
          <a:xfrm>
            <a:off x="428625" y="2707481"/>
            <a:ext cx="4664869" cy="777218"/>
          </a:xfrm>
          <a:prstGeom prst="rect">
            <a:avLst/>
          </a:prstGeom>
          <a:noFill/>
          <a:ln/>
        </p:spPr>
        <p:txBody>
          <a:bodyPr wrap="square" lIns="0" tIns="0" rIns="0" bIns="0" rtlCol="0" anchor="t">
            <a:spAutoFit/>
          </a:bodyPr>
          <a:lstStyle/>
          <a:p>
            <a:pPr marL="0" indent="0" algn="l">
              <a:lnSpc>
                <a:spcPts val="1500"/>
              </a:lnSpc>
              <a:buNone/>
            </a:pPr>
            <a:r>
              <a:rPr lang="en-US" sz="784" b="1" dirty="0">
                <a:solidFill>
                  <a:srgbClr val="00D9FF"/>
                </a:solidFill>
              </a:rPr>
              <a:t>Remove Malware:</a:t>
            </a:r>
            <a:r>
              <a:rPr lang="en-US" sz="834" dirty="0">
                <a:solidFill>
                  <a:srgbClr val="E8EDF2"/>
                </a:solidFill>
              </a:rPr>
              <a:t> Delete malicious files and registry entries
</a:t>
            </a:r>
            <a:r>
              <a:rPr lang="en-US" sz="784" b="1" dirty="0">
                <a:solidFill>
                  <a:srgbClr val="00D9FF"/>
                </a:solidFill>
              </a:rPr>
              <a:t>Close Vulnerabilities:</a:t>
            </a:r>
            <a:r>
              <a:rPr lang="en-US" sz="834" dirty="0">
                <a:solidFill>
                  <a:srgbClr val="E8EDF2"/>
                </a:solidFill>
              </a:rPr>
              <a:t> Patch exploited weaknesses and misconfigurations
</a:t>
            </a:r>
            <a:r>
              <a:rPr lang="en-US" sz="784" b="1" dirty="0">
                <a:solidFill>
                  <a:srgbClr val="00D9FF"/>
                </a:solidFill>
              </a:rPr>
              <a:t>Eliminate Backdoors:</a:t>
            </a:r>
            <a:r>
              <a:rPr lang="en-US" sz="834" dirty="0">
                <a:solidFill>
                  <a:srgbClr val="E8EDF2"/>
                </a:solidFill>
              </a:rPr>
              <a:t> Remove unauthorized access mechanisms
</a:t>
            </a:r>
            <a:r>
              <a:rPr lang="en-US" sz="784" b="1" dirty="0">
                <a:solidFill>
                  <a:srgbClr val="00D9FF"/>
                </a:solidFill>
              </a:rPr>
              <a:t>Verify Removal:</a:t>
            </a:r>
            <a:r>
              <a:rPr lang="en-US" sz="834" dirty="0">
                <a:solidFill>
                  <a:srgbClr val="E8EDF2"/>
                </a:solidFill>
              </a:rPr>
              <a:t> Scan systems to confirm threat elimination</a:t>
            </a:r>
            <a:endParaRPr lang="en-US" sz="784" dirty="0"/>
          </a:p>
        </p:txBody>
      </p:sp>
      <p:sp>
        <p:nvSpPr>
          <p:cNvPr id="21" name="Shape 18"/>
          <p:cNvSpPr/>
          <p:nvPr/>
        </p:nvSpPr>
        <p:spPr>
          <a:xfrm>
            <a:off x="285750" y="3727586"/>
            <a:ext cx="4950619" cy="1291568"/>
          </a:xfrm>
          <a:prstGeom prst="rect">
            <a:avLst/>
          </a:prstGeom>
          <a:solidFill>
            <a:srgbClr val="00D9FF">
              <a:alpha val="5000"/>
            </a:srgbClr>
          </a:solidFill>
          <a:ln w="18288">
            <a:solidFill>
              <a:srgbClr val="00D9FF"/>
            </a:solidFill>
            <a:prstDash val="solid"/>
          </a:ln>
        </p:spPr>
      </p:sp>
      <p:sp>
        <p:nvSpPr>
          <p:cNvPr id="22" name="Text 19"/>
          <p:cNvSpPr/>
          <p:nvPr/>
        </p:nvSpPr>
        <p:spPr>
          <a:xfrm>
            <a:off x="428625" y="3841886"/>
            <a:ext cx="466486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RECOVERY PROCESSES</a:t>
            </a:r>
            <a:endParaRPr lang="en-US" sz="784" dirty="0"/>
          </a:p>
        </p:txBody>
      </p:sp>
      <p:sp>
        <p:nvSpPr>
          <p:cNvPr id="23" name="Text 20"/>
          <p:cNvSpPr/>
          <p:nvPr/>
        </p:nvSpPr>
        <p:spPr>
          <a:xfrm>
            <a:off x="428625" y="4099061"/>
            <a:ext cx="4664869" cy="777218"/>
          </a:xfrm>
          <a:prstGeom prst="rect">
            <a:avLst/>
          </a:prstGeom>
          <a:noFill/>
          <a:ln/>
        </p:spPr>
        <p:txBody>
          <a:bodyPr wrap="square" lIns="0" tIns="0" rIns="0" bIns="0" rtlCol="0" anchor="t">
            <a:spAutoFit/>
          </a:bodyPr>
          <a:lstStyle/>
          <a:p>
            <a:pPr marL="0" indent="0" algn="l">
              <a:lnSpc>
                <a:spcPts val="1500"/>
              </a:lnSpc>
              <a:buNone/>
            </a:pPr>
            <a:r>
              <a:rPr lang="en-US" sz="784" b="1" dirty="0">
                <a:solidFill>
                  <a:srgbClr val="00D9FF"/>
                </a:solidFill>
              </a:rPr>
              <a:t>Restore Systems:</a:t>
            </a:r>
            <a:r>
              <a:rPr lang="en-US" sz="834" dirty="0">
                <a:solidFill>
                  <a:srgbClr val="E8EDF2"/>
                </a:solidFill>
              </a:rPr>
              <a:t> Rebuild from clean backups or known-good images
</a:t>
            </a:r>
            <a:r>
              <a:rPr lang="en-US" sz="784" b="1" dirty="0">
                <a:solidFill>
                  <a:srgbClr val="00D9FF"/>
                </a:solidFill>
              </a:rPr>
              <a:t>Validate Integrity:</a:t>
            </a:r>
            <a:r>
              <a:rPr lang="en-US" sz="834" dirty="0">
                <a:solidFill>
                  <a:srgbClr val="E8EDF2"/>
                </a:solidFill>
              </a:rPr>
              <a:t> Verify system configurations and data accuracy
</a:t>
            </a:r>
            <a:r>
              <a:rPr lang="en-US" sz="784" b="1" dirty="0">
                <a:solidFill>
                  <a:srgbClr val="00D9FF"/>
                </a:solidFill>
              </a:rPr>
              <a:t>Monitor Operations:</a:t>
            </a:r>
            <a:r>
              <a:rPr lang="en-US" sz="834" dirty="0">
                <a:solidFill>
                  <a:srgbClr val="E8EDF2"/>
                </a:solidFill>
              </a:rPr>
              <a:t> Enhanced surveillance during recovery period
</a:t>
            </a:r>
            <a:r>
              <a:rPr lang="en-US" sz="784" b="1" dirty="0">
                <a:solidFill>
                  <a:srgbClr val="00D9FF"/>
                </a:solidFill>
              </a:rPr>
              <a:t>Return to Production:</a:t>
            </a:r>
            <a:r>
              <a:rPr lang="en-US" sz="834" dirty="0">
                <a:solidFill>
                  <a:srgbClr val="E8EDF2"/>
                </a:solidFill>
              </a:rPr>
              <a:t> Phased restoration of business operations</a:t>
            </a:r>
            <a:endParaRPr lang="en-US" sz="784" dirty="0"/>
          </a:p>
        </p:txBody>
      </p:sp>
      <p:sp>
        <p:nvSpPr>
          <p:cNvPr id="24" name="Shape 21"/>
          <p:cNvSpPr/>
          <p:nvPr/>
        </p:nvSpPr>
        <p:spPr>
          <a:xfrm>
            <a:off x="285750" y="5119167"/>
            <a:ext cx="4950619" cy="778669"/>
          </a:xfrm>
          <a:prstGeom prst="rect">
            <a:avLst/>
          </a:prstGeom>
          <a:solidFill>
            <a:srgbClr val="FF3B3F">
              <a:alpha val="5000"/>
            </a:srgbClr>
          </a:solidFill>
          <a:ln w="18288">
            <a:solidFill>
              <a:srgbClr val="FF3B3F"/>
            </a:solidFill>
            <a:prstDash val="solid"/>
          </a:ln>
        </p:spPr>
      </p:sp>
      <p:sp>
        <p:nvSpPr>
          <p:cNvPr id="25" name="Text 22"/>
          <p:cNvSpPr/>
          <p:nvPr/>
        </p:nvSpPr>
        <p:spPr>
          <a:xfrm>
            <a:off x="414338" y="5219179"/>
            <a:ext cx="4693444" cy="150019"/>
          </a:xfrm>
          <a:prstGeom prst="rect">
            <a:avLst/>
          </a:prstGeom>
          <a:noFill/>
          <a:ln/>
        </p:spPr>
        <p:txBody>
          <a:bodyPr wrap="none" lIns="0" tIns="0" rIns="0" bIns="0" rtlCol="0" anchor="t">
            <a:spAutoFit/>
          </a:bodyPr>
          <a:lstStyle/>
          <a:p>
            <a:pPr marL="0" indent="0" algn="l">
              <a:lnSpc>
                <a:spcPts val="1200"/>
              </a:lnSpc>
              <a:buNone/>
            </a:pPr>
            <a:r>
              <a:rPr lang="en-US" sz="683" b="1" kern="0" spc="1" dirty="0">
                <a:solidFill>
                  <a:srgbClr val="FF3B3F"/>
                </a:solidFill>
              </a:rPr>
              <a:t>EVIDENCE PRESERVATION</a:t>
            </a:r>
            <a:endParaRPr lang="en-US" sz="683" dirty="0"/>
          </a:p>
        </p:txBody>
      </p:sp>
      <p:sp>
        <p:nvSpPr>
          <p:cNvPr id="26" name="Text 23"/>
          <p:cNvSpPr/>
          <p:nvPr/>
        </p:nvSpPr>
        <p:spPr>
          <a:xfrm>
            <a:off x="414338" y="5426348"/>
            <a:ext cx="4693444" cy="34290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E8EDF2"/>
                </a:solidFill>
              </a:rPr>
              <a:t>Maintain chain of custody throughout all phases. Document all actions, preserve forensic artifacts, and secure evidence for potential legal proceedings</a:t>
            </a:r>
            <a:endParaRPr lang="en-US" sz="780" dirty="0"/>
          </a:p>
        </p:txBody>
      </p:sp>
      <p:sp>
        <p:nvSpPr>
          <p:cNvPr id="27" name="Shape 24"/>
          <p:cNvSpPr/>
          <p:nvPr/>
        </p:nvSpPr>
        <p:spPr>
          <a:xfrm>
            <a:off x="5700713" y="807244"/>
            <a:ext cx="3228975" cy="2657475"/>
          </a:xfrm>
          <a:prstGeom prst="rect">
            <a:avLst/>
          </a:prstGeom>
          <a:solidFill>
            <a:srgbClr val="00D9FF">
              <a:alpha val="5000"/>
            </a:srgbClr>
          </a:solidFill>
          <a:ln w="18288">
            <a:solidFill>
              <a:srgbClr val="00D9FF"/>
            </a:solidFill>
            <a:prstDash val="solid"/>
          </a:ln>
        </p:spPr>
      </p:sp>
      <p:sp>
        <p:nvSpPr>
          <p:cNvPr id="28" name="Text 25"/>
          <p:cNvSpPr/>
          <p:nvPr/>
        </p:nvSpPr>
        <p:spPr>
          <a:xfrm>
            <a:off x="5843588" y="921544"/>
            <a:ext cx="2943225"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INCIDENT RESPONSE WORKFLOW</a:t>
            </a:r>
            <a:endParaRPr lang="en-US" sz="784" dirty="0"/>
          </a:p>
        </p:txBody>
      </p:sp>
      <p:pic>
        <p:nvPicPr>
          <p:cNvPr id="29" name="Image 1" descr="preencoded.png"/>
          <p:cNvPicPr>
            <a:picLocks noChangeAspect="1"/>
          </p:cNvPicPr>
          <p:nvPr/>
        </p:nvPicPr>
        <p:blipFill>
          <a:blip r:embed="rId4"/>
          <a:stretch>
            <a:fillRect/>
          </a:stretch>
        </p:blipFill>
        <p:spPr>
          <a:xfrm>
            <a:off x="5915025" y="1250156"/>
            <a:ext cx="2800350" cy="2000250"/>
          </a:xfrm>
          <a:prstGeom prst="rect">
            <a:avLst/>
          </a:prstGeom>
        </p:spPr>
      </p:pic>
      <p:sp>
        <p:nvSpPr>
          <p:cNvPr id="30" name="Shape 26"/>
          <p:cNvSpPr/>
          <p:nvPr/>
        </p:nvSpPr>
        <p:spPr>
          <a:xfrm>
            <a:off x="5700713" y="3579019"/>
            <a:ext cx="3228975" cy="1596628"/>
          </a:xfrm>
          <a:prstGeom prst="rect">
            <a:avLst/>
          </a:prstGeom>
          <a:solidFill>
            <a:srgbClr val="00D9FF">
              <a:alpha val="5000"/>
            </a:srgbClr>
          </a:solidFill>
          <a:ln w="18288">
            <a:solidFill>
              <a:srgbClr val="00D9FF"/>
            </a:solidFill>
            <a:prstDash val="solid"/>
          </a:ln>
        </p:spPr>
      </p:sp>
      <p:sp>
        <p:nvSpPr>
          <p:cNvPr id="31" name="Text 27"/>
          <p:cNvSpPr/>
          <p:nvPr/>
        </p:nvSpPr>
        <p:spPr>
          <a:xfrm>
            <a:off x="5843588" y="3693319"/>
            <a:ext cx="2943225"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RESTORATION VALIDATION</a:t>
            </a:r>
            <a:endParaRPr lang="en-US" sz="784" dirty="0"/>
          </a:p>
        </p:txBody>
      </p:sp>
      <p:sp>
        <p:nvSpPr>
          <p:cNvPr id="32" name="Text 28"/>
          <p:cNvSpPr/>
          <p:nvPr/>
        </p:nvSpPr>
        <p:spPr>
          <a:xfrm>
            <a:off x="5957888" y="3950494"/>
            <a:ext cx="1424341" cy="182166"/>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System functionality verified</a:t>
            </a:r>
            <a:endParaRPr lang="en-US" sz="780" dirty="0"/>
          </a:p>
        </p:txBody>
      </p:sp>
      <p:sp>
        <p:nvSpPr>
          <p:cNvPr id="33" name="Text 29"/>
          <p:cNvSpPr/>
          <p:nvPr/>
        </p:nvSpPr>
        <p:spPr>
          <a:xfrm>
            <a:off x="5957888" y="4175522"/>
            <a:ext cx="1443512" cy="182166"/>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Security controls operational</a:t>
            </a:r>
            <a:endParaRPr lang="en-US" sz="780" dirty="0"/>
          </a:p>
        </p:txBody>
      </p:sp>
      <p:sp>
        <p:nvSpPr>
          <p:cNvPr id="34" name="Text 30"/>
          <p:cNvSpPr/>
          <p:nvPr/>
        </p:nvSpPr>
        <p:spPr>
          <a:xfrm>
            <a:off x="5957888" y="4400550"/>
            <a:ext cx="1461622" cy="182166"/>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No residual malicious activity</a:t>
            </a:r>
            <a:endParaRPr lang="en-US" sz="780" dirty="0"/>
          </a:p>
        </p:txBody>
      </p:sp>
      <p:sp>
        <p:nvSpPr>
          <p:cNvPr id="35" name="Text 31"/>
          <p:cNvSpPr/>
          <p:nvPr/>
        </p:nvSpPr>
        <p:spPr>
          <a:xfrm>
            <a:off x="5957888" y="4625578"/>
            <a:ext cx="1088306" cy="182166"/>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Monitoring enhanced</a:t>
            </a:r>
            <a:endParaRPr lang="en-US" sz="780" dirty="0"/>
          </a:p>
        </p:txBody>
      </p:sp>
      <p:sp>
        <p:nvSpPr>
          <p:cNvPr id="36" name="Text 32"/>
          <p:cNvSpPr/>
          <p:nvPr/>
        </p:nvSpPr>
        <p:spPr>
          <a:xfrm>
            <a:off x="5957888" y="4850606"/>
            <a:ext cx="1072009" cy="182166"/>
          </a:xfrm>
          <a:prstGeom prst="rect">
            <a:avLst/>
          </a:prstGeom>
          <a:noFill/>
          <a:ln/>
        </p:spPr>
        <p:txBody>
          <a:bodyPr wrap="none" lIns="0" tIns="0" rIns="0" bIns="0" rtlCol="0" anchor="t">
            <a:spAutoFit/>
          </a:bodyPr>
          <a:lstStyle/>
          <a:p>
            <a:pPr marL="0" indent="0" algn="l">
              <a:lnSpc>
                <a:spcPts val="1400"/>
              </a:lnSpc>
              <a:buNone/>
            </a:pPr>
            <a:r>
              <a:rPr lang="en-US" sz="780" dirty="0">
                <a:solidFill>
                  <a:srgbClr val="E8EDF2"/>
                </a:solidFill>
              </a:rPr>
              <a:t>Stakeholders notified</a:t>
            </a:r>
            <a:endParaRPr lang="en-US" sz="780" dirty="0"/>
          </a:p>
        </p:txBody>
      </p:sp>
      <p:sp>
        <p:nvSpPr>
          <p:cNvPr id="37" name="Shape 33"/>
          <p:cNvSpPr/>
          <p:nvPr/>
        </p:nvSpPr>
        <p:spPr>
          <a:xfrm>
            <a:off x="5700713" y="5289947"/>
            <a:ext cx="3228975" cy="755786"/>
          </a:xfrm>
          <a:prstGeom prst="rect">
            <a:avLst/>
          </a:prstGeom>
          <a:solidFill>
            <a:srgbClr val="FFB800">
              <a:alpha val="5000"/>
            </a:srgbClr>
          </a:solidFill>
          <a:ln w="18288">
            <a:solidFill>
              <a:srgbClr val="FFB800"/>
            </a:solidFill>
            <a:prstDash val="solid"/>
          </a:ln>
        </p:spPr>
      </p:sp>
      <p:sp>
        <p:nvSpPr>
          <p:cNvPr id="38" name="Text 34"/>
          <p:cNvSpPr/>
          <p:nvPr/>
        </p:nvSpPr>
        <p:spPr>
          <a:xfrm>
            <a:off x="5829300" y="5389959"/>
            <a:ext cx="2971800" cy="150019"/>
          </a:xfrm>
          <a:prstGeom prst="rect">
            <a:avLst/>
          </a:prstGeom>
          <a:noFill/>
          <a:ln/>
        </p:spPr>
        <p:txBody>
          <a:bodyPr wrap="none" lIns="0" tIns="0" rIns="0" bIns="0" rtlCol="0" anchor="t">
            <a:spAutoFit/>
          </a:bodyPr>
          <a:lstStyle/>
          <a:p>
            <a:pPr marL="0" indent="0" algn="l">
              <a:lnSpc>
                <a:spcPts val="1200"/>
              </a:lnSpc>
              <a:buNone/>
            </a:pPr>
            <a:r>
              <a:rPr lang="en-US" sz="683" b="1" kern="0" spc="1" dirty="0">
                <a:solidFill>
                  <a:srgbClr val="FFB800"/>
                </a:solidFill>
              </a:rPr>
              <a:t>CRITICAL CONSIDERATION</a:t>
            </a:r>
            <a:endParaRPr lang="en-US" sz="683" dirty="0"/>
          </a:p>
        </p:txBody>
      </p:sp>
      <p:sp>
        <p:nvSpPr>
          <p:cNvPr id="39" name="Text 35"/>
          <p:cNvSpPr/>
          <p:nvPr/>
        </p:nvSpPr>
        <p:spPr>
          <a:xfrm>
            <a:off x="5829300" y="5597128"/>
            <a:ext cx="2971800" cy="320018"/>
          </a:xfrm>
          <a:prstGeom prst="rect">
            <a:avLst/>
          </a:prstGeom>
          <a:noFill/>
          <a:ln/>
        </p:spPr>
        <p:txBody>
          <a:bodyPr wrap="square" lIns="0" tIns="0" rIns="0" bIns="0" rtlCol="0" anchor="t">
            <a:spAutoFit/>
          </a:bodyPr>
          <a:lstStyle/>
          <a:p>
            <a:pPr marL="0" indent="0" algn="l">
              <a:lnSpc>
                <a:spcPts val="1300"/>
              </a:lnSpc>
              <a:buNone/>
            </a:pPr>
            <a:r>
              <a:rPr lang="en-US" sz="727" dirty="0">
                <a:solidFill>
                  <a:srgbClr val="E8EDF2"/>
                </a:solidFill>
              </a:rPr>
              <a:t>Balance speed of recovery with thoroughness of eradication to prevent reinfection</a:t>
            </a:r>
            <a:endParaRPr lang="en-US" sz="72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027009"/>
          </a:xfrm>
          <a:prstGeom prst="rect">
            <a:avLst/>
          </a:prstGeom>
        </p:spPr>
      </p:pic>
      <p:sp>
        <p:nvSpPr>
          <p:cNvPr id="3" name="Shape 0"/>
          <p:cNvSpPr/>
          <p:nvPr/>
        </p:nvSpPr>
        <p:spPr>
          <a:xfrm>
            <a:off x="0" y="0"/>
            <a:ext cx="9144000" cy="578644"/>
          </a:xfrm>
          <a:prstGeom prst="rect">
            <a:avLst/>
          </a:prstGeom>
          <a:solidFill>
            <a:srgbClr val="0A1628"/>
          </a:solidFill>
          <a:ln/>
        </p:spPr>
      </p:sp>
      <p:sp>
        <p:nvSpPr>
          <p:cNvPr id="4" name="Shape 1"/>
          <p:cNvSpPr/>
          <p:nvPr/>
        </p:nvSpPr>
        <p:spPr>
          <a:xfrm>
            <a:off x="0" y="557213"/>
            <a:ext cx="9144000" cy="21431"/>
          </a:xfrm>
          <a:prstGeom prst="rect">
            <a:avLst/>
          </a:prstGeom>
          <a:solidFill>
            <a:srgbClr val="00D9FF"/>
          </a:solidFill>
          <a:ln/>
        </p:spPr>
      </p:sp>
      <p:sp>
        <p:nvSpPr>
          <p:cNvPr id="5" name="Text 2"/>
          <p:cNvSpPr/>
          <p:nvPr/>
        </p:nvSpPr>
        <p:spPr>
          <a:xfrm>
            <a:off x="357188" y="107156"/>
            <a:ext cx="8429625" cy="342900"/>
          </a:xfrm>
          <a:prstGeom prst="rect">
            <a:avLst/>
          </a:prstGeom>
          <a:noFill/>
          <a:ln/>
        </p:spPr>
        <p:txBody>
          <a:bodyPr wrap="none" lIns="0" tIns="0" rIns="0" bIns="0" rtlCol="0" anchor="t">
            <a:spAutoFit/>
          </a:bodyPr>
          <a:lstStyle/>
          <a:p>
            <a:pPr marL="0" indent="0" algn="l">
              <a:lnSpc>
                <a:spcPts val="2700"/>
              </a:lnSpc>
              <a:buNone/>
            </a:pPr>
            <a:r>
              <a:rPr lang="en-US" sz="1602" b="1" kern="0" spc="2" dirty="0">
                <a:solidFill>
                  <a:srgbClr val="FF3B3F"/>
                </a:solidFill>
              </a:rPr>
              <a:t>PHASE 4: LESSONS LEARNED AND ROOT CAUSE ANALYSIS</a:t>
            </a:r>
            <a:endParaRPr lang="en-US" sz="1602" dirty="0"/>
          </a:p>
        </p:txBody>
      </p:sp>
      <p:sp>
        <p:nvSpPr>
          <p:cNvPr id="6" name="Shape 3"/>
          <p:cNvSpPr/>
          <p:nvPr/>
        </p:nvSpPr>
        <p:spPr>
          <a:xfrm>
            <a:off x="500063" y="914400"/>
            <a:ext cx="3929063" cy="2700198"/>
          </a:xfrm>
          <a:prstGeom prst="rect">
            <a:avLst/>
          </a:prstGeom>
          <a:solidFill>
            <a:srgbClr val="00D9FF">
              <a:alpha val="5000"/>
            </a:srgbClr>
          </a:solidFill>
          <a:ln w="18288">
            <a:solidFill>
              <a:srgbClr val="00D9FF"/>
            </a:solidFill>
            <a:prstDash val="solid"/>
          </a:ln>
        </p:spPr>
      </p:sp>
      <p:sp>
        <p:nvSpPr>
          <p:cNvPr id="7" name="Text 4"/>
          <p:cNvSpPr/>
          <p:nvPr/>
        </p:nvSpPr>
        <p:spPr>
          <a:xfrm>
            <a:off x="700088" y="1085850"/>
            <a:ext cx="3529013" cy="214313"/>
          </a:xfrm>
          <a:prstGeom prst="rect">
            <a:avLst/>
          </a:prstGeom>
          <a:noFill/>
          <a:ln/>
        </p:spPr>
        <p:txBody>
          <a:bodyPr wrap="none" lIns="0" tIns="0" rIns="0" bIns="0" rtlCol="0" anchor="t">
            <a:spAutoFit/>
          </a:bodyPr>
          <a:lstStyle/>
          <a:p>
            <a:pPr marL="0" indent="0" algn="l">
              <a:lnSpc>
                <a:spcPts val="1700"/>
              </a:lnSpc>
              <a:buNone/>
            </a:pPr>
            <a:r>
              <a:rPr lang="en-US" sz="987" b="1" kern="0" spc="1" dirty="0">
                <a:solidFill>
                  <a:srgbClr val="00D9FF"/>
                </a:solidFill>
              </a:rPr>
              <a:t>LESSONS LEARNED PROCESS</a:t>
            </a:r>
            <a:endParaRPr lang="en-US" sz="987" dirty="0"/>
          </a:p>
        </p:txBody>
      </p:sp>
      <p:sp>
        <p:nvSpPr>
          <p:cNvPr id="8" name="Text 5"/>
          <p:cNvSpPr/>
          <p:nvPr/>
        </p:nvSpPr>
        <p:spPr>
          <a:xfrm>
            <a:off x="700088" y="1414463"/>
            <a:ext cx="3529013" cy="437164"/>
          </a:xfrm>
          <a:prstGeom prst="rect">
            <a:avLst/>
          </a:prstGeom>
          <a:noFill/>
          <a:ln/>
        </p:spPr>
        <p:txBody>
          <a:bodyPr wrap="square" lIns="0" tIns="0" rIns="0" bIns="0" rtlCol="0" anchor="t">
            <a:spAutoFit/>
          </a:bodyPr>
          <a:lstStyle/>
          <a:p>
            <a:pPr marL="0" indent="0" algn="l">
              <a:lnSpc>
                <a:spcPts val="1700"/>
              </a:lnSpc>
              <a:buNone/>
            </a:pPr>
            <a:r>
              <a:rPr lang="en-US" sz="942" dirty="0">
                <a:solidFill>
                  <a:srgbClr val="E8EDF2"/>
                </a:solidFill>
              </a:rPr>
              <a:t>Conduct structured review sessions within 2 weeks of incident closure to capture insights while details are fresh.</a:t>
            </a:r>
            <a:endParaRPr lang="en-US" sz="942" dirty="0"/>
          </a:p>
        </p:txBody>
      </p:sp>
      <p:sp>
        <p:nvSpPr>
          <p:cNvPr id="9" name="Text 6"/>
          <p:cNvSpPr/>
          <p:nvPr/>
        </p:nvSpPr>
        <p:spPr>
          <a:xfrm>
            <a:off x="700088" y="1994502"/>
            <a:ext cx="3529013"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800"/>
                </a:solidFill>
              </a:rPr>
              <a:t>Key Questions:</a:t>
            </a:r>
            <a:endParaRPr lang="en-US" sz="885" dirty="0"/>
          </a:p>
        </p:txBody>
      </p:sp>
      <p:sp>
        <p:nvSpPr>
          <p:cNvPr id="10" name="Text 7"/>
          <p:cNvSpPr/>
          <p:nvPr/>
        </p:nvSpPr>
        <p:spPr>
          <a:xfrm>
            <a:off x="842963" y="2273108"/>
            <a:ext cx="3386138" cy="230721"/>
          </a:xfrm>
          <a:prstGeom prst="rect">
            <a:avLst/>
          </a:prstGeom>
          <a:noFill/>
          <a:ln/>
        </p:spPr>
        <p:txBody>
          <a:bodyPr wrap="none" lIns="0" tIns="0" rIns="0" bIns="0" rtlCol="0" anchor="t">
            <a:spAutoFit/>
          </a:bodyPr>
          <a:lstStyle/>
          <a:p>
            <a:pPr marL="0" indent="0" algn="l">
              <a:lnSpc>
                <a:spcPts val="1800"/>
              </a:lnSpc>
              <a:buNone/>
            </a:pPr>
            <a:r>
              <a:rPr lang="en-US" sz="888" dirty="0">
                <a:solidFill>
                  <a:srgbClr val="E8EDF2"/>
                </a:solidFill>
              </a:rPr>
              <a:t>What happened and when?</a:t>
            </a:r>
            <a:endParaRPr lang="en-US" sz="888" dirty="0"/>
          </a:p>
        </p:txBody>
      </p:sp>
      <p:sp>
        <p:nvSpPr>
          <p:cNvPr id="11" name="Text 8"/>
          <p:cNvSpPr/>
          <p:nvPr/>
        </p:nvSpPr>
        <p:spPr>
          <a:xfrm>
            <a:off x="842963" y="2503829"/>
            <a:ext cx="3386138" cy="230721"/>
          </a:xfrm>
          <a:prstGeom prst="rect">
            <a:avLst/>
          </a:prstGeom>
          <a:noFill/>
          <a:ln/>
        </p:spPr>
        <p:txBody>
          <a:bodyPr wrap="none" lIns="0" tIns="0" rIns="0" bIns="0" rtlCol="0" anchor="t">
            <a:spAutoFit/>
          </a:bodyPr>
          <a:lstStyle/>
          <a:p>
            <a:pPr marL="0" indent="0" algn="l">
              <a:lnSpc>
                <a:spcPts val="1800"/>
              </a:lnSpc>
              <a:buNone/>
            </a:pPr>
            <a:r>
              <a:rPr lang="en-US" sz="888" dirty="0">
                <a:solidFill>
                  <a:srgbClr val="E8EDF2"/>
                </a:solidFill>
              </a:rPr>
              <a:t>What worked well?</a:t>
            </a:r>
            <a:endParaRPr lang="en-US" sz="888" dirty="0"/>
          </a:p>
        </p:txBody>
      </p:sp>
      <p:sp>
        <p:nvSpPr>
          <p:cNvPr id="12" name="Text 9"/>
          <p:cNvSpPr/>
          <p:nvPr/>
        </p:nvSpPr>
        <p:spPr>
          <a:xfrm>
            <a:off x="842963" y="2734549"/>
            <a:ext cx="3386138" cy="230721"/>
          </a:xfrm>
          <a:prstGeom prst="rect">
            <a:avLst/>
          </a:prstGeom>
          <a:noFill/>
          <a:ln/>
        </p:spPr>
        <p:txBody>
          <a:bodyPr wrap="none" lIns="0" tIns="0" rIns="0" bIns="0" rtlCol="0" anchor="t">
            <a:spAutoFit/>
          </a:bodyPr>
          <a:lstStyle/>
          <a:p>
            <a:pPr marL="0" indent="0" algn="l">
              <a:lnSpc>
                <a:spcPts val="1800"/>
              </a:lnSpc>
              <a:buNone/>
            </a:pPr>
            <a:r>
              <a:rPr lang="en-US" sz="888" dirty="0">
                <a:solidFill>
                  <a:srgbClr val="E8EDF2"/>
                </a:solidFill>
              </a:rPr>
              <a:t>What could be improved?</a:t>
            </a:r>
            <a:endParaRPr lang="en-US" sz="888" dirty="0"/>
          </a:p>
        </p:txBody>
      </p:sp>
      <p:sp>
        <p:nvSpPr>
          <p:cNvPr id="13" name="Text 10"/>
          <p:cNvSpPr/>
          <p:nvPr/>
        </p:nvSpPr>
        <p:spPr>
          <a:xfrm>
            <a:off x="842963" y="2965270"/>
            <a:ext cx="3386138" cy="230721"/>
          </a:xfrm>
          <a:prstGeom prst="rect">
            <a:avLst/>
          </a:prstGeom>
          <a:noFill/>
          <a:ln/>
        </p:spPr>
        <p:txBody>
          <a:bodyPr wrap="none" lIns="0" tIns="0" rIns="0" bIns="0" rtlCol="0" anchor="t">
            <a:spAutoFit/>
          </a:bodyPr>
          <a:lstStyle/>
          <a:p>
            <a:pPr marL="0" indent="0" algn="l">
              <a:lnSpc>
                <a:spcPts val="1800"/>
              </a:lnSpc>
              <a:buNone/>
            </a:pPr>
            <a:r>
              <a:rPr lang="en-US" sz="888" dirty="0">
                <a:solidFill>
                  <a:srgbClr val="E8EDF2"/>
                </a:solidFill>
              </a:rPr>
              <a:t>What actions prevented greater impact?</a:t>
            </a:r>
            <a:endParaRPr lang="en-US" sz="888" dirty="0"/>
          </a:p>
        </p:txBody>
      </p:sp>
      <p:sp>
        <p:nvSpPr>
          <p:cNvPr id="14" name="Shape 11"/>
          <p:cNvSpPr/>
          <p:nvPr/>
        </p:nvSpPr>
        <p:spPr>
          <a:xfrm>
            <a:off x="4714875" y="914400"/>
            <a:ext cx="3929063" cy="2481616"/>
          </a:xfrm>
          <a:prstGeom prst="rect">
            <a:avLst/>
          </a:prstGeom>
          <a:solidFill>
            <a:srgbClr val="00D9FF">
              <a:alpha val="5000"/>
            </a:srgbClr>
          </a:solidFill>
          <a:ln w="18288">
            <a:solidFill>
              <a:srgbClr val="00D9FF"/>
            </a:solidFill>
            <a:prstDash val="solid"/>
          </a:ln>
        </p:spPr>
      </p:sp>
      <p:sp>
        <p:nvSpPr>
          <p:cNvPr id="15" name="Text 12"/>
          <p:cNvSpPr/>
          <p:nvPr/>
        </p:nvSpPr>
        <p:spPr>
          <a:xfrm>
            <a:off x="4914900" y="1085850"/>
            <a:ext cx="3529013" cy="214313"/>
          </a:xfrm>
          <a:prstGeom prst="rect">
            <a:avLst/>
          </a:prstGeom>
          <a:noFill/>
          <a:ln/>
        </p:spPr>
        <p:txBody>
          <a:bodyPr wrap="none" lIns="0" tIns="0" rIns="0" bIns="0" rtlCol="0" anchor="t">
            <a:spAutoFit/>
          </a:bodyPr>
          <a:lstStyle/>
          <a:p>
            <a:pPr marL="0" indent="0" algn="l">
              <a:lnSpc>
                <a:spcPts val="1700"/>
              </a:lnSpc>
              <a:buNone/>
            </a:pPr>
            <a:r>
              <a:rPr lang="en-US" sz="987" b="1" kern="0" spc="1" dirty="0">
                <a:solidFill>
                  <a:srgbClr val="00D9FF"/>
                </a:solidFill>
              </a:rPr>
              <a:t>ROOT CAUSE ANALYSIS</a:t>
            </a:r>
            <a:endParaRPr lang="en-US" sz="987" dirty="0"/>
          </a:p>
        </p:txBody>
      </p:sp>
      <p:sp>
        <p:nvSpPr>
          <p:cNvPr id="16" name="Text 13"/>
          <p:cNvSpPr/>
          <p:nvPr/>
        </p:nvSpPr>
        <p:spPr>
          <a:xfrm>
            <a:off x="4914900" y="1414463"/>
            <a:ext cx="3529013" cy="437164"/>
          </a:xfrm>
          <a:prstGeom prst="rect">
            <a:avLst/>
          </a:prstGeom>
          <a:noFill/>
          <a:ln/>
        </p:spPr>
        <p:txBody>
          <a:bodyPr wrap="square" lIns="0" tIns="0" rIns="0" bIns="0" rtlCol="0" anchor="t">
            <a:spAutoFit/>
          </a:bodyPr>
          <a:lstStyle/>
          <a:p>
            <a:pPr marL="0" indent="0" algn="l">
              <a:lnSpc>
                <a:spcPts val="1700"/>
              </a:lnSpc>
              <a:buNone/>
            </a:pPr>
            <a:r>
              <a:rPr lang="en-US" sz="942" dirty="0">
                <a:solidFill>
                  <a:srgbClr val="E8EDF2"/>
                </a:solidFill>
              </a:rPr>
              <a:t>Identify underlying factors that allowed the incident to occur and determine systemic vulnerabilities.</a:t>
            </a:r>
            <a:endParaRPr lang="en-US" sz="942" dirty="0"/>
          </a:p>
        </p:txBody>
      </p:sp>
      <p:sp>
        <p:nvSpPr>
          <p:cNvPr id="17" name="Text 14"/>
          <p:cNvSpPr/>
          <p:nvPr/>
        </p:nvSpPr>
        <p:spPr>
          <a:xfrm>
            <a:off x="4914900" y="1994502"/>
            <a:ext cx="3529013"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Analysis Techniques:</a:t>
            </a:r>
            <a:endParaRPr lang="en-US" sz="885" dirty="0"/>
          </a:p>
        </p:txBody>
      </p:sp>
      <p:sp>
        <p:nvSpPr>
          <p:cNvPr id="18" name="Text 15"/>
          <p:cNvSpPr/>
          <p:nvPr/>
        </p:nvSpPr>
        <p:spPr>
          <a:xfrm>
            <a:off x="4914900" y="2273108"/>
            <a:ext cx="3529013" cy="922883"/>
          </a:xfrm>
          <a:prstGeom prst="rect">
            <a:avLst/>
          </a:prstGeom>
          <a:noFill/>
          <a:ln/>
        </p:spPr>
        <p:txBody>
          <a:bodyPr wrap="square" lIns="0" tIns="0" rIns="0" bIns="0" rtlCol="0" anchor="t">
            <a:spAutoFit/>
          </a:bodyPr>
          <a:lstStyle/>
          <a:p>
            <a:pPr marL="0" indent="0" algn="l">
              <a:lnSpc>
                <a:spcPts val="1800"/>
              </a:lnSpc>
              <a:buNone/>
            </a:pPr>
            <a:r>
              <a:rPr lang="en-US" sz="888" dirty="0">
                <a:solidFill>
                  <a:srgbClr val="E8EDF2"/>
                </a:solidFill>
              </a:rPr>
              <a:t>• Five Whys methodology
 • Fishbone diagrams
 • Timeline reconstruction
 • Attack chain analysis</a:t>
            </a:r>
            <a:endParaRPr lang="en-US" sz="888" dirty="0"/>
          </a:p>
        </p:txBody>
      </p:sp>
      <p:sp>
        <p:nvSpPr>
          <p:cNvPr id="19" name="Shape 16"/>
          <p:cNvSpPr/>
          <p:nvPr/>
        </p:nvSpPr>
        <p:spPr>
          <a:xfrm>
            <a:off x="500063" y="3653191"/>
            <a:ext cx="8143875" cy="1269411"/>
          </a:xfrm>
          <a:prstGeom prst="rect">
            <a:avLst/>
          </a:prstGeom>
          <a:solidFill>
            <a:srgbClr val="FFB800">
              <a:alpha val="5000"/>
            </a:srgbClr>
          </a:solidFill>
          <a:ln w="18288">
            <a:solidFill>
              <a:srgbClr val="FFB800"/>
            </a:solidFill>
            <a:prstDash val="solid"/>
          </a:ln>
        </p:spPr>
      </p:sp>
      <p:sp>
        <p:nvSpPr>
          <p:cNvPr id="20" name="Text 17"/>
          <p:cNvSpPr/>
          <p:nvPr/>
        </p:nvSpPr>
        <p:spPr>
          <a:xfrm>
            <a:off x="728663" y="3824641"/>
            <a:ext cx="2730112" cy="192881"/>
          </a:xfrm>
          <a:prstGeom prst="rect">
            <a:avLst/>
          </a:prstGeom>
          <a:noFill/>
          <a:ln/>
        </p:spPr>
        <p:txBody>
          <a:bodyPr wrap="none" lIns="0" tIns="0" rIns="0" bIns="0" rtlCol="0" anchor="t">
            <a:spAutoFit/>
          </a:bodyPr>
          <a:lstStyle/>
          <a:p>
            <a:pPr marL="0" indent="0" algn="l">
              <a:lnSpc>
                <a:spcPts val="1500"/>
              </a:lnSpc>
              <a:buNone/>
            </a:pPr>
            <a:r>
              <a:rPr lang="en-US" sz="885" b="1" kern="0" spc="2" dirty="0">
                <a:solidFill>
                  <a:srgbClr val="FFB800"/>
                </a:solidFill>
              </a:rPr>
              <a:t>POST-INCIDENT REVIEW OBJECTIVES</a:t>
            </a:r>
            <a:endParaRPr lang="en-US" sz="885" dirty="0"/>
          </a:p>
        </p:txBody>
      </p:sp>
      <p:sp>
        <p:nvSpPr>
          <p:cNvPr id="21" name="Text 18"/>
          <p:cNvSpPr/>
          <p:nvPr/>
        </p:nvSpPr>
        <p:spPr>
          <a:xfrm>
            <a:off x="728663" y="4103247"/>
            <a:ext cx="7686675" cy="619330"/>
          </a:xfrm>
          <a:prstGeom prst="rect">
            <a:avLst/>
          </a:prstGeom>
          <a:noFill/>
          <a:ln/>
        </p:spPr>
        <p:txBody>
          <a:bodyPr wrap="square" lIns="0" tIns="0" rIns="0" bIns="0" rtlCol="0" anchor="t">
            <a:spAutoFit/>
          </a:bodyPr>
          <a:lstStyle/>
          <a:p>
            <a:pPr marL="0" indent="0" algn="l">
              <a:lnSpc>
                <a:spcPts val="1600"/>
              </a:lnSpc>
              <a:buNone/>
            </a:pPr>
            <a:r>
              <a:rPr lang="en-US" sz="888" dirty="0">
                <a:solidFill>
                  <a:srgbClr val="E8EDF2"/>
                </a:solidFill>
              </a:rPr>
              <a:t>Post-incident review sessions should create a blame-free environment focused on organizational learning. The goal is to identify systemic weaknesses, recognize effective response actions, and develop actionable recommendations for improving security posture and incident response capabilities.</a:t>
            </a:r>
            <a:endParaRPr lang="en-US" sz="888" dirty="0"/>
          </a:p>
        </p:txBody>
      </p:sp>
      <p:sp>
        <p:nvSpPr>
          <p:cNvPr id="22" name="Text 19"/>
          <p:cNvSpPr/>
          <p:nvPr/>
        </p:nvSpPr>
        <p:spPr>
          <a:xfrm>
            <a:off x="500063" y="5222639"/>
            <a:ext cx="8143875" cy="150019"/>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E8EDF2">
                    <a:alpha val="70000"/>
                  </a:srgbClr>
                </a:solidFill>
              </a:rPr>
              <a:t>Continued: Documentation and Improvement Recommendations</a:t>
            </a:r>
            <a:endParaRPr lang="en-US" sz="72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8644"/>
          </a:xfrm>
          <a:prstGeom prst="rect">
            <a:avLst/>
          </a:prstGeom>
          <a:solidFill>
            <a:srgbClr val="0A1628"/>
          </a:solidFill>
          <a:ln/>
        </p:spPr>
      </p:sp>
      <p:sp>
        <p:nvSpPr>
          <p:cNvPr id="4" name="Shape 1"/>
          <p:cNvSpPr/>
          <p:nvPr/>
        </p:nvSpPr>
        <p:spPr>
          <a:xfrm>
            <a:off x="0" y="557213"/>
            <a:ext cx="9144000" cy="21431"/>
          </a:xfrm>
          <a:prstGeom prst="rect">
            <a:avLst/>
          </a:prstGeom>
          <a:solidFill>
            <a:srgbClr val="00D9FF"/>
          </a:solidFill>
          <a:ln/>
        </p:spPr>
      </p:sp>
      <p:sp>
        <p:nvSpPr>
          <p:cNvPr id="5" name="Text 2"/>
          <p:cNvSpPr/>
          <p:nvPr/>
        </p:nvSpPr>
        <p:spPr>
          <a:xfrm>
            <a:off x="357188" y="107156"/>
            <a:ext cx="8429625" cy="342900"/>
          </a:xfrm>
          <a:prstGeom prst="rect">
            <a:avLst/>
          </a:prstGeom>
          <a:noFill/>
          <a:ln/>
        </p:spPr>
        <p:txBody>
          <a:bodyPr wrap="none" lIns="0" tIns="0" rIns="0" bIns="0" rtlCol="0" anchor="t">
            <a:spAutoFit/>
          </a:bodyPr>
          <a:lstStyle/>
          <a:p>
            <a:pPr marL="0" indent="0" algn="l">
              <a:lnSpc>
                <a:spcPts val="2700"/>
              </a:lnSpc>
              <a:buNone/>
            </a:pPr>
            <a:r>
              <a:rPr lang="en-US" sz="1602" b="1" kern="0" spc="2" dirty="0">
                <a:solidFill>
                  <a:srgbClr val="FF3B3F"/>
                </a:solidFill>
              </a:rPr>
              <a:t>PHASE 4: POST-INCIDENT ACTIVITY (CONTINUED)</a:t>
            </a:r>
            <a:endParaRPr lang="en-US" sz="1602" dirty="0"/>
          </a:p>
        </p:txBody>
      </p:sp>
      <p:sp>
        <p:nvSpPr>
          <p:cNvPr id="6" name="Shape 3"/>
          <p:cNvSpPr/>
          <p:nvPr/>
        </p:nvSpPr>
        <p:spPr>
          <a:xfrm>
            <a:off x="428625" y="914400"/>
            <a:ext cx="4018359" cy="2305952"/>
          </a:xfrm>
          <a:prstGeom prst="rect">
            <a:avLst/>
          </a:prstGeom>
          <a:solidFill>
            <a:srgbClr val="00D9FF">
              <a:alpha val="5000"/>
            </a:srgbClr>
          </a:solidFill>
          <a:ln w="18288">
            <a:solidFill>
              <a:srgbClr val="00D9FF"/>
            </a:solidFill>
            <a:prstDash val="solid"/>
          </a:ln>
        </p:spPr>
      </p:sp>
      <p:sp>
        <p:nvSpPr>
          <p:cNvPr id="7" name="Text 4"/>
          <p:cNvSpPr/>
          <p:nvPr/>
        </p:nvSpPr>
        <p:spPr>
          <a:xfrm>
            <a:off x="600075" y="1057275"/>
            <a:ext cx="3675459" cy="192881"/>
          </a:xfrm>
          <a:prstGeom prst="rect">
            <a:avLst/>
          </a:prstGeom>
          <a:noFill/>
          <a:ln/>
        </p:spPr>
        <p:txBody>
          <a:bodyPr wrap="none" lIns="0" tIns="0" rIns="0" bIns="0" rtlCol="0" anchor="t">
            <a:spAutoFit/>
          </a:bodyPr>
          <a:lstStyle/>
          <a:p>
            <a:pPr marL="0" indent="0" algn="l">
              <a:lnSpc>
                <a:spcPts val="1500"/>
              </a:lnSpc>
              <a:buNone/>
            </a:pPr>
            <a:r>
              <a:rPr lang="en-US" sz="885" b="1" kern="0" spc="1" dirty="0">
                <a:solidFill>
                  <a:srgbClr val="00D9FF"/>
                </a:solidFill>
              </a:rPr>
              <a:t>INCIDENT DOCUMENTATION &amp; REPORTING</a:t>
            </a:r>
            <a:endParaRPr lang="en-US" sz="885" dirty="0"/>
          </a:p>
        </p:txBody>
      </p:sp>
      <p:sp>
        <p:nvSpPr>
          <p:cNvPr id="8" name="Text 5"/>
          <p:cNvSpPr/>
          <p:nvPr/>
        </p:nvSpPr>
        <p:spPr>
          <a:xfrm>
            <a:off x="600075" y="1350169"/>
            <a:ext cx="3675459" cy="412886"/>
          </a:xfrm>
          <a:prstGeom prst="rect">
            <a:avLst/>
          </a:prstGeom>
          <a:noFill/>
          <a:ln/>
        </p:spPr>
        <p:txBody>
          <a:bodyPr wrap="square" lIns="0" tIns="0" rIns="0" bIns="0" rtlCol="0" anchor="t">
            <a:spAutoFit/>
          </a:bodyPr>
          <a:lstStyle/>
          <a:p>
            <a:pPr marL="0" indent="0" algn="l">
              <a:lnSpc>
                <a:spcPts val="1600"/>
              </a:lnSpc>
              <a:buNone/>
            </a:pPr>
            <a:r>
              <a:rPr lang="en-US" sz="888" dirty="0">
                <a:solidFill>
                  <a:srgbClr val="E8EDF2"/>
                </a:solidFill>
              </a:rPr>
              <a:t>Comprehensive documentation ensures regulatory compliance, supports legal proceedings, and enables knowledge sharing.</a:t>
            </a:r>
            <a:endParaRPr lang="en-US" sz="888" dirty="0"/>
          </a:p>
        </p:txBody>
      </p:sp>
      <p:sp>
        <p:nvSpPr>
          <p:cNvPr id="9" name="Text 6"/>
          <p:cNvSpPr/>
          <p:nvPr/>
        </p:nvSpPr>
        <p:spPr>
          <a:xfrm>
            <a:off x="600075" y="1848780"/>
            <a:ext cx="3675459"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B800"/>
                </a:solidFill>
              </a:rPr>
              <a:t>Required Elements:</a:t>
            </a:r>
            <a:endParaRPr lang="en-US" sz="784" dirty="0"/>
          </a:p>
        </p:txBody>
      </p:sp>
      <p:sp>
        <p:nvSpPr>
          <p:cNvPr id="10" name="Text 7"/>
          <p:cNvSpPr/>
          <p:nvPr/>
        </p:nvSpPr>
        <p:spPr>
          <a:xfrm>
            <a:off x="600075" y="2077380"/>
            <a:ext cx="3675459" cy="971522"/>
          </a:xfrm>
          <a:prstGeom prst="rect">
            <a:avLst/>
          </a:prstGeom>
          <a:noFill/>
          <a:ln/>
        </p:spPr>
        <p:txBody>
          <a:bodyPr wrap="square" lIns="0" tIns="0" rIns="0" bIns="0" rtlCol="0" anchor="t">
            <a:spAutoFit/>
          </a:bodyPr>
          <a:lstStyle/>
          <a:p>
            <a:pPr marL="0" indent="0" algn="l">
              <a:lnSpc>
                <a:spcPts val="1500"/>
              </a:lnSpc>
              <a:buNone/>
            </a:pPr>
            <a:r>
              <a:rPr lang="en-US" sz="834" dirty="0">
                <a:solidFill>
                  <a:srgbClr val="E8EDF2"/>
                </a:solidFill>
              </a:rPr>
              <a:t>• Incident timeline and sequence of events
 • Actions taken and decisions made
 • Evidence collected and preserved
 • Impact assessment and costs
 • Stakeholder notifications sent</a:t>
            </a:r>
            <a:endParaRPr lang="en-US" sz="834" dirty="0"/>
          </a:p>
        </p:txBody>
      </p:sp>
      <p:sp>
        <p:nvSpPr>
          <p:cNvPr id="11" name="Shape 8"/>
          <p:cNvSpPr/>
          <p:nvPr/>
        </p:nvSpPr>
        <p:spPr>
          <a:xfrm>
            <a:off x="4697016" y="914400"/>
            <a:ext cx="4018359" cy="2277377"/>
          </a:xfrm>
          <a:prstGeom prst="rect">
            <a:avLst/>
          </a:prstGeom>
          <a:solidFill>
            <a:srgbClr val="00D9FF">
              <a:alpha val="5000"/>
            </a:srgbClr>
          </a:solidFill>
          <a:ln w="18288">
            <a:solidFill>
              <a:srgbClr val="00D9FF"/>
            </a:solidFill>
            <a:prstDash val="solid"/>
          </a:ln>
        </p:spPr>
      </p:sp>
      <p:sp>
        <p:nvSpPr>
          <p:cNvPr id="12" name="Text 9"/>
          <p:cNvSpPr/>
          <p:nvPr/>
        </p:nvSpPr>
        <p:spPr>
          <a:xfrm>
            <a:off x="4868466" y="1057275"/>
            <a:ext cx="3675459" cy="192881"/>
          </a:xfrm>
          <a:prstGeom prst="rect">
            <a:avLst/>
          </a:prstGeom>
          <a:noFill/>
          <a:ln/>
        </p:spPr>
        <p:txBody>
          <a:bodyPr wrap="none" lIns="0" tIns="0" rIns="0" bIns="0" rtlCol="0" anchor="t">
            <a:spAutoFit/>
          </a:bodyPr>
          <a:lstStyle/>
          <a:p>
            <a:pPr marL="0" indent="0" algn="l">
              <a:lnSpc>
                <a:spcPts val="1500"/>
              </a:lnSpc>
              <a:buNone/>
            </a:pPr>
            <a:r>
              <a:rPr lang="en-US" sz="885" b="1" kern="0" spc="1" dirty="0">
                <a:solidFill>
                  <a:srgbClr val="00D9FF"/>
                </a:solidFill>
              </a:rPr>
              <a:t>IMPROVEMENT RECOMMENDATIONS</a:t>
            </a:r>
            <a:endParaRPr lang="en-US" sz="885" dirty="0"/>
          </a:p>
        </p:txBody>
      </p:sp>
      <p:sp>
        <p:nvSpPr>
          <p:cNvPr id="13" name="Text 10"/>
          <p:cNvSpPr/>
          <p:nvPr/>
        </p:nvSpPr>
        <p:spPr>
          <a:xfrm>
            <a:off x="4868466" y="1350169"/>
            <a:ext cx="3675459" cy="412886"/>
          </a:xfrm>
          <a:prstGeom prst="rect">
            <a:avLst/>
          </a:prstGeom>
          <a:noFill/>
          <a:ln/>
        </p:spPr>
        <p:txBody>
          <a:bodyPr wrap="square" lIns="0" tIns="0" rIns="0" bIns="0" rtlCol="0" anchor="t">
            <a:spAutoFit/>
          </a:bodyPr>
          <a:lstStyle/>
          <a:p>
            <a:pPr marL="0" indent="0" algn="l">
              <a:lnSpc>
                <a:spcPts val="1600"/>
              </a:lnSpc>
              <a:buNone/>
            </a:pPr>
            <a:r>
              <a:rPr lang="en-US" sz="888" dirty="0">
                <a:solidFill>
                  <a:srgbClr val="E8EDF2"/>
                </a:solidFill>
              </a:rPr>
              <a:t>Translate lessons learned into actionable improvements across people, processes, and technology.</a:t>
            </a:r>
            <a:endParaRPr lang="en-US" sz="888" dirty="0"/>
          </a:p>
        </p:txBody>
      </p:sp>
      <p:sp>
        <p:nvSpPr>
          <p:cNvPr id="14" name="Text 11"/>
          <p:cNvSpPr/>
          <p:nvPr/>
        </p:nvSpPr>
        <p:spPr>
          <a:xfrm>
            <a:off x="4868466" y="1848780"/>
            <a:ext cx="3675459"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Focus Areas:</a:t>
            </a:r>
            <a:endParaRPr lang="en-US" sz="784" dirty="0"/>
          </a:p>
        </p:txBody>
      </p:sp>
      <p:sp>
        <p:nvSpPr>
          <p:cNvPr id="15" name="Text 12"/>
          <p:cNvSpPr/>
          <p:nvPr/>
        </p:nvSpPr>
        <p:spPr>
          <a:xfrm>
            <a:off x="4868466" y="2077380"/>
            <a:ext cx="3675459" cy="777218"/>
          </a:xfrm>
          <a:prstGeom prst="rect">
            <a:avLst/>
          </a:prstGeom>
          <a:noFill/>
          <a:ln/>
        </p:spPr>
        <p:txBody>
          <a:bodyPr wrap="square" lIns="0" tIns="0" rIns="0" bIns="0" rtlCol="0" anchor="t">
            <a:spAutoFit/>
          </a:bodyPr>
          <a:lstStyle/>
          <a:p>
            <a:pPr marL="0" indent="0" algn="l">
              <a:lnSpc>
                <a:spcPts val="1500"/>
              </a:lnSpc>
              <a:buNone/>
            </a:pPr>
            <a:r>
              <a:rPr lang="en-US" sz="834" dirty="0">
                <a:solidFill>
                  <a:srgbClr val="E8EDF2"/>
                </a:solidFill>
              </a:rPr>
              <a:t>• Security control enhancements
 • Policy and procedure updates
 • Training and awareness gaps
 • Tool and technology improvements</a:t>
            </a:r>
            <a:endParaRPr lang="en-US" sz="834" dirty="0"/>
          </a:p>
        </p:txBody>
      </p:sp>
      <p:sp>
        <p:nvSpPr>
          <p:cNvPr id="16" name="Shape 13"/>
          <p:cNvSpPr/>
          <p:nvPr/>
        </p:nvSpPr>
        <p:spPr>
          <a:xfrm>
            <a:off x="428625" y="3441809"/>
            <a:ext cx="8286750" cy="1226548"/>
          </a:xfrm>
          <a:prstGeom prst="rect">
            <a:avLst/>
          </a:prstGeom>
          <a:solidFill>
            <a:srgbClr val="FFB800">
              <a:alpha val="5000"/>
            </a:srgbClr>
          </a:solidFill>
          <a:ln w="18288">
            <a:solidFill>
              <a:srgbClr val="FFB800"/>
            </a:solidFill>
            <a:prstDash val="solid"/>
          </a:ln>
        </p:spPr>
      </p:sp>
      <p:sp>
        <p:nvSpPr>
          <p:cNvPr id="17" name="Text 14"/>
          <p:cNvSpPr/>
          <p:nvPr/>
        </p:nvSpPr>
        <p:spPr>
          <a:xfrm>
            <a:off x="628650" y="3598971"/>
            <a:ext cx="2701789" cy="192881"/>
          </a:xfrm>
          <a:prstGeom prst="rect">
            <a:avLst/>
          </a:prstGeom>
          <a:noFill/>
          <a:ln/>
        </p:spPr>
        <p:txBody>
          <a:bodyPr wrap="none" lIns="0" tIns="0" rIns="0" bIns="0" rtlCol="0" anchor="t">
            <a:spAutoFit/>
          </a:bodyPr>
          <a:lstStyle/>
          <a:p>
            <a:pPr marL="0" indent="0" algn="l">
              <a:lnSpc>
                <a:spcPts val="1500"/>
              </a:lnSpc>
              <a:buNone/>
            </a:pPr>
            <a:r>
              <a:rPr lang="en-US" sz="885" b="1" kern="0" spc="2" dirty="0">
                <a:solidFill>
                  <a:srgbClr val="FFB800"/>
                </a:solidFill>
              </a:rPr>
              <a:t>CONTINUOUS IMPROVEMENT CYCLE</a:t>
            </a:r>
            <a:endParaRPr lang="en-US" sz="885" dirty="0"/>
          </a:p>
        </p:txBody>
      </p:sp>
      <p:sp>
        <p:nvSpPr>
          <p:cNvPr id="18" name="Text 15"/>
          <p:cNvSpPr/>
          <p:nvPr/>
        </p:nvSpPr>
        <p:spPr>
          <a:xfrm>
            <a:off x="628650" y="3863290"/>
            <a:ext cx="7886700" cy="619330"/>
          </a:xfrm>
          <a:prstGeom prst="rect">
            <a:avLst/>
          </a:prstGeom>
          <a:noFill/>
          <a:ln/>
        </p:spPr>
        <p:txBody>
          <a:bodyPr wrap="square" lIns="0" tIns="0" rIns="0" bIns="0" rtlCol="0" anchor="t">
            <a:spAutoFit/>
          </a:bodyPr>
          <a:lstStyle/>
          <a:p>
            <a:pPr marL="0" indent="0" algn="l">
              <a:lnSpc>
                <a:spcPts val="1600"/>
              </a:lnSpc>
              <a:buNone/>
            </a:pPr>
            <a:r>
              <a:rPr lang="en-US" sz="888" dirty="0">
                <a:solidFill>
                  <a:srgbClr val="E8EDF2"/>
                </a:solidFill>
              </a:rPr>
              <a:t>Post-incident activities are not the end but the beginning of the next preparation phase. Organizations must update IR plans, refine playbooks, enhance detection capabilities, and share threat intelligence to strengthen overall security posture. Knowledge gained from each incident feeds back into preparation, creating a continuous improvement cycle that enhances organizational resilience.</a:t>
            </a:r>
            <a:endParaRPr lang="en-US" sz="888"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929313"/>
          </a:xfrm>
          <a:prstGeom prst="rect">
            <a:avLst/>
          </a:prstGeom>
        </p:spPr>
      </p:pic>
      <p:sp>
        <p:nvSpPr>
          <p:cNvPr id="3" name="Text 0"/>
          <p:cNvSpPr/>
          <p:nvPr/>
        </p:nvSpPr>
        <p:spPr>
          <a:xfrm>
            <a:off x="321469" y="214313"/>
            <a:ext cx="8501063"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INCIDENT RESPONSE PLAN COMPONENTS</a:t>
            </a:r>
            <a:endParaRPr lang="en-US" sz="1808" dirty="0"/>
          </a:p>
        </p:txBody>
      </p:sp>
      <p:sp>
        <p:nvSpPr>
          <p:cNvPr id="4" name="Shape 1"/>
          <p:cNvSpPr/>
          <p:nvPr/>
        </p:nvSpPr>
        <p:spPr>
          <a:xfrm>
            <a:off x="321469" y="835819"/>
            <a:ext cx="2418159" cy="1276331"/>
          </a:xfrm>
          <a:prstGeom prst="rect">
            <a:avLst/>
          </a:prstGeom>
          <a:solidFill>
            <a:srgbClr val="00D9FF">
              <a:alpha val="5000"/>
            </a:srgbClr>
          </a:solidFill>
          <a:ln w="18288">
            <a:solidFill>
              <a:srgbClr val="00D9FF"/>
            </a:solidFill>
            <a:prstDash val="solid"/>
          </a:ln>
        </p:spPr>
      </p:sp>
      <p:sp>
        <p:nvSpPr>
          <p:cNvPr id="5" name="Text 2"/>
          <p:cNvSpPr/>
          <p:nvPr/>
        </p:nvSpPr>
        <p:spPr>
          <a:xfrm>
            <a:off x="435769" y="921544"/>
            <a:ext cx="218955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MISSION &amp; OBJECTIVES</a:t>
            </a:r>
            <a:endParaRPr lang="en-US" sz="784" dirty="0"/>
          </a:p>
        </p:txBody>
      </p:sp>
      <p:sp>
        <p:nvSpPr>
          <p:cNvPr id="6" name="Text 3"/>
          <p:cNvSpPr/>
          <p:nvPr/>
        </p:nvSpPr>
        <p:spPr>
          <a:xfrm>
            <a:off x="435769" y="1150144"/>
            <a:ext cx="2189559"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Define IR program purpose, goals, and alignment with organizational risk management strategy</a:t>
            </a:r>
            <a:endParaRPr lang="en-US" sz="780" dirty="0"/>
          </a:p>
        </p:txBody>
      </p:sp>
      <p:sp>
        <p:nvSpPr>
          <p:cNvPr id="7" name="Shape 4"/>
          <p:cNvSpPr/>
          <p:nvPr/>
        </p:nvSpPr>
        <p:spPr>
          <a:xfrm>
            <a:off x="2825353" y="835819"/>
            <a:ext cx="2418159" cy="1276331"/>
          </a:xfrm>
          <a:prstGeom prst="rect">
            <a:avLst/>
          </a:prstGeom>
          <a:solidFill>
            <a:srgbClr val="00D9FF">
              <a:alpha val="5000"/>
            </a:srgbClr>
          </a:solidFill>
          <a:ln w="18288">
            <a:solidFill>
              <a:srgbClr val="00D9FF"/>
            </a:solidFill>
            <a:prstDash val="solid"/>
          </a:ln>
        </p:spPr>
      </p:sp>
      <p:sp>
        <p:nvSpPr>
          <p:cNvPr id="8" name="Text 5"/>
          <p:cNvSpPr/>
          <p:nvPr/>
        </p:nvSpPr>
        <p:spPr>
          <a:xfrm>
            <a:off x="2939653" y="921544"/>
            <a:ext cx="218955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ORGANIZATIONAL STRUCTURE</a:t>
            </a:r>
            <a:endParaRPr lang="en-US" sz="784" dirty="0"/>
          </a:p>
        </p:txBody>
      </p:sp>
      <p:sp>
        <p:nvSpPr>
          <p:cNvPr id="9" name="Text 6"/>
          <p:cNvSpPr/>
          <p:nvPr/>
        </p:nvSpPr>
        <p:spPr>
          <a:xfrm>
            <a:off x="2939653" y="1150144"/>
            <a:ext cx="2189559"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CSIRT composition, reporting hierarchy, authority levels, and integration with IT and business units</a:t>
            </a:r>
            <a:endParaRPr lang="en-US" sz="780" dirty="0"/>
          </a:p>
        </p:txBody>
      </p:sp>
      <p:sp>
        <p:nvSpPr>
          <p:cNvPr id="10" name="Shape 7"/>
          <p:cNvSpPr/>
          <p:nvPr/>
        </p:nvSpPr>
        <p:spPr>
          <a:xfrm>
            <a:off x="321469" y="2178844"/>
            <a:ext cx="2418159" cy="1285875"/>
          </a:xfrm>
          <a:prstGeom prst="rect">
            <a:avLst/>
          </a:prstGeom>
          <a:solidFill>
            <a:srgbClr val="00D9FF">
              <a:alpha val="5000"/>
            </a:srgbClr>
          </a:solidFill>
          <a:ln w="18288">
            <a:solidFill>
              <a:srgbClr val="00D9FF"/>
            </a:solidFill>
            <a:prstDash val="solid"/>
          </a:ln>
        </p:spPr>
      </p:sp>
      <p:sp>
        <p:nvSpPr>
          <p:cNvPr id="11" name="Text 8"/>
          <p:cNvSpPr/>
          <p:nvPr/>
        </p:nvSpPr>
        <p:spPr>
          <a:xfrm>
            <a:off x="435769" y="2264569"/>
            <a:ext cx="218955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ROLES &amp; RESPONSIBILITIES</a:t>
            </a:r>
            <a:endParaRPr lang="en-US" sz="784" dirty="0"/>
          </a:p>
        </p:txBody>
      </p:sp>
      <p:sp>
        <p:nvSpPr>
          <p:cNvPr id="12" name="Text 9"/>
          <p:cNvSpPr/>
          <p:nvPr/>
        </p:nvSpPr>
        <p:spPr>
          <a:xfrm>
            <a:off x="435769" y="2493169"/>
            <a:ext cx="2189559"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Clear definition of team member duties, decision-making authority, and RACI matrix for accountability</a:t>
            </a:r>
            <a:endParaRPr lang="en-US" sz="780" dirty="0"/>
          </a:p>
        </p:txBody>
      </p:sp>
      <p:sp>
        <p:nvSpPr>
          <p:cNvPr id="13" name="Shape 10"/>
          <p:cNvSpPr/>
          <p:nvPr/>
        </p:nvSpPr>
        <p:spPr>
          <a:xfrm>
            <a:off x="2825353" y="2178844"/>
            <a:ext cx="2418159" cy="1285875"/>
          </a:xfrm>
          <a:prstGeom prst="rect">
            <a:avLst/>
          </a:prstGeom>
          <a:solidFill>
            <a:srgbClr val="00D9FF">
              <a:alpha val="5000"/>
            </a:srgbClr>
          </a:solidFill>
          <a:ln w="18288">
            <a:solidFill>
              <a:srgbClr val="00D9FF"/>
            </a:solidFill>
            <a:prstDash val="solid"/>
          </a:ln>
        </p:spPr>
      </p:sp>
      <p:sp>
        <p:nvSpPr>
          <p:cNvPr id="14" name="Text 11"/>
          <p:cNvSpPr/>
          <p:nvPr/>
        </p:nvSpPr>
        <p:spPr>
          <a:xfrm>
            <a:off x="2939653" y="2274084"/>
            <a:ext cx="218955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COMMUNICATION PROTOCOLS</a:t>
            </a:r>
            <a:endParaRPr lang="en-US" sz="784" dirty="0"/>
          </a:p>
        </p:txBody>
      </p:sp>
      <p:sp>
        <p:nvSpPr>
          <p:cNvPr id="15" name="Text 12"/>
          <p:cNvSpPr/>
          <p:nvPr/>
        </p:nvSpPr>
        <p:spPr>
          <a:xfrm>
            <a:off x="2939653" y="2502684"/>
            <a:ext cx="2189559"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Internal notification procedures, external stakeholder communication, and secure channels for sensitive data</a:t>
            </a:r>
            <a:endParaRPr lang="en-US" sz="780" dirty="0"/>
          </a:p>
        </p:txBody>
      </p:sp>
      <p:sp>
        <p:nvSpPr>
          <p:cNvPr id="16" name="Shape 13"/>
          <p:cNvSpPr/>
          <p:nvPr/>
        </p:nvSpPr>
        <p:spPr>
          <a:xfrm>
            <a:off x="321469" y="3540900"/>
            <a:ext cx="2418159" cy="1295419"/>
          </a:xfrm>
          <a:prstGeom prst="rect">
            <a:avLst/>
          </a:prstGeom>
          <a:solidFill>
            <a:srgbClr val="00D9FF">
              <a:alpha val="5000"/>
            </a:srgbClr>
          </a:solidFill>
          <a:ln w="18288">
            <a:solidFill>
              <a:srgbClr val="00D9FF"/>
            </a:solidFill>
            <a:prstDash val="solid"/>
          </a:ln>
        </p:spPr>
      </p:sp>
      <p:sp>
        <p:nvSpPr>
          <p:cNvPr id="17" name="Text 14"/>
          <p:cNvSpPr/>
          <p:nvPr/>
        </p:nvSpPr>
        <p:spPr>
          <a:xfrm>
            <a:off x="435769" y="3626625"/>
            <a:ext cx="218955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ESCALATION PROCEDURES</a:t>
            </a:r>
            <a:endParaRPr lang="en-US" sz="784" dirty="0"/>
          </a:p>
        </p:txBody>
      </p:sp>
      <p:sp>
        <p:nvSpPr>
          <p:cNvPr id="18" name="Text 15"/>
          <p:cNvSpPr/>
          <p:nvPr/>
        </p:nvSpPr>
        <p:spPr>
          <a:xfrm>
            <a:off x="435769" y="3855225"/>
            <a:ext cx="2189559"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Criteria for escalation, chain of command, executive notification thresholds, and decision frameworks</a:t>
            </a:r>
            <a:endParaRPr lang="en-US" sz="780" dirty="0"/>
          </a:p>
        </p:txBody>
      </p:sp>
      <p:sp>
        <p:nvSpPr>
          <p:cNvPr id="19" name="Shape 16"/>
          <p:cNvSpPr/>
          <p:nvPr/>
        </p:nvSpPr>
        <p:spPr>
          <a:xfrm>
            <a:off x="2825353" y="3540900"/>
            <a:ext cx="2418159" cy="1295419"/>
          </a:xfrm>
          <a:prstGeom prst="rect">
            <a:avLst/>
          </a:prstGeom>
          <a:solidFill>
            <a:srgbClr val="00D9FF">
              <a:alpha val="5000"/>
            </a:srgbClr>
          </a:solidFill>
          <a:ln w="18288">
            <a:solidFill>
              <a:srgbClr val="00D9FF"/>
            </a:solidFill>
            <a:prstDash val="solid"/>
          </a:ln>
        </p:spPr>
      </p:sp>
      <p:sp>
        <p:nvSpPr>
          <p:cNvPr id="20" name="Text 17"/>
          <p:cNvSpPr/>
          <p:nvPr/>
        </p:nvSpPr>
        <p:spPr>
          <a:xfrm>
            <a:off x="2939653" y="3645684"/>
            <a:ext cx="218955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RESOURCE REQUIREMENTS</a:t>
            </a:r>
            <a:endParaRPr lang="en-US" sz="784" dirty="0"/>
          </a:p>
        </p:txBody>
      </p:sp>
      <p:sp>
        <p:nvSpPr>
          <p:cNvPr id="21" name="Text 18"/>
          <p:cNvSpPr/>
          <p:nvPr/>
        </p:nvSpPr>
        <p:spPr>
          <a:xfrm>
            <a:off x="2939653" y="3874284"/>
            <a:ext cx="2189559"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Tools, technologies, personnel, budget allocation, training programs, and external service providers</a:t>
            </a:r>
            <a:endParaRPr lang="en-US" sz="780" dirty="0"/>
          </a:p>
        </p:txBody>
      </p:sp>
      <p:sp>
        <p:nvSpPr>
          <p:cNvPr id="22" name="Text 19"/>
          <p:cNvSpPr/>
          <p:nvPr/>
        </p:nvSpPr>
        <p:spPr>
          <a:xfrm>
            <a:off x="5622131" y="1343025"/>
            <a:ext cx="2966777" cy="342900"/>
          </a:xfrm>
          <a:prstGeom prst="rect">
            <a:avLst/>
          </a:prstGeom>
          <a:noFill/>
          <a:ln/>
        </p:spPr>
        <p:txBody>
          <a:bodyPr wrap="square" lIns="0" tIns="0" rIns="0" bIns="0" rtlCol="0" anchor="t">
            <a:spAutoFit/>
          </a:bodyPr>
          <a:lstStyle/>
          <a:p>
            <a:pPr marL="0" indent="0" algn="ctr">
              <a:lnSpc>
                <a:spcPts val="1400"/>
              </a:lnSpc>
              <a:buNone/>
            </a:pPr>
            <a:r>
              <a:rPr lang="en-US" sz="784" b="1" kern="0" spc="1" dirty="0">
                <a:solidFill>
                  <a:srgbClr val="FFB800"/>
                </a:solidFill>
              </a:rPr>
              <a:t>SOC OPERATIONAL
INFRASTRUCTURE</a:t>
            </a:r>
            <a:endParaRPr lang="en-US" sz="784" dirty="0"/>
          </a:p>
        </p:txBody>
      </p:sp>
      <p:pic>
        <p:nvPicPr>
          <p:cNvPr id="23" name="Image 1" descr="preencoded.png"/>
          <p:cNvPicPr>
            <a:picLocks noChangeAspect="1"/>
          </p:cNvPicPr>
          <p:nvPr/>
        </p:nvPicPr>
        <p:blipFill>
          <a:blip r:embed="rId4"/>
          <a:stretch>
            <a:fillRect/>
          </a:stretch>
        </p:blipFill>
        <p:spPr>
          <a:xfrm>
            <a:off x="5622131" y="1800225"/>
            <a:ext cx="2966777" cy="2143125"/>
          </a:xfrm>
          <a:prstGeom prst="rect">
            <a:avLst/>
          </a:prstGeom>
        </p:spPr>
      </p:pic>
      <p:sp>
        <p:nvSpPr>
          <p:cNvPr id="24" name="Text 20"/>
          <p:cNvSpPr/>
          <p:nvPr/>
        </p:nvSpPr>
        <p:spPr>
          <a:xfrm>
            <a:off x="5622131" y="4029075"/>
            <a:ext cx="2966777" cy="300038"/>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E8EDF2">
                    <a:alpha val="80000"/>
                  </a:srgbClr>
                </a:solidFill>
              </a:rPr>
              <a:t>Security Operations Center supporting incident detection, analysis, and response capabilities</a:t>
            </a:r>
            <a:endParaRPr lang="en-US" sz="727" dirty="0"/>
          </a:p>
        </p:txBody>
      </p:sp>
      <p:sp>
        <p:nvSpPr>
          <p:cNvPr id="25" name="Shape 21"/>
          <p:cNvSpPr/>
          <p:nvPr/>
        </p:nvSpPr>
        <p:spPr>
          <a:xfrm>
            <a:off x="321469" y="4943475"/>
            <a:ext cx="8501063" cy="771525"/>
          </a:xfrm>
          <a:prstGeom prst="rect">
            <a:avLst/>
          </a:prstGeom>
          <a:solidFill>
            <a:srgbClr val="FFB800">
              <a:alpha val="5000"/>
            </a:srgbClr>
          </a:solidFill>
          <a:ln w="18288">
            <a:solidFill>
              <a:srgbClr val="FFB800"/>
            </a:solidFill>
            <a:prstDash val="solid"/>
          </a:ln>
        </p:spPr>
      </p:sp>
      <p:sp>
        <p:nvSpPr>
          <p:cNvPr id="26" name="Text 22"/>
          <p:cNvSpPr/>
          <p:nvPr/>
        </p:nvSpPr>
        <p:spPr>
          <a:xfrm>
            <a:off x="450056" y="5029200"/>
            <a:ext cx="936082"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FFB800"/>
                </a:solidFill>
              </a:rPr>
              <a:t>KEY PRINCIPLE</a:t>
            </a:r>
            <a:endParaRPr lang="en-US" sz="784" dirty="0"/>
          </a:p>
        </p:txBody>
      </p:sp>
      <p:sp>
        <p:nvSpPr>
          <p:cNvPr id="27" name="Text 23"/>
          <p:cNvSpPr/>
          <p:nvPr/>
        </p:nvSpPr>
        <p:spPr>
          <a:xfrm>
            <a:off x="450056" y="5257800"/>
            <a:ext cx="8243888"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An effective IR plan must be documented, tested regularly through tabletop exercises, updated based on lessons learned, and accessible to all relevant stakeholders during incidents.</a:t>
            </a:r>
            <a:endParaRPr lang="en-US" sz="83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737952"/>
          </a:xfrm>
          <a:prstGeom prst="rect">
            <a:avLst/>
          </a:prstGeom>
        </p:spPr>
      </p:pic>
      <p:sp>
        <p:nvSpPr>
          <p:cNvPr id="3" name="Text 0"/>
          <p:cNvSpPr/>
          <p:nvPr/>
        </p:nvSpPr>
        <p:spPr>
          <a:xfrm>
            <a:off x="428625" y="285750"/>
            <a:ext cx="8286750"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INCIDENT RESPONSE TEAM STRUCTURE</a:t>
            </a:r>
            <a:endParaRPr lang="en-US" sz="1808" dirty="0"/>
          </a:p>
        </p:txBody>
      </p:sp>
      <p:sp>
        <p:nvSpPr>
          <p:cNvPr id="4" name="Shape 1"/>
          <p:cNvSpPr/>
          <p:nvPr/>
        </p:nvSpPr>
        <p:spPr>
          <a:xfrm>
            <a:off x="428625" y="978694"/>
            <a:ext cx="4557713" cy="1014413"/>
          </a:xfrm>
          <a:prstGeom prst="rect">
            <a:avLst/>
          </a:prstGeom>
          <a:solidFill>
            <a:srgbClr val="00D9FF">
              <a:alpha val="5000"/>
            </a:srgbClr>
          </a:solidFill>
          <a:ln w="18288">
            <a:solidFill>
              <a:srgbClr val="00D9FF"/>
            </a:solidFill>
            <a:prstDash val="solid"/>
          </a:ln>
        </p:spPr>
      </p:sp>
      <p:sp>
        <p:nvSpPr>
          <p:cNvPr id="5" name="Text 2"/>
          <p:cNvSpPr/>
          <p:nvPr/>
        </p:nvSpPr>
        <p:spPr>
          <a:xfrm>
            <a:off x="571500" y="1092994"/>
            <a:ext cx="4271963"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INCIDENT MANAGER</a:t>
            </a:r>
            <a:endParaRPr lang="en-US" sz="784" dirty="0"/>
          </a:p>
        </p:txBody>
      </p:sp>
      <p:sp>
        <p:nvSpPr>
          <p:cNvPr id="6" name="Text 3"/>
          <p:cNvSpPr/>
          <p:nvPr/>
        </p:nvSpPr>
        <p:spPr>
          <a:xfrm>
            <a:off x="571500" y="1335881"/>
            <a:ext cx="4271963" cy="514350"/>
          </a:xfrm>
          <a:prstGeom prst="rect">
            <a:avLst/>
          </a:prstGeom>
          <a:noFill/>
          <a:ln/>
        </p:spPr>
        <p:txBody>
          <a:bodyPr wrap="square" lIns="0" tIns="0" rIns="0" bIns="0" rtlCol="0" anchor="t">
            <a:spAutoFit/>
          </a:bodyPr>
          <a:lstStyle/>
          <a:p>
            <a:pPr marL="0" indent="0" algn="l">
              <a:lnSpc>
                <a:spcPts val="1400"/>
              </a:lnSpc>
              <a:buNone/>
            </a:pPr>
            <a:r>
              <a:rPr lang="en-US" sz="734" b="1" dirty="0">
                <a:solidFill>
                  <a:srgbClr val="FFB800"/>
                </a:solidFill>
              </a:rPr>
              <a:t>Responsibilities:</a:t>
            </a:r>
            <a:r>
              <a:rPr lang="en-US" sz="780" dirty="0">
                <a:solidFill>
                  <a:srgbClr val="E8EDF2"/>
                </a:solidFill>
              </a:rPr>
              <a:t> Lead incident response operations, coordinate team activities, make critical decisions, communicate with executives, manage resources and priorities</a:t>
            </a:r>
            <a:endParaRPr lang="en-US" sz="734" dirty="0"/>
          </a:p>
        </p:txBody>
      </p:sp>
      <p:sp>
        <p:nvSpPr>
          <p:cNvPr id="7" name="Shape 4"/>
          <p:cNvSpPr/>
          <p:nvPr/>
        </p:nvSpPr>
        <p:spPr>
          <a:xfrm>
            <a:off x="428625" y="2078831"/>
            <a:ext cx="4557713" cy="1014413"/>
          </a:xfrm>
          <a:prstGeom prst="rect">
            <a:avLst/>
          </a:prstGeom>
          <a:solidFill>
            <a:srgbClr val="00D9FF">
              <a:alpha val="5000"/>
            </a:srgbClr>
          </a:solidFill>
          <a:ln w="18288">
            <a:solidFill>
              <a:srgbClr val="00D9FF"/>
            </a:solidFill>
            <a:prstDash val="solid"/>
          </a:ln>
        </p:spPr>
      </p:sp>
      <p:sp>
        <p:nvSpPr>
          <p:cNvPr id="8" name="Text 5"/>
          <p:cNvSpPr/>
          <p:nvPr/>
        </p:nvSpPr>
        <p:spPr>
          <a:xfrm>
            <a:off x="571500" y="2193131"/>
            <a:ext cx="4271963"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SECURITY ANALYSTS</a:t>
            </a:r>
            <a:endParaRPr lang="en-US" sz="784" dirty="0"/>
          </a:p>
        </p:txBody>
      </p:sp>
      <p:sp>
        <p:nvSpPr>
          <p:cNvPr id="9" name="Text 6"/>
          <p:cNvSpPr/>
          <p:nvPr/>
        </p:nvSpPr>
        <p:spPr>
          <a:xfrm>
            <a:off x="571500" y="2436019"/>
            <a:ext cx="4271963" cy="514350"/>
          </a:xfrm>
          <a:prstGeom prst="rect">
            <a:avLst/>
          </a:prstGeom>
          <a:noFill/>
          <a:ln/>
        </p:spPr>
        <p:txBody>
          <a:bodyPr wrap="square" lIns="0" tIns="0" rIns="0" bIns="0" rtlCol="0" anchor="t">
            <a:spAutoFit/>
          </a:bodyPr>
          <a:lstStyle/>
          <a:p>
            <a:pPr marL="0" indent="0" algn="l">
              <a:lnSpc>
                <a:spcPts val="1400"/>
              </a:lnSpc>
              <a:buNone/>
            </a:pPr>
            <a:r>
              <a:rPr lang="en-US" sz="734" b="1" dirty="0">
                <a:solidFill>
                  <a:srgbClr val="FFB800"/>
                </a:solidFill>
              </a:rPr>
              <a:t>Responsibilities:</a:t>
            </a:r>
            <a:r>
              <a:rPr lang="en-US" sz="780" dirty="0">
                <a:solidFill>
                  <a:srgbClr val="E8EDF2"/>
                </a:solidFill>
              </a:rPr>
              <a:t> Monitor security alerts, perform initial triage, conduct threat analysis, investigate incidents, document findings, implement containment measures</a:t>
            </a:r>
            <a:endParaRPr lang="en-US" sz="734" dirty="0"/>
          </a:p>
        </p:txBody>
      </p:sp>
      <p:sp>
        <p:nvSpPr>
          <p:cNvPr id="10" name="Shape 7"/>
          <p:cNvSpPr/>
          <p:nvPr/>
        </p:nvSpPr>
        <p:spPr>
          <a:xfrm>
            <a:off x="428625" y="3178969"/>
            <a:ext cx="4557713" cy="1014413"/>
          </a:xfrm>
          <a:prstGeom prst="rect">
            <a:avLst/>
          </a:prstGeom>
          <a:solidFill>
            <a:srgbClr val="00D9FF">
              <a:alpha val="5000"/>
            </a:srgbClr>
          </a:solidFill>
          <a:ln w="18288">
            <a:solidFill>
              <a:srgbClr val="00D9FF"/>
            </a:solidFill>
            <a:prstDash val="solid"/>
          </a:ln>
        </p:spPr>
      </p:sp>
      <p:sp>
        <p:nvSpPr>
          <p:cNvPr id="11" name="Text 8"/>
          <p:cNvSpPr/>
          <p:nvPr/>
        </p:nvSpPr>
        <p:spPr>
          <a:xfrm>
            <a:off x="571500" y="3293269"/>
            <a:ext cx="4271963"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FORENSICS SPECIALISTS</a:t>
            </a:r>
            <a:endParaRPr lang="en-US" sz="784" dirty="0"/>
          </a:p>
        </p:txBody>
      </p:sp>
      <p:sp>
        <p:nvSpPr>
          <p:cNvPr id="12" name="Text 9"/>
          <p:cNvSpPr/>
          <p:nvPr/>
        </p:nvSpPr>
        <p:spPr>
          <a:xfrm>
            <a:off x="571500" y="3536156"/>
            <a:ext cx="4271963" cy="514350"/>
          </a:xfrm>
          <a:prstGeom prst="rect">
            <a:avLst/>
          </a:prstGeom>
          <a:noFill/>
          <a:ln/>
        </p:spPr>
        <p:txBody>
          <a:bodyPr wrap="square" lIns="0" tIns="0" rIns="0" bIns="0" rtlCol="0" anchor="t">
            <a:spAutoFit/>
          </a:bodyPr>
          <a:lstStyle/>
          <a:p>
            <a:pPr marL="0" indent="0" algn="l">
              <a:lnSpc>
                <a:spcPts val="1400"/>
              </a:lnSpc>
              <a:buNone/>
            </a:pPr>
            <a:r>
              <a:rPr lang="en-US" sz="734" b="1" dirty="0">
                <a:solidFill>
                  <a:srgbClr val="FFB800"/>
                </a:solidFill>
              </a:rPr>
              <a:t>Responsibilities:</a:t>
            </a:r>
            <a:r>
              <a:rPr lang="en-US" sz="780" dirty="0">
                <a:solidFill>
                  <a:srgbClr val="E8EDF2"/>
                </a:solidFill>
              </a:rPr>
              <a:t> Collect and preserve digital evidence, perform deep technical analysis, conduct malware analysis, support legal proceedings, maintain chain of custody</a:t>
            </a:r>
            <a:endParaRPr lang="en-US" sz="734" dirty="0"/>
          </a:p>
        </p:txBody>
      </p:sp>
      <p:sp>
        <p:nvSpPr>
          <p:cNvPr id="13" name="Shape 10"/>
          <p:cNvSpPr/>
          <p:nvPr/>
        </p:nvSpPr>
        <p:spPr>
          <a:xfrm>
            <a:off x="428625" y="4279106"/>
            <a:ext cx="4557713" cy="1014413"/>
          </a:xfrm>
          <a:prstGeom prst="rect">
            <a:avLst/>
          </a:prstGeom>
          <a:solidFill>
            <a:srgbClr val="00D9FF">
              <a:alpha val="5000"/>
            </a:srgbClr>
          </a:solidFill>
          <a:ln w="18288">
            <a:solidFill>
              <a:srgbClr val="00D9FF"/>
            </a:solidFill>
            <a:prstDash val="solid"/>
          </a:ln>
        </p:spPr>
      </p:sp>
      <p:sp>
        <p:nvSpPr>
          <p:cNvPr id="14" name="Text 11"/>
          <p:cNvSpPr/>
          <p:nvPr/>
        </p:nvSpPr>
        <p:spPr>
          <a:xfrm>
            <a:off x="571500" y="4393406"/>
            <a:ext cx="4271963"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COMMUNICATIONS LEAD</a:t>
            </a:r>
            <a:endParaRPr lang="en-US" sz="784" dirty="0"/>
          </a:p>
        </p:txBody>
      </p:sp>
      <p:sp>
        <p:nvSpPr>
          <p:cNvPr id="15" name="Text 12"/>
          <p:cNvSpPr/>
          <p:nvPr/>
        </p:nvSpPr>
        <p:spPr>
          <a:xfrm>
            <a:off x="571500" y="4636294"/>
            <a:ext cx="4271963" cy="514350"/>
          </a:xfrm>
          <a:prstGeom prst="rect">
            <a:avLst/>
          </a:prstGeom>
          <a:noFill/>
          <a:ln/>
        </p:spPr>
        <p:txBody>
          <a:bodyPr wrap="square" lIns="0" tIns="0" rIns="0" bIns="0" rtlCol="0" anchor="t">
            <a:spAutoFit/>
          </a:bodyPr>
          <a:lstStyle/>
          <a:p>
            <a:pPr marL="0" indent="0" algn="l">
              <a:lnSpc>
                <a:spcPts val="1400"/>
              </a:lnSpc>
              <a:buNone/>
            </a:pPr>
            <a:r>
              <a:rPr lang="en-US" sz="734" b="1" dirty="0">
                <a:solidFill>
                  <a:srgbClr val="FFB800"/>
                </a:solidFill>
              </a:rPr>
              <a:t>Responsibilities:</a:t>
            </a:r>
            <a:r>
              <a:rPr lang="en-US" sz="780" dirty="0">
                <a:solidFill>
                  <a:srgbClr val="E8EDF2"/>
                </a:solidFill>
              </a:rPr>
              <a:t> Manage internal and external communications, coordinate with legal and PR teams, prepare stakeholder notifications, handle media inquiries, ensure consistent messaging</a:t>
            </a:r>
            <a:endParaRPr lang="en-US" sz="734" dirty="0"/>
          </a:p>
        </p:txBody>
      </p:sp>
      <p:sp>
        <p:nvSpPr>
          <p:cNvPr id="16" name="Shape 13"/>
          <p:cNvSpPr/>
          <p:nvPr/>
        </p:nvSpPr>
        <p:spPr>
          <a:xfrm>
            <a:off x="5200650" y="978694"/>
            <a:ext cx="3563280" cy="2599432"/>
          </a:xfrm>
          <a:prstGeom prst="rect">
            <a:avLst/>
          </a:prstGeom>
          <a:solidFill>
            <a:srgbClr val="00D9FF">
              <a:alpha val="5000"/>
            </a:srgbClr>
          </a:solidFill>
          <a:ln w="18288">
            <a:solidFill>
              <a:srgbClr val="00D9FF"/>
            </a:solidFill>
            <a:prstDash val="solid"/>
          </a:ln>
        </p:spPr>
      </p:sp>
      <p:sp>
        <p:nvSpPr>
          <p:cNvPr id="17" name="Text 14"/>
          <p:cNvSpPr/>
          <p:nvPr/>
        </p:nvSpPr>
        <p:spPr>
          <a:xfrm>
            <a:off x="5343525" y="1092994"/>
            <a:ext cx="3277530"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RACI MATRIX</a:t>
            </a:r>
            <a:endParaRPr lang="en-US" sz="784" dirty="0"/>
          </a:p>
        </p:txBody>
      </p:sp>
      <p:sp>
        <p:nvSpPr>
          <p:cNvPr id="18" name="Shape 15"/>
          <p:cNvSpPr/>
          <p:nvPr/>
        </p:nvSpPr>
        <p:spPr>
          <a:xfrm>
            <a:off x="5350669" y="1357313"/>
            <a:ext cx="1213740" cy="296466"/>
          </a:xfrm>
          <a:prstGeom prst="rect">
            <a:avLst/>
          </a:prstGeom>
          <a:solidFill>
            <a:srgbClr val="00D9FF">
              <a:alpha val="10000"/>
            </a:srgbClr>
          </a:solidFill>
          <a:ln w="18288">
            <a:solidFill>
              <a:srgbClr val="00D9FF"/>
            </a:solidFill>
            <a:prstDash val="solid"/>
          </a:ln>
        </p:spPr>
      </p:sp>
      <p:sp>
        <p:nvSpPr>
          <p:cNvPr id="19" name="Text 16"/>
          <p:cNvSpPr/>
          <p:nvPr/>
        </p:nvSpPr>
        <p:spPr>
          <a:xfrm>
            <a:off x="5350669" y="1357313"/>
            <a:ext cx="1213740" cy="296466"/>
          </a:xfrm>
          <a:prstGeom prst="rect">
            <a:avLst/>
          </a:prstGeom>
          <a:noFill/>
          <a:ln/>
        </p:spPr>
        <p:txBody>
          <a:bodyPr wrap="square" lIns="68072" tIns="85090" rIns="68072" bIns="85090" rtlCol="0" anchor="ctr">
            <a:spAutoFit/>
          </a:bodyPr>
          <a:lstStyle/>
          <a:p>
            <a:pPr marL="0" indent="0" algn="l">
              <a:lnSpc>
                <a:spcPts val="1100"/>
              </a:lnSpc>
              <a:buNone/>
            </a:pPr>
            <a:r>
              <a:rPr lang="en-US" sz="634" b="1" dirty="0">
                <a:solidFill>
                  <a:srgbClr val="00D9FF"/>
                </a:solidFill>
              </a:rPr>
              <a:t>ACTIVITY</a:t>
            </a:r>
            <a:endParaRPr lang="en-US" sz="634" dirty="0"/>
          </a:p>
        </p:txBody>
      </p:sp>
      <p:sp>
        <p:nvSpPr>
          <p:cNvPr id="20" name="Shape 17"/>
          <p:cNvSpPr/>
          <p:nvPr/>
        </p:nvSpPr>
        <p:spPr>
          <a:xfrm>
            <a:off x="6564409" y="1357313"/>
            <a:ext cx="417854" cy="296466"/>
          </a:xfrm>
          <a:prstGeom prst="rect">
            <a:avLst/>
          </a:prstGeom>
          <a:solidFill>
            <a:srgbClr val="00D9FF">
              <a:alpha val="10000"/>
            </a:srgbClr>
          </a:solidFill>
          <a:ln w="18288">
            <a:solidFill>
              <a:srgbClr val="00D9FF"/>
            </a:solidFill>
            <a:prstDash val="solid"/>
          </a:ln>
        </p:spPr>
      </p:sp>
      <p:sp>
        <p:nvSpPr>
          <p:cNvPr id="21" name="Text 18"/>
          <p:cNvSpPr/>
          <p:nvPr/>
        </p:nvSpPr>
        <p:spPr>
          <a:xfrm>
            <a:off x="6564409" y="1357313"/>
            <a:ext cx="417854" cy="296466"/>
          </a:xfrm>
          <a:prstGeom prst="rect">
            <a:avLst/>
          </a:prstGeom>
          <a:noFill/>
          <a:ln/>
        </p:spPr>
        <p:txBody>
          <a:bodyPr wrap="square" lIns="68072" tIns="85090" rIns="68072" bIns="85090" rtlCol="0" anchor="ctr">
            <a:spAutoFit/>
          </a:bodyPr>
          <a:lstStyle/>
          <a:p>
            <a:pPr marL="0" indent="0" algn="ctr">
              <a:lnSpc>
                <a:spcPts val="1100"/>
              </a:lnSpc>
              <a:buNone/>
            </a:pPr>
            <a:r>
              <a:rPr lang="en-US" sz="634" b="1" dirty="0">
                <a:solidFill>
                  <a:srgbClr val="00D9FF"/>
                </a:solidFill>
              </a:rPr>
              <a:t>MGR</a:t>
            </a:r>
            <a:endParaRPr lang="en-US" sz="634" dirty="0"/>
          </a:p>
        </p:txBody>
      </p:sp>
      <p:sp>
        <p:nvSpPr>
          <p:cNvPr id="22" name="Shape 19"/>
          <p:cNvSpPr/>
          <p:nvPr/>
        </p:nvSpPr>
        <p:spPr>
          <a:xfrm>
            <a:off x="6977267" y="1357313"/>
            <a:ext cx="738457" cy="296466"/>
          </a:xfrm>
          <a:prstGeom prst="rect">
            <a:avLst/>
          </a:prstGeom>
          <a:solidFill>
            <a:srgbClr val="00D9FF">
              <a:alpha val="10000"/>
            </a:srgbClr>
          </a:solidFill>
          <a:ln w="18288">
            <a:solidFill>
              <a:srgbClr val="00D9FF"/>
            </a:solidFill>
            <a:prstDash val="solid"/>
          </a:ln>
        </p:spPr>
      </p:sp>
      <p:sp>
        <p:nvSpPr>
          <p:cNvPr id="23" name="Text 20"/>
          <p:cNvSpPr/>
          <p:nvPr/>
        </p:nvSpPr>
        <p:spPr>
          <a:xfrm>
            <a:off x="6977267" y="1357313"/>
            <a:ext cx="738457" cy="296466"/>
          </a:xfrm>
          <a:prstGeom prst="rect">
            <a:avLst/>
          </a:prstGeom>
          <a:noFill/>
          <a:ln/>
        </p:spPr>
        <p:txBody>
          <a:bodyPr wrap="square" lIns="68072" tIns="85090" rIns="68072" bIns="85090" rtlCol="0" anchor="ctr">
            <a:spAutoFit/>
          </a:bodyPr>
          <a:lstStyle/>
          <a:p>
            <a:pPr marL="0" indent="0" algn="ctr">
              <a:lnSpc>
                <a:spcPts val="1100"/>
              </a:lnSpc>
              <a:buNone/>
            </a:pPr>
            <a:r>
              <a:rPr lang="en-US" sz="634" b="1" dirty="0">
                <a:solidFill>
                  <a:srgbClr val="00D9FF"/>
                </a:solidFill>
              </a:rPr>
              <a:t>ANALYST</a:t>
            </a:r>
            <a:endParaRPr lang="en-US" sz="634" dirty="0"/>
          </a:p>
        </p:txBody>
      </p:sp>
      <p:sp>
        <p:nvSpPr>
          <p:cNvPr id="24" name="Shape 21"/>
          <p:cNvSpPr/>
          <p:nvPr/>
        </p:nvSpPr>
        <p:spPr>
          <a:xfrm>
            <a:off x="7710199" y="1357313"/>
            <a:ext cx="903712" cy="296466"/>
          </a:xfrm>
          <a:prstGeom prst="rect">
            <a:avLst/>
          </a:prstGeom>
          <a:solidFill>
            <a:srgbClr val="00D9FF">
              <a:alpha val="10000"/>
            </a:srgbClr>
          </a:solidFill>
          <a:ln w="18288">
            <a:solidFill>
              <a:srgbClr val="00D9FF"/>
            </a:solidFill>
            <a:prstDash val="solid"/>
          </a:ln>
        </p:spPr>
      </p:sp>
      <p:sp>
        <p:nvSpPr>
          <p:cNvPr id="25" name="Text 22"/>
          <p:cNvSpPr/>
          <p:nvPr/>
        </p:nvSpPr>
        <p:spPr>
          <a:xfrm>
            <a:off x="7710199" y="1357313"/>
            <a:ext cx="903712" cy="296466"/>
          </a:xfrm>
          <a:prstGeom prst="rect">
            <a:avLst/>
          </a:prstGeom>
          <a:noFill/>
          <a:ln/>
        </p:spPr>
        <p:txBody>
          <a:bodyPr wrap="square" lIns="68072" tIns="85090" rIns="68072" bIns="85090" rtlCol="0" anchor="ctr">
            <a:spAutoFit/>
          </a:bodyPr>
          <a:lstStyle/>
          <a:p>
            <a:pPr marL="0" indent="0" algn="ctr">
              <a:lnSpc>
                <a:spcPts val="1100"/>
              </a:lnSpc>
              <a:buNone/>
            </a:pPr>
            <a:r>
              <a:rPr lang="en-US" sz="634" b="1" dirty="0">
                <a:solidFill>
                  <a:srgbClr val="00D9FF"/>
                </a:solidFill>
              </a:rPr>
              <a:t>FORENSICS</a:t>
            </a:r>
            <a:endParaRPr lang="en-US" sz="634" dirty="0"/>
          </a:p>
        </p:txBody>
      </p:sp>
      <p:sp>
        <p:nvSpPr>
          <p:cNvPr id="26" name="Text 23"/>
          <p:cNvSpPr/>
          <p:nvPr/>
        </p:nvSpPr>
        <p:spPr>
          <a:xfrm>
            <a:off x="5350669" y="1639491"/>
            <a:ext cx="1236371" cy="280392"/>
          </a:xfrm>
          <a:prstGeom prst="rect">
            <a:avLst/>
          </a:prstGeom>
          <a:noFill/>
          <a:ln/>
        </p:spPr>
        <p:txBody>
          <a:bodyPr wrap="square" lIns="68072" tIns="68072" rIns="68072" bIns="68072" rtlCol="0" anchor="ctr">
            <a:spAutoFit/>
          </a:bodyPr>
          <a:lstStyle/>
          <a:p>
            <a:pPr marL="0" indent="0" algn="l">
              <a:lnSpc>
                <a:spcPts val="1200"/>
              </a:lnSpc>
              <a:buNone/>
            </a:pPr>
            <a:r>
              <a:rPr lang="en-US" sz="727" dirty="0">
                <a:solidFill>
                  <a:srgbClr val="E8EDF2"/>
                </a:solidFill>
              </a:rPr>
              <a:t>Detection</a:t>
            </a:r>
            <a:endParaRPr lang="en-US" sz="727" dirty="0"/>
          </a:p>
        </p:txBody>
      </p:sp>
      <p:sp>
        <p:nvSpPr>
          <p:cNvPr id="27" name="Text 24"/>
          <p:cNvSpPr/>
          <p:nvPr/>
        </p:nvSpPr>
        <p:spPr>
          <a:xfrm>
            <a:off x="6772749" y="1710928"/>
            <a:ext cx="33905"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00D9FF"/>
                </a:solidFill>
              </a:rPr>
              <a:t>I</a:t>
            </a:r>
            <a:endParaRPr lang="en-US" sz="727" dirty="0"/>
          </a:p>
        </p:txBody>
      </p:sp>
      <p:sp>
        <p:nvSpPr>
          <p:cNvPr id="28" name="Text 25"/>
          <p:cNvSpPr/>
          <p:nvPr/>
        </p:nvSpPr>
        <p:spPr>
          <a:xfrm>
            <a:off x="7326111" y="1710928"/>
            <a:ext cx="62229"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FFB800"/>
                </a:solidFill>
              </a:rPr>
              <a:t>R</a:t>
            </a:r>
            <a:endParaRPr lang="en-US" sz="727" dirty="0"/>
          </a:p>
        </p:txBody>
      </p:sp>
      <p:sp>
        <p:nvSpPr>
          <p:cNvPr id="29" name="Text 26"/>
          <p:cNvSpPr/>
          <p:nvPr/>
        </p:nvSpPr>
        <p:spPr>
          <a:xfrm>
            <a:off x="8151019" y="1710928"/>
            <a:ext cx="33905"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00D9FF"/>
                </a:solidFill>
              </a:rPr>
              <a:t>I</a:t>
            </a:r>
            <a:endParaRPr lang="en-US" sz="727" dirty="0"/>
          </a:p>
        </p:txBody>
      </p:sp>
      <p:sp>
        <p:nvSpPr>
          <p:cNvPr id="30" name="Text 27"/>
          <p:cNvSpPr/>
          <p:nvPr/>
        </p:nvSpPr>
        <p:spPr>
          <a:xfrm>
            <a:off x="5350669" y="1919883"/>
            <a:ext cx="1236371" cy="280392"/>
          </a:xfrm>
          <a:prstGeom prst="rect">
            <a:avLst/>
          </a:prstGeom>
          <a:noFill/>
          <a:ln/>
        </p:spPr>
        <p:txBody>
          <a:bodyPr wrap="square" lIns="68072" tIns="68072" rIns="68072" bIns="68072" rtlCol="0" anchor="ctr">
            <a:spAutoFit/>
          </a:bodyPr>
          <a:lstStyle/>
          <a:p>
            <a:pPr marL="0" indent="0" algn="l">
              <a:lnSpc>
                <a:spcPts val="1200"/>
              </a:lnSpc>
              <a:buNone/>
            </a:pPr>
            <a:r>
              <a:rPr lang="en-US" sz="727" dirty="0">
                <a:solidFill>
                  <a:srgbClr val="E8EDF2"/>
                </a:solidFill>
              </a:rPr>
              <a:t>Analysis</a:t>
            </a:r>
            <a:endParaRPr lang="en-US" sz="727" dirty="0"/>
          </a:p>
        </p:txBody>
      </p:sp>
      <p:sp>
        <p:nvSpPr>
          <p:cNvPr id="31" name="Text 28"/>
          <p:cNvSpPr/>
          <p:nvPr/>
        </p:nvSpPr>
        <p:spPr>
          <a:xfrm>
            <a:off x="6757736" y="1991320"/>
            <a:ext cx="63931"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00D9FF"/>
                </a:solidFill>
              </a:rPr>
              <a:t>A</a:t>
            </a:r>
            <a:endParaRPr lang="en-US" sz="727" dirty="0"/>
          </a:p>
        </p:txBody>
      </p:sp>
      <p:sp>
        <p:nvSpPr>
          <p:cNvPr id="32" name="Text 29"/>
          <p:cNvSpPr/>
          <p:nvPr/>
        </p:nvSpPr>
        <p:spPr>
          <a:xfrm>
            <a:off x="7326111" y="1991320"/>
            <a:ext cx="62229"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FFB800"/>
                </a:solidFill>
              </a:rPr>
              <a:t>R</a:t>
            </a:r>
            <a:endParaRPr lang="en-US" sz="727" dirty="0"/>
          </a:p>
        </p:txBody>
      </p:sp>
      <p:sp>
        <p:nvSpPr>
          <p:cNvPr id="33" name="Text 30"/>
          <p:cNvSpPr/>
          <p:nvPr/>
        </p:nvSpPr>
        <p:spPr>
          <a:xfrm>
            <a:off x="8136368" y="1991320"/>
            <a:ext cx="63233"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00D9FF"/>
                </a:solidFill>
              </a:rPr>
              <a:t>C</a:t>
            </a:r>
            <a:endParaRPr lang="en-US" sz="727" dirty="0"/>
          </a:p>
        </p:txBody>
      </p:sp>
      <p:sp>
        <p:nvSpPr>
          <p:cNvPr id="34" name="Text 31"/>
          <p:cNvSpPr/>
          <p:nvPr/>
        </p:nvSpPr>
        <p:spPr>
          <a:xfrm>
            <a:off x="5350669" y="2200275"/>
            <a:ext cx="1236371" cy="280392"/>
          </a:xfrm>
          <a:prstGeom prst="rect">
            <a:avLst/>
          </a:prstGeom>
          <a:noFill/>
          <a:ln/>
        </p:spPr>
        <p:txBody>
          <a:bodyPr wrap="square" lIns="68072" tIns="68072" rIns="68072" bIns="68072" rtlCol="0" anchor="ctr">
            <a:spAutoFit/>
          </a:bodyPr>
          <a:lstStyle/>
          <a:p>
            <a:pPr marL="0" indent="0" algn="l">
              <a:lnSpc>
                <a:spcPts val="1200"/>
              </a:lnSpc>
              <a:buNone/>
            </a:pPr>
            <a:r>
              <a:rPr lang="en-US" sz="727" dirty="0">
                <a:solidFill>
                  <a:srgbClr val="E8EDF2"/>
                </a:solidFill>
              </a:rPr>
              <a:t>Containment</a:t>
            </a:r>
            <a:endParaRPr lang="en-US" sz="727" dirty="0"/>
          </a:p>
        </p:txBody>
      </p:sp>
      <p:sp>
        <p:nvSpPr>
          <p:cNvPr id="35" name="Text 32"/>
          <p:cNvSpPr/>
          <p:nvPr/>
        </p:nvSpPr>
        <p:spPr>
          <a:xfrm>
            <a:off x="6757736" y="2271713"/>
            <a:ext cx="63931"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FFB800"/>
                </a:solidFill>
              </a:rPr>
              <a:t>A</a:t>
            </a:r>
            <a:endParaRPr lang="en-US" sz="727" dirty="0"/>
          </a:p>
        </p:txBody>
      </p:sp>
      <p:sp>
        <p:nvSpPr>
          <p:cNvPr id="36" name="Text 33"/>
          <p:cNvSpPr/>
          <p:nvPr/>
        </p:nvSpPr>
        <p:spPr>
          <a:xfrm>
            <a:off x="7326111" y="2271713"/>
            <a:ext cx="62229"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FFB800"/>
                </a:solidFill>
              </a:rPr>
              <a:t>R</a:t>
            </a:r>
            <a:endParaRPr lang="en-US" sz="727" dirty="0"/>
          </a:p>
        </p:txBody>
      </p:sp>
      <p:sp>
        <p:nvSpPr>
          <p:cNvPr id="37" name="Text 34"/>
          <p:cNvSpPr/>
          <p:nvPr/>
        </p:nvSpPr>
        <p:spPr>
          <a:xfrm>
            <a:off x="8136368" y="2271713"/>
            <a:ext cx="63233"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00D9FF"/>
                </a:solidFill>
              </a:rPr>
              <a:t>C</a:t>
            </a:r>
            <a:endParaRPr lang="en-US" sz="727" dirty="0"/>
          </a:p>
        </p:txBody>
      </p:sp>
      <p:sp>
        <p:nvSpPr>
          <p:cNvPr id="38" name="Text 35"/>
          <p:cNvSpPr/>
          <p:nvPr/>
        </p:nvSpPr>
        <p:spPr>
          <a:xfrm>
            <a:off x="5350669" y="2480667"/>
            <a:ext cx="1236371" cy="280392"/>
          </a:xfrm>
          <a:prstGeom prst="rect">
            <a:avLst/>
          </a:prstGeom>
          <a:noFill/>
          <a:ln/>
        </p:spPr>
        <p:txBody>
          <a:bodyPr wrap="square" lIns="68072" tIns="68072" rIns="68072" bIns="68072" rtlCol="0" anchor="ctr">
            <a:spAutoFit/>
          </a:bodyPr>
          <a:lstStyle/>
          <a:p>
            <a:pPr marL="0" indent="0" algn="l">
              <a:lnSpc>
                <a:spcPts val="1200"/>
              </a:lnSpc>
              <a:buNone/>
            </a:pPr>
            <a:r>
              <a:rPr lang="en-US" sz="727" dirty="0">
                <a:solidFill>
                  <a:srgbClr val="E8EDF2"/>
                </a:solidFill>
              </a:rPr>
              <a:t>Evidence</a:t>
            </a:r>
            <a:endParaRPr lang="en-US" sz="727" dirty="0"/>
          </a:p>
        </p:txBody>
      </p:sp>
      <p:sp>
        <p:nvSpPr>
          <p:cNvPr id="39" name="Text 36"/>
          <p:cNvSpPr/>
          <p:nvPr/>
        </p:nvSpPr>
        <p:spPr>
          <a:xfrm>
            <a:off x="6757736" y="2552105"/>
            <a:ext cx="63931"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00D9FF"/>
                </a:solidFill>
              </a:rPr>
              <a:t>A</a:t>
            </a:r>
            <a:endParaRPr lang="en-US" sz="727" dirty="0"/>
          </a:p>
        </p:txBody>
      </p:sp>
      <p:sp>
        <p:nvSpPr>
          <p:cNvPr id="40" name="Text 37"/>
          <p:cNvSpPr/>
          <p:nvPr/>
        </p:nvSpPr>
        <p:spPr>
          <a:xfrm>
            <a:off x="7325609" y="2552105"/>
            <a:ext cx="63233"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00D9FF"/>
                </a:solidFill>
              </a:rPr>
              <a:t>C</a:t>
            </a:r>
            <a:endParaRPr lang="en-US" sz="727" dirty="0"/>
          </a:p>
        </p:txBody>
      </p:sp>
      <p:sp>
        <p:nvSpPr>
          <p:cNvPr id="41" name="Text 38"/>
          <p:cNvSpPr/>
          <p:nvPr/>
        </p:nvSpPr>
        <p:spPr>
          <a:xfrm>
            <a:off x="8136871" y="2552105"/>
            <a:ext cx="62229"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FFB800"/>
                </a:solidFill>
              </a:rPr>
              <a:t>R</a:t>
            </a:r>
            <a:endParaRPr lang="en-US" sz="727" dirty="0"/>
          </a:p>
        </p:txBody>
      </p:sp>
      <p:sp>
        <p:nvSpPr>
          <p:cNvPr id="42" name="Text 39"/>
          <p:cNvSpPr/>
          <p:nvPr/>
        </p:nvSpPr>
        <p:spPr>
          <a:xfrm>
            <a:off x="5350669" y="2761059"/>
            <a:ext cx="1236371" cy="280392"/>
          </a:xfrm>
          <a:prstGeom prst="rect">
            <a:avLst/>
          </a:prstGeom>
          <a:noFill/>
          <a:ln/>
        </p:spPr>
        <p:txBody>
          <a:bodyPr wrap="square" lIns="68072" tIns="68072" rIns="68072" bIns="68072" rtlCol="0" anchor="ctr">
            <a:spAutoFit/>
          </a:bodyPr>
          <a:lstStyle/>
          <a:p>
            <a:pPr marL="0" indent="0" algn="l">
              <a:lnSpc>
                <a:spcPts val="1200"/>
              </a:lnSpc>
              <a:buNone/>
            </a:pPr>
            <a:r>
              <a:rPr lang="en-US" sz="727" dirty="0">
                <a:solidFill>
                  <a:srgbClr val="E8EDF2"/>
                </a:solidFill>
              </a:rPr>
              <a:t>Communication</a:t>
            </a:r>
            <a:endParaRPr lang="en-US" sz="727" dirty="0"/>
          </a:p>
        </p:txBody>
      </p:sp>
      <p:sp>
        <p:nvSpPr>
          <p:cNvPr id="43" name="Text 40"/>
          <p:cNvSpPr/>
          <p:nvPr/>
        </p:nvSpPr>
        <p:spPr>
          <a:xfrm>
            <a:off x="6757736" y="2832497"/>
            <a:ext cx="63931"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FFB800"/>
                </a:solidFill>
              </a:rPr>
              <a:t>A</a:t>
            </a:r>
            <a:endParaRPr lang="en-US" sz="727" dirty="0"/>
          </a:p>
        </p:txBody>
      </p:sp>
      <p:sp>
        <p:nvSpPr>
          <p:cNvPr id="44" name="Text 41"/>
          <p:cNvSpPr/>
          <p:nvPr/>
        </p:nvSpPr>
        <p:spPr>
          <a:xfrm>
            <a:off x="7340259" y="2832497"/>
            <a:ext cx="33905"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00D9FF"/>
                </a:solidFill>
              </a:rPr>
              <a:t>I</a:t>
            </a:r>
            <a:endParaRPr lang="en-US" sz="727" dirty="0"/>
          </a:p>
        </p:txBody>
      </p:sp>
      <p:sp>
        <p:nvSpPr>
          <p:cNvPr id="45" name="Text 42"/>
          <p:cNvSpPr/>
          <p:nvPr/>
        </p:nvSpPr>
        <p:spPr>
          <a:xfrm>
            <a:off x="8151019" y="2832497"/>
            <a:ext cx="33905" cy="135731"/>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00D9FF"/>
                </a:solidFill>
              </a:rPr>
              <a:t>I</a:t>
            </a:r>
            <a:endParaRPr lang="en-US" sz="727" dirty="0"/>
          </a:p>
        </p:txBody>
      </p:sp>
      <p:sp>
        <p:nvSpPr>
          <p:cNvPr id="46" name="Text 43"/>
          <p:cNvSpPr/>
          <p:nvPr/>
        </p:nvSpPr>
        <p:spPr>
          <a:xfrm>
            <a:off x="5343525" y="3120033"/>
            <a:ext cx="3277530" cy="139303"/>
          </a:xfrm>
          <a:prstGeom prst="rect">
            <a:avLst/>
          </a:prstGeom>
          <a:noFill/>
          <a:ln/>
        </p:spPr>
        <p:txBody>
          <a:bodyPr wrap="none" lIns="0" tIns="0" rIns="0" bIns="0" rtlCol="0" anchor="t">
            <a:spAutoFit/>
          </a:bodyPr>
          <a:lstStyle/>
          <a:p>
            <a:pPr marL="0" indent="0" algn="l">
              <a:lnSpc>
                <a:spcPts val="1100"/>
              </a:lnSpc>
              <a:buNone/>
            </a:pPr>
            <a:r>
              <a:rPr lang="en-US" sz="674" dirty="0">
                <a:solidFill>
                  <a:srgbClr val="FFB800"/>
                </a:solidFill>
              </a:rPr>
              <a:t>R</a:t>
            </a:r>
            <a:r>
              <a:rPr lang="en-US" sz="674" dirty="0">
                <a:solidFill>
                  <a:srgbClr val="E8EDF2"/>
                </a:solidFill>
              </a:rPr>
              <a:t>=Responsible | </a:t>
            </a:r>
            <a:r>
              <a:rPr lang="en-US" sz="674" dirty="0">
                <a:solidFill>
                  <a:srgbClr val="00D9FF"/>
                </a:solidFill>
              </a:rPr>
              <a:t>A</a:t>
            </a:r>
            <a:r>
              <a:rPr lang="en-US" sz="674" dirty="0">
                <a:solidFill>
                  <a:srgbClr val="E8EDF2"/>
                </a:solidFill>
              </a:rPr>
              <a:t>=Accountable | </a:t>
            </a:r>
            <a:r>
              <a:rPr lang="en-US" sz="674" dirty="0">
                <a:solidFill>
                  <a:srgbClr val="00D9FF"/>
                </a:solidFill>
              </a:rPr>
              <a:t>C</a:t>
            </a:r>
            <a:r>
              <a:rPr lang="en-US" sz="674" dirty="0">
                <a:solidFill>
                  <a:srgbClr val="E8EDF2"/>
                </a:solidFill>
              </a:rPr>
              <a:t>=Consulted | </a:t>
            </a:r>
            <a:r>
              <a:rPr lang="en-US" sz="674" dirty="0">
                <a:solidFill>
                  <a:srgbClr val="00D9FF"/>
                </a:solidFill>
              </a:rPr>
              <a:t>I</a:t>
            </a:r>
            <a:r>
              <a:rPr lang="en-US" sz="674" dirty="0">
                <a:solidFill>
                  <a:srgbClr val="E8EDF2"/>
                </a:solidFill>
              </a:rPr>
              <a:t>=Informed</a:t>
            </a:r>
            <a:endParaRPr lang="en-US" sz="674" dirty="0"/>
          </a:p>
        </p:txBody>
      </p:sp>
      <p:sp>
        <p:nvSpPr>
          <p:cNvPr id="47" name="Shape 44"/>
          <p:cNvSpPr/>
          <p:nvPr/>
        </p:nvSpPr>
        <p:spPr>
          <a:xfrm>
            <a:off x="5200650" y="3670995"/>
            <a:ext cx="3563280" cy="1593949"/>
          </a:xfrm>
          <a:prstGeom prst="rect">
            <a:avLst/>
          </a:prstGeom>
          <a:solidFill>
            <a:srgbClr val="00D9FF">
              <a:alpha val="5000"/>
            </a:srgbClr>
          </a:solidFill>
          <a:ln w="18288">
            <a:solidFill>
              <a:srgbClr val="00D9FF"/>
            </a:solidFill>
            <a:prstDash val="solid"/>
          </a:ln>
        </p:spPr>
      </p:sp>
      <p:sp>
        <p:nvSpPr>
          <p:cNvPr id="48" name="Text 45"/>
          <p:cNvSpPr/>
          <p:nvPr/>
        </p:nvSpPr>
        <p:spPr>
          <a:xfrm>
            <a:off x="5343525" y="3799582"/>
            <a:ext cx="3277530"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EXTERNAL STAKEHOLDERS</a:t>
            </a:r>
            <a:endParaRPr lang="en-US" sz="784" dirty="0"/>
          </a:p>
        </p:txBody>
      </p:sp>
      <p:sp>
        <p:nvSpPr>
          <p:cNvPr id="49" name="Text 46"/>
          <p:cNvSpPr/>
          <p:nvPr/>
        </p:nvSpPr>
        <p:spPr>
          <a:xfrm>
            <a:off x="5343525" y="4042470"/>
            <a:ext cx="3277530" cy="910828"/>
          </a:xfrm>
          <a:prstGeom prst="rect">
            <a:avLst/>
          </a:prstGeom>
          <a:noFill/>
          <a:ln/>
        </p:spPr>
        <p:txBody>
          <a:bodyPr wrap="square" lIns="0" tIns="0" rIns="0" bIns="0" rtlCol="0" anchor="t">
            <a:spAutoFit/>
          </a:bodyPr>
          <a:lstStyle/>
          <a:p>
            <a:pPr marL="0" indent="0" algn="l">
              <a:lnSpc>
                <a:spcPts val="1400"/>
              </a:lnSpc>
              <a:buNone/>
            </a:pPr>
            <a:r>
              <a:rPr lang="en-US" sz="734" b="1" dirty="0">
                <a:solidFill>
                  <a:srgbClr val="00D9FF"/>
                </a:solidFill>
              </a:rPr>
              <a:t>Legal Counsel:</a:t>
            </a:r>
            <a:r>
              <a:rPr lang="en-US" sz="780" dirty="0">
                <a:solidFill>
                  <a:srgbClr val="E8EDF2"/>
                </a:solidFill>
              </a:rPr>
              <a:t> Regulatory compliance
</a:t>
            </a:r>
            <a:r>
              <a:rPr lang="en-US" sz="734" b="1" dirty="0">
                <a:solidFill>
                  <a:srgbClr val="00D9FF"/>
                </a:solidFill>
              </a:rPr>
              <a:t>Law Enforcement:</a:t>
            </a:r>
            <a:r>
              <a:rPr lang="en-US" sz="780" dirty="0">
                <a:solidFill>
                  <a:srgbClr val="E8EDF2"/>
                </a:solidFill>
              </a:rPr>
              <a:t> Criminal investigations
</a:t>
            </a:r>
            <a:r>
              <a:rPr lang="en-US" sz="734" b="1" dirty="0">
                <a:solidFill>
                  <a:srgbClr val="00D9FF"/>
                </a:solidFill>
              </a:rPr>
              <a:t>External IR Firms:</a:t>
            </a:r>
            <a:r>
              <a:rPr lang="en-US" sz="780" dirty="0">
                <a:solidFill>
                  <a:srgbClr val="E8EDF2"/>
                </a:solidFill>
              </a:rPr>
              <a:t> Specialized expertise
</a:t>
            </a:r>
            <a:r>
              <a:rPr lang="en-US" sz="734" b="1" dirty="0">
                <a:solidFill>
                  <a:srgbClr val="00D9FF"/>
                </a:solidFill>
              </a:rPr>
              <a:t>Vendors:</a:t>
            </a:r>
            <a:r>
              <a:rPr lang="en-US" sz="780" dirty="0">
                <a:solidFill>
                  <a:srgbClr val="E8EDF2"/>
                </a:solidFill>
              </a:rPr>
              <a:t> Product support and patches
</a:t>
            </a:r>
            <a:r>
              <a:rPr lang="en-US" sz="734" b="1" dirty="0">
                <a:solidFill>
                  <a:srgbClr val="00D9FF"/>
                </a:solidFill>
              </a:rPr>
              <a:t>ISACs:</a:t>
            </a:r>
            <a:r>
              <a:rPr lang="en-US" sz="780" dirty="0">
                <a:solidFill>
                  <a:srgbClr val="E8EDF2"/>
                </a:solidFill>
              </a:rPr>
              <a:t> Threat intelligence sharing</a:t>
            </a:r>
            <a:endParaRPr lang="en-US" sz="734" dirty="0"/>
          </a:p>
        </p:txBody>
      </p:sp>
      <p:sp>
        <p:nvSpPr>
          <p:cNvPr id="50" name="Shape 47"/>
          <p:cNvSpPr/>
          <p:nvPr/>
        </p:nvSpPr>
        <p:spPr>
          <a:xfrm>
            <a:off x="428625" y="5443538"/>
            <a:ext cx="8286750" cy="894364"/>
          </a:xfrm>
          <a:prstGeom prst="rect">
            <a:avLst/>
          </a:prstGeom>
          <a:solidFill>
            <a:srgbClr val="FFB800">
              <a:alpha val="5000"/>
            </a:srgbClr>
          </a:solidFill>
          <a:ln w="18288">
            <a:solidFill>
              <a:srgbClr val="FFB800"/>
            </a:solidFill>
            <a:prstDash val="solid"/>
          </a:ln>
        </p:spPr>
      </p:sp>
      <p:sp>
        <p:nvSpPr>
          <p:cNvPr id="51" name="Text 48"/>
          <p:cNvSpPr/>
          <p:nvPr/>
        </p:nvSpPr>
        <p:spPr>
          <a:xfrm>
            <a:off x="600075" y="5572125"/>
            <a:ext cx="2129758"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FFB800"/>
                </a:solidFill>
              </a:rPr>
              <a:t>EFFECTIVE TEAM COLLABORATION</a:t>
            </a:r>
            <a:endParaRPr lang="en-US" sz="784" dirty="0"/>
          </a:p>
        </p:txBody>
      </p:sp>
      <p:sp>
        <p:nvSpPr>
          <p:cNvPr id="52" name="Text 49"/>
          <p:cNvSpPr/>
          <p:nvPr/>
        </p:nvSpPr>
        <p:spPr>
          <a:xfrm>
            <a:off x="600075" y="5815013"/>
            <a:ext cx="7943850"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E8EDF2"/>
                </a:solidFill>
              </a:rPr>
              <a:t>Successful incident response requires clear role definition, effective communication channels, regular training and exercises, and seamless coordination between internal teams and external stakeholders. Establish trust and working relationships before incidents occur.</a:t>
            </a:r>
            <a:endParaRPr lang="en-US" sz="834"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477080"/>
          </a:xfrm>
          <a:prstGeom prst="rect">
            <a:avLst/>
          </a:prstGeom>
        </p:spPr>
      </p:pic>
      <p:sp>
        <p:nvSpPr>
          <p:cNvPr id="3" name="Text 0"/>
          <p:cNvSpPr/>
          <p:nvPr/>
        </p:nvSpPr>
        <p:spPr>
          <a:xfrm>
            <a:off x="357188" y="200025"/>
            <a:ext cx="8429625"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CASE STUDY: RANSOMWARE INCIDENT RESPONSE</a:t>
            </a:r>
            <a:endParaRPr lang="en-US" sz="1808" dirty="0"/>
          </a:p>
        </p:txBody>
      </p:sp>
      <p:sp>
        <p:nvSpPr>
          <p:cNvPr id="4" name="Shape 1"/>
          <p:cNvSpPr/>
          <p:nvPr/>
        </p:nvSpPr>
        <p:spPr>
          <a:xfrm>
            <a:off x="357188" y="764381"/>
            <a:ext cx="4150519" cy="835819"/>
          </a:xfrm>
          <a:prstGeom prst="rect">
            <a:avLst/>
          </a:prstGeom>
          <a:solidFill>
            <a:srgbClr val="FF3B3F">
              <a:alpha val="5000"/>
            </a:srgbClr>
          </a:solidFill>
          <a:ln w="18288">
            <a:solidFill>
              <a:srgbClr val="FF3B3F"/>
            </a:solidFill>
            <a:prstDash val="solid"/>
          </a:ln>
        </p:spPr>
      </p:sp>
      <p:sp>
        <p:nvSpPr>
          <p:cNvPr id="5" name="Text 2"/>
          <p:cNvSpPr/>
          <p:nvPr/>
        </p:nvSpPr>
        <p:spPr>
          <a:xfrm>
            <a:off x="471488" y="835819"/>
            <a:ext cx="392191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FF3B3F"/>
                </a:solidFill>
              </a:rPr>
              <a:t>INCIDENT OVERVIEW</a:t>
            </a:r>
            <a:endParaRPr lang="en-US" sz="784" dirty="0"/>
          </a:p>
        </p:txBody>
      </p:sp>
      <p:sp>
        <p:nvSpPr>
          <p:cNvPr id="6" name="Text 3"/>
          <p:cNvSpPr/>
          <p:nvPr/>
        </p:nvSpPr>
        <p:spPr>
          <a:xfrm>
            <a:off x="471488" y="1050131"/>
            <a:ext cx="3921919" cy="450056"/>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B800"/>
                </a:solidFill>
              </a:rPr>
              <a:t>Target:</a:t>
            </a:r>
            <a:r>
              <a:rPr lang="en-US" sz="780" dirty="0">
                <a:solidFill>
                  <a:srgbClr val="E8EDF2"/>
                </a:solidFill>
              </a:rPr>
              <a:t> Mid-size healthcare organization (2,500 employees)
</a:t>
            </a:r>
            <a:r>
              <a:rPr lang="en-US" sz="734" b="1" dirty="0">
                <a:solidFill>
                  <a:srgbClr val="FFB800"/>
                </a:solidFill>
              </a:rPr>
              <a:t>Attack Vector:</a:t>
            </a:r>
            <a:r>
              <a:rPr lang="en-US" sz="780" dirty="0">
                <a:solidFill>
                  <a:srgbClr val="E8EDF2"/>
                </a:solidFill>
              </a:rPr>
              <a:t> Phishing email with malicious attachment
</a:t>
            </a:r>
            <a:r>
              <a:rPr lang="en-US" sz="734" b="1" dirty="0">
                <a:solidFill>
                  <a:srgbClr val="FFB800"/>
                </a:solidFill>
              </a:rPr>
              <a:t>Ransomware:</a:t>
            </a:r>
            <a:r>
              <a:rPr lang="en-US" sz="780" dirty="0">
                <a:solidFill>
                  <a:srgbClr val="E8EDF2"/>
                </a:solidFill>
              </a:rPr>
              <a:t> Ryuk variant encrypting critical systems</a:t>
            </a:r>
            <a:endParaRPr lang="en-US" sz="734" dirty="0"/>
          </a:p>
        </p:txBody>
      </p:sp>
      <p:sp>
        <p:nvSpPr>
          <p:cNvPr id="7" name="Shape 4"/>
          <p:cNvSpPr/>
          <p:nvPr/>
        </p:nvSpPr>
        <p:spPr>
          <a:xfrm>
            <a:off x="357188" y="1657350"/>
            <a:ext cx="185738" cy="138968"/>
          </a:xfrm>
          <a:prstGeom prst="rect">
            <a:avLst/>
          </a:prstGeom>
          <a:solidFill>
            <a:srgbClr val="FF3B3F"/>
          </a:solidFill>
          <a:ln/>
        </p:spPr>
      </p:sp>
      <p:sp>
        <p:nvSpPr>
          <p:cNvPr id="8" name="Text 5"/>
          <p:cNvSpPr/>
          <p:nvPr/>
        </p:nvSpPr>
        <p:spPr>
          <a:xfrm>
            <a:off x="357188" y="1657350"/>
            <a:ext cx="185738" cy="138968"/>
          </a:xfrm>
          <a:prstGeom prst="rect">
            <a:avLst/>
          </a:prstGeom>
          <a:noFill/>
          <a:ln/>
        </p:spPr>
        <p:txBody>
          <a:bodyPr wrap="none" lIns="0" tIns="0" rIns="0" bIns="0" rtlCol="0" anchor="ctr">
            <a:spAutoFit/>
          </a:bodyPr>
          <a:lstStyle/>
          <a:p>
            <a:pPr marL="0" indent="0" algn="ctr">
              <a:lnSpc>
                <a:spcPts val="1000"/>
              </a:lnSpc>
              <a:buNone/>
            </a:pPr>
            <a:r>
              <a:rPr lang="en-US" sz="584" b="1" dirty="0">
                <a:solidFill>
                  <a:srgbClr val="0A1628"/>
                </a:solidFill>
              </a:rPr>
              <a:t>1</a:t>
            </a:r>
            <a:endParaRPr lang="en-US" sz="584" dirty="0"/>
          </a:p>
        </p:txBody>
      </p:sp>
      <p:sp>
        <p:nvSpPr>
          <p:cNvPr id="9" name="Shape 6"/>
          <p:cNvSpPr/>
          <p:nvPr/>
        </p:nvSpPr>
        <p:spPr>
          <a:xfrm>
            <a:off x="614363" y="1657350"/>
            <a:ext cx="3893344" cy="637189"/>
          </a:xfrm>
          <a:prstGeom prst="rect">
            <a:avLst/>
          </a:prstGeom>
          <a:solidFill>
            <a:srgbClr val="FF3B3F">
              <a:alpha val="5000"/>
            </a:srgbClr>
          </a:solidFill>
          <a:ln w="18288">
            <a:solidFill>
              <a:srgbClr val="FF3B3F"/>
            </a:solidFill>
            <a:prstDash val="solid"/>
          </a:ln>
        </p:spPr>
      </p:sp>
      <p:sp>
        <p:nvSpPr>
          <p:cNvPr id="10" name="Text 7"/>
          <p:cNvSpPr/>
          <p:nvPr/>
        </p:nvSpPr>
        <p:spPr>
          <a:xfrm>
            <a:off x="728663" y="1728788"/>
            <a:ext cx="3664744"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800"/>
                </a:solidFill>
              </a:rPr>
              <a:t>DAY 1: INITIAL COMPROMISE</a:t>
            </a:r>
            <a:endParaRPr lang="en-US" sz="683" dirty="0"/>
          </a:p>
        </p:txBody>
      </p:sp>
      <p:sp>
        <p:nvSpPr>
          <p:cNvPr id="11" name="Text 8"/>
          <p:cNvSpPr/>
          <p:nvPr/>
        </p:nvSpPr>
        <p:spPr>
          <a:xfrm>
            <a:off x="728663" y="1914525"/>
            <a:ext cx="3664744"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E8EDF2"/>
                </a:solidFill>
              </a:rPr>
              <a:t>Employee opened phishing email. Malware established persistence and began lateral movement across network for 72 hours before encryption.</a:t>
            </a:r>
            <a:endParaRPr lang="en-US" sz="727" dirty="0"/>
          </a:p>
        </p:txBody>
      </p:sp>
      <p:sp>
        <p:nvSpPr>
          <p:cNvPr id="12" name="Shape 9"/>
          <p:cNvSpPr/>
          <p:nvPr/>
        </p:nvSpPr>
        <p:spPr>
          <a:xfrm>
            <a:off x="357188" y="2337402"/>
            <a:ext cx="185738" cy="138968"/>
          </a:xfrm>
          <a:prstGeom prst="rect">
            <a:avLst/>
          </a:prstGeom>
          <a:solidFill>
            <a:srgbClr val="00D9FF"/>
          </a:solidFill>
          <a:ln/>
        </p:spPr>
      </p:sp>
      <p:sp>
        <p:nvSpPr>
          <p:cNvPr id="13" name="Text 10"/>
          <p:cNvSpPr/>
          <p:nvPr/>
        </p:nvSpPr>
        <p:spPr>
          <a:xfrm>
            <a:off x="357188" y="2337402"/>
            <a:ext cx="185738" cy="138968"/>
          </a:xfrm>
          <a:prstGeom prst="rect">
            <a:avLst/>
          </a:prstGeom>
          <a:noFill/>
          <a:ln/>
        </p:spPr>
        <p:txBody>
          <a:bodyPr wrap="none" lIns="0" tIns="0" rIns="0" bIns="0" rtlCol="0" anchor="ctr">
            <a:spAutoFit/>
          </a:bodyPr>
          <a:lstStyle/>
          <a:p>
            <a:pPr marL="0" indent="0" algn="ctr">
              <a:lnSpc>
                <a:spcPts val="1000"/>
              </a:lnSpc>
              <a:buNone/>
            </a:pPr>
            <a:r>
              <a:rPr lang="en-US" sz="584" b="1" dirty="0">
                <a:solidFill>
                  <a:srgbClr val="0A1628"/>
                </a:solidFill>
              </a:rPr>
              <a:t>2</a:t>
            </a:r>
            <a:endParaRPr lang="en-US" sz="584" dirty="0"/>
          </a:p>
        </p:txBody>
      </p:sp>
      <p:sp>
        <p:nvSpPr>
          <p:cNvPr id="14" name="Shape 11"/>
          <p:cNvSpPr/>
          <p:nvPr/>
        </p:nvSpPr>
        <p:spPr>
          <a:xfrm>
            <a:off x="614363" y="2337402"/>
            <a:ext cx="3893344" cy="637189"/>
          </a:xfrm>
          <a:prstGeom prst="rect">
            <a:avLst/>
          </a:prstGeom>
          <a:solidFill>
            <a:srgbClr val="00D9FF">
              <a:alpha val="5000"/>
            </a:srgbClr>
          </a:solidFill>
          <a:ln w="18288">
            <a:solidFill>
              <a:srgbClr val="00D9FF"/>
            </a:solidFill>
            <a:prstDash val="solid"/>
          </a:ln>
        </p:spPr>
      </p:sp>
      <p:sp>
        <p:nvSpPr>
          <p:cNvPr id="15" name="Text 12"/>
          <p:cNvSpPr/>
          <p:nvPr/>
        </p:nvSpPr>
        <p:spPr>
          <a:xfrm>
            <a:off x="728663" y="2408839"/>
            <a:ext cx="3664744"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DAY 4: DETECTION &amp; CONTAINMENT</a:t>
            </a:r>
            <a:endParaRPr lang="en-US" sz="683" dirty="0"/>
          </a:p>
        </p:txBody>
      </p:sp>
      <p:sp>
        <p:nvSpPr>
          <p:cNvPr id="16" name="Text 13"/>
          <p:cNvSpPr/>
          <p:nvPr/>
        </p:nvSpPr>
        <p:spPr>
          <a:xfrm>
            <a:off x="728663" y="2594577"/>
            <a:ext cx="3664744"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E8EDF2"/>
                </a:solidFill>
              </a:rPr>
              <a:t>EDR alerts triggered. IR team activated. Network segments isolated. Affected systems quarantined. Backups verified offline.</a:t>
            </a:r>
            <a:endParaRPr lang="en-US" sz="727" dirty="0"/>
          </a:p>
        </p:txBody>
      </p:sp>
      <p:sp>
        <p:nvSpPr>
          <p:cNvPr id="17" name="Shape 14"/>
          <p:cNvSpPr/>
          <p:nvPr/>
        </p:nvSpPr>
        <p:spPr>
          <a:xfrm>
            <a:off x="357188" y="3017453"/>
            <a:ext cx="185738" cy="138968"/>
          </a:xfrm>
          <a:prstGeom prst="rect">
            <a:avLst/>
          </a:prstGeom>
          <a:solidFill>
            <a:srgbClr val="00D9FF"/>
          </a:solidFill>
          <a:ln/>
        </p:spPr>
      </p:sp>
      <p:sp>
        <p:nvSpPr>
          <p:cNvPr id="18" name="Text 15"/>
          <p:cNvSpPr/>
          <p:nvPr/>
        </p:nvSpPr>
        <p:spPr>
          <a:xfrm>
            <a:off x="357188" y="3017453"/>
            <a:ext cx="185738" cy="138968"/>
          </a:xfrm>
          <a:prstGeom prst="rect">
            <a:avLst/>
          </a:prstGeom>
          <a:noFill/>
          <a:ln/>
        </p:spPr>
        <p:txBody>
          <a:bodyPr wrap="none" lIns="0" tIns="0" rIns="0" bIns="0" rtlCol="0" anchor="ctr">
            <a:spAutoFit/>
          </a:bodyPr>
          <a:lstStyle/>
          <a:p>
            <a:pPr marL="0" indent="0" algn="ctr">
              <a:lnSpc>
                <a:spcPts val="1000"/>
              </a:lnSpc>
              <a:buNone/>
            </a:pPr>
            <a:r>
              <a:rPr lang="en-US" sz="584" b="1" dirty="0">
                <a:solidFill>
                  <a:srgbClr val="0A1628"/>
                </a:solidFill>
              </a:rPr>
              <a:t>3</a:t>
            </a:r>
            <a:endParaRPr lang="en-US" sz="584" dirty="0"/>
          </a:p>
        </p:txBody>
      </p:sp>
      <p:sp>
        <p:nvSpPr>
          <p:cNvPr id="19" name="Shape 16"/>
          <p:cNvSpPr/>
          <p:nvPr/>
        </p:nvSpPr>
        <p:spPr>
          <a:xfrm>
            <a:off x="614363" y="3017453"/>
            <a:ext cx="3893344" cy="637189"/>
          </a:xfrm>
          <a:prstGeom prst="rect">
            <a:avLst/>
          </a:prstGeom>
          <a:solidFill>
            <a:srgbClr val="00D9FF">
              <a:alpha val="5000"/>
            </a:srgbClr>
          </a:solidFill>
          <a:ln w="18288">
            <a:solidFill>
              <a:srgbClr val="00D9FF"/>
            </a:solidFill>
            <a:prstDash val="solid"/>
          </a:ln>
        </p:spPr>
      </p:sp>
      <p:sp>
        <p:nvSpPr>
          <p:cNvPr id="20" name="Text 17"/>
          <p:cNvSpPr/>
          <p:nvPr/>
        </p:nvSpPr>
        <p:spPr>
          <a:xfrm>
            <a:off x="728663" y="3088891"/>
            <a:ext cx="3664744"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DAY 5-7: ERADICATION &amp; RECOVERY</a:t>
            </a:r>
            <a:endParaRPr lang="en-US" sz="683" dirty="0"/>
          </a:p>
        </p:txBody>
      </p:sp>
      <p:sp>
        <p:nvSpPr>
          <p:cNvPr id="21" name="Text 18"/>
          <p:cNvSpPr/>
          <p:nvPr/>
        </p:nvSpPr>
        <p:spPr>
          <a:xfrm>
            <a:off x="728663" y="3274628"/>
            <a:ext cx="3664744"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E8EDF2"/>
                </a:solidFill>
              </a:rPr>
              <a:t>Forensic analysis completed. Malware removed. Systems rebuilt from clean backups. Security controls strengthened. Phased restoration begun.</a:t>
            </a:r>
            <a:endParaRPr lang="en-US" sz="727" dirty="0"/>
          </a:p>
        </p:txBody>
      </p:sp>
      <p:sp>
        <p:nvSpPr>
          <p:cNvPr id="22" name="Shape 19"/>
          <p:cNvSpPr/>
          <p:nvPr/>
        </p:nvSpPr>
        <p:spPr>
          <a:xfrm>
            <a:off x="357188" y="3697505"/>
            <a:ext cx="185738" cy="185738"/>
          </a:xfrm>
          <a:prstGeom prst="rect">
            <a:avLst/>
          </a:prstGeom>
          <a:solidFill>
            <a:srgbClr val="FFB800"/>
          </a:solidFill>
          <a:ln/>
        </p:spPr>
      </p:sp>
      <p:sp>
        <p:nvSpPr>
          <p:cNvPr id="23" name="Text 20"/>
          <p:cNvSpPr/>
          <p:nvPr/>
        </p:nvSpPr>
        <p:spPr>
          <a:xfrm>
            <a:off x="357188" y="3697505"/>
            <a:ext cx="185738" cy="185738"/>
          </a:xfrm>
          <a:prstGeom prst="rect">
            <a:avLst/>
          </a:prstGeom>
          <a:noFill/>
          <a:ln/>
        </p:spPr>
        <p:txBody>
          <a:bodyPr wrap="none" lIns="0" tIns="0" rIns="0" bIns="0" rtlCol="0" anchor="ctr">
            <a:spAutoFit/>
          </a:bodyPr>
          <a:lstStyle/>
          <a:p>
            <a:pPr marL="0" indent="0" algn="ctr">
              <a:lnSpc>
                <a:spcPts val="1000"/>
              </a:lnSpc>
              <a:buNone/>
            </a:pPr>
            <a:r>
              <a:rPr lang="en-US" sz="584" b="1" dirty="0">
                <a:solidFill>
                  <a:srgbClr val="0A1628"/>
                </a:solidFill>
              </a:rPr>
              <a:t>4</a:t>
            </a:r>
            <a:endParaRPr lang="en-US" sz="584" dirty="0"/>
          </a:p>
        </p:txBody>
      </p:sp>
      <p:sp>
        <p:nvSpPr>
          <p:cNvPr id="24" name="Shape 21"/>
          <p:cNvSpPr/>
          <p:nvPr/>
        </p:nvSpPr>
        <p:spPr>
          <a:xfrm>
            <a:off x="614363" y="3697505"/>
            <a:ext cx="3893344" cy="637189"/>
          </a:xfrm>
          <a:prstGeom prst="rect">
            <a:avLst/>
          </a:prstGeom>
          <a:solidFill>
            <a:srgbClr val="FFB800">
              <a:alpha val="5000"/>
            </a:srgbClr>
          </a:solidFill>
          <a:ln w="18288">
            <a:solidFill>
              <a:srgbClr val="FFB800"/>
            </a:solidFill>
            <a:prstDash val="solid"/>
          </a:ln>
        </p:spPr>
      </p:sp>
      <p:sp>
        <p:nvSpPr>
          <p:cNvPr id="25" name="Text 22"/>
          <p:cNvSpPr/>
          <p:nvPr/>
        </p:nvSpPr>
        <p:spPr>
          <a:xfrm>
            <a:off x="728663" y="3768942"/>
            <a:ext cx="3664744"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800"/>
                </a:solidFill>
              </a:rPr>
              <a:t>DAY 14: POST-INCIDENT REVIEW</a:t>
            </a:r>
            <a:endParaRPr lang="en-US" sz="683" dirty="0"/>
          </a:p>
        </p:txBody>
      </p:sp>
      <p:sp>
        <p:nvSpPr>
          <p:cNvPr id="26" name="Text 23"/>
          <p:cNvSpPr/>
          <p:nvPr/>
        </p:nvSpPr>
        <p:spPr>
          <a:xfrm>
            <a:off x="728663" y="3954680"/>
            <a:ext cx="3664744"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E8EDF2"/>
                </a:solidFill>
              </a:rPr>
              <a:t>Lessons learned session conducted. IR plan updated. Additional training scheduled. Threat intelligence shared with ISAC.</a:t>
            </a:r>
            <a:endParaRPr lang="en-US" sz="727" dirty="0"/>
          </a:p>
        </p:txBody>
      </p:sp>
      <p:sp>
        <p:nvSpPr>
          <p:cNvPr id="27" name="Shape 24"/>
          <p:cNvSpPr/>
          <p:nvPr/>
        </p:nvSpPr>
        <p:spPr>
          <a:xfrm>
            <a:off x="4636294" y="764381"/>
            <a:ext cx="4150519" cy="1203722"/>
          </a:xfrm>
          <a:prstGeom prst="rect">
            <a:avLst/>
          </a:prstGeom>
          <a:solidFill>
            <a:srgbClr val="FF3B3F">
              <a:alpha val="5000"/>
            </a:srgbClr>
          </a:solidFill>
          <a:ln w="18288">
            <a:solidFill>
              <a:srgbClr val="FF3B3F"/>
            </a:solidFill>
            <a:prstDash val="solid"/>
          </a:ln>
        </p:spPr>
      </p:sp>
      <p:sp>
        <p:nvSpPr>
          <p:cNvPr id="28" name="Text 25"/>
          <p:cNvSpPr/>
          <p:nvPr/>
        </p:nvSpPr>
        <p:spPr>
          <a:xfrm>
            <a:off x="4750594" y="835819"/>
            <a:ext cx="392191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FF3B3F"/>
                </a:solidFill>
              </a:rPr>
              <a:t>CHALLENGES ENCOUNTERED</a:t>
            </a:r>
            <a:endParaRPr lang="en-US" sz="784" dirty="0"/>
          </a:p>
        </p:txBody>
      </p:sp>
      <p:sp>
        <p:nvSpPr>
          <p:cNvPr id="29" name="Text 26"/>
          <p:cNvSpPr/>
          <p:nvPr/>
        </p:nvSpPr>
        <p:spPr>
          <a:xfrm>
            <a:off x="4750594" y="1064419"/>
            <a:ext cx="3921919" cy="803672"/>
          </a:xfrm>
          <a:prstGeom prst="rect">
            <a:avLst/>
          </a:prstGeom>
          <a:noFill/>
          <a:ln/>
        </p:spPr>
        <p:txBody>
          <a:bodyPr wrap="square" lIns="0" tIns="0" rIns="0" bIns="0" rtlCol="0" anchor="t">
            <a:spAutoFit/>
          </a:bodyPr>
          <a:lstStyle/>
          <a:p>
            <a:pPr marL="0" indent="0" algn="l">
              <a:lnSpc>
                <a:spcPts val="1300"/>
              </a:lnSpc>
              <a:buNone/>
            </a:pPr>
            <a:r>
              <a:rPr lang="en-US" sz="734" b="1" dirty="0">
                <a:solidFill>
                  <a:srgbClr val="FFB800"/>
                </a:solidFill>
              </a:rPr>
              <a:t>•</a:t>
            </a:r>
            <a:r>
              <a:rPr lang="en-US" sz="780" dirty="0">
                <a:solidFill>
                  <a:srgbClr val="E8EDF2"/>
                </a:solidFill>
              </a:rPr>
              <a:t> Initial detection delay due to stealthy lateral movement
</a:t>
            </a:r>
            <a:r>
              <a:rPr lang="en-US" sz="734" b="1" dirty="0">
                <a:solidFill>
                  <a:srgbClr val="FFB800"/>
                </a:solidFill>
              </a:rPr>
              <a:t>•</a:t>
            </a:r>
            <a:r>
              <a:rPr lang="en-US" sz="780" dirty="0">
                <a:solidFill>
                  <a:srgbClr val="E8EDF2"/>
                </a:solidFill>
              </a:rPr>
              <a:t> Communication difficulties with encrypted email systems
</a:t>
            </a:r>
            <a:r>
              <a:rPr lang="en-US" sz="734" b="1" dirty="0">
                <a:solidFill>
                  <a:srgbClr val="FFB800"/>
                </a:solidFill>
              </a:rPr>
              <a:t>•</a:t>
            </a:r>
            <a:r>
              <a:rPr lang="en-US" sz="780" dirty="0">
                <a:solidFill>
                  <a:srgbClr val="E8EDF2"/>
                </a:solidFill>
              </a:rPr>
              <a:t> Incomplete asset inventory slowed containment
</a:t>
            </a:r>
            <a:r>
              <a:rPr lang="en-US" sz="734" b="1" dirty="0">
                <a:solidFill>
                  <a:srgbClr val="FFB800"/>
                </a:solidFill>
              </a:rPr>
              <a:t>•</a:t>
            </a:r>
            <a:r>
              <a:rPr lang="en-US" sz="780" dirty="0">
                <a:solidFill>
                  <a:srgbClr val="E8EDF2"/>
                </a:solidFill>
              </a:rPr>
              <a:t> Backup restoration slower than expected
</a:t>
            </a:r>
            <a:r>
              <a:rPr lang="en-US" sz="734" b="1" dirty="0">
                <a:solidFill>
                  <a:srgbClr val="FFB800"/>
                </a:solidFill>
              </a:rPr>
              <a:t>•</a:t>
            </a:r>
            <a:r>
              <a:rPr lang="en-US" sz="780" dirty="0">
                <a:solidFill>
                  <a:srgbClr val="E8EDF2"/>
                </a:solidFill>
              </a:rPr>
              <a:t> Coordination with external forensics vendor</a:t>
            </a:r>
            <a:endParaRPr lang="en-US" sz="734" dirty="0"/>
          </a:p>
        </p:txBody>
      </p:sp>
      <p:sp>
        <p:nvSpPr>
          <p:cNvPr id="30" name="Shape 27"/>
          <p:cNvSpPr/>
          <p:nvPr/>
        </p:nvSpPr>
        <p:spPr>
          <a:xfrm>
            <a:off x="4636294" y="2025253"/>
            <a:ext cx="4150519" cy="1203722"/>
          </a:xfrm>
          <a:prstGeom prst="rect">
            <a:avLst/>
          </a:prstGeom>
          <a:solidFill>
            <a:srgbClr val="00D9FF">
              <a:alpha val="5000"/>
            </a:srgbClr>
          </a:solidFill>
          <a:ln w="18288">
            <a:solidFill>
              <a:srgbClr val="00D9FF"/>
            </a:solidFill>
            <a:prstDash val="solid"/>
          </a:ln>
        </p:spPr>
      </p:sp>
      <p:sp>
        <p:nvSpPr>
          <p:cNvPr id="31" name="Text 28"/>
          <p:cNvSpPr/>
          <p:nvPr/>
        </p:nvSpPr>
        <p:spPr>
          <a:xfrm>
            <a:off x="4750594" y="2096691"/>
            <a:ext cx="392191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OUTCOMES ACHIEVED</a:t>
            </a:r>
            <a:endParaRPr lang="en-US" sz="784" dirty="0"/>
          </a:p>
        </p:txBody>
      </p:sp>
      <p:sp>
        <p:nvSpPr>
          <p:cNvPr id="32" name="Text 29"/>
          <p:cNvSpPr/>
          <p:nvPr/>
        </p:nvSpPr>
        <p:spPr>
          <a:xfrm>
            <a:off x="4750594" y="2325291"/>
            <a:ext cx="3921919" cy="803672"/>
          </a:xfrm>
          <a:prstGeom prst="rect">
            <a:avLst/>
          </a:prstGeom>
          <a:noFill/>
          <a:ln/>
        </p:spPr>
        <p:txBody>
          <a:bodyPr wrap="square" lIns="0" tIns="0" rIns="0" bIns="0" rtlCol="0" anchor="t">
            <a:spAutoFit/>
          </a:bodyPr>
          <a:lstStyle/>
          <a:p>
            <a:pPr marL="0" indent="0" algn="l">
              <a:lnSpc>
                <a:spcPts val="1300"/>
              </a:lnSpc>
              <a:buNone/>
            </a:pPr>
            <a:r>
              <a:rPr lang="en-US" sz="734" b="1" dirty="0">
                <a:solidFill>
                  <a:srgbClr val="00D9FF"/>
                </a:solidFill>
              </a:rPr>
              <a:t>✓</a:t>
            </a:r>
            <a:r>
              <a:rPr lang="en-US" sz="780" dirty="0">
                <a:solidFill>
                  <a:srgbClr val="E8EDF2"/>
                </a:solidFill>
              </a:rPr>
              <a:t> No ransom paid - recovery from backups successful
</a:t>
            </a:r>
            <a:r>
              <a:rPr lang="en-US" sz="734" b="1" dirty="0">
                <a:solidFill>
                  <a:srgbClr val="00D9FF"/>
                </a:solidFill>
              </a:rPr>
              <a:t>✓</a:t>
            </a:r>
            <a:r>
              <a:rPr lang="en-US" sz="780" dirty="0">
                <a:solidFill>
                  <a:srgbClr val="E8EDF2"/>
                </a:solidFill>
              </a:rPr>
              <a:t> Critical systems restored within 72 hours
</a:t>
            </a:r>
            <a:r>
              <a:rPr lang="en-US" sz="734" b="1" dirty="0">
                <a:solidFill>
                  <a:srgbClr val="00D9FF"/>
                </a:solidFill>
              </a:rPr>
              <a:t>✓</a:t>
            </a:r>
            <a:r>
              <a:rPr lang="en-US" sz="780" dirty="0">
                <a:solidFill>
                  <a:srgbClr val="E8EDF2"/>
                </a:solidFill>
              </a:rPr>
              <a:t> No patient data exfiltration confirmed
</a:t>
            </a:r>
            <a:r>
              <a:rPr lang="en-US" sz="734" b="1" dirty="0">
                <a:solidFill>
                  <a:srgbClr val="00D9FF"/>
                </a:solidFill>
              </a:rPr>
              <a:t>✓</a:t>
            </a:r>
            <a:r>
              <a:rPr lang="en-US" sz="780" dirty="0">
                <a:solidFill>
                  <a:srgbClr val="E8EDF2"/>
                </a:solidFill>
              </a:rPr>
              <a:t> Regulatory notifications completed on time
</a:t>
            </a:r>
            <a:r>
              <a:rPr lang="en-US" sz="734" b="1" dirty="0">
                <a:solidFill>
                  <a:srgbClr val="00D9FF"/>
                </a:solidFill>
              </a:rPr>
              <a:t>✓</a:t>
            </a:r>
            <a:r>
              <a:rPr lang="en-US" sz="780" dirty="0">
                <a:solidFill>
                  <a:srgbClr val="E8EDF2"/>
                </a:solidFill>
              </a:rPr>
              <a:t> Total downtime: 7 days for full restoration</a:t>
            </a:r>
            <a:endParaRPr lang="en-US" sz="734" dirty="0"/>
          </a:p>
        </p:txBody>
      </p:sp>
      <p:sp>
        <p:nvSpPr>
          <p:cNvPr id="33" name="Shape 30"/>
          <p:cNvSpPr/>
          <p:nvPr/>
        </p:nvSpPr>
        <p:spPr>
          <a:xfrm>
            <a:off x="4636294" y="3286125"/>
            <a:ext cx="4150519" cy="1203722"/>
          </a:xfrm>
          <a:prstGeom prst="rect">
            <a:avLst/>
          </a:prstGeom>
          <a:solidFill>
            <a:srgbClr val="FFB800">
              <a:alpha val="5000"/>
            </a:srgbClr>
          </a:solidFill>
          <a:ln w="18288">
            <a:solidFill>
              <a:srgbClr val="FFB800"/>
            </a:solidFill>
            <a:prstDash val="solid"/>
          </a:ln>
        </p:spPr>
      </p:sp>
      <p:sp>
        <p:nvSpPr>
          <p:cNvPr id="34" name="Text 31"/>
          <p:cNvSpPr/>
          <p:nvPr/>
        </p:nvSpPr>
        <p:spPr>
          <a:xfrm>
            <a:off x="4750594" y="3357563"/>
            <a:ext cx="3921919"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FFB800"/>
                </a:solidFill>
              </a:rPr>
              <a:t>KEY LESSONS LEARNED</a:t>
            </a:r>
            <a:endParaRPr lang="en-US" sz="784" dirty="0"/>
          </a:p>
        </p:txBody>
      </p:sp>
      <p:sp>
        <p:nvSpPr>
          <p:cNvPr id="35" name="Text 32"/>
          <p:cNvSpPr/>
          <p:nvPr/>
        </p:nvSpPr>
        <p:spPr>
          <a:xfrm>
            <a:off x="4750594" y="3586163"/>
            <a:ext cx="3921919" cy="803672"/>
          </a:xfrm>
          <a:prstGeom prst="rect">
            <a:avLst/>
          </a:prstGeom>
          <a:noFill/>
          <a:ln/>
        </p:spPr>
        <p:txBody>
          <a:bodyPr wrap="square" lIns="0" tIns="0" rIns="0" bIns="0" rtlCol="0" anchor="t">
            <a:spAutoFit/>
          </a:bodyPr>
          <a:lstStyle/>
          <a:p>
            <a:pPr marL="0" indent="0" algn="l">
              <a:lnSpc>
                <a:spcPts val="1300"/>
              </a:lnSpc>
              <a:buNone/>
            </a:pPr>
            <a:r>
              <a:rPr lang="en-US" sz="734" b="1" dirty="0">
                <a:solidFill>
                  <a:srgbClr val="FFB800"/>
                </a:solidFill>
              </a:rPr>
              <a:t>1.</a:t>
            </a:r>
            <a:r>
              <a:rPr lang="en-US" sz="780" dirty="0">
                <a:solidFill>
                  <a:srgbClr val="E8EDF2"/>
                </a:solidFill>
              </a:rPr>
              <a:t> Enhanced email security and user training reduced phishing risk
</a:t>
            </a:r>
            <a:r>
              <a:rPr lang="en-US" sz="734" b="1" dirty="0">
                <a:solidFill>
                  <a:srgbClr val="FFB800"/>
                </a:solidFill>
              </a:rPr>
              <a:t>2.</a:t>
            </a:r>
            <a:r>
              <a:rPr lang="en-US" sz="780" dirty="0">
                <a:solidFill>
                  <a:srgbClr val="E8EDF2"/>
                </a:solidFill>
              </a:rPr>
              <a:t> Network segmentation limited ransomware spread
</a:t>
            </a:r>
            <a:r>
              <a:rPr lang="en-US" sz="734" b="1" dirty="0">
                <a:solidFill>
                  <a:srgbClr val="FFB800"/>
                </a:solidFill>
              </a:rPr>
              <a:t>3.</a:t>
            </a:r>
            <a:r>
              <a:rPr lang="en-US" sz="780" dirty="0">
                <a:solidFill>
                  <a:srgbClr val="E8EDF2"/>
                </a:solidFill>
              </a:rPr>
              <a:t> Offline backups were critical to avoiding ransom payment
</a:t>
            </a:r>
            <a:r>
              <a:rPr lang="en-US" sz="734" b="1" dirty="0">
                <a:solidFill>
                  <a:srgbClr val="FFB800"/>
                </a:solidFill>
              </a:rPr>
              <a:t>4.</a:t>
            </a:r>
            <a:r>
              <a:rPr lang="en-US" sz="780" dirty="0">
                <a:solidFill>
                  <a:srgbClr val="E8EDF2"/>
                </a:solidFill>
              </a:rPr>
              <a:t> Pre-established IR team and playbooks accelerated response
</a:t>
            </a:r>
            <a:r>
              <a:rPr lang="en-US" sz="734" b="1" dirty="0">
                <a:solidFill>
                  <a:srgbClr val="FFB800"/>
                </a:solidFill>
              </a:rPr>
              <a:t>5.</a:t>
            </a:r>
            <a:r>
              <a:rPr lang="en-US" sz="780" dirty="0">
                <a:solidFill>
                  <a:srgbClr val="E8EDF2"/>
                </a:solidFill>
              </a:rPr>
              <a:t> Regular backup testing revealed restoration gaps</a:t>
            </a:r>
            <a:endParaRPr lang="en-US" sz="734" dirty="0"/>
          </a:p>
        </p:txBody>
      </p:sp>
      <p:sp>
        <p:nvSpPr>
          <p:cNvPr id="36" name="Shape 33"/>
          <p:cNvSpPr/>
          <p:nvPr/>
        </p:nvSpPr>
        <p:spPr>
          <a:xfrm>
            <a:off x="4636294" y="4546997"/>
            <a:ext cx="4150519" cy="644333"/>
          </a:xfrm>
          <a:prstGeom prst="rect">
            <a:avLst/>
          </a:prstGeom>
          <a:solidFill>
            <a:srgbClr val="00D9FF">
              <a:alpha val="5000"/>
            </a:srgbClr>
          </a:solidFill>
          <a:ln w="18288">
            <a:solidFill>
              <a:srgbClr val="00D9FF"/>
            </a:solidFill>
            <a:prstDash val="solid"/>
          </a:ln>
        </p:spPr>
      </p:sp>
      <p:sp>
        <p:nvSpPr>
          <p:cNvPr id="37" name="Text 34"/>
          <p:cNvSpPr/>
          <p:nvPr/>
        </p:nvSpPr>
        <p:spPr>
          <a:xfrm>
            <a:off x="4736306" y="4618434"/>
            <a:ext cx="3950494" cy="150019"/>
          </a:xfrm>
          <a:prstGeom prst="rect">
            <a:avLst/>
          </a:prstGeom>
          <a:noFill/>
          <a:ln/>
        </p:spPr>
        <p:txBody>
          <a:bodyPr wrap="none" lIns="0" tIns="0" rIns="0" bIns="0" rtlCol="0" anchor="t">
            <a:spAutoFit/>
          </a:bodyPr>
          <a:lstStyle/>
          <a:p>
            <a:pPr marL="0" indent="0" algn="l">
              <a:lnSpc>
                <a:spcPts val="1200"/>
              </a:lnSpc>
              <a:buNone/>
            </a:pPr>
            <a:r>
              <a:rPr lang="en-US" sz="683" b="1" kern="0" spc="1" dirty="0">
                <a:solidFill>
                  <a:srgbClr val="00D9FF"/>
                </a:solidFill>
              </a:rPr>
              <a:t>CRITICAL SUCCESS FACTOR</a:t>
            </a:r>
            <a:endParaRPr lang="en-US" sz="683" dirty="0"/>
          </a:p>
        </p:txBody>
      </p:sp>
      <p:sp>
        <p:nvSpPr>
          <p:cNvPr id="38" name="Text 35"/>
          <p:cNvSpPr/>
          <p:nvPr/>
        </p:nvSpPr>
        <p:spPr>
          <a:xfrm>
            <a:off x="4736306" y="4811316"/>
            <a:ext cx="3950494"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E8EDF2"/>
                </a:solidFill>
              </a:rPr>
              <a:t>The organization's investment in preparation (IR plan, trained team, tested backups) enabled effective response and prevented catastrophic data loss</a:t>
            </a:r>
            <a:endParaRPr lang="en-US" sz="72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729176"/>
          </a:xfrm>
          <a:prstGeom prst="rect">
            <a:avLst/>
          </a:prstGeom>
        </p:spPr>
      </p:pic>
      <p:sp>
        <p:nvSpPr>
          <p:cNvPr id="3" name="Text 0"/>
          <p:cNvSpPr/>
          <p:nvPr/>
        </p:nvSpPr>
        <p:spPr>
          <a:xfrm>
            <a:off x="500063" y="285750"/>
            <a:ext cx="8143875"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SUMMARY AND NEXT STEPS</a:t>
            </a:r>
            <a:endParaRPr lang="en-US" sz="1808" dirty="0"/>
          </a:p>
        </p:txBody>
      </p:sp>
      <p:sp>
        <p:nvSpPr>
          <p:cNvPr id="4" name="Text 1"/>
          <p:cNvSpPr/>
          <p:nvPr/>
        </p:nvSpPr>
        <p:spPr>
          <a:xfrm>
            <a:off x="500063" y="978694"/>
            <a:ext cx="8143875" cy="250031"/>
          </a:xfrm>
          <a:prstGeom prst="rect">
            <a:avLst/>
          </a:prstGeom>
          <a:noFill/>
          <a:ln/>
        </p:spPr>
        <p:txBody>
          <a:bodyPr wrap="none" lIns="0" tIns="0" rIns="0" bIns="51054" rtlCol="0" anchor="t">
            <a:spAutoFit/>
          </a:bodyPr>
          <a:lstStyle/>
          <a:p>
            <a:pPr marL="0" indent="0" algn="l">
              <a:lnSpc>
                <a:spcPts val="1500"/>
              </a:lnSpc>
              <a:buNone/>
            </a:pPr>
            <a:r>
              <a:rPr lang="en-US" sz="885" b="1" kern="0" spc="1" dirty="0">
                <a:solidFill>
                  <a:srgbClr val="FFB800"/>
                </a:solidFill>
              </a:rPr>
              <a:t>KEY CONCEPTS RECAP</a:t>
            </a:r>
            <a:endParaRPr lang="en-US" sz="885" dirty="0"/>
          </a:p>
        </p:txBody>
      </p:sp>
      <p:sp>
        <p:nvSpPr>
          <p:cNvPr id="5" name="Shape 2"/>
          <p:cNvSpPr/>
          <p:nvPr/>
        </p:nvSpPr>
        <p:spPr>
          <a:xfrm>
            <a:off x="500063" y="1328738"/>
            <a:ext cx="4021931" cy="792956"/>
          </a:xfrm>
          <a:prstGeom prst="rect">
            <a:avLst/>
          </a:prstGeom>
          <a:solidFill>
            <a:srgbClr val="00D9FF">
              <a:alpha val="5000"/>
            </a:srgbClr>
          </a:solidFill>
          <a:ln w="18288">
            <a:solidFill>
              <a:srgbClr val="00D9FF"/>
            </a:solidFill>
            <a:prstDash val="solid"/>
          </a:ln>
        </p:spPr>
      </p:sp>
      <p:sp>
        <p:nvSpPr>
          <p:cNvPr id="6" name="Text 3"/>
          <p:cNvSpPr/>
          <p:nvPr/>
        </p:nvSpPr>
        <p:spPr>
          <a:xfrm>
            <a:off x="642938" y="1443038"/>
            <a:ext cx="373618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NIST IR Lifecycle</a:t>
            </a:r>
            <a:endParaRPr lang="en-US" sz="784" dirty="0"/>
          </a:p>
        </p:txBody>
      </p:sp>
      <p:sp>
        <p:nvSpPr>
          <p:cNvPr id="7" name="Text 4"/>
          <p:cNvSpPr/>
          <p:nvPr/>
        </p:nvSpPr>
        <p:spPr>
          <a:xfrm>
            <a:off x="642938" y="1657350"/>
            <a:ext cx="3736181"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Four-phase framework: Preparation, Detection &amp; Analysis, Containment/Eradication/Recovery, Post-Incident Activity</a:t>
            </a:r>
            <a:endParaRPr lang="en-US" sz="780" dirty="0"/>
          </a:p>
        </p:txBody>
      </p:sp>
      <p:sp>
        <p:nvSpPr>
          <p:cNvPr id="8" name="Shape 5"/>
          <p:cNvSpPr/>
          <p:nvPr/>
        </p:nvSpPr>
        <p:spPr>
          <a:xfrm>
            <a:off x="4622006" y="1328738"/>
            <a:ext cx="4021931" cy="792956"/>
          </a:xfrm>
          <a:prstGeom prst="rect">
            <a:avLst/>
          </a:prstGeom>
          <a:solidFill>
            <a:srgbClr val="00D9FF">
              <a:alpha val="5000"/>
            </a:srgbClr>
          </a:solidFill>
          <a:ln w="18288">
            <a:solidFill>
              <a:srgbClr val="00D9FF"/>
            </a:solidFill>
            <a:prstDash val="solid"/>
          </a:ln>
        </p:spPr>
      </p:sp>
      <p:sp>
        <p:nvSpPr>
          <p:cNvPr id="9" name="Text 6"/>
          <p:cNvSpPr/>
          <p:nvPr/>
        </p:nvSpPr>
        <p:spPr>
          <a:xfrm>
            <a:off x="4764881" y="1443038"/>
            <a:ext cx="373618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Preparation Phase</a:t>
            </a:r>
            <a:endParaRPr lang="en-US" sz="784" dirty="0"/>
          </a:p>
        </p:txBody>
      </p:sp>
      <p:sp>
        <p:nvSpPr>
          <p:cNvPr id="10" name="Text 7"/>
          <p:cNvSpPr/>
          <p:nvPr/>
        </p:nvSpPr>
        <p:spPr>
          <a:xfrm>
            <a:off x="4764881" y="1657350"/>
            <a:ext cx="3736181"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Team establishment, policies, tools, training, and communication plans form the foundation</a:t>
            </a:r>
            <a:endParaRPr lang="en-US" sz="780" dirty="0"/>
          </a:p>
        </p:txBody>
      </p:sp>
      <p:sp>
        <p:nvSpPr>
          <p:cNvPr id="11" name="Shape 8"/>
          <p:cNvSpPr/>
          <p:nvPr/>
        </p:nvSpPr>
        <p:spPr>
          <a:xfrm>
            <a:off x="500063" y="2193131"/>
            <a:ext cx="4021931" cy="792956"/>
          </a:xfrm>
          <a:prstGeom prst="rect">
            <a:avLst/>
          </a:prstGeom>
          <a:solidFill>
            <a:srgbClr val="00D9FF">
              <a:alpha val="5000"/>
            </a:srgbClr>
          </a:solidFill>
          <a:ln w="18288">
            <a:solidFill>
              <a:srgbClr val="00D9FF"/>
            </a:solidFill>
            <a:prstDash val="solid"/>
          </a:ln>
        </p:spPr>
      </p:sp>
      <p:sp>
        <p:nvSpPr>
          <p:cNvPr id="12" name="Text 9"/>
          <p:cNvSpPr/>
          <p:nvPr/>
        </p:nvSpPr>
        <p:spPr>
          <a:xfrm>
            <a:off x="642938" y="2307431"/>
            <a:ext cx="373618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Detection &amp; Analysis</a:t>
            </a:r>
            <a:endParaRPr lang="en-US" sz="784" dirty="0"/>
          </a:p>
        </p:txBody>
      </p:sp>
      <p:sp>
        <p:nvSpPr>
          <p:cNvPr id="13" name="Text 10"/>
          <p:cNvSpPr/>
          <p:nvPr/>
        </p:nvSpPr>
        <p:spPr>
          <a:xfrm>
            <a:off x="642938" y="2521744"/>
            <a:ext cx="3736181"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Monitoring, classification, prioritization, and documentation enable effective response</a:t>
            </a:r>
            <a:endParaRPr lang="en-US" sz="780" dirty="0"/>
          </a:p>
        </p:txBody>
      </p:sp>
      <p:sp>
        <p:nvSpPr>
          <p:cNvPr id="14" name="Shape 11"/>
          <p:cNvSpPr/>
          <p:nvPr/>
        </p:nvSpPr>
        <p:spPr>
          <a:xfrm>
            <a:off x="4622006" y="2193131"/>
            <a:ext cx="4021931" cy="792956"/>
          </a:xfrm>
          <a:prstGeom prst="rect">
            <a:avLst/>
          </a:prstGeom>
          <a:solidFill>
            <a:srgbClr val="00D9FF">
              <a:alpha val="5000"/>
            </a:srgbClr>
          </a:solidFill>
          <a:ln w="18288">
            <a:solidFill>
              <a:srgbClr val="00D9FF"/>
            </a:solidFill>
            <a:prstDash val="solid"/>
          </a:ln>
        </p:spPr>
      </p:sp>
      <p:sp>
        <p:nvSpPr>
          <p:cNvPr id="15" name="Text 12"/>
          <p:cNvSpPr/>
          <p:nvPr/>
        </p:nvSpPr>
        <p:spPr>
          <a:xfrm>
            <a:off x="4764881" y="2307431"/>
            <a:ext cx="373618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Containment to Post-Incident</a:t>
            </a:r>
            <a:endParaRPr lang="en-US" sz="784" dirty="0"/>
          </a:p>
        </p:txBody>
      </p:sp>
      <p:sp>
        <p:nvSpPr>
          <p:cNvPr id="16" name="Text 13"/>
          <p:cNvSpPr/>
          <p:nvPr/>
        </p:nvSpPr>
        <p:spPr>
          <a:xfrm>
            <a:off x="4764881" y="2521744"/>
            <a:ext cx="3736181"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E8EDF2"/>
                </a:solidFill>
              </a:rPr>
              <a:t>Isolation, eradication, recovery, and lessons learned create continuous improvement</a:t>
            </a:r>
            <a:endParaRPr lang="en-US" sz="780" dirty="0"/>
          </a:p>
        </p:txBody>
      </p:sp>
      <p:sp>
        <p:nvSpPr>
          <p:cNvPr id="17" name="Shape 14"/>
          <p:cNvSpPr/>
          <p:nvPr/>
        </p:nvSpPr>
        <p:spPr>
          <a:xfrm>
            <a:off x="500063" y="3171825"/>
            <a:ext cx="8143875" cy="1592945"/>
          </a:xfrm>
          <a:prstGeom prst="rect">
            <a:avLst/>
          </a:prstGeom>
          <a:solidFill>
            <a:srgbClr val="FF3B3F">
              <a:alpha val="5000"/>
            </a:srgbClr>
          </a:solidFill>
          <a:ln w="18288">
            <a:solidFill>
              <a:srgbClr val="FF3B3F"/>
            </a:solidFill>
            <a:prstDash val="solid"/>
          </a:ln>
        </p:spPr>
      </p:sp>
      <p:sp>
        <p:nvSpPr>
          <p:cNvPr id="18" name="Text 15"/>
          <p:cNvSpPr/>
          <p:nvPr/>
        </p:nvSpPr>
        <p:spPr>
          <a:xfrm>
            <a:off x="671513" y="3300413"/>
            <a:ext cx="7800975" cy="192881"/>
          </a:xfrm>
          <a:prstGeom prst="rect">
            <a:avLst/>
          </a:prstGeom>
          <a:noFill/>
          <a:ln/>
        </p:spPr>
        <p:txBody>
          <a:bodyPr wrap="none" lIns="0" tIns="0" rIns="0" bIns="0" rtlCol="0" anchor="t">
            <a:spAutoFit/>
          </a:bodyPr>
          <a:lstStyle/>
          <a:p>
            <a:pPr marL="0" indent="0" algn="l">
              <a:lnSpc>
                <a:spcPts val="1500"/>
              </a:lnSpc>
              <a:buNone/>
            </a:pPr>
            <a:r>
              <a:rPr lang="en-US" sz="885" b="1" kern="0" spc="1" dirty="0">
                <a:solidFill>
                  <a:srgbClr val="FF3B3F"/>
                </a:solidFill>
              </a:rPr>
              <a:t>CRITICAL SUCCESS FACTORS</a:t>
            </a:r>
            <a:endParaRPr lang="en-US" sz="885" dirty="0"/>
          </a:p>
        </p:txBody>
      </p:sp>
      <p:sp>
        <p:nvSpPr>
          <p:cNvPr id="19" name="Text 16"/>
          <p:cNvSpPr/>
          <p:nvPr/>
        </p:nvSpPr>
        <p:spPr>
          <a:xfrm>
            <a:off x="671513" y="3579019"/>
            <a:ext cx="7800975" cy="1028588"/>
          </a:xfrm>
          <a:prstGeom prst="rect">
            <a:avLst/>
          </a:prstGeom>
          <a:noFill/>
          <a:ln/>
        </p:spPr>
        <p:txBody>
          <a:bodyPr wrap="square" lIns="0" tIns="0" rIns="0" bIns="0" rtlCol="0" anchor="t">
            <a:spAutoFit/>
          </a:bodyPr>
          <a:lstStyle/>
          <a:p>
            <a:pPr marL="0" indent="0" algn="l">
              <a:lnSpc>
                <a:spcPts val="1600"/>
              </a:lnSpc>
              <a:buNone/>
            </a:pPr>
            <a:r>
              <a:rPr lang="en-US" sz="784" b="1" dirty="0">
                <a:solidFill>
                  <a:srgbClr val="00D9FF"/>
                </a:solidFill>
              </a:rPr>
              <a:t>Executive Support:</a:t>
            </a:r>
            <a:r>
              <a:rPr lang="en-US" sz="834" dirty="0">
                <a:solidFill>
                  <a:srgbClr val="E8EDF2"/>
                </a:solidFill>
              </a:rPr>
              <a:t> Leadership commitment and resource allocation
</a:t>
            </a:r>
            <a:r>
              <a:rPr lang="en-US" sz="784" b="1" dirty="0">
                <a:solidFill>
                  <a:srgbClr val="00D9FF"/>
                </a:solidFill>
              </a:rPr>
              <a:t>Clear Documentation:</a:t>
            </a:r>
            <a:r>
              <a:rPr lang="en-US" sz="834" dirty="0">
                <a:solidFill>
                  <a:srgbClr val="E8EDF2"/>
                </a:solidFill>
              </a:rPr>
              <a:t> Well-defined policies, procedures, and playbooks
</a:t>
            </a:r>
            <a:r>
              <a:rPr lang="en-US" sz="784" b="1" dirty="0">
                <a:solidFill>
                  <a:srgbClr val="00D9FF"/>
                </a:solidFill>
              </a:rPr>
              <a:t>Regular Testing:</a:t>
            </a:r>
            <a:r>
              <a:rPr lang="en-US" sz="834" dirty="0">
                <a:solidFill>
                  <a:srgbClr val="E8EDF2"/>
                </a:solidFill>
              </a:rPr>
              <a:t> Tabletop exercises and simulation drills
</a:t>
            </a:r>
            <a:r>
              <a:rPr lang="en-US" sz="784" b="1" dirty="0">
                <a:solidFill>
                  <a:srgbClr val="00D9FF"/>
                </a:solidFill>
              </a:rPr>
              <a:t>Cross-Functional Collaboration:</a:t>
            </a:r>
            <a:r>
              <a:rPr lang="en-US" sz="834" dirty="0">
                <a:solidFill>
                  <a:srgbClr val="E8EDF2"/>
                </a:solidFill>
              </a:rPr>
              <a:t> Integration across IT, legal, PR, and business units
</a:t>
            </a:r>
            <a:r>
              <a:rPr lang="en-US" sz="784" b="1" dirty="0">
                <a:solidFill>
                  <a:srgbClr val="00D9FF"/>
                </a:solidFill>
              </a:rPr>
              <a:t>Continuous Improvement:</a:t>
            </a:r>
            <a:r>
              <a:rPr lang="en-US" sz="834" dirty="0">
                <a:solidFill>
                  <a:srgbClr val="E8EDF2"/>
                </a:solidFill>
              </a:rPr>
              <a:t> Lessons learned applied to enhance capabilities</a:t>
            </a:r>
            <a:endParaRPr lang="en-US" sz="784" dirty="0"/>
          </a:p>
        </p:txBody>
      </p:sp>
      <p:sp>
        <p:nvSpPr>
          <p:cNvPr id="20" name="Text 17"/>
          <p:cNvSpPr/>
          <p:nvPr/>
        </p:nvSpPr>
        <p:spPr>
          <a:xfrm>
            <a:off x="500063" y="5207682"/>
            <a:ext cx="8143875" cy="150019"/>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E8EDF2">
                    <a:alpha val="70000"/>
                  </a:srgbClr>
                </a:solidFill>
              </a:rPr>
              <a:t>Continued: Practical Exercises and Next Week Preview</a:t>
            </a:r>
            <a:endParaRPr lang="en-US" sz="72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357188"/>
            <a:ext cx="8143875" cy="385763"/>
          </a:xfrm>
          <a:prstGeom prst="rect">
            <a:avLst/>
          </a:prstGeom>
          <a:noFill/>
          <a:ln/>
        </p:spPr>
        <p:txBody>
          <a:bodyPr wrap="none" lIns="0" tIns="0" rIns="0" bIns="0" rtlCol="0" anchor="t">
            <a:spAutoFit/>
          </a:bodyPr>
          <a:lstStyle/>
          <a:p>
            <a:pPr marL="0" indent="0" algn="l">
              <a:lnSpc>
                <a:spcPts val="3000"/>
              </a:lnSpc>
              <a:buNone/>
            </a:pPr>
            <a:r>
              <a:rPr lang="en-US" sz="1808" b="1" kern="0" spc="2" dirty="0">
                <a:solidFill>
                  <a:srgbClr val="FF3B3F"/>
                </a:solidFill>
              </a:rPr>
              <a:t>SUMMARY AND NEXT STEPS (CONTINUED)</a:t>
            </a:r>
            <a:endParaRPr lang="en-US" sz="1808" dirty="0"/>
          </a:p>
        </p:txBody>
      </p:sp>
      <p:sp>
        <p:nvSpPr>
          <p:cNvPr id="4" name="Shape 1"/>
          <p:cNvSpPr/>
          <p:nvPr/>
        </p:nvSpPr>
        <p:spPr>
          <a:xfrm>
            <a:off x="500063" y="1121569"/>
            <a:ext cx="3964781" cy="1628747"/>
          </a:xfrm>
          <a:prstGeom prst="rect">
            <a:avLst/>
          </a:prstGeom>
          <a:solidFill>
            <a:srgbClr val="00D9FF">
              <a:alpha val="5000"/>
            </a:srgbClr>
          </a:solidFill>
          <a:ln w="18288">
            <a:solidFill>
              <a:srgbClr val="00D9FF"/>
            </a:solidFill>
            <a:prstDash val="solid"/>
          </a:ln>
        </p:spPr>
      </p:sp>
      <p:sp>
        <p:nvSpPr>
          <p:cNvPr id="5" name="Text 2"/>
          <p:cNvSpPr/>
          <p:nvPr/>
        </p:nvSpPr>
        <p:spPr>
          <a:xfrm>
            <a:off x="642938" y="1235869"/>
            <a:ext cx="3679031"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00D9FF"/>
                </a:solidFill>
              </a:rPr>
              <a:t>PRACTICAL EXERCISES</a:t>
            </a:r>
            <a:endParaRPr lang="en-US" sz="784" dirty="0"/>
          </a:p>
        </p:txBody>
      </p:sp>
      <p:sp>
        <p:nvSpPr>
          <p:cNvPr id="6" name="Text 3"/>
          <p:cNvSpPr/>
          <p:nvPr/>
        </p:nvSpPr>
        <p:spPr>
          <a:xfrm>
            <a:off x="642938" y="1493044"/>
            <a:ext cx="3679031" cy="388609"/>
          </a:xfrm>
          <a:prstGeom prst="rect">
            <a:avLst/>
          </a:prstGeom>
          <a:noFill/>
          <a:ln/>
        </p:spPr>
        <p:txBody>
          <a:bodyPr wrap="square" lIns="0" tIns="0" rIns="0" bIns="0" rtlCol="0" anchor="t">
            <a:spAutoFit/>
          </a:bodyPr>
          <a:lstStyle/>
          <a:p>
            <a:pPr marL="0" indent="0" algn="l">
              <a:lnSpc>
                <a:spcPts val="1500"/>
              </a:lnSpc>
              <a:buNone/>
            </a:pPr>
            <a:r>
              <a:rPr lang="en-US" sz="784" b="1" dirty="0">
                <a:solidFill>
                  <a:srgbClr val="FFB800"/>
                </a:solidFill>
              </a:rPr>
              <a:t>Exercise 1:</a:t>
            </a:r>
            <a:r>
              <a:rPr lang="en-US" sz="834" dirty="0">
                <a:solidFill>
                  <a:srgbClr val="E8EDF2"/>
                </a:solidFill>
              </a:rPr>
              <a:t> Develop an incident response policy outline for a fictional organization</a:t>
            </a:r>
            <a:endParaRPr lang="en-US" sz="784" dirty="0"/>
          </a:p>
        </p:txBody>
      </p:sp>
      <p:sp>
        <p:nvSpPr>
          <p:cNvPr id="7" name="Text 4"/>
          <p:cNvSpPr/>
          <p:nvPr/>
        </p:nvSpPr>
        <p:spPr>
          <a:xfrm>
            <a:off x="642938" y="1953090"/>
            <a:ext cx="3679031" cy="194304"/>
          </a:xfrm>
          <a:prstGeom prst="rect">
            <a:avLst/>
          </a:prstGeom>
          <a:noFill/>
          <a:ln/>
        </p:spPr>
        <p:txBody>
          <a:bodyPr wrap="none" lIns="0" tIns="0" rIns="0" bIns="0" rtlCol="0" anchor="t">
            <a:spAutoFit/>
          </a:bodyPr>
          <a:lstStyle/>
          <a:p>
            <a:pPr marL="0" indent="0" algn="l">
              <a:lnSpc>
                <a:spcPts val="1500"/>
              </a:lnSpc>
              <a:buNone/>
            </a:pPr>
            <a:r>
              <a:rPr lang="en-US" sz="784" b="1" dirty="0">
                <a:solidFill>
                  <a:srgbClr val="FFB800"/>
                </a:solidFill>
              </a:rPr>
              <a:t>Exercise 2:</a:t>
            </a:r>
            <a:r>
              <a:rPr lang="en-US" sz="834" dirty="0">
                <a:solidFill>
                  <a:srgbClr val="E8EDF2"/>
                </a:solidFill>
              </a:rPr>
              <a:t> Create a RACI matrix for incident response team roles</a:t>
            </a:r>
            <a:endParaRPr lang="en-US" sz="784" dirty="0"/>
          </a:p>
        </p:txBody>
      </p:sp>
      <p:sp>
        <p:nvSpPr>
          <p:cNvPr id="8" name="Text 5"/>
          <p:cNvSpPr/>
          <p:nvPr/>
        </p:nvSpPr>
        <p:spPr>
          <a:xfrm>
            <a:off x="642938" y="2218832"/>
            <a:ext cx="3679031" cy="388609"/>
          </a:xfrm>
          <a:prstGeom prst="rect">
            <a:avLst/>
          </a:prstGeom>
          <a:noFill/>
          <a:ln/>
        </p:spPr>
        <p:txBody>
          <a:bodyPr wrap="square" lIns="0" tIns="0" rIns="0" bIns="0" rtlCol="0" anchor="t">
            <a:spAutoFit/>
          </a:bodyPr>
          <a:lstStyle/>
          <a:p>
            <a:pPr marL="0" indent="0" algn="l">
              <a:lnSpc>
                <a:spcPts val="1500"/>
              </a:lnSpc>
              <a:buNone/>
            </a:pPr>
            <a:r>
              <a:rPr lang="en-US" sz="784" b="1" dirty="0">
                <a:solidFill>
                  <a:srgbClr val="FFB800"/>
                </a:solidFill>
              </a:rPr>
              <a:t>Exercise 3:</a:t>
            </a:r>
            <a:r>
              <a:rPr lang="en-US" sz="834" dirty="0">
                <a:solidFill>
                  <a:srgbClr val="E8EDF2"/>
                </a:solidFill>
              </a:rPr>
              <a:t> Design a tabletop exercise scenario for ransomware incident</a:t>
            </a:r>
            <a:endParaRPr lang="en-US" sz="784" dirty="0"/>
          </a:p>
        </p:txBody>
      </p:sp>
      <p:sp>
        <p:nvSpPr>
          <p:cNvPr id="9" name="Shape 6"/>
          <p:cNvSpPr/>
          <p:nvPr/>
        </p:nvSpPr>
        <p:spPr>
          <a:xfrm>
            <a:off x="4679156" y="1121569"/>
            <a:ext cx="3964781" cy="1600172"/>
          </a:xfrm>
          <a:prstGeom prst="rect">
            <a:avLst/>
          </a:prstGeom>
          <a:solidFill>
            <a:srgbClr val="FFB800">
              <a:alpha val="5000"/>
            </a:srgbClr>
          </a:solidFill>
          <a:ln w="18288">
            <a:solidFill>
              <a:srgbClr val="FFB800"/>
            </a:solidFill>
            <a:prstDash val="solid"/>
          </a:ln>
        </p:spPr>
      </p:sp>
      <p:sp>
        <p:nvSpPr>
          <p:cNvPr id="10" name="Text 7"/>
          <p:cNvSpPr/>
          <p:nvPr/>
        </p:nvSpPr>
        <p:spPr>
          <a:xfrm>
            <a:off x="4822031" y="1235869"/>
            <a:ext cx="3679031" cy="171450"/>
          </a:xfrm>
          <a:prstGeom prst="rect">
            <a:avLst/>
          </a:prstGeom>
          <a:noFill/>
          <a:ln/>
        </p:spPr>
        <p:txBody>
          <a:bodyPr wrap="none" lIns="0" tIns="0" rIns="0" bIns="0" rtlCol="0" anchor="t">
            <a:spAutoFit/>
          </a:bodyPr>
          <a:lstStyle/>
          <a:p>
            <a:pPr marL="0" indent="0" algn="l">
              <a:lnSpc>
                <a:spcPts val="1400"/>
              </a:lnSpc>
              <a:buNone/>
            </a:pPr>
            <a:r>
              <a:rPr lang="en-US" sz="784" b="1" kern="0" spc="1" dirty="0">
                <a:solidFill>
                  <a:srgbClr val="FFB800"/>
                </a:solidFill>
              </a:rPr>
              <a:t>NEXT WEEK: BUSINESS CONTINUITY PLANNING</a:t>
            </a:r>
            <a:endParaRPr lang="en-US" sz="784" dirty="0"/>
          </a:p>
        </p:txBody>
      </p:sp>
      <p:sp>
        <p:nvSpPr>
          <p:cNvPr id="11" name="Text 8"/>
          <p:cNvSpPr/>
          <p:nvPr/>
        </p:nvSpPr>
        <p:spPr>
          <a:xfrm>
            <a:off x="4822031" y="1493044"/>
            <a:ext cx="3679031" cy="971522"/>
          </a:xfrm>
          <a:prstGeom prst="rect">
            <a:avLst/>
          </a:prstGeom>
          <a:noFill/>
          <a:ln/>
        </p:spPr>
        <p:txBody>
          <a:bodyPr wrap="square" lIns="0" tIns="0" rIns="0" bIns="0" rtlCol="0" anchor="t">
            <a:spAutoFit/>
          </a:bodyPr>
          <a:lstStyle/>
          <a:p>
            <a:pPr marL="0" indent="0" algn="l">
              <a:lnSpc>
                <a:spcPts val="1500"/>
              </a:lnSpc>
              <a:buNone/>
            </a:pPr>
            <a:r>
              <a:rPr lang="en-US" sz="834" dirty="0">
                <a:solidFill>
                  <a:srgbClr val="E8EDF2"/>
                </a:solidFill>
              </a:rPr>
              <a:t>• Business Impact Analysis (BIA)
 • Recovery Time Objectives (RTO)
 • Recovery Point Objectives (RPO)
 • Continuity strategies and plans
 • Integration with IR planning</a:t>
            </a:r>
            <a:endParaRPr lang="en-US" sz="834" dirty="0"/>
          </a:p>
        </p:txBody>
      </p:sp>
      <p:sp>
        <p:nvSpPr>
          <p:cNvPr id="12" name="Shape 9"/>
          <p:cNvSpPr/>
          <p:nvPr/>
        </p:nvSpPr>
        <p:spPr>
          <a:xfrm>
            <a:off x="500063" y="3078928"/>
            <a:ext cx="8143875" cy="607219"/>
          </a:xfrm>
          <a:prstGeom prst="rect">
            <a:avLst/>
          </a:prstGeom>
          <a:solidFill>
            <a:srgbClr val="FF3B3F"/>
          </a:solidFill>
          <a:ln/>
        </p:spPr>
      </p:sp>
      <p:sp>
        <p:nvSpPr>
          <p:cNvPr id="13" name="Shape 10"/>
          <p:cNvSpPr/>
          <p:nvPr/>
        </p:nvSpPr>
        <p:spPr>
          <a:xfrm>
            <a:off x="500063" y="3078928"/>
            <a:ext cx="8143875" cy="21431"/>
          </a:xfrm>
          <a:prstGeom prst="rect">
            <a:avLst/>
          </a:prstGeom>
          <a:solidFill>
            <a:srgbClr val="00D9FF"/>
          </a:solidFill>
          <a:ln/>
        </p:spPr>
      </p:sp>
      <p:sp>
        <p:nvSpPr>
          <p:cNvPr id="14" name="Shape 11"/>
          <p:cNvSpPr/>
          <p:nvPr/>
        </p:nvSpPr>
        <p:spPr>
          <a:xfrm>
            <a:off x="500063" y="3664716"/>
            <a:ext cx="8143875" cy="21431"/>
          </a:xfrm>
          <a:prstGeom prst="rect">
            <a:avLst/>
          </a:prstGeom>
          <a:solidFill>
            <a:srgbClr val="00D9FF"/>
          </a:solidFill>
          <a:ln/>
        </p:spPr>
      </p:sp>
      <p:sp>
        <p:nvSpPr>
          <p:cNvPr id="15" name="Text 12"/>
          <p:cNvSpPr/>
          <p:nvPr/>
        </p:nvSpPr>
        <p:spPr>
          <a:xfrm>
            <a:off x="714375" y="3164653"/>
            <a:ext cx="7715250" cy="214313"/>
          </a:xfrm>
          <a:prstGeom prst="rect">
            <a:avLst/>
          </a:prstGeom>
          <a:noFill/>
          <a:ln/>
        </p:spPr>
        <p:txBody>
          <a:bodyPr wrap="none" lIns="0" tIns="0" rIns="0" bIns="0" rtlCol="0" anchor="t">
            <a:spAutoFit/>
          </a:bodyPr>
          <a:lstStyle/>
          <a:p>
            <a:pPr marL="0" indent="0" algn="ctr">
              <a:lnSpc>
                <a:spcPts val="1700"/>
              </a:lnSpc>
              <a:buNone/>
            </a:pPr>
            <a:r>
              <a:rPr lang="en-US" sz="987" b="1" kern="0" spc="2" dirty="0">
                <a:solidFill>
                  <a:srgbClr val="E8EDF2"/>
                </a:solidFill>
              </a:rPr>
              <a:t>WEEK 20 COMPLETE</a:t>
            </a:r>
            <a:endParaRPr lang="en-US" sz="987" dirty="0"/>
          </a:p>
        </p:txBody>
      </p:sp>
      <p:sp>
        <p:nvSpPr>
          <p:cNvPr id="16" name="Text 13"/>
          <p:cNvSpPr/>
          <p:nvPr/>
        </p:nvSpPr>
        <p:spPr>
          <a:xfrm>
            <a:off x="714375" y="3407541"/>
            <a:ext cx="7715250" cy="150019"/>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E8EDF2">
                    <a:alpha val="90000"/>
                  </a:srgbClr>
                </a:solidFill>
              </a:rPr>
              <a:t>International Cybersecurity and Digital Forensics Academy | GRC105 - Incident Management and Business Continuity</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2503</Words>
  <Application>Microsoft Office PowerPoint</Application>
  <PresentationFormat>On-screen Show (16:9)</PresentationFormat>
  <Paragraphs>324</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Aminu Idris</cp:lastModifiedBy>
  <cp:revision>4</cp:revision>
  <dcterms:created xsi:type="dcterms:W3CDTF">2025-11-19T14:29:45Z</dcterms:created>
  <dcterms:modified xsi:type="dcterms:W3CDTF">2025-11-29T15:42:51Z</dcterms:modified>
</cp:coreProperties>
</file>