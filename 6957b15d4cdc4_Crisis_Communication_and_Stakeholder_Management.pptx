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69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50857" y="587964"/>
            <a:ext cx="7042259" cy="2403091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2376" y="895145"/>
            <a:ext cx="5870684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FFFFFF"/>
                </a:solidFill>
              </a:rPr>
              <a:t>Crisis Communication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1772376" y="1443763"/>
            <a:ext cx="5870684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D9FF"/>
                </a:solidFill>
              </a:rPr>
              <a:t>and Stakeholder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772376" y="1992381"/>
            <a:ext cx="5870684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FFFFFF"/>
                </a:solidFill>
              </a:rPr>
              <a:t>Management</a:t>
            </a:r>
            <a:endParaRPr lang="en-US" sz="3294" dirty="0"/>
          </a:p>
        </p:txBody>
      </p:sp>
      <p:sp>
        <p:nvSpPr>
          <p:cNvPr id="7" name="Text 4"/>
          <p:cNvSpPr/>
          <p:nvPr/>
        </p:nvSpPr>
        <p:spPr>
          <a:xfrm>
            <a:off x="971662" y="3255373"/>
            <a:ext cx="720067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GRC105 - Incident Management and Business Continuity (Cont'd)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971662" y="3705430"/>
            <a:ext cx="72006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B8C5D6"/>
                </a:solidFill>
              </a:rPr>
              <a:t>Week 22-23 | </a:t>
            </a:r>
            <a:r>
              <a:rPr lang="en-US" sz="1050" dirty="0">
                <a:solidFill>
                  <a:srgbClr val="FFB020"/>
                </a:solidFill>
              </a:rPr>
              <a:t>January 5 - January 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26980" y="4205492"/>
            <a:ext cx="4690011" cy="757238"/>
          </a:xfrm>
          <a:prstGeom prst="rect">
            <a:avLst/>
          </a:prstGeom>
          <a:solidFill>
            <a:srgbClr val="FFB020">
              <a:alpha val="10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27018" y="4362655"/>
            <a:ext cx="40899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B020"/>
                </a:solidFill>
              </a:rPr>
              <a:t>International Cybersecurity and Digital Forensics Academy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2527018" y="4612686"/>
            <a:ext cx="408993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FFB020"/>
                </a:solidFill>
              </a:rPr>
              <a:t>(ICDFA)</a:t>
            </a:r>
            <a:endParaRPr lang="en-US" sz="942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85750"/>
            <a:ext cx="8429625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Effective Crisis Communication Protects Reputation and Maintains Stakeholder Trust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357188" y="1058670"/>
            <a:ext cx="4481057" cy="814388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57188" y="1058670"/>
            <a:ext cx="21431" cy="8143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/>
          <p:cNvSpPr/>
          <p:nvPr/>
        </p:nvSpPr>
        <p:spPr>
          <a:xfrm>
            <a:off x="357188" y="1058670"/>
            <a:ext cx="4481057" cy="8143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8C5D6"/>
                </a:solidFill>
              </a:rPr>
              <a:t>This module builds on incident response and business continuity by focusing on the critical communication dimension of crisis management. While technical response capabilities are essential, how an organization communicates during a crisis often determines whether it emerges stronger or suffers lasting reputational damage.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357188" y="2001645"/>
            <a:ext cx="448105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LEARNING OBJECTIVES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357188" y="2280252"/>
            <a:ext cx="214313" cy="214313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6"/>
          <p:cNvSpPr/>
          <p:nvPr/>
        </p:nvSpPr>
        <p:spPr>
          <a:xfrm>
            <a:off x="357188" y="2280252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1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57225" y="2280252"/>
            <a:ext cx="418101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B8C5D6"/>
                </a:solidFill>
              </a:rPr>
              <a:t>Understand Situational Crisis Communication Theory (SCCT) and its application to crisis response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357188" y="2662442"/>
            <a:ext cx="214313" cy="214313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2" name="Text 9"/>
          <p:cNvSpPr/>
          <p:nvPr/>
        </p:nvSpPr>
        <p:spPr>
          <a:xfrm>
            <a:off x="357188" y="2662442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2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57225" y="2662442"/>
            <a:ext cx="418101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B8C5D6"/>
                </a:solidFill>
              </a:rPr>
              <a:t>Identify and analyze stakeholder groups with different communication needs during crises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357188" y="3044633"/>
            <a:ext cx="214313" cy="214313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357188" y="304463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3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657225" y="3044633"/>
            <a:ext cx="41516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B8C5D6"/>
                </a:solidFill>
              </a:rPr>
              <a:t>Develop crisis communication plans with clear messaging, channels, and protocols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357188" y="3330383"/>
            <a:ext cx="214313" cy="214313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8" name="Text 15"/>
          <p:cNvSpPr/>
          <p:nvPr/>
        </p:nvSpPr>
        <p:spPr>
          <a:xfrm>
            <a:off x="357188" y="333038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4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57225" y="3330383"/>
            <a:ext cx="37034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B8C5D6"/>
                </a:solidFill>
              </a:rPr>
              <a:t>Apply spokesperson training principles and media relations best practices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357188" y="3616133"/>
            <a:ext cx="214313" cy="214313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1" name="Text 18"/>
          <p:cNvSpPr/>
          <p:nvPr/>
        </p:nvSpPr>
        <p:spPr>
          <a:xfrm>
            <a:off x="357188" y="361613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5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657225" y="3616133"/>
            <a:ext cx="34819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B8C5D6"/>
                </a:solidFill>
              </a:rPr>
              <a:t>Evaluate crisis communication case studies to extract lessons learned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357188" y="3901883"/>
            <a:ext cx="214313" cy="214313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4" name="Text 21"/>
          <p:cNvSpPr/>
          <p:nvPr/>
        </p:nvSpPr>
        <p:spPr>
          <a:xfrm>
            <a:off x="357188" y="390188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6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57225" y="3901883"/>
            <a:ext cx="418101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B8C5D6"/>
                </a:solidFill>
              </a:rPr>
              <a:t>Integrate crisis communication with incident response and business continuity programs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5052557" y="1058670"/>
            <a:ext cx="373422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CONNECTION TO PREVIOUS WEEKS</a:t>
            </a:r>
            <a:endParaRPr lang="en-US" sz="885" dirty="0"/>
          </a:p>
        </p:txBody>
      </p:sp>
      <p:sp>
        <p:nvSpPr>
          <p:cNvPr id="27" name="Shape 24"/>
          <p:cNvSpPr/>
          <p:nvPr/>
        </p:nvSpPr>
        <p:spPr>
          <a:xfrm>
            <a:off x="5052557" y="1322989"/>
            <a:ext cx="3734228" cy="914400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95432" y="1408714"/>
            <a:ext cx="34484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WEEK 20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5195432" y="1623027"/>
            <a:ext cx="34484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Incident Response Planning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5195432" y="1823052"/>
            <a:ext cx="34484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Technical response to security incidents including detection, analysis, containment, eradication, and recovery procedures.</a:t>
            </a:r>
            <a:endParaRPr lang="en-US" sz="727" dirty="0"/>
          </a:p>
        </p:txBody>
      </p:sp>
      <p:sp>
        <p:nvSpPr>
          <p:cNvPr id="31" name="Shape 28"/>
          <p:cNvSpPr/>
          <p:nvPr/>
        </p:nvSpPr>
        <p:spPr>
          <a:xfrm>
            <a:off x="5052557" y="2280252"/>
            <a:ext cx="3734228" cy="914400"/>
          </a:xfrm>
          <a:prstGeom prst="rect">
            <a:avLst/>
          </a:prstGeom>
          <a:solidFill>
            <a:srgbClr val="FFB020">
              <a:alpha val="5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95432" y="2365977"/>
            <a:ext cx="34484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B020"/>
                </a:solidFill>
              </a:rPr>
              <a:t>WEEK 21</a:t>
            </a:r>
            <a:endParaRPr lang="en-US" sz="987" dirty="0"/>
          </a:p>
        </p:txBody>
      </p:sp>
      <p:sp>
        <p:nvSpPr>
          <p:cNvPr id="33" name="Text 30"/>
          <p:cNvSpPr/>
          <p:nvPr/>
        </p:nvSpPr>
        <p:spPr>
          <a:xfrm>
            <a:off x="5195432" y="2580289"/>
            <a:ext cx="34484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Business Continuity &amp; Disaster Recovery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5195432" y="2780314"/>
            <a:ext cx="34484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Operational recovery and business resumption including BIA, recovery strategies, alternate sites, and testing programs.</a:t>
            </a:r>
            <a:endParaRPr lang="en-US" sz="727" dirty="0"/>
          </a:p>
        </p:txBody>
      </p:sp>
      <p:sp>
        <p:nvSpPr>
          <p:cNvPr id="35" name="Shape 32"/>
          <p:cNvSpPr/>
          <p:nvPr/>
        </p:nvSpPr>
        <p:spPr>
          <a:xfrm>
            <a:off x="5052557" y="3237514"/>
            <a:ext cx="3734228" cy="914400"/>
          </a:xfrm>
          <a:prstGeom prst="rect">
            <a:avLst/>
          </a:prstGeom>
          <a:solidFill>
            <a:srgbClr val="FF4757">
              <a:alpha val="5000"/>
            </a:srgbClr>
          </a:solidFill>
          <a:ln w="18288">
            <a:solidFill>
              <a:srgbClr val="FF475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95432" y="3323239"/>
            <a:ext cx="34484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757"/>
                </a:solidFill>
              </a:rPr>
              <a:t>WEEK 22-23</a:t>
            </a:r>
            <a:endParaRPr lang="en-US" sz="987" dirty="0"/>
          </a:p>
        </p:txBody>
      </p:sp>
      <p:sp>
        <p:nvSpPr>
          <p:cNvPr id="37" name="Text 34"/>
          <p:cNvSpPr/>
          <p:nvPr/>
        </p:nvSpPr>
        <p:spPr>
          <a:xfrm>
            <a:off x="5195432" y="3537552"/>
            <a:ext cx="34484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Crisis Communication &amp; Stakeholder Management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5195432" y="3737577"/>
            <a:ext cx="34484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Stakeholder communication and reputation management during crises to maintain trust and protect organizational credibility.</a:t>
            </a:r>
            <a:endParaRPr lang="en-US" sz="727" dirty="0"/>
          </a:p>
        </p:txBody>
      </p:sp>
      <p:sp>
        <p:nvSpPr>
          <p:cNvPr id="39" name="Shape 36"/>
          <p:cNvSpPr/>
          <p:nvPr/>
        </p:nvSpPr>
        <p:spPr>
          <a:xfrm>
            <a:off x="5052557" y="4194777"/>
            <a:ext cx="3734228" cy="84653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052557" y="4194777"/>
            <a:ext cx="3734228" cy="21431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1" name="Text 38"/>
          <p:cNvSpPr/>
          <p:nvPr/>
        </p:nvSpPr>
        <p:spPr>
          <a:xfrm>
            <a:off x="5138282" y="4280502"/>
            <a:ext cx="35627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B020"/>
                </a:solidFill>
              </a:rPr>
              <a:t>COMPREHENSIVE RESILIENCE</a:t>
            </a:r>
            <a:endParaRPr lang="en-US" sz="734" dirty="0"/>
          </a:p>
        </p:txBody>
      </p:sp>
      <p:sp>
        <p:nvSpPr>
          <p:cNvPr id="42" name="Text 39"/>
          <p:cNvSpPr/>
          <p:nvPr/>
        </p:nvSpPr>
        <p:spPr>
          <a:xfrm>
            <a:off x="5138282" y="4484098"/>
            <a:ext cx="356277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All three components work together to create comprehensive organizational resilience: technical response, operational recovery, and stakeholder communication.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85750"/>
            <a:ext cx="8429625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Crisis Communication Manages Information Flow to Protect Reputation and Guide Stakeholders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1008664"/>
            <a:ext cx="3696891" cy="4000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68391" y="1008664"/>
            <a:ext cx="45184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DEFINITION</a:t>
            </a:r>
            <a:endParaRPr lang="en-US" sz="885" dirty="0"/>
          </a:p>
        </p:txBody>
      </p:sp>
      <p:sp>
        <p:nvSpPr>
          <p:cNvPr id="6" name="Shape 2"/>
          <p:cNvSpPr/>
          <p:nvPr/>
        </p:nvSpPr>
        <p:spPr>
          <a:xfrm>
            <a:off x="4268391" y="1244408"/>
            <a:ext cx="4518422" cy="567928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4268391" y="1244408"/>
            <a:ext cx="21431" cy="56792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8" name="Text 4"/>
          <p:cNvSpPr/>
          <p:nvPr/>
        </p:nvSpPr>
        <p:spPr>
          <a:xfrm>
            <a:off x="4268391" y="1244408"/>
            <a:ext cx="4518422" cy="567928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8C5D6"/>
                </a:solidFill>
              </a:rPr>
              <a:t>Crisis communication comprises the systems and protocols that enable organizations to communicate efficiently during disruption, mitigating reputational damage by asserting control.</a:t>
            </a:r>
            <a:endParaRPr lang="en-US" sz="780" dirty="0"/>
          </a:p>
        </p:txBody>
      </p:sp>
      <p:sp>
        <p:nvSpPr>
          <p:cNvPr id="9" name="Text 5"/>
          <p:cNvSpPr/>
          <p:nvPr/>
        </p:nvSpPr>
        <p:spPr>
          <a:xfrm>
            <a:off x="4268391" y="1869486"/>
            <a:ext cx="45184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KEY COMPONENTS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4268391" y="2105230"/>
            <a:ext cx="2237780" cy="560784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4311253" y="2148092"/>
            <a:ext cx="21520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Strategic Function</a:t>
            </a:r>
            <a:endParaRPr lang="en-US" sz="734" dirty="0"/>
          </a:p>
        </p:txBody>
      </p:sp>
      <p:sp>
        <p:nvSpPr>
          <p:cNvPr id="12" name="Text 8"/>
          <p:cNvSpPr/>
          <p:nvPr/>
        </p:nvSpPr>
        <p:spPr>
          <a:xfrm>
            <a:off x="4311253" y="2323114"/>
            <a:ext cx="215205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Deliberate, planned control of information during crises</a:t>
            </a:r>
            <a:endParaRPr lang="en-US" sz="727" dirty="0"/>
          </a:p>
        </p:txBody>
      </p:sp>
      <p:sp>
        <p:nvSpPr>
          <p:cNvPr id="13" name="Shape 9"/>
          <p:cNvSpPr/>
          <p:nvPr/>
        </p:nvSpPr>
        <p:spPr>
          <a:xfrm>
            <a:off x="6549033" y="2105230"/>
            <a:ext cx="2237780" cy="560784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6591895" y="2148092"/>
            <a:ext cx="21520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Stakeholder Focus</a:t>
            </a:r>
            <a:endParaRPr lang="en-US" sz="734" dirty="0"/>
          </a:p>
        </p:txBody>
      </p:sp>
      <p:sp>
        <p:nvSpPr>
          <p:cNvPr id="15" name="Text 11"/>
          <p:cNvSpPr/>
          <p:nvPr/>
        </p:nvSpPr>
        <p:spPr>
          <a:xfrm>
            <a:off x="6591895" y="2323114"/>
            <a:ext cx="215205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Meets needs of employees, customers, regulators, media, public</a:t>
            </a:r>
            <a:endParaRPr lang="en-US" sz="727" dirty="0"/>
          </a:p>
        </p:txBody>
      </p:sp>
      <p:sp>
        <p:nvSpPr>
          <p:cNvPr id="16" name="Shape 12"/>
          <p:cNvSpPr/>
          <p:nvPr/>
        </p:nvSpPr>
        <p:spPr>
          <a:xfrm>
            <a:off x="4268391" y="2708877"/>
            <a:ext cx="2237780" cy="560784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11253" y="2751739"/>
            <a:ext cx="21520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Reputation Protection</a:t>
            </a:r>
            <a:endParaRPr lang="en-US" sz="734" dirty="0"/>
          </a:p>
        </p:txBody>
      </p:sp>
      <p:sp>
        <p:nvSpPr>
          <p:cNvPr id="18" name="Text 14"/>
          <p:cNvSpPr/>
          <p:nvPr/>
        </p:nvSpPr>
        <p:spPr>
          <a:xfrm>
            <a:off x="4311253" y="2926761"/>
            <a:ext cx="215205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Primary goal is minimizing damage to credibility and trust</a:t>
            </a:r>
            <a:endParaRPr lang="en-US" sz="727" dirty="0"/>
          </a:p>
        </p:txBody>
      </p:sp>
      <p:sp>
        <p:nvSpPr>
          <p:cNvPr id="19" name="Shape 15"/>
          <p:cNvSpPr/>
          <p:nvPr/>
        </p:nvSpPr>
        <p:spPr>
          <a:xfrm>
            <a:off x="6549033" y="2708877"/>
            <a:ext cx="2237780" cy="560784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591895" y="2751739"/>
            <a:ext cx="21520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Control &amp; Coordination</a:t>
            </a:r>
            <a:endParaRPr lang="en-US" sz="734" dirty="0"/>
          </a:p>
        </p:txBody>
      </p:sp>
      <p:sp>
        <p:nvSpPr>
          <p:cNvPr id="21" name="Text 17"/>
          <p:cNvSpPr/>
          <p:nvPr/>
        </p:nvSpPr>
        <p:spPr>
          <a:xfrm>
            <a:off x="6591895" y="2926761"/>
            <a:ext cx="215205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Establishes order through consistent, coordinated messaging</a:t>
            </a:r>
            <a:endParaRPr lang="en-US" sz="727" dirty="0"/>
          </a:p>
        </p:txBody>
      </p:sp>
      <p:sp>
        <p:nvSpPr>
          <p:cNvPr id="22" name="Shape 18"/>
          <p:cNvSpPr/>
          <p:nvPr/>
        </p:nvSpPr>
        <p:spPr>
          <a:xfrm>
            <a:off x="4268391" y="3326811"/>
            <a:ext cx="2205633" cy="739378"/>
          </a:xfrm>
          <a:prstGeom prst="rect">
            <a:avLst/>
          </a:prstGeom>
          <a:solidFill>
            <a:srgbClr val="00D9FF">
              <a:alpha val="8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311253" y="3369673"/>
            <a:ext cx="211990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ISSUE</a:t>
            </a:r>
            <a:endParaRPr lang="en-US" sz="734" dirty="0"/>
          </a:p>
        </p:txBody>
      </p:sp>
      <p:sp>
        <p:nvSpPr>
          <p:cNvPr id="24" name="Text 20"/>
          <p:cNvSpPr/>
          <p:nvPr/>
        </p:nvSpPr>
        <p:spPr>
          <a:xfrm>
            <a:off x="4311253" y="3558983"/>
            <a:ext cx="211990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Problem that can be managed through normal communication over time</a:t>
            </a:r>
            <a:endParaRPr lang="en-US" sz="727" dirty="0"/>
          </a:p>
        </p:txBody>
      </p:sp>
      <p:sp>
        <p:nvSpPr>
          <p:cNvPr id="25" name="Shape 21"/>
          <p:cNvSpPr/>
          <p:nvPr/>
        </p:nvSpPr>
        <p:spPr>
          <a:xfrm>
            <a:off x="6581180" y="3326811"/>
            <a:ext cx="2205633" cy="739378"/>
          </a:xfrm>
          <a:prstGeom prst="rect">
            <a:avLst/>
          </a:prstGeom>
          <a:solidFill>
            <a:srgbClr val="FF4757">
              <a:alpha val="8000"/>
            </a:srgbClr>
          </a:solidFill>
          <a:ln w="9144">
            <a:solidFill>
              <a:srgbClr val="FF475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624042" y="3369673"/>
            <a:ext cx="211990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4757"/>
                </a:solidFill>
              </a:rPr>
              <a:t>CRISIS</a:t>
            </a:r>
            <a:endParaRPr lang="en-US" sz="734" dirty="0"/>
          </a:p>
        </p:txBody>
      </p:sp>
      <p:sp>
        <p:nvSpPr>
          <p:cNvPr id="27" name="Text 23"/>
          <p:cNvSpPr/>
          <p:nvPr/>
        </p:nvSpPr>
        <p:spPr>
          <a:xfrm>
            <a:off x="6624042" y="3558983"/>
            <a:ext cx="211990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Sudden event requiring immediate response; threatens reputation or operations</a:t>
            </a:r>
            <a:endParaRPr lang="en-US" sz="727" dirty="0"/>
          </a:p>
        </p:txBody>
      </p:sp>
      <p:sp>
        <p:nvSpPr>
          <p:cNvPr id="28" name="Text 24"/>
          <p:cNvSpPr/>
          <p:nvPr/>
        </p:nvSpPr>
        <p:spPr>
          <a:xfrm>
            <a:off x="4268391" y="4043441"/>
            <a:ext cx="45184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B020"/>
                </a:solidFill>
              </a:rPr>
              <a:t>THE CHANGING CRISIS LANDSCAPE</a:t>
            </a:r>
            <a:endParaRPr lang="en-US" sz="885" dirty="0"/>
          </a:p>
        </p:txBody>
      </p:sp>
      <p:sp>
        <p:nvSpPr>
          <p:cNvPr id="29" name="Shape 25"/>
          <p:cNvSpPr/>
          <p:nvPr/>
        </p:nvSpPr>
        <p:spPr>
          <a:xfrm>
            <a:off x="4268391" y="4251049"/>
            <a:ext cx="4518422" cy="564356"/>
          </a:xfrm>
          <a:prstGeom prst="rect">
            <a:avLst/>
          </a:prstGeom>
          <a:solidFill>
            <a:srgbClr val="FFB020">
              <a:alpha val="5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4268391" y="4194777"/>
            <a:ext cx="21431" cy="56435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1" name="Text 27"/>
          <p:cNvSpPr/>
          <p:nvPr/>
        </p:nvSpPr>
        <p:spPr>
          <a:xfrm>
            <a:off x="4311253" y="4237639"/>
            <a:ext cx="217348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2020: sudden 51% &gt; smoldering 49%</a:t>
            </a:r>
            <a:endParaRPr lang="en-US" sz="727" dirty="0"/>
          </a:p>
        </p:txBody>
      </p:sp>
      <p:sp>
        <p:nvSpPr>
          <p:cNvPr id="32" name="Text 28"/>
          <p:cNvSpPr/>
          <p:nvPr/>
        </p:nvSpPr>
        <p:spPr>
          <a:xfrm>
            <a:off x="6570464" y="4237639"/>
            <a:ext cx="217348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Less time to react than ever</a:t>
            </a:r>
            <a:endParaRPr lang="en-US" sz="727" dirty="0"/>
          </a:p>
        </p:txBody>
      </p:sp>
      <p:sp>
        <p:nvSpPr>
          <p:cNvPr id="33" name="Text 29"/>
          <p:cNvSpPr/>
          <p:nvPr/>
        </p:nvSpPr>
        <p:spPr>
          <a:xfrm>
            <a:off x="4311253" y="4401945"/>
            <a:ext cx="217348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Social media spreads faster, louder</a:t>
            </a:r>
            <a:endParaRPr lang="en-US" sz="727" dirty="0"/>
          </a:p>
        </p:txBody>
      </p:sp>
      <p:sp>
        <p:nvSpPr>
          <p:cNvPr id="34" name="Text 30"/>
          <p:cNvSpPr/>
          <p:nvPr/>
        </p:nvSpPr>
        <p:spPr>
          <a:xfrm>
            <a:off x="6570464" y="4401945"/>
            <a:ext cx="217348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24/7 news keeps crises alive</a:t>
            </a:r>
            <a:endParaRPr lang="en-US" sz="727" dirty="0"/>
          </a:p>
        </p:txBody>
      </p:sp>
      <p:sp>
        <p:nvSpPr>
          <p:cNvPr id="35" name="Text 31"/>
          <p:cNvSpPr/>
          <p:nvPr/>
        </p:nvSpPr>
        <p:spPr>
          <a:xfrm>
            <a:off x="4311253" y="4566252"/>
            <a:ext cx="217348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Stakeholders expect fast, open updates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85750"/>
            <a:ext cx="8429625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SCCT Provides Evidence-Based Framework for Matching Response Strategies to Crisis Situations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357188" y="1022952"/>
            <a:ext cx="4143375" cy="1050131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42913" y="1108677"/>
            <a:ext cx="39719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THEORY OVERVIEW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42913" y="1358708"/>
            <a:ext cx="39719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Developed by W. Timothy Coombs in 2007, SCCT suggests that crisis managers should match strategic crisis responses to the level of crisis responsibility and reputational threat posed by a crisis. Built on Attribution Theory and William Benoit's Image Restoration Theory.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4643438" y="1022952"/>
            <a:ext cx="4143375" cy="1021556"/>
          </a:xfrm>
          <a:prstGeom prst="rect">
            <a:avLst/>
          </a:prstGeom>
          <a:solidFill>
            <a:srgbClr val="FFB020">
              <a:alpha val="5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29163" y="1108677"/>
            <a:ext cx="39719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B020"/>
                </a:solidFill>
              </a:rPr>
              <a:t>CORE PRINCIPLE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729163" y="1358708"/>
            <a:ext cx="39719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The key to determining the most effective strategic crisis response is understanding the crisis situation and the amount of reputational threat being posed by the crisis.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357188" y="2173095"/>
            <a:ext cx="8429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REPUTATIONAL THREAT FACTORS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357188" y="2437414"/>
            <a:ext cx="2752716" cy="632222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57188" y="2437414"/>
            <a:ext cx="28575" cy="63222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2508852"/>
            <a:ext cx="260984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Initial Crisis Responsibility</a:t>
            </a:r>
            <a:endParaRPr lang="en-US" sz="734" dirty="0"/>
          </a:p>
        </p:txBody>
      </p:sp>
      <p:sp>
        <p:nvSpPr>
          <p:cNvPr id="14" name="Text 11"/>
          <p:cNvSpPr/>
          <p:nvPr/>
        </p:nvSpPr>
        <p:spPr>
          <a:xfrm>
            <a:off x="428625" y="2698161"/>
            <a:ext cx="26098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How much stakeholders attribute the crisis to the organization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3195628" y="2437414"/>
            <a:ext cx="2752716" cy="632222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3195628" y="2437414"/>
            <a:ext cx="28575" cy="63222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3267066" y="2508852"/>
            <a:ext cx="260984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Crisis History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3267066" y="2698161"/>
            <a:ext cx="26098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Whether organization has experienced similar crises before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6034069" y="2437414"/>
            <a:ext cx="2752744" cy="632222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034069" y="2437414"/>
            <a:ext cx="28575" cy="63222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1" name="Text 18"/>
          <p:cNvSpPr/>
          <p:nvPr/>
        </p:nvSpPr>
        <p:spPr>
          <a:xfrm>
            <a:off x="6105506" y="2508852"/>
            <a:ext cx="26098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Prior Relational Reputation</a:t>
            </a:r>
            <a:endParaRPr lang="en-US" sz="734" dirty="0"/>
          </a:p>
        </p:txBody>
      </p:sp>
      <p:sp>
        <p:nvSpPr>
          <p:cNvPr id="22" name="Text 19"/>
          <p:cNvSpPr/>
          <p:nvPr/>
        </p:nvSpPr>
        <p:spPr>
          <a:xfrm>
            <a:off x="6105506" y="2698161"/>
            <a:ext cx="26098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How organization has treated stakeholders historically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357188" y="3198223"/>
            <a:ext cx="8429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THREE CRISIS CLUSTERS</a:t>
            </a:r>
            <a:endParaRPr lang="en-US" sz="885" dirty="0"/>
          </a:p>
        </p:txBody>
      </p:sp>
      <p:sp>
        <p:nvSpPr>
          <p:cNvPr id="24" name="Shape 21"/>
          <p:cNvSpPr/>
          <p:nvPr/>
        </p:nvSpPr>
        <p:spPr>
          <a:xfrm>
            <a:off x="357188" y="3462542"/>
            <a:ext cx="2752716" cy="1575197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8625" y="3533980"/>
            <a:ext cx="260984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VICTIM CLUSTER</a:t>
            </a:r>
            <a:endParaRPr lang="en-US" sz="987" dirty="0"/>
          </a:p>
        </p:txBody>
      </p:sp>
      <p:sp>
        <p:nvSpPr>
          <p:cNvPr id="26" name="Shape 23"/>
          <p:cNvSpPr/>
          <p:nvPr/>
        </p:nvSpPr>
        <p:spPr>
          <a:xfrm>
            <a:off x="428625" y="3791155"/>
            <a:ext cx="2609841" cy="225028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471488" y="3834017"/>
            <a:ext cx="25241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Minimal Responsibility Attribution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428625" y="4059045"/>
            <a:ext cx="26098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Natural disasters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428625" y="4237639"/>
            <a:ext cx="26098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Rumors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28625" y="4416233"/>
            <a:ext cx="26098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Workplace violence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428625" y="4594827"/>
            <a:ext cx="26098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Product tampering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428625" y="4773420"/>
            <a:ext cx="26098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Organization is also a victim</a:t>
            </a:r>
            <a:endParaRPr lang="en-US" sz="727" dirty="0"/>
          </a:p>
        </p:txBody>
      </p:sp>
      <p:sp>
        <p:nvSpPr>
          <p:cNvPr id="33" name="Shape 30"/>
          <p:cNvSpPr/>
          <p:nvPr/>
        </p:nvSpPr>
        <p:spPr>
          <a:xfrm>
            <a:off x="3195628" y="3462542"/>
            <a:ext cx="2752716" cy="1575197"/>
          </a:xfrm>
          <a:prstGeom prst="rect">
            <a:avLst/>
          </a:prstGeom>
          <a:solidFill>
            <a:srgbClr val="FFB020">
              <a:alpha val="8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67066" y="3533980"/>
            <a:ext cx="260984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B020"/>
                </a:solidFill>
              </a:rPr>
              <a:t>ACCIDENTAL CLUSTER</a:t>
            </a:r>
            <a:endParaRPr lang="en-US" sz="987" dirty="0"/>
          </a:p>
        </p:txBody>
      </p:sp>
      <p:sp>
        <p:nvSpPr>
          <p:cNvPr id="35" name="Shape 32"/>
          <p:cNvSpPr/>
          <p:nvPr/>
        </p:nvSpPr>
        <p:spPr>
          <a:xfrm>
            <a:off x="3267066" y="3791155"/>
            <a:ext cx="2609841" cy="225028"/>
          </a:xfrm>
          <a:prstGeom prst="rect">
            <a:avLst/>
          </a:prstGeom>
          <a:solidFill>
            <a:srgbClr val="FFB020">
              <a:alpha val="15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3309928" y="3834017"/>
            <a:ext cx="25241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Low Responsibility Attribution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3267066" y="4059045"/>
            <a:ext cx="26098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Technical error accidents</a:t>
            </a:r>
            <a:endParaRPr lang="en-US" sz="727" dirty="0"/>
          </a:p>
        </p:txBody>
      </p:sp>
      <p:sp>
        <p:nvSpPr>
          <p:cNvPr id="38" name="Text 35"/>
          <p:cNvSpPr/>
          <p:nvPr/>
        </p:nvSpPr>
        <p:spPr>
          <a:xfrm>
            <a:off x="3267066" y="4237639"/>
            <a:ext cx="26098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Technical error product harm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3267066" y="4416233"/>
            <a:ext cx="26098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Challenges (stakeholders claim inappropriate operations)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3267066" y="4744845"/>
            <a:ext cx="26098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Unintentional failures</a:t>
            </a:r>
            <a:endParaRPr lang="en-US" sz="727" dirty="0"/>
          </a:p>
        </p:txBody>
      </p:sp>
      <p:sp>
        <p:nvSpPr>
          <p:cNvPr id="41" name="Shape 38"/>
          <p:cNvSpPr/>
          <p:nvPr/>
        </p:nvSpPr>
        <p:spPr>
          <a:xfrm>
            <a:off x="6034069" y="3462542"/>
            <a:ext cx="2752744" cy="1575197"/>
          </a:xfrm>
          <a:prstGeom prst="rect">
            <a:avLst/>
          </a:prstGeom>
          <a:solidFill>
            <a:srgbClr val="FF4757">
              <a:alpha val="8000"/>
            </a:srgbClr>
          </a:solidFill>
          <a:ln w="18288">
            <a:solidFill>
              <a:srgbClr val="FF475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105506" y="3533980"/>
            <a:ext cx="26098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4757"/>
                </a:solidFill>
              </a:rPr>
              <a:t>PREVENTABLE CLUSTER</a:t>
            </a:r>
            <a:endParaRPr lang="en-US" sz="987" dirty="0"/>
          </a:p>
        </p:txBody>
      </p:sp>
      <p:sp>
        <p:nvSpPr>
          <p:cNvPr id="43" name="Shape 40"/>
          <p:cNvSpPr/>
          <p:nvPr/>
        </p:nvSpPr>
        <p:spPr>
          <a:xfrm>
            <a:off x="6105506" y="3791155"/>
            <a:ext cx="2609869" cy="225028"/>
          </a:xfrm>
          <a:prstGeom prst="rect">
            <a:avLst/>
          </a:prstGeom>
          <a:solidFill>
            <a:srgbClr val="FF4757">
              <a:alpha val="15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6148369" y="3834017"/>
            <a:ext cx="25241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Strong Responsibility Attribution</a:t>
            </a:r>
            <a:endParaRPr lang="en-US" sz="634" dirty="0"/>
          </a:p>
        </p:txBody>
      </p:sp>
      <p:sp>
        <p:nvSpPr>
          <p:cNvPr id="45" name="Text 42"/>
          <p:cNvSpPr/>
          <p:nvPr/>
        </p:nvSpPr>
        <p:spPr>
          <a:xfrm>
            <a:off x="6105506" y="4059045"/>
            <a:ext cx="26098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Human error accidents</a:t>
            </a:r>
            <a:endParaRPr lang="en-US" sz="727" dirty="0"/>
          </a:p>
        </p:txBody>
      </p:sp>
      <p:sp>
        <p:nvSpPr>
          <p:cNvPr id="46" name="Text 43"/>
          <p:cNvSpPr/>
          <p:nvPr/>
        </p:nvSpPr>
        <p:spPr>
          <a:xfrm>
            <a:off x="6105506" y="4237639"/>
            <a:ext cx="26098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Human error product harm</a:t>
            </a:r>
            <a:endParaRPr lang="en-US" sz="727" dirty="0"/>
          </a:p>
        </p:txBody>
      </p:sp>
      <p:sp>
        <p:nvSpPr>
          <p:cNvPr id="47" name="Text 44"/>
          <p:cNvSpPr/>
          <p:nvPr/>
        </p:nvSpPr>
        <p:spPr>
          <a:xfrm>
            <a:off x="6105506" y="4416233"/>
            <a:ext cx="26098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Organizational misdeed with no injuries</a:t>
            </a:r>
            <a:endParaRPr lang="en-US" sz="727" dirty="0"/>
          </a:p>
        </p:txBody>
      </p:sp>
      <p:sp>
        <p:nvSpPr>
          <p:cNvPr id="48" name="Text 45"/>
          <p:cNvSpPr/>
          <p:nvPr/>
        </p:nvSpPr>
        <p:spPr>
          <a:xfrm>
            <a:off x="6105506" y="4594827"/>
            <a:ext cx="26098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Organizational misdeed with injuries</a:t>
            </a:r>
            <a:endParaRPr lang="en-US" sz="727" dirty="0"/>
          </a:p>
        </p:txBody>
      </p:sp>
      <p:sp>
        <p:nvSpPr>
          <p:cNvPr id="49" name="Text 46"/>
          <p:cNvSpPr/>
          <p:nvPr/>
        </p:nvSpPr>
        <p:spPr>
          <a:xfrm>
            <a:off x="6105506" y="4773420"/>
            <a:ext cx="26098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Organization knowingly placed people at risk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85750"/>
            <a:ext cx="8429625" cy="2971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Match Communication Strategy to Crisis Type and Responsibility Level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357188" y="761507"/>
            <a:ext cx="2738428" cy="2035969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28625" y="832945"/>
            <a:ext cx="25955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DENY POSTURE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28625" y="1082976"/>
            <a:ext cx="25955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00D9FF"/>
                </a:solidFill>
              </a:rPr>
              <a:t>Lowest Accommodation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428625" y="1265141"/>
            <a:ext cx="259555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Strategies: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428625" y="1454451"/>
            <a:ext cx="25955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</a:t>
            </a:r>
            <a:r>
              <a:rPr lang="en-US" sz="683" b="1" dirty="0">
                <a:solidFill>
                  <a:srgbClr val="B8C5D6"/>
                </a:solidFill>
              </a:rPr>
              <a:t>Deny:</a:t>
            </a:r>
            <a:r>
              <a:rPr lang="en-US" sz="727" dirty="0">
                <a:solidFill>
                  <a:srgbClr val="B8C5D6"/>
                </a:solidFill>
              </a:rPr>
              <a:t> No crisis exists or no responsibility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28625" y="1625901"/>
            <a:ext cx="259555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</a:t>
            </a:r>
            <a:r>
              <a:rPr lang="en-US" sz="683" b="1" dirty="0">
                <a:solidFill>
                  <a:srgbClr val="B8C5D6"/>
                </a:solidFill>
              </a:rPr>
              <a:t>Attack Accuser:</a:t>
            </a:r>
            <a:r>
              <a:rPr lang="en-US" sz="727" dirty="0">
                <a:solidFill>
                  <a:srgbClr val="B8C5D6"/>
                </a:solidFill>
              </a:rPr>
              <a:t> Confront person/group claiming crisis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28625" y="1947370"/>
            <a:ext cx="25955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</a:t>
            </a:r>
            <a:r>
              <a:rPr lang="en-US" sz="683" b="1" dirty="0">
                <a:solidFill>
                  <a:srgbClr val="B8C5D6"/>
                </a:solidFill>
              </a:rPr>
              <a:t>Scapegoat:</a:t>
            </a:r>
            <a:r>
              <a:rPr lang="en-US" sz="727" dirty="0">
                <a:solidFill>
                  <a:srgbClr val="B8C5D6"/>
                </a:solidFill>
              </a:rPr>
              <a:t> Blame external entity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428625" y="2140251"/>
            <a:ext cx="2595553" cy="557213"/>
          </a:xfrm>
          <a:prstGeom prst="rect">
            <a:avLst/>
          </a:prstGeom>
          <a:solidFill>
            <a:srgbClr val="00D9FF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2140251"/>
            <a:ext cx="2595553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0"/>
          <p:cNvSpPr/>
          <p:nvPr/>
        </p:nvSpPr>
        <p:spPr>
          <a:xfrm>
            <a:off x="471488" y="2183113"/>
            <a:ext cx="25098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Use When: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71488" y="2361707"/>
            <a:ext cx="250982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Rumor and challenge crises, when organization truly not responsible</a:t>
            </a:r>
            <a:endParaRPr lang="en-US" sz="674" dirty="0"/>
          </a:p>
        </p:txBody>
      </p:sp>
      <p:sp>
        <p:nvSpPr>
          <p:cNvPr id="15" name="Shape 12"/>
          <p:cNvSpPr/>
          <p:nvPr/>
        </p:nvSpPr>
        <p:spPr>
          <a:xfrm>
            <a:off x="3202772" y="761507"/>
            <a:ext cx="2738428" cy="1993106"/>
          </a:xfrm>
          <a:prstGeom prst="rect">
            <a:avLst/>
          </a:prstGeom>
          <a:solidFill>
            <a:srgbClr val="FFB020">
              <a:alpha val="5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74209" y="832945"/>
            <a:ext cx="25955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B020"/>
                </a:solidFill>
              </a:rPr>
              <a:t>DIMINISH POSTURE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3274209" y="1082976"/>
            <a:ext cx="25955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FFB020"/>
                </a:solidFill>
              </a:rPr>
              <a:t>Moderate Accommodation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3274209" y="1265141"/>
            <a:ext cx="259555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Strategies:</a:t>
            </a:r>
            <a:endParaRPr lang="en-US" sz="734" dirty="0"/>
          </a:p>
        </p:txBody>
      </p:sp>
      <p:sp>
        <p:nvSpPr>
          <p:cNvPr id="19" name="Text 16"/>
          <p:cNvSpPr/>
          <p:nvPr/>
        </p:nvSpPr>
        <p:spPr>
          <a:xfrm>
            <a:off x="3274209" y="1454451"/>
            <a:ext cx="259555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</a:t>
            </a:r>
            <a:r>
              <a:rPr lang="en-US" sz="683" b="1" dirty="0">
                <a:solidFill>
                  <a:srgbClr val="B8C5D6"/>
                </a:solidFill>
              </a:rPr>
              <a:t>Excuse:</a:t>
            </a:r>
            <a:r>
              <a:rPr lang="en-US" sz="727" dirty="0">
                <a:solidFill>
                  <a:srgbClr val="B8C5D6"/>
                </a:solidFill>
              </a:rPr>
              <a:t> Minimize responsibility (lack of intent or control)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3274209" y="1775920"/>
            <a:ext cx="25955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</a:t>
            </a:r>
            <a:r>
              <a:rPr lang="en-US" sz="683" b="1" dirty="0">
                <a:solidFill>
                  <a:srgbClr val="B8C5D6"/>
                </a:solidFill>
              </a:rPr>
              <a:t>Justification:</a:t>
            </a:r>
            <a:r>
              <a:rPr lang="en-US" sz="727" dirty="0">
                <a:solidFill>
                  <a:srgbClr val="B8C5D6"/>
                </a:solidFill>
              </a:rPr>
              <a:t> Minimize perceived damage from crisis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3274209" y="1968801"/>
            <a:ext cx="2595553" cy="557213"/>
          </a:xfrm>
          <a:prstGeom prst="rect">
            <a:avLst/>
          </a:prstGeom>
          <a:solidFill>
            <a:srgbClr val="FFB020">
              <a:alpha val="1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3274209" y="1968801"/>
            <a:ext cx="2595553" cy="1428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3" name="Text 20"/>
          <p:cNvSpPr/>
          <p:nvPr/>
        </p:nvSpPr>
        <p:spPr>
          <a:xfrm>
            <a:off x="3317072" y="2011663"/>
            <a:ext cx="25098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B020"/>
                </a:solidFill>
              </a:rPr>
              <a:t>Use When: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3317072" y="2190257"/>
            <a:ext cx="250982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Victim crises with history/negative reputation OR accident crises with no history/positive reputation</a:t>
            </a:r>
            <a:endParaRPr lang="en-US" sz="674" dirty="0"/>
          </a:p>
        </p:txBody>
      </p:sp>
      <p:sp>
        <p:nvSpPr>
          <p:cNvPr id="25" name="Shape 22"/>
          <p:cNvSpPr/>
          <p:nvPr/>
        </p:nvSpPr>
        <p:spPr>
          <a:xfrm>
            <a:off x="6048356" y="761507"/>
            <a:ext cx="2738456" cy="1993106"/>
          </a:xfrm>
          <a:prstGeom prst="rect">
            <a:avLst/>
          </a:prstGeom>
          <a:solidFill>
            <a:srgbClr val="FF4757">
              <a:alpha val="5000"/>
            </a:srgbClr>
          </a:solidFill>
          <a:ln w="18288">
            <a:solidFill>
              <a:srgbClr val="FF475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19794" y="832945"/>
            <a:ext cx="25955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4757"/>
                </a:solidFill>
              </a:rPr>
              <a:t>REBUILD POSTURE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6119794" y="1082976"/>
            <a:ext cx="25955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FF4757"/>
                </a:solidFill>
              </a:rPr>
              <a:t>High Accommodation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6119794" y="1265141"/>
            <a:ext cx="259558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Strategies:</a:t>
            </a:r>
            <a:endParaRPr lang="en-US" sz="734" dirty="0"/>
          </a:p>
        </p:txBody>
      </p:sp>
      <p:sp>
        <p:nvSpPr>
          <p:cNvPr id="29" name="Text 26"/>
          <p:cNvSpPr/>
          <p:nvPr/>
        </p:nvSpPr>
        <p:spPr>
          <a:xfrm>
            <a:off x="6119794" y="1454451"/>
            <a:ext cx="25955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</a:t>
            </a:r>
            <a:r>
              <a:rPr lang="en-US" sz="683" b="1" dirty="0">
                <a:solidFill>
                  <a:srgbClr val="B8C5D6"/>
                </a:solidFill>
              </a:rPr>
              <a:t>Compensation:</a:t>
            </a:r>
            <a:r>
              <a:rPr lang="en-US" sz="727" dirty="0">
                <a:solidFill>
                  <a:srgbClr val="B8C5D6"/>
                </a:solidFill>
              </a:rPr>
              <a:t> Offer money or gifts to victims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6119794" y="1625901"/>
            <a:ext cx="25955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</a:t>
            </a:r>
            <a:r>
              <a:rPr lang="en-US" sz="683" b="1" dirty="0">
                <a:solidFill>
                  <a:srgbClr val="B8C5D6"/>
                </a:solidFill>
              </a:rPr>
              <a:t>Apology:</a:t>
            </a:r>
            <a:r>
              <a:rPr lang="en-US" sz="727" dirty="0">
                <a:solidFill>
                  <a:srgbClr val="B8C5D6"/>
                </a:solidFill>
              </a:rPr>
              <a:t> Take full responsibility and ask forgiveness</a:t>
            </a:r>
            <a:endParaRPr lang="en-US" sz="727" dirty="0"/>
          </a:p>
        </p:txBody>
      </p:sp>
      <p:sp>
        <p:nvSpPr>
          <p:cNvPr id="31" name="Shape 28"/>
          <p:cNvSpPr/>
          <p:nvPr/>
        </p:nvSpPr>
        <p:spPr>
          <a:xfrm>
            <a:off x="6119794" y="1818782"/>
            <a:ext cx="2595581" cy="557213"/>
          </a:xfrm>
          <a:prstGeom prst="rect">
            <a:avLst/>
          </a:prstGeom>
          <a:solidFill>
            <a:srgbClr val="FF4757">
              <a:alpha val="1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119794" y="1818782"/>
            <a:ext cx="2595581" cy="14288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33" name="Text 30"/>
          <p:cNvSpPr/>
          <p:nvPr/>
        </p:nvSpPr>
        <p:spPr>
          <a:xfrm>
            <a:off x="6162656" y="1861645"/>
            <a:ext cx="25098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4757"/>
                </a:solidFill>
              </a:rPr>
              <a:t>Use When: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6162656" y="2040238"/>
            <a:ext cx="250985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Accident crises with history/negative reputation OR all preventable crises</a:t>
            </a:r>
            <a:endParaRPr lang="en-US" sz="674" dirty="0"/>
          </a:p>
        </p:txBody>
      </p:sp>
      <p:sp>
        <p:nvSpPr>
          <p:cNvPr id="35" name="Shape 32"/>
          <p:cNvSpPr/>
          <p:nvPr/>
        </p:nvSpPr>
        <p:spPr>
          <a:xfrm>
            <a:off x="357188" y="2883201"/>
            <a:ext cx="4161234" cy="1082278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8625" y="2954638"/>
            <a:ext cx="40183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BOLSTER STRATEGIES (SUPPLEMENTAL)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428625" y="3190382"/>
            <a:ext cx="40183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</a:t>
            </a:r>
            <a:r>
              <a:rPr lang="en-US" sz="683" b="1" dirty="0">
                <a:solidFill>
                  <a:srgbClr val="B8C5D6"/>
                </a:solidFill>
              </a:rPr>
              <a:t>Victimage:</a:t>
            </a:r>
            <a:r>
              <a:rPr lang="en-US" sz="727" dirty="0">
                <a:solidFill>
                  <a:srgbClr val="B8C5D6"/>
                </a:solidFill>
              </a:rPr>
              <a:t> Remind stakeholders organization is also victim</a:t>
            </a:r>
            <a:endParaRPr lang="en-US" sz="727" dirty="0"/>
          </a:p>
        </p:txBody>
      </p:sp>
      <p:sp>
        <p:nvSpPr>
          <p:cNvPr id="38" name="Text 35"/>
          <p:cNvSpPr/>
          <p:nvPr/>
        </p:nvSpPr>
        <p:spPr>
          <a:xfrm>
            <a:off x="428625" y="3361832"/>
            <a:ext cx="40183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</a:t>
            </a:r>
            <a:r>
              <a:rPr lang="en-US" sz="683" b="1" dirty="0">
                <a:solidFill>
                  <a:srgbClr val="B8C5D6"/>
                </a:solidFill>
              </a:rPr>
              <a:t>Reminder:</a:t>
            </a:r>
            <a:r>
              <a:rPr lang="en-US" sz="727" dirty="0">
                <a:solidFill>
                  <a:srgbClr val="B8C5D6"/>
                </a:solidFill>
              </a:rPr>
              <a:t> Remind stakeholders of past good works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428625" y="3533282"/>
            <a:ext cx="40183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</a:t>
            </a:r>
            <a:r>
              <a:rPr lang="en-US" sz="683" b="1" dirty="0">
                <a:solidFill>
                  <a:srgbClr val="B8C5D6"/>
                </a:solidFill>
              </a:rPr>
              <a:t>Ingratiation:</a:t>
            </a:r>
            <a:r>
              <a:rPr lang="en-US" sz="727" dirty="0">
                <a:solidFill>
                  <a:srgbClr val="B8C5D6"/>
                </a:solidFill>
              </a:rPr>
              <a:t> Praise stakeholders and/or remind them of shared values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428625" y="3726163"/>
            <a:ext cx="401835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i="1" dirty="0">
                <a:solidFill>
                  <a:srgbClr val="00D9FF"/>
                </a:solidFill>
              </a:rPr>
              <a:t>Use bolster strategies to supplement primary strategies, not replace them.</a:t>
            </a:r>
            <a:endParaRPr lang="en-US" sz="674" dirty="0"/>
          </a:p>
        </p:txBody>
      </p:sp>
      <p:sp>
        <p:nvSpPr>
          <p:cNvPr id="41" name="Shape 38"/>
          <p:cNvSpPr/>
          <p:nvPr/>
        </p:nvSpPr>
        <p:spPr>
          <a:xfrm>
            <a:off x="4625578" y="2883201"/>
            <a:ext cx="4161234" cy="1053703"/>
          </a:xfrm>
          <a:prstGeom prst="rect">
            <a:avLst/>
          </a:prstGeom>
          <a:solidFill>
            <a:srgbClr val="FF4757">
              <a:alpha val="10000"/>
            </a:srgbClr>
          </a:solidFill>
          <a:ln w="18288">
            <a:solidFill>
              <a:srgbClr val="FF475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697016" y="3040363"/>
            <a:ext cx="40183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4757"/>
                </a:solidFill>
              </a:rPr>
              <a:t>⚠ CRITICAL RULE</a:t>
            </a:r>
            <a:endParaRPr lang="en-US" sz="885" dirty="0"/>
          </a:p>
        </p:txBody>
      </p:sp>
      <p:sp>
        <p:nvSpPr>
          <p:cNvPr id="43" name="Text 40"/>
          <p:cNvSpPr/>
          <p:nvPr/>
        </p:nvSpPr>
        <p:spPr>
          <a:xfrm>
            <a:off x="4697016" y="3276107"/>
            <a:ext cx="40183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Maintain Consistency in Crisis Response Strategies</a:t>
            </a:r>
            <a:endParaRPr lang="en-US" sz="734" dirty="0"/>
          </a:p>
        </p:txBody>
      </p:sp>
      <p:sp>
        <p:nvSpPr>
          <p:cNvPr id="44" name="Text 41"/>
          <p:cNvSpPr/>
          <p:nvPr/>
        </p:nvSpPr>
        <p:spPr>
          <a:xfrm>
            <a:off x="4697016" y="3479704"/>
            <a:ext cx="40183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Mixing deny strategies with diminish or rebuild strategies will erode effectiveness of overall response. Choose one primary posture and stick with it throughout the crisis.</a:t>
            </a:r>
            <a:endParaRPr lang="en-US" sz="727" dirty="0"/>
          </a:p>
        </p:txBody>
      </p:sp>
      <p:sp>
        <p:nvSpPr>
          <p:cNvPr id="45" name="Shape 42"/>
          <p:cNvSpPr/>
          <p:nvPr/>
        </p:nvSpPr>
        <p:spPr>
          <a:xfrm>
            <a:off x="357188" y="4065491"/>
            <a:ext cx="8429625" cy="88225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357188" y="4065491"/>
            <a:ext cx="8429625" cy="214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7" name="Text 44"/>
          <p:cNvSpPr/>
          <p:nvPr/>
        </p:nvSpPr>
        <p:spPr>
          <a:xfrm>
            <a:off x="428625" y="4136929"/>
            <a:ext cx="8286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STRATEGY SELECTION GUIDE</a:t>
            </a:r>
            <a:endParaRPr lang="en-US" sz="885" dirty="0"/>
          </a:p>
        </p:txBody>
      </p:sp>
      <p:sp>
        <p:nvSpPr>
          <p:cNvPr id="48" name="Text 45"/>
          <p:cNvSpPr/>
          <p:nvPr/>
        </p:nvSpPr>
        <p:spPr>
          <a:xfrm>
            <a:off x="428625" y="4372673"/>
            <a:ext cx="26907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Low Responsibility</a:t>
            </a:r>
            <a:endParaRPr lang="en-US" sz="734" dirty="0"/>
          </a:p>
        </p:txBody>
      </p:sp>
      <p:sp>
        <p:nvSpPr>
          <p:cNvPr id="49" name="Text 46"/>
          <p:cNvSpPr/>
          <p:nvPr/>
        </p:nvSpPr>
        <p:spPr>
          <a:xfrm>
            <a:off x="428625" y="4554838"/>
            <a:ext cx="26907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Natural disasters, rumors, external attacks → Deny or Diminish</a:t>
            </a:r>
            <a:endParaRPr lang="en-US" sz="727" dirty="0"/>
          </a:p>
        </p:txBody>
      </p:sp>
      <p:sp>
        <p:nvSpPr>
          <p:cNvPr id="50" name="Text 47"/>
          <p:cNvSpPr/>
          <p:nvPr/>
        </p:nvSpPr>
        <p:spPr>
          <a:xfrm>
            <a:off x="3226575" y="4372673"/>
            <a:ext cx="269082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B020"/>
                </a:solidFill>
              </a:rPr>
              <a:t>Moderate Responsibility</a:t>
            </a:r>
            <a:endParaRPr lang="en-US" sz="734" dirty="0"/>
          </a:p>
        </p:txBody>
      </p:sp>
      <p:sp>
        <p:nvSpPr>
          <p:cNvPr id="51" name="Text 48"/>
          <p:cNvSpPr/>
          <p:nvPr/>
        </p:nvSpPr>
        <p:spPr>
          <a:xfrm>
            <a:off x="3226575" y="4554838"/>
            <a:ext cx="269082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Technical failures, accidents, challenges → Diminish or Rebuild</a:t>
            </a:r>
            <a:endParaRPr lang="en-US" sz="727" dirty="0"/>
          </a:p>
        </p:txBody>
      </p:sp>
      <p:sp>
        <p:nvSpPr>
          <p:cNvPr id="52" name="Text 49"/>
          <p:cNvSpPr/>
          <p:nvPr/>
        </p:nvSpPr>
        <p:spPr>
          <a:xfrm>
            <a:off x="6024553" y="4372673"/>
            <a:ext cx="26907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4757"/>
                </a:solidFill>
              </a:rPr>
              <a:t>High Responsibility</a:t>
            </a:r>
            <a:endParaRPr lang="en-US" sz="734" dirty="0"/>
          </a:p>
        </p:txBody>
      </p:sp>
      <p:sp>
        <p:nvSpPr>
          <p:cNvPr id="53" name="Text 50"/>
          <p:cNvSpPr/>
          <p:nvPr/>
        </p:nvSpPr>
        <p:spPr>
          <a:xfrm>
            <a:off x="6024553" y="4554838"/>
            <a:ext cx="26907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Human error, organizational misdeed, preventable harm → Rebuild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50031"/>
            <a:ext cx="8429625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Effective Crisis Communication Requires Understanding Who Needs What Information When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987233"/>
            <a:ext cx="23074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STAKEHOLDER CATEGORIES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357188" y="1230120"/>
            <a:ext cx="2307431" cy="1157288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28625" y="1301558"/>
            <a:ext cx="21645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INTERNAL</a:t>
            </a:r>
            <a:endParaRPr lang="en-US" sz="734" dirty="0"/>
          </a:p>
        </p:txBody>
      </p:sp>
      <p:sp>
        <p:nvSpPr>
          <p:cNvPr id="7" name="Text 4"/>
          <p:cNvSpPr/>
          <p:nvPr/>
        </p:nvSpPr>
        <p:spPr>
          <a:xfrm>
            <a:off x="428625" y="1505155"/>
            <a:ext cx="21645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Employees (all levels)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428625" y="1665889"/>
            <a:ext cx="21645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Board of Directors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428625" y="1826623"/>
            <a:ext cx="21645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Executives &amp; management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28625" y="1987358"/>
            <a:ext cx="21645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Contractors &amp; temp staff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428625" y="2148092"/>
            <a:ext cx="21645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Labor unions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357188" y="2430270"/>
            <a:ext cx="2307431" cy="1639491"/>
          </a:xfrm>
          <a:prstGeom prst="rect">
            <a:avLst/>
          </a:prstGeom>
          <a:solidFill>
            <a:srgbClr val="FFB020">
              <a:alpha val="8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625" y="2501708"/>
            <a:ext cx="21645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B020"/>
                </a:solidFill>
              </a:rPr>
              <a:t>EXTERNAL</a:t>
            </a:r>
            <a:endParaRPr lang="en-US" sz="734" dirty="0"/>
          </a:p>
        </p:txBody>
      </p:sp>
      <p:sp>
        <p:nvSpPr>
          <p:cNvPr id="14" name="Text 11"/>
          <p:cNvSpPr/>
          <p:nvPr/>
        </p:nvSpPr>
        <p:spPr>
          <a:xfrm>
            <a:off x="428625" y="2705305"/>
            <a:ext cx="21645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Customers &amp; clients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428625" y="2866039"/>
            <a:ext cx="21645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Suppliers &amp; vendors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428625" y="3026773"/>
            <a:ext cx="21645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Partners &amp; distributors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28625" y="3187508"/>
            <a:ext cx="21645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Investors &amp; shareholders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428625" y="3348242"/>
            <a:ext cx="21645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Regulators &amp; government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428625" y="3508977"/>
            <a:ext cx="21645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Media (traditional &amp; social)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428625" y="3669711"/>
            <a:ext cx="21645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Community &amp; public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428625" y="3830445"/>
            <a:ext cx="21645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Industry associations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2807494" y="987233"/>
            <a:ext cx="2714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POWER/INTEREST GRID</a:t>
            </a:r>
            <a:endParaRPr lang="en-US" sz="784" dirty="0"/>
          </a:p>
        </p:txBody>
      </p:sp>
      <p:sp>
        <p:nvSpPr>
          <p:cNvPr id="23" name="Shape 20"/>
          <p:cNvSpPr/>
          <p:nvPr/>
        </p:nvSpPr>
        <p:spPr>
          <a:xfrm>
            <a:off x="2807494" y="1230120"/>
            <a:ext cx="1328738" cy="925116"/>
          </a:xfrm>
          <a:prstGeom prst="rect">
            <a:avLst/>
          </a:prstGeom>
          <a:solidFill>
            <a:srgbClr val="FF4757">
              <a:alpha val="8000"/>
            </a:srgbClr>
          </a:solidFill>
          <a:ln w="18288">
            <a:solidFill>
              <a:srgbClr val="FF47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878931" y="1301558"/>
            <a:ext cx="11858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4757"/>
                </a:solidFill>
              </a:rPr>
              <a:t>HIGH POWER
HIGH INTEREST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2878931" y="1630170"/>
            <a:ext cx="11858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Manage Closely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2878931" y="1798048"/>
            <a:ext cx="11858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Key players requiring most attention</a:t>
            </a:r>
            <a:endParaRPr lang="en-US" sz="621" dirty="0"/>
          </a:p>
        </p:txBody>
      </p:sp>
      <p:sp>
        <p:nvSpPr>
          <p:cNvPr id="27" name="Shape 24"/>
          <p:cNvSpPr/>
          <p:nvPr/>
        </p:nvSpPr>
        <p:spPr>
          <a:xfrm>
            <a:off x="4193381" y="1230120"/>
            <a:ext cx="1328738" cy="925116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64819" y="1301558"/>
            <a:ext cx="11858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LOW POWER
HIGH INTEREST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4264819" y="1630170"/>
            <a:ext cx="11858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Keep Informed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4264819" y="1798048"/>
            <a:ext cx="11858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Want information, limited influence</a:t>
            </a:r>
            <a:endParaRPr lang="en-US" sz="621" dirty="0"/>
          </a:p>
        </p:txBody>
      </p:sp>
      <p:sp>
        <p:nvSpPr>
          <p:cNvPr id="31" name="Shape 28"/>
          <p:cNvSpPr/>
          <p:nvPr/>
        </p:nvSpPr>
        <p:spPr>
          <a:xfrm>
            <a:off x="2807494" y="2183811"/>
            <a:ext cx="1328738" cy="925116"/>
          </a:xfrm>
          <a:prstGeom prst="rect">
            <a:avLst/>
          </a:prstGeom>
          <a:solidFill>
            <a:srgbClr val="FFB020">
              <a:alpha val="8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878931" y="2255248"/>
            <a:ext cx="11858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B020"/>
                </a:solidFill>
              </a:rPr>
              <a:t>HIGH POWER
LOW INTEREST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2878931" y="2583861"/>
            <a:ext cx="11858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Keep Satisfied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2878931" y="2751739"/>
            <a:ext cx="11858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Important but don't overwhelm with info</a:t>
            </a:r>
            <a:endParaRPr lang="en-US" sz="621" dirty="0"/>
          </a:p>
        </p:txBody>
      </p:sp>
      <p:sp>
        <p:nvSpPr>
          <p:cNvPr id="35" name="Shape 32"/>
          <p:cNvSpPr/>
          <p:nvPr/>
        </p:nvSpPr>
        <p:spPr>
          <a:xfrm>
            <a:off x="4193381" y="2183811"/>
            <a:ext cx="1328738" cy="925116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64819" y="2255248"/>
            <a:ext cx="11858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LOW POWER
LOW INTEREST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4264819" y="2583861"/>
            <a:ext cx="11858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Monitor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4264819" y="2751739"/>
            <a:ext cx="11858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Minimal effort, general awareness</a:t>
            </a:r>
            <a:endParaRPr lang="en-US" sz="621" dirty="0"/>
          </a:p>
        </p:txBody>
      </p:sp>
      <p:sp>
        <p:nvSpPr>
          <p:cNvPr id="39" name="Shape 36"/>
          <p:cNvSpPr/>
          <p:nvPr/>
        </p:nvSpPr>
        <p:spPr>
          <a:xfrm>
            <a:off x="2807494" y="3151789"/>
            <a:ext cx="2714625" cy="1278731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2807494" y="3151789"/>
            <a:ext cx="21431" cy="12787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1" name="Text 38"/>
          <p:cNvSpPr/>
          <p:nvPr/>
        </p:nvSpPr>
        <p:spPr>
          <a:xfrm>
            <a:off x="2878931" y="3223227"/>
            <a:ext cx="2571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ANALYSIS QUESTIONS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2878931" y="3416108"/>
            <a:ext cx="2571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What is their relationship to the organization?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2878931" y="3576842"/>
            <a:ext cx="2571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What are their expectations during a crisis?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2878931" y="3737577"/>
            <a:ext cx="2571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What information do they need?</a:t>
            </a:r>
            <a:endParaRPr lang="en-US" sz="674" dirty="0"/>
          </a:p>
        </p:txBody>
      </p:sp>
      <p:sp>
        <p:nvSpPr>
          <p:cNvPr id="45" name="Text 42"/>
          <p:cNvSpPr/>
          <p:nvPr/>
        </p:nvSpPr>
        <p:spPr>
          <a:xfrm>
            <a:off x="2878931" y="3898311"/>
            <a:ext cx="2571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What channels do they prefer?</a:t>
            </a:r>
            <a:endParaRPr lang="en-US" sz="674" dirty="0"/>
          </a:p>
        </p:txBody>
      </p:sp>
      <p:sp>
        <p:nvSpPr>
          <p:cNvPr id="46" name="Text 43"/>
          <p:cNvSpPr/>
          <p:nvPr/>
        </p:nvSpPr>
        <p:spPr>
          <a:xfrm>
            <a:off x="2878931" y="4059045"/>
            <a:ext cx="2571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What is their potential impact?</a:t>
            </a:r>
            <a:endParaRPr lang="en-US" sz="674" dirty="0"/>
          </a:p>
        </p:txBody>
      </p:sp>
      <p:sp>
        <p:nvSpPr>
          <p:cNvPr id="47" name="Text 44"/>
          <p:cNvSpPr/>
          <p:nvPr/>
        </p:nvSpPr>
        <p:spPr>
          <a:xfrm>
            <a:off x="2878931" y="4219780"/>
            <a:ext cx="2571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Who are their trusted sources?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5664994" y="987233"/>
            <a:ext cx="31218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TAILORING COMMUNICATION BY STAKEHOLDER</a:t>
            </a:r>
            <a:endParaRPr lang="en-US" sz="784" dirty="0"/>
          </a:p>
        </p:txBody>
      </p:sp>
      <p:sp>
        <p:nvSpPr>
          <p:cNvPr id="49" name="Shape 46"/>
          <p:cNvSpPr/>
          <p:nvPr/>
        </p:nvSpPr>
        <p:spPr>
          <a:xfrm>
            <a:off x="5664994" y="1230120"/>
            <a:ext cx="3121819" cy="475059"/>
          </a:xfrm>
          <a:prstGeom prst="rect">
            <a:avLst/>
          </a:prstGeom>
          <a:solidFill>
            <a:srgbClr val="00D9FF">
              <a:alpha val="3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736431" y="1301558"/>
            <a:ext cx="29789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Message Content</a:t>
            </a:r>
            <a:endParaRPr lang="en-US" sz="683" dirty="0"/>
          </a:p>
        </p:txBody>
      </p:sp>
      <p:sp>
        <p:nvSpPr>
          <p:cNvPr id="51" name="Text 48"/>
          <p:cNvSpPr/>
          <p:nvPr/>
        </p:nvSpPr>
        <p:spPr>
          <a:xfrm>
            <a:off x="5736431" y="1480152"/>
            <a:ext cx="29789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Level of detail, technical vs. general information</a:t>
            </a:r>
            <a:endParaRPr lang="en-US" sz="674" dirty="0"/>
          </a:p>
        </p:txBody>
      </p:sp>
      <p:sp>
        <p:nvSpPr>
          <p:cNvPr id="52" name="Shape 49"/>
          <p:cNvSpPr/>
          <p:nvPr/>
        </p:nvSpPr>
        <p:spPr>
          <a:xfrm>
            <a:off x="5664994" y="1748042"/>
            <a:ext cx="3121819" cy="475059"/>
          </a:xfrm>
          <a:prstGeom prst="rect">
            <a:avLst/>
          </a:prstGeom>
          <a:solidFill>
            <a:srgbClr val="00D9FF">
              <a:alpha val="3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736431" y="1819480"/>
            <a:ext cx="29789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Message Tone</a:t>
            </a:r>
            <a:endParaRPr lang="en-US" sz="683" dirty="0"/>
          </a:p>
        </p:txBody>
      </p:sp>
      <p:sp>
        <p:nvSpPr>
          <p:cNvPr id="54" name="Text 51"/>
          <p:cNvSpPr/>
          <p:nvPr/>
        </p:nvSpPr>
        <p:spPr>
          <a:xfrm>
            <a:off x="5736431" y="1998073"/>
            <a:ext cx="29789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Formal vs. informal, empathetic vs. factual</a:t>
            </a:r>
            <a:endParaRPr lang="en-US" sz="674" dirty="0"/>
          </a:p>
        </p:txBody>
      </p:sp>
      <p:sp>
        <p:nvSpPr>
          <p:cNvPr id="55" name="Shape 52"/>
          <p:cNvSpPr/>
          <p:nvPr/>
        </p:nvSpPr>
        <p:spPr>
          <a:xfrm>
            <a:off x="5664994" y="2265964"/>
            <a:ext cx="3121819" cy="475059"/>
          </a:xfrm>
          <a:prstGeom prst="rect">
            <a:avLst/>
          </a:prstGeom>
          <a:solidFill>
            <a:srgbClr val="00D9FF">
              <a:alpha val="3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736431" y="2337402"/>
            <a:ext cx="29789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Communication Channel</a:t>
            </a:r>
            <a:endParaRPr lang="en-US" sz="683" dirty="0"/>
          </a:p>
        </p:txBody>
      </p:sp>
      <p:sp>
        <p:nvSpPr>
          <p:cNvPr id="57" name="Text 54"/>
          <p:cNvSpPr/>
          <p:nvPr/>
        </p:nvSpPr>
        <p:spPr>
          <a:xfrm>
            <a:off x="5736431" y="2515995"/>
            <a:ext cx="29789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Email, social media, press release, town hall, one-on-one</a:t>
            </a:r>
            <a:endParaRPr lang="en-US" sz="674" dirty="0"/>
          </a:p>
        </p:txBody>
      </p:sp>
      <p:sp>
        <p:nvSpPr>
          <p:cNvPr id="58" name="Shape 55"/>
          <p:cNvSpPr/>
          <p:nvPr/>
        </p:nvSpPr>
        <p:spPr>
          <a:xfrm>
            <a:off x="5664994" y="2783886"/>
            <a:ext cx="3121819" cy="475059"/>
          </a:xfrm>
          <a:prstGeom prst="rect">
            <a:avLst/>
          </a:prstGeom>
          <a:solidFill>
            <a:srgbClr val="00D9FF">
              <a:alpha val="3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736431" y="2855323"/>
            <a:ext cx="29789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Communication Frequency</a:t>
            </a:r>
            <a:endParaRPr lang="en-US" sz="683" dirty="0"/>
          </a:p>
        </p:txBody>
      </p:sp>
      <p:sp>
        <p:nvSpPr>
          <p:cNvPr id="60" name="Text 57"/>
          <p:cNvSpPr/>
          <p:nvPr/>
        </p:nvSpPr>
        <p:spPr>
          <a:xfrm>
            <a:off x="5736431" y="3033917"/>
            <a:ext cx="29789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Real-time updates vs. periodic summaries</a:t>
            </a:r>
            <a:endParaRPr lang="en-US" sz="674" dirty="0"/>
          </a:p>
        </p:txBody>
      </p:sp>
      <p:sp>
        <p:nvSpPr>
          <p:cNvPr id="61" name="Shape 58"/>
          <p:cNvSpPr/>
          <p:nvPr/>
        </p:nvSpPr>
        <p:spPr>
          <a:xfrm>
            <a:off x="5664994" y="3301808"/>
            <a:ext cx="3121819" cy="475059"/>
          </a:xfrm>
          <a:prstGeom prst="rect">
            <a:avLst/>
          </a:prstGeom>
          <a:solidFill>
            <a:srgbClr val="00D9FF">
              <a:alpha val="3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736431" y="3373245"/>
            <a:ext cx="29789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Spokesperson</a:t>
            </a:r>
            <a:endParaRPr lang="en-US" sz="683" dirty="0"/>
          </a:p>
        </p:txBody>
      </p:sp>
      <p:sp>
        <p:nvSpPr>
          <p:cNvPr id="63" name="Text 60"/>
          <p:cNvSpPr/>
          <p:nvPr/>
        </p:nvSpPr>
        <p:spPr>
          <a:xfrm>
            <a:off x="5736431" y="3551839"/>
            <a:ext cx="29789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Executive, technical expert, PR professional, legal counsel</a:t>
            </a:r>
            <a:endParaRPr lang="en-US" sz="674" dirty="0"/>
          </a:p>
        </p:txBody>
      </p:sp>
      <p:sp>
        <p:nvSpPr>
          <p:cNvPr id="64" name="Shape 61"/>
          <p:cNvSpPr/>
          <p:nvPr/>
        </p:nvSpPr>
        <p:spPr>
          <a:xfrm>
            <a:off x="5664994" y="3834017"/>
            <a:ext cx="3121819" cy="600075"/>
          </a:xfrm>
          <a:prstGeom prst="rect">
            <a:avLst/>
          </a:prstGeom>
          <a:solidFill>
            <a:srgbClr val="FFB020">
              <a:alpha val="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5664994" y="3834017"/>
            <a:ext cx="21431" cy="60007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6" name="Text 63"/>
          <p:cNvSpPr/>
          <p:nvPr/>
        </p:nvSpPr>
        <p:spPr>
          <a:xfrm>
            <a:off x="5736431" y="3905455"/>
            <a:ext cx="29789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B020"/>
                </a:solidFill>
              </a:rPr>
              <a:t>Key Principle</a:t>
            </a:r>
            <a:endParaRPr lang="en-US" sz="683" dirty="0"/>
          </a:p>
        </p:txBody>
      </p:sp>
      <p:sp>
        <p:nvSpPr>
          <p:cNvPr id="67" name="Text 64"/>
          <p:cNvSpPr/>
          <p:nvPr/>
        </p:nvSpPr>
        <p:spPr>
          <a:xfrm>
            <a:off x="5736431" y="4084048"/>
            <a:ext cx="297894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Different stakeholders require different approaches. One size does not fit all in crisis communication.</a:t>
            </a:r>
            <a:endParaRPr lang="en-US" sz="67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50031"/>
            <a:ext cx="8429625" cy="2971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Preparation Before Crisis Enables Effective Response During Crisis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690070"/>
            <a:ext cx="3506688" cy="4143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42470" y="690070"/>
            <a:ext cx="47443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CRISIS COMMUNICATION PLAN COMPONENTS</a:t>
            </a:r>
            <a:endParaRPr lang="en-US" sz="784" dirty="0"/>
          </a:p>
        </p:txBody>
      </p:sp>
      <p:sp>
        <p:nvSpPr>
          <p:cNvPr id="6" name="Shape 2"/>
          <p:cNvSpPr/>
          <p:nvPr/>
        </p:nvSpPr>
        <p:spPr>
          <a:xfrm>
            <a:off x="4042470" y="918670"/>
            <a:ext cx="2336453" cy="853678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085332" y="961532"/>
            <a:ext cx="22507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1. TEAM STRUCTURE</a:t>
            </a:r>
            <a:endParaRPr lang="en-US" sz="734" dirty="0"/>
          </a:p>
        </p:txBody>
      </p:sp>
      <p:sp>
        <p:nvSpPr>
          <p:cNvPr id="8" name="Text 4"/>
          <p:cNvSpPr/>
          <p:nvPr/>
        </p:nvSpPr>
        <p:spPr>
          <a:xfrm>
            <a:off x="4085332" y="1143698"/>
            <a:ext cx="225072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Crisis communication director, spokespersons, social media team, employee/customer communications leads, media relations, legal counsel, SMEs</a:t>
            </a:r>
            <a:endParaRPr lang="en-US" sz="674" dirty="0"/>
          </a:p>
        </p:txBody>
      </p:sp>
      <p:sp>
        <p:nvSpPr>
          <p:cNvPr id="9" name="Shape 5"/>
          <p:cNvSpPr/>
          <p:nvPr/>
        </p:nvSpPr>
        <p:spPr>
          <a:xfrm>
            <a:off x="6450360" y="918670"/>
            <a:ext cx="2336453" cy="853678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3222" y="961532"/>
            <a:ext cx="22507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2. CONTACT INFORMATION</a:t>
            </a:r>
            <a:endParaRPr lang="en-US" sz="734" dirty="0"/>
          </a:p>
        </p:txBody>
      </p:sp>
      <p:sp>
        <p:nvSpPr>
          <p:cNvPr id="11" name="Text 7"/>
          <p:cNvSpPr/>
          <p:nvPr/>
        </p:nvSpPr>
        <p:spPr>
          <a:xfrm>
            <a:off x="6493222" y="1143698"/>
            <a:ext cx="225072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Pre-compiled contact lists for all stakeholder groups, multiple contact methods, emergency notification systems, media database, regulatory contacts</a:t>
            </a:r>
            <a:endParaRPr lang="en-US" sz="674" dirty="0"/>
          </a:p>
        </p:txBody>
      </p:sp>
      <p:sp>
        <p:nvSpPr>
          <p:cNvPr id="12" name="Shape 8"/>
          <p:cNvSpPr/>
          <p:nvPr/>
        </p:nvSpPr>
        <p:spPr>
          <a:xfrm>
            <a:off x="4042470" y="1800923"/>
            <a:ext cx="2336453" cy="853678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085332" y="1843785"/>
            <a:ext cx="22507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3. CHANNELS &amp; TOOLS</a:t>
            </a:r>
            <a:endParaRPr lang="en-US" sz="734" dirty="0"/>
          </a:p>
        </p:txBody>
      </p:sp>
      <p:sp>
        <p:nvSpPr>
          <p:cNvPr id="14" name="Text 10"/>
          <p:cNvSpPr/>
          <p:nvPr/>
        </p:nvSpPr>
        <p:spPr>
          <a:xfrm>
            <a:off x="4085332" y="2025951"/>
            <a:ext cx="225072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Primary and backup channels for each stakeholder group, mass notification systems, social media monitoring, website crisis page, email lists, hotline capabilities</a:t>
            </a:r>
            <a:endParaRPr lang="en-US" sz="674" dirty="0"/>
          </a:p>
        </p:txBody>
      </p:sp>
      <p:sp>
        <p:nvSpPr>
          <p:cNvPr id="15" name="Shape 11"/>
          <p:cNvSpPr/>
          <p:nvPr/>
        </p:nvSpPr>
        <p:spPr>
          <a:xfrm>
            <a:off x="6450360" y="1800923"/>
            <a:ext cx="2336453" cy="853678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3222" y="1843785"/>
            <a:ext cx="22507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4. MESSAGE TEMPLATES</a:t>
            </a:r>
            <a:endParaRPr lang="en-US" sz="734" dirty="0"/>
          </a:p>
        </p:txBody>
      </p:sp>
      <p:sp>
        <p:nvSpPr>
          <p:cNvPr id="17" name="Text 13"/>
          <p:cNvSpPr/>
          <p:nvPr/>
        </p:nvSpPr>
        <p:spPr>
          <a:xfrm>
            <a:off x="6493222" y="2025951"/>
            <a:ext cx="225072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Initial acknowledgment statement, situation update template, stakeholder-specific messages, FAQ document, social media responses, media statements, internal communications</a:t>
            </a:r>
            <a:endParaRPr lang="en-US" sz="674" dirty="0"/>
          </a:p>
        </p:txBody>
      </p:sp>
      <p:sp>
        <p:nvSpPr>
          <p:cNvPr id="18" name="Shape 14"/>
          <p:cNvSpPr/>
          <p:nvPr/>
        </p:nvSpPr>
        <p:spPr>
          <a:xfrm>
            <a:off x="4042470" y="2683176"/>
            <a:ext cx="2336453" cy="853678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085332" y="2726038"/>
            <a:ext cx="22507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5. APPROVAL PROCEDURES</a:t>
            </a:r>
            <a:endParaRPr lang="en-US" sz="734" dirty="0"/>
          </a:p>
        </p:txBody>
      </p:sp>
      <p:sp>
        <p:nvSpPr>
          <p:cNvPr id="20" name="Text 16"/>
          <p:cNvSpPr/>
          <p:nvPr/>
        </p:nvSpPr>
        <p:spPr>
          <a:xfrm>
            <a:off x="4085332" y="2908204"/>
            <a:ext cx="225072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Who approves messages before release, escalation path for different crisis severity levels, decision-making authority matrix, legal review requirements, regulatory triggers</a:t>
            </a:r>
            <a:endParaRPr lang="en-US" sz="674" dirty="0"/>
          </a:p>
        </p:txBody>
      </p:sp>
      <p:sp>
        <p:nvSpPr>
          <p:cNvPr id="21" name="Shape 17"/>
          <p:cNvSpPr/>
          <p:nvPr/>
        </p:nvSpPr>
        <p:spPr>
          <a:xfrm>
            <a:off x="6450360" y="2683176"/>
            <a:ext cx="2336453" cy="853678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93222" y="2726038"/>
            <a:ext cx="22507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6. MONITORING PROTOCOLS</a:t>
            </a:r>
            <a:endParaRPr lang="en-US" sz="734" dirty="0"/>
          </a:p>
        </p:txBody>
      </p:sp>
      <p:sp>
        <p:nvSpPr>
          <p:cNvPr id="23" name="Text 19"/>
          <p:cNvSpPr/>
          <p:nvPr/>
        </p:nvSpPr>
        <p:spPr>
          <a:xfrm>
            <a:off x="6493222" y="2908204"/>
            <a:ext cx="225072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Social media monitoring procedures, media monitoring and analysis, stakeholder sentiment tracking, rumor identification and correction, response time standards (15-20-60-90)</a:t>
            </a:r>
            <a:endParaRPr lang="en-US" sz="674" dirty="0"/>
          </a:p>
        </p:txBody>
      </p:sp>
      <p:sp>
        <p:nvSpPr>
          <p:cNvPr id="24" name="Shape 20"/>
          <p:cNvSpPr/>
          <p:nvPr/>
        </p:nvSpPr>
        <p:spPr>
          <a:xfrm>
            <a:off x="4042470" y="3565429"/>
            <a:ext cx="2336453" cy="853678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085332" y="3608291"/>
            <a:ext cx="22507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7. TRAINING &amp; EXERCISES</a:t>
            </a:r>
            <a:endParaRPr lang="en-US" sz="734" dirty="0"/>
          </a:p>
        </p:txBody>
      </p:sp>
      <p:sp>
        <p:nvSpPr>
          <p:cNvPr id="26" name="Text 22"/>
          <p:cNvSpPr/>
          <p:nvPr/>
        </p:nvSpPr>
        <p:spPr>
          <a:xfrm>
            <a:off x="4085332" y="3790457"/>
            <a:ext cx="225072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Spokesperson media training, crisis communication team tabletop exercises, full-scale simulations, annual plan review and update, lessons learned integration</a:t>
            </a:r>
            <a:endParaRPr lang="en-US" sz="674" dirty="0"/>
          </a:p>
        </p:txBody>
      </p:sp>
      <p:sp>
        <p:nvSpPr>
          <p:cNvPr id="27" name="Shape 23"/>
          <p:cNvSpPr/>
          <p:nvPr/>
        </p:nvSpPr>
        <p:spPr>
          <a:xfrm>
            <a:off x="6450360" y="3565429"/>
            <a:ext cx="2336453" cy="853678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93222" y="3608291"/>
            <a:ext cx="22507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8. POST-CRISIS COMMUNICATION</a:t>
            </a:r>
            <a:endParaRPr lang="en-US" sz="734" dirty="0"/>
          </a:p>
        </p:txBody>
      </p:sp>
      <p:sp>
        <p:nvSpPr>
          <p:cNvPr id="29" name="Text 25"/>
          <p:cNvSpPr/>
          <p:nvPr/>
        </p:nvSpPr>
        <p:spPr>
          <a:xfrm>
            <a:off x="6493222" y="3790457"/>
            <a:ext cx="225072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Resolution announcement, lessons learned communication, reputation rebuilding activities, stakeholder feedback collection, return to normal operations communication</a:t>
            </a:r>
            <a:endParaRPr lang="en-US" sz="674" dirty="0"/>
          </a:p>
        </p:txBody>
      </p:sp>
      <p:sp>
        <p:nvSpPr>
          <p:cNvPr id="30" name="Shape 26"/>
          <p:cNvSpPr/>
          <p:nvPr/>
        </p:nvSpPr>
        <p:spPr>
          <a:xfrm>
            <a:off x="4042470" y="4433395"/>
            <a:ext cx="4744343" cy="571500"/>
          </a:xfrm>
          <a:prstGeom prst="rect">
            <a:avLst/>
          </a:prstGeom>
          <a:solidFill>
            <a:srgbClr val="FFB020">
              <a:alpha val="8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4042470" y="4433395"/>
            <a:ext cx="21431" cy="57150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2" name="Text 28"/>
          <p:cNvSpPr/>
          <p:nvPr/>
        </p:nvSpPr>
        <p:spPr>
          <a:xfrm>
            <a:off x="4099620" y="4490545"/>
            <a:ext cx="463004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B020"/>
                </a:solidFill>
              </a:rPr>
              <a:t>KEY PRINCIPLE</a:t>
            </a:r>
            <a:endParaRPr lang="en-US" sz="683" dirty="0"/>
          </a:p>
        </p:txBody>
      </p:sp>
      <p:sp>
        <p:nvSpPr>
          <p:cNvPr id="33" name="Text 29"/>
          <p:cNvSpPr/>
          <p:nvPr/>
        </p:nvSpPr>
        <p:spPr>
          <a:xfrm>
            <a:off x="4099620" y="4669138"/>
            <a:ext cx="463004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Crisis communication plans must be developed, documented, and tested before a crisis occurs. You cannot improvise effective crisis communication in the moment.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50031"/>
            <a:ext cx="8429625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Speed Matters - Establish Communication Rhythm Within First 90 Minutes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357188" y="972945"/>
            <a:ext cx="8429625" cy="678656"/>
          </a:xfrm>
          <a:prstGeom prst="rect">
            <a:avLst/>
          </a:prstGeom>
          <a:solidFill>
            <a:srgbClr val="FF4757">
              <a:alpha val="8000"/>
            </a:srgbClr>
          </a:solidFill>
          <a:ln w="18288">
            <a:solidFill>
              <a:srgbClr val="FF47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42913" y="1058670"/>
            <a:ext cx="82581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4757"/>
                </a:solidFill>
              </a:rPr>
              <a:t>THE GOLDEN WINDOW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42913" y="1237264"/>
            <a:ext cx="82581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The first 90 minutes of a crisis are critical for establishing credibility and controlling the narrative. Organizations that communicate quickly and effectively during this window have significantly better crisis outcomes.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357188" y="1751614"/>
            <a:ext cx="2043113" cy="2000250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2913" y="1837339"/>
            <a:ext cx="18716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D9FF"/>
                </a:solidFill>
              </a:rPr>
              <a:t>15 MIN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42913" y="2137377"/>
            <a:ext cx="18716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ACKNOWLEDGE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42913" y="2365977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Confirm awareness of situation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442913" y="2533855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Activate crisis comm team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442913" y="2701733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Begin initial assessment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442913" y="2869611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Prepare holding statement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442913" y="3066064"/>
            <a:ext cx="1871663" cy="471488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85775" y="3108927"/>
            <a:ext cx="17859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i="1" dirty="0">
                <a:solidFill>
                  <a:srgbClr val="B8C5D6"/>
                </a:solidFill>
              </a:rPr>
              <a:t>"We are aware of the situation and are currently gathering information. We will provide an update within the hour."</a:t>
            </a:r>
            <a:endParaRPr lang="en-US" sz="621" dirty="0"/>
          </a:p>
        </p:txBody>
      </p:sp>
      <p:sp>
        <p:nvSpPr>
          <p:cNvPr id="16" name="Shape 13"/>
          <p:cNvSpPr/>
          <p:nvPr/>
        </p:nvSpPr>
        <p:spPr>
          <a:xfrm>
            <a:off x="2486025" y="1751614"/>
            <a:ext cx="2043113" cy="2000250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71750" y="1837339"/>
            <a:ext cx="18716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D9FF"/>
                </a:solidFill>
              </a:rPr>
              <a:t>20 MIN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2571750" y="2137377"/>
            <a:ext cx="18716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INITIAL STATEMENT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2571750" y="2365977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Release first public statement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2571750" y="2533855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Acknowledge what is known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2571750" y="2701733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Express concern for affected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2571750" y="2869611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Commit to providing updates</a:t>
            </a:r>
            <a:endParaRPr lang="en-US" sz="674" dirty="0"/>
          </a:p>
        </p:txBody>
      </p:sp>
      <p:sp>
        <p:nvSpPr>
          <p:cNvPr id="23" name="Shape 20"/>
          <p:cNvSpPr/>
          <p:nvPr/>
        </p:nvSpPr>
        <p:spPr>
          <a:xfrm>
            <a:off x="2571750" y="3066064"/>
            <a:ext cx="1871663" cy="471488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2614613" y="3108927"/>
            <a:ext cx="17859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i="1" dirty="0">
                <a:solidFill>
                  <a:srgbClr val="B8C5D6"/>
                </a:solidFill>
              </a:rPr>
              <a:t>"We can confirm [basic facts]. Our top priority is [safety/resolution]. We are investigating and will provide updates every hour."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4614863" y="1751614"/>
            <a:ext cx="2043113" cy="2000250"/>
          </a:xfrm>
          <a:prstGeom prst="rect">
            <a:avLst/>
          </a:prstGeom>
          <a:solidFill>
            <a:srgbClr val="FFB020">
              <a:alpha val="8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00588" y="1837339"/>
            <a:ext cx="18716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B020"/>
                </a:solidFill>
              </a:rPr>
              <a:t>60 MIN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4700588" y="2137377"/>
            <a:ext cx="18716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B020"/>
                </a:solidFill>
              </a:rPr>
              <a:t>FIRST BRIEFING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700588" y="2365977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Provide more detailed information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4700588" y="2533855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Outline immediate actions taken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4700588" y="2701733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Address key stakeholder concerns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4700588" y="2869611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Establish spokesperson</a:t>
            </a:r>
            <a:endParaRPr lang="en-US" sz="674" dirty="0"/>
          </a:p>
        </p:txBody>
      </p:sp>
      <p:sp>
        <p:nvSpPr>
          <p:cNvPr id="32" name="Shape 29"/>
          <p:cNvSpPr/>
          <p:nvPr/>
        </p:nvSpPr>
        <p:spPr>
          <a:xfrm>
            <a:off x="4700588" y="3066064"/>
            <a:ext cx="1871663" cy="471488"/>
          </a:xfrm>
          <a:prstGeom prst="rect">
            <a:avLst/>
          </a:prstGeom>
          <a:solidFill>
            <a:srgbClr val="FFB020">
              <a:alpha val="15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4743450" y="3108927"/>
            <a:ext cx="17859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i="1" dirty="0">
                <a:solidFill>
                  <a:srgbClr val="B8C5D6"/>
                </a:solidFill>
              </a:rPr>
              <a:t>"Here's what we know: [details]. Here's what we're doing: [actions]. Here's what we don't yet know: [gaps]. Next update at [time]."</a:t>
            </a:r>
            <a:endParaRPr lang="en-US" sz="621" dirty="0"/>
          </a:p>
        </p:txBody>
      </p:sp>
      <p:sp>
        <p:nvSpPr>
          <p:cNvPr id="34" name="Shape 31"/>
          <p:cNvSpPr/>
          <p:nvPr/>
        </p:nvSpPr>
        <p:spPr>
          <a:xfrm>
            <a:off x="6743700" y="1751614"/>
            <a:ext cx="2043113" cy="2000250"/>
          </a:xfrm>
          <a:prstGeom prst="rect">
            <a:avLst/>
          </a:prstGeom>
          <a:solidFill>
            <a:srgbClr val="FF4757">
              <a:alpha val="8000"/>
            </a:srgbClr>
          </a:solidFill>
          <a:ln w="18288">
            <a:solidFill>
              <a:srgbClr val="FF475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29425" y="1837339"/>
            <a:ext cx="18716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4757"/>
                </a:solidFill>
              </a:rPr>
              <a:t>90 MIN</a:t>
            </a:r>
            <a:endParaRPr lang="en-US" sz="1397" dirty="0"/>
          </a:p>
        </p:txBody>
      </p:sp>
      <p:sp>
        <p:nvSpPr>
          <p:cNvPr id="36" name="Text 33"/>
          <p:cNvSpPr/>
          <p:nvPr/>
        </p:nvSpPr>
        <p:spPr>
          <a:xfrm>
            <a:off x="6829425" y="2137377"/>
            <a:ext cx="18716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4757"/>
                </a:solidFill>
              </a:rPr>
              <a:t>ESTABLISH RHYTHM</a:t>
            </a:r>
            <a:endParaRPr lang="en-US" sz="784" dirty="0"/>
          </a:p>
        </p:txBody>
      </p:sp>
      <p:sp>
        <p:nvSpPr>
          <p:cNvPr id="37" name="Text 34"/>
          <p:cNvSpPr/>
          <p:nvPr/>
        </p:nvSpPr>
        <p:spPr>
          <a:xfrm>
            <a:off x="6829425" y="2365977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Regular update schedule in place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6829425" y="2533855"/>
            <a:ext cx="187166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Monitoring and response system operational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6829425" y="2841036"/>
            <a:ext cx="187166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Stakeholder-specific communications underway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6829425" y="3148217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Media relations active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6829425" y="3316095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Internal communications flowing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6829425" y="3483973"/>
            <a:ext cx="18716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Social media presence established</a:t>
            </a:r>
            <a:endParaRPr lang="en-US" sz="674" dirty="0"/>
          </a:p>
        </p:txBody>
      </p:sp>
      <p:sp>
        <p:nvSpPr>
          <p:cNvPr id="43" name="Shape 40"/>
          <p:cNvSpPr/>
          <p:nvPr/>
        </p:nvSpPr>
        <p:spPr>
          <a:xfrm>
            <a:off x="357188" y="3837589"/>
            <a:ext cx="4161234" cy="1232297"/>
          </a:xfrm>
          <a:prstGeom prst="rect">
            <a:avLst/>
          </a:prstGeom>
          <a:solidFill>
            <a:srgbClr val="FF4757">
              <a:alpha val="5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357188" y="3837589"/>
            <a:ext cx="28575" cy="1232297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45" name="Text 42"/>
          <p:cNvSpPr/>
          <p:nvPr/>
        </p:nvSpPr>
        <p:spPr>
          <a:xfrm>
            <a:off x="442913" y="3923314"/>
            <a:ext cx="39897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4757"/>
                </a:solidFill>
              </a:rPr>
              <a:t>WHY SPEED MATTERS</a:t>
            </a:r>
            <a:endParaRPr lang="en-US" sz="885" dirty="0"/>
          </a:p>
        </p:txBody>
      </p:sp>
      <p:sp>
        <p:nvSpPr>
          <p:cNvPr id="46" name="Text 43"/>
          <p:cNvSpPr/>
          <p:nvPr/>
        </p:nvSpPr>
        <p:spPr>
          <a:xfrm>
            <a:off x="442913" y="4173345"/>
            <a:ext cx="39897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Information vacuum fills with speculation and misinformation</a:t>
            </a:r>
            <a:endParaRPr lang="en-US" sz="674" dirty="0"/>
          </a:p>
        </p:txBody>
      </p:sp>
      <p:sp>
        <p:nvSpPr>
          <p:cNvPr id="47" name="Text 44"/>
          <p:cNvSpPr/>
          <p:nvPr/>
        </p:nvSpPr>
        <p:spPr>
          <a:xfrm>
            <a:off x="442913" y="4341223"/>
            <a:ext cx="39897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Stakeholders interpret silence as indifference or incompetence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442913" y="4509102"/>
            <a:ext cx="39897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Media will find other sources if organization doesn't respond</a:t>
            </a:r>
            <a:endParaRPr lang="en-US" sz="674" dirty="0"/>
          </a:p>
        </p:txBody>
      </p:sp>
      <p:sp>
        <p:nvSpPr>
          <p:cNvPr id="49" name="Text 46"/>
          <p:cNvSpPr/>
          <p:nvPr/>
        </p:nvSpPr>
        <p:spPr>
          <a:xfrm>
            <a:off x="442913" y="4676980"/>
            <a:ext cx="39897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Social media amplifies criticism of slow responses</a:t>
            </a:r>
            <a:endParaRPr lang="en-US" sz="674" dirty="0"/>
          </a:p>
        </p:txBody>
      </p:sp>
      <p:sp>
        <p:nvSpPr>
          <p:cNvPr id="50" name="Text 47"/>
          <p:cNvSpPr/>
          <p:nvPr/>
        </p:nvSpPr>
        <p:spPr>
          <a:xfrm>
            <a:off x="442913" y="4844858"/>
            <a:ext cx="39897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First to communicate often controls the narrative</a:t>
            </a:r>
            <a:endParaRPr lang="en-US" sz="674" dirty="0"/>
          </a:p>
        </p:txBody>
      </p:sp>
      <p:sp>
        <p:nvSpPr>
          <p:cNvPr id="51" name="Shape 48"/>
          <p:cNvSpPr/>
          <p:nvPr/>
        </p:nvSpPr>
        <p:spPr>
          <a:xfrm>
            <a:off x="4625578" y="3837589"/>
            <a:ext cx="4161234" cy="1232297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4625578" y="3837589"/>
            <a:ext cx="28575" cy="1232297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3" name="Text 50"/>
          <p:cNvSpPr/>
          <p:nvPr/>
        </p:nvSpPr>
        <p:spPr>
          <a:xfrm>
            <a:off x="4711303" y="3923314"/>
            <a:ext cx="39897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BALANCING SPEED AND ACCURACY</a:t>
            </a:r>
            <a:endParaRPr lang="en-US" sz="885" dirty="0"/>
          </a:p>
        </p:txBody>
      </p:sp>
      <p:sp>
        <p:nvSpPr>
          <p:cNvPr id="54" name="Text 51"/>
          <p:cNvSpPr/>
          <p:nvPr/>
        </p:nvSpPr>
        <p:spPr>
          <a:xfrm>
            <a:off x="4711303" y="4173345"/>
            <a:ext cx="39897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Acknowledge quickly even if full information unavailable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4711303" y="4341223"/>
            <a:ext cx="39897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Clearly distinguish between confirmed facts and ongoing investigation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4711303" y="4509102"/>
            <a:ext cx="39897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Update as new information becomes available</a:t>
            </a:r>
            <a:endParaRPr lang="en-US" sz="674" dirty="0"/>
          </a:p>
        </p:txBody>
      </p:sp>
      <p:sp>
        <p:nvSpPr>
          <p:cNvPr id="57" name="Text 54"/>
          <p:cNvSpPr/>
          <p:nvPr/>
        </p:nvSpPr>
        <p:spPr>
          <a:xfrm>
            <a:off x="4711303" y="4676980"/>
            <a:ext cx="39897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Correct misinformation promptly</a:t>
            </a:r>
            <a:endParaRPr lang="en-US" sz="674" dirty="0"/>
          </a:p>
        </p:txBody>
      </p:sp>
      <p:sp>
        <p:nvSpPr>
          <p:cNvPr id="58" name="Text 55"/>
          <p:cNvSpPr/>
          <p:nvPr/>
        </p:nvSpPr>
        <p:spPr>
          <a:xfrm>
            <a:off x="4711303" y="4844858"/>
            <a:ext cx="39897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Never speculate or provide unverified information</a:t>
            </a:r>
            <a:endParaRPr lang="en-US" sz="67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50031"/>
            <a:ext cx="8429625" cy="2971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Four Core Principles Guide Effective Crisis Communication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357188" y="690070"/>
            <a:ext cx="4171950" cy="1543050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2913" y="775795"/>
            <a:ext cx="257175" cy="257175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/>
          <p:cNvSpPr/>
          <p:nvPr/>
        </p:nvSpPr>
        <p:spPr>
          <a:xfrm>
            <a:off x="442913" y="77579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32"/>
                </a:solidFill>
              </a:rPr>
              <a:t>1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85813" y="807941"/>
            <a:ext cx="253022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STAY CONSISTENT WITH YOUR MESSAGE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42913" y="1075832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Every communication should align with organization's overall narrative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42913" y="1254426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Consistency across all channels and spokespersons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42913" y="1433020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If transparency is priority, all updates must reflect this value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42913" y="1611613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Inconsistent messages create confusion and erode trust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42913" y="1790207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Coordinate messaging across departments and teams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42913" y="1968801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Single source of truth for all communicators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614863" y="690070"/>
            <a:ext cx="4171950" cy="1543050"/>
          </a:xfrm>
          <a:prstGeom prst="rect">
            <a:avLst/>
          </a:prstGeom>
          <a:solidFill>
            <a:srgbClr val="FFB020">
              <a:alpha val="8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0588" y="775795"/>
            <a:ext cx="257175" cy="25717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3"/>
          <p:cNvSpPr/>
          <p:nvPr/>
        </p:nvSpPr>
        <p:spPr>
          <a:xfrm>
            <a:off x="4700588" y="77579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32"/>
                </a:solidFill>
              </a:rPr>
              <a:t>2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043488" y="807941"/>
            <a:ext cx="187057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B020"/>
                </a:solidFill>
              </a:rPr>
              <a:t>PRACTICE WHAT YOU PREACH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4700588" y="1075832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Actions must match words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4700588" y="1254426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If safety measures announced, implement them immediately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4700588" y="1433020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If commitments made, deliver on them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4700588" y="1611613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Hypocrisy destroys credibility faster than the crisis itself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4700588" y="1790207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Stakeholders watch what you do, not just what you say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4700588" y="1968801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Follow-through demonstrates integrity and competence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357188" y="2290270"/>
            <a:ext cx="4171950" cy="1543050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2913" y="2375995"/>
            <a:ext cx="257175" cy="257175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6" name="Text 23"/>
          <p:cNvSpPr/>
          <p:nvPr/>
        </p:nvSpPr>
        <p:spPr>
          <a:xfrm>
            <a:off x="442913" y="237599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32"/>
                </a:solidFill>
              </a:rPr>
              <a:t>3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785813" y="2408141"/>
            <a:ext cx="21110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BALANCE SPEED WITH ACCURACY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442913" y="2676032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Timing is critical but accuracy is essential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442913" y="2854626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Acknowledge crisis quickly, provide details as verified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42913" y="3033220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Don't rush incomplete or unverified information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442913" y="3211813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Correct errors immediately if made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442913" y="3390407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"We don't know yet but are investigating" is acceptable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442913" y="3569001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Inaccurate information causes secondary crisis</a:t>
            </a:r>
            <a:endParaRPr lang="en-US" sz="727" dirty="0"/>
          </a:p>
        </p:txBody>
      </p:sp>
      <p:sp>
        <p:nvSpPr>
          <p:cNvPr id="34" name="Shape 31"/>
          <p:cNvSpPr/>
          <p:nvPr/>
        </p:nvSpPr>
        <p:spPr>
          <a:xfrm>
            <a:off x="4614863" y="2290270"/>
            <a:ext cx="4171950" cy="1543050"/>
          </a:xfrm>
          <a:prstGeom prst="rect">
            <a:avLst/>
          </a:prstGeom>
          <a:solidFill>
            <a:srgbClr val="FFB020">
              <a:alpha val="8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00588" y="2375995"/>
            <a:ext cx="257175" cy="25717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6" name="Text 33"/>
          <p:cNvSpPr/>
          <p:nvPr/>
        </p:nvSpPr>
        <p:spPr>
          <a:xfrm>
            <a:off x="4700588" y="237599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32"/>
                </a:solidFill>
              </a:rPr>
              <a:t>4</a:t>
            </a:r>
            <a:endParaRPr lang="en-US" sz="1193" dirty="0"/>
          </a:p>
        </p:txBody>
      </p:sp>
      <p:sp>
        <p:nvSpPr>
          <p:cNvPr id="37" name="Text 34"/>
          <p:cNvSpPr/>
          <p:nvPr/>
        </p:nvSpPr>
        <p:spPr>
          <a:xfrm>
            <a:off x="5043488" y="2408141"/>
            <a:ext cx="13429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B020"/>
                </a:solidFill>
              </a:rPr>
              <a:t>LEAD WITH EMPATHY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4700588" y="2676032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Recognize emotional impact of crisis on stakeholders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4700588" y="2854626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Acknowledge concerns and fears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4700588" y="3033220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Express genuine concern and compassion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4700588" y="3211813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Tailor tone to situation severity</a:t>
            </a:r>
            <a:endParaRPr lang="en-US" sz="727" dirty="0"/>
          </a:p>
        </p:txBody>
      </p:sp>
      <p:sp>
        <p:nvSpPr>
          <p:cNvPr id="42" name="Text 39"/>
          <p:cNvSpPr/>
          <p:nvPr/>
        </p:nvSpPr>
        <p:spPr>
          <a:xfrm>
            <a:off x="4700588" y="3390407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Avoid appearing defensive or dismissive</a:t>
            </a:r>
            <a:endParaRPr lang="en-US" sz="727" dirty="0"/>
          </a:p>
        </p:txBody>
      </p:sp>
      <p:sp>
        <p:nvSpPr>
          <p:cNvPr id="43" name="Text 40"/>
          <p:cNvSpPr/>
          <p:nvPr/>
        </p:nvSpPr>
        <p:spPr>
          <a:xfrm>
            <a:off x="4700588" y="3569001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8C5D6"/>
                </a:solidFill>
              </a:rPr>
              <a:t>• Put people before profits in messaging</a:t>
            </a:r>
            <a:endParaRPr lang="en-US" sz="727" dirty="0"/>
          </a:p>
        </p:txBody>
      </p:sp>
      <p:sp>
        <p:nvSpPr>
          <p:cNvPr id="44" name="Shape 41"/>
          <p:cNvSpPr/>
          <p:nvPr/>
        </p:nvSpPr>
        <p:spPr>
          <a:xfrm>
            <a:off x="357188" y="3919045"/>
            <a:ext cx="8429625" cy="115014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357188" y="3919045"/>
            <a:ext cx="8429625" cy="214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6" name="Text 43"/>
          <p:cNvSpPr/>
          <p:nvPr/>
        </p:nvSpPr>
        <p:spPr>
          <a:xfrm>
            <a:off x="442913" y="4004770"/>
            <a:ext cx="82581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ADDITIONAL BEST PRACTICES</a:t>
            </a:r>
            <a:endParaRPr lang="en-US" sz="885" dirty="0"/>
          </a:p>
        </p:txBody>
      </p:sp>
      <p:sp>
        <p:nvSpPr>
          <p:cNvPr id="47" name="Text 44"/>
          <p:cNvSpPr/>
          <p:nvPr/>
        </p:nvSpPr>
        <p:spPr>
          <a:xfrm>
            <a:off x="442913" y="4240513"/>
            <a:ext cx="2686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Be Transparent</a:t>
            </a:r>
            <a:endParaRPr lang="en-US" sz="683" dirty="0"/>
          </a:p>
        </p:txBody>
      </p:sp>
      <p:sp>
        <p:nvSpPr>
          <p:cNvPr id="48" name="Text 45"/>
          <p:cNvSpPr/>
          <p:nvPr/>
        </p:nvSpPr>
        <p:spPr>
          <a:xfrm>
            <a:off x="442913" y="4411963"/>
            <a:ext cx="26860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Share what you know, acknowledge what you don't</a:t>
            </a:r>
            <a:endParaRPr lang="en-US" sz="674" dirty="0"/>
          </a:p>
        </p:txBody>
      </p:sp>
      <p:sp>
        <p:nvSpPr>
          <p:cNvPr id="49" name="Text 46"/>
          <p:cNvSpPr/>
          <p:nvPr/>
        </p:nvSpPr>
        <p:spPr>
          <a:xfrm>
            <a:off x="3228975" y="4240513"/>
            <a:ext cx="2686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Take Responsibility</a:t>
            </a:r>
            <a:endParaRPr lang="en-US" sz="683" dirty="0"/>
          </a:p>
        </p:txBody>
      </p:sp>
      <p:sp>
        <p:nvSpPr>
          <p:cNvPr id="50" name="Text 47"/>
          <p:cNvSpPr/>
          <p:nvPr/>
        </p:nvSpPr>
        <p:spPr>
          <a:xfrm>
            <a:off x="3228975" y="4411963"/>
            <a:ext cx="26860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Own mistakes, don't deflect or make excuses</a:t>
            </a:r>
            <a:endParaRPr lang="en-US" sz="674" dirty="0"/>
          </a:p>
        </p:txBody>
      </p:sp>
      <p:sp>
        <p:nvSpPr>
          <p:cNvPr id="51" name="Text 48"/>
          <p:cNvSpPr/>
          <p:nvPr/>
        </p:nvSpPr>
        <p:spPr>
          <a:xfrm>
            <a:off x="6015038" y="4240513"/>
            <a:ext cx="2686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Avoid Jargon</a:t>
            </a:r>
            <a:endParaRPr lang="en-US" sz="683" dirty="0"/>
          </a:p>
        </p:txBody>
      </p:sp>
      <p:sp>
        <p:nvSpPr>
          <p:cNvPr id="52" name="Text 49"/>
          <p:cNvSpPr/>
          <p:nvPr/>
        </p:nvSpPr>
        <p:spPr>
          <a:xfrm>
            <a:off x="6015038" y="4411963"/>
            <a:ext cx="26860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Use clear, accessible language</a:t>
            </a:r>
            <a:endParaRPr lang="en-US" sz="674" dirty="0"/>
          </a:p>
        </p:txBody>
      </p:sp>
      <p:sp>
        <p:nvSpPr>
          <p:cNvPr id="53" name="Text 50"/>
          <p:cNvSpPr/>
          <p:nvPr/>
        </p:nvSpPr>
        <p:spPr>
          <a:xfrm>
            <a:off x="442913" y="4651279"/>
            <a:ext cx="2686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Show Action</a:t>
            </a:r>
            <a:endParaRPr lang="en-US" sz="683" dirty="0"/>
          </a:p>
        </p:txBody>
      </p:sp>
      <p:sp>
        <p:nvSpPr>
          <p:cNvPr id="54" name="Text 51"/>
          <p:cNvSpPr/>
          <p:nvPr/>
        </p:nvSpPr>
        <p:spPr>
          <a:xfrm>
            <a:off x="442913" y="4822729"/>
            <a:ext cx="26860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Communicate concrete steps being taken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3228975" y="4651279"/>
            <a:ext cx="2686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Monitor Continuously</a:t>
            </a:r>
            <a:endParaRPr lang="en-US" sz="683" dirty="0"/>
          </a:p>
        </p:txBody>
      </p:sp>
      <p:sp>
        <p:nvSpPr>
          <p:cNvPr id="56" name="Text 53"/>
          <p:cNvSpPr/>
          <p:nvPr/>
        </p:nvSpPr>
        <p:spPr>
          <a:xfrm>
            <a:off x="3228975" y="4822729"/>
            <a:ext cx="26860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Track stakeholder reactions and adjust</a:t>
            </a:r>
            <a:endParaRPr lang="en-US" sz="674" dirty="0"/>
          </a:p>
        </p:txBody>
      </p:sp>
      <p:sp>
        <p:nvSpPr>
          <p:cNvPr id="57" name="Text 54"/>
          <p:cNvSpPr/>
          <p:nvPr/>
        </p:nvSpPr>
        <p:spPr>
          <a:xfrm>
            <a:off x="6015038" y="4651279"/>
            <a:ext cx="2686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Learn and Improve</a:t>
            </a:r>
            <a:endParaRPr lang="en-US" sz="683" dirty="0"/>
          </a:p>
        </p:txBody>
      </p:sp>
      <p:sp>
        <p:nvSpPr>
          <p:cNvPr id="58" name="Text 55"/>
          <p:cNvSpPr/>
          <p:nvPr/>
        </p:nvSpPr>
        <p:spPr>
          <a:xfrm>
            <a:off x="6015038" y="4822729"/>
            <a:ext cx="26860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Conduct post-crisis review and update plans</a:t>
            </a:r>
            <a:endParaRPr lang="en-US" sz="67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50031"/>
            <a:ext cx="8429625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Effective Spokespersons Build Trust Through Credibility, Competence, and Composure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915795"/>
            <a:ext cx="8429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SPOKESPERSON SELECTION CRITERIA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357188" y="1130108"/>
            <a:ext cx="2752716" cy="992981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0050" y="1172970"/>
            <a:ext cx="266699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AUTHORITY &amp; CREDIBILITY</a:t>
            </a:r>
            <a:endParaRPr lang="en-US" sz="734" dirty="0"/>
          </a:p>
        </p:txBody>
      </p:sp>
      <p:sp>
        <p:nvSpPr>
          <p:cNvPr id="7" name="Text 4"/>
          <p:cNvSpPr/>
          <p:nvPr/>
        </p:nvSpPr>
        <p:spPr>
          <a:xfrm>
            <a:off x="400050" y="1355136"/>
            <a:ext cx="26669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Senior enough to demonstrate organizational commitment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400050" y="1471222"/>
            <a:ext cx="26669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Subject matter expertise relevant to crisis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400050" y="1587308"/>
            <a:ext cx="26669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Decision-making authority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00050" y="1703394"/>
            <a:ext cx="26669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Trusted by stakeholders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400050" y="1819480"/>
            <a:ext cx="26669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Appropriate for crisis severity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3195628" y="1130108"/>
            <a:ext cx="2752716" cy="992981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38491" y="1172970"/>
            <a:ext cx="266699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COMMUNICATION SKILLS</a:t>
            </a:r>
            <a:endParaRPr lang="en-US" sz="734" dirty="0"/>
          </a:p>
        </p:txBody>
      </p:sp>
      <p:sp>
        <p:nvSpPr>
          <p:cNvPr id="14" name="Text 11"/>
          <p:cNvSpPr/>
          <p:nvPr/>
        </p:nvSpPr>
        <p:spPr>
          <a:xfrm>
            <a:off x="3238491" y="1355136"/>
            <a:ext cx="26669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Clear, confident speaker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3238491" y="1471222"/>
            <a:ext cx="26669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Comfortable with media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3238491" y="1587308"/>
            <a:ext cx="26669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Ability to simplify complex information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3238491" y="1703394"/>
            <a:ext cx="26669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Strong non-verbal communication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3238491" y="1819480"/>
            <a:ext cx="26669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Remains calm under pressure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3238491" y="1935566"/>
            <a:ext cx="26669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Empathetic and authentic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6034069" y="1130108"/>
            <a:ext cx="2752744" cy="964406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76931" y="1172970"/>
            <a:ext cx="26670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AVAILABILITY &amp; COMMITMENT</a:t>
            </a:r>
            <a:endParaRPr lang="en-US" sz="734" dirty="0"/>
          </a:p>
        </p:txBody>
      </p:sp>
      <p:sp>
        <p:nvSpPr>
          <p:cNvPr id="22" name="Text 19"/>
          <p:cNvSpPr/>
          <p:nvPr/>
        </p:nvSpPr>
        <p:spPr>
          <a:xfrm>
            <a:off x="6076931" y="1355136"/>
            <a:ext cx="26670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Available throughout crisis duration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6076931" y="1471222"/>
            <a:ext cx="26670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Willing to be public face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6076931" y="1587308"/>
            <a:ext cx="26670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Prepared for intense scrutiny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6076931" y="1703394"/>
            <a:ext cx="26670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Supported by backup spokespersons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357188" y="2151664"/>
            <a:ext cx="8429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SPOKESPERSON TRAINING COMPONENTS</a:t>
            </a:r>
            <a:endParaRPr lang="en-US" sz="784" dirty="0"/>
          </a:p>
        </p:txBody>
      </p:sp>
      <p:sp>
        <p:nvSpPr>
          <p:cNvPr id="27" name="Shape 24"/>
          <p:cNvSpPr/>
          <p:nvPr/>
        </p:nvSpPr>
        <p:spPr>
          <a:xfrm>
            <a:off x="357188" y="2365977"/>
            <a:ext cx="4171950" cy="992981"/>
          </a:xfrm>
          <a:prstGeom prst="rect">
            <a:avLst/>
          </a:prstGeom>
          <a:solidFill>
            <a:srgbClr val="FFB020">
              <a:alpha val="5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0050" y="2408839"/>
            <a:ext cx="40862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B020"/>
                </a:solidFill>
              </a:rPr>
              <a:t>MESSAGE DEVELOPMENT</a:t>
            </a:r>
            <a:endParaRPr lang="en-US" sz="734" dirty="0"/>
          </a:p>
        </p:txBody>
      </p:sp>
      <p:sp>
        <p:nvSpPr>
          <p:cNvPr id="29" name="Text 26"/>
          <p:cNvSpPr/>
          <p:nvPr/>
        </p:nvSpPr>
        <p:spPr>
          <a:xfrm>
            <a:off x="400050" y="2591005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Crafting key messages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400050" y="2707091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Bridging techniques (transitioning to key points)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400050" y="2823177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Staying on message under pressure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400050" y="2939262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Handling difficult questions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400050" y="3055348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Avoiding speculation</a:t>
            </a:r>
            <a:endParaRPr lang="en-US" sz="674" dirty="0"/>
          </a:p>
        </p:txBody>
      </p:sp>
      <p:sp>
        <p:nvSpPr>
          <p:cNvPr id="34" name="Shape 31"/>
          <p:cNvSpPr/>
          <p:nvPr/>
        </p:nvSpPr>
        <p:spPr>
          <a:xfrm>
            <a:off x="4614863" y="2365977"/>
            <a:ext cx="4171950" cy="992981"/>
          </a:xfrm>
          <a:prstGeom prst="rect">
            <a:avLst/>
          </a:prstGeom>
          <a:solidFill>
            <a:srgbClr val="FFB020">
              <a:alpha val="5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57725" y="2408839"/>
            <a:ext cx="40862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B020"/>
                </a:solidFill>
              </a:rPr>
              <a:t>MEDIA INTERVIEW TECHNIQUES</a:t>
            </a:r>
            <a:endParaRPr lang="en-US" sz="734" dirty="0"/>
          </a:p>
        </p:txBody>
      </p:sp>
      <p:sp>
        <p:nvSpPr>
          <p:cNvPr id="36" name="Text 33"/>
          <p:cNvSpPr/>
          <p:nvPr/>
        </p:nvSpPr>
        <p:spPr>
          <a:xfrm>
            <a:off x="4657725" y="2591005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Types of interviews (live, recorded, print, social media)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4657725" y="2707091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Body language and non-verbal communication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4657725" y="2823177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Voice tone and pacing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4657725" y="2939262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Eye contact and engagement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4657725" y="3055348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Handling hostile questions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4657725" y="3171434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"No comment" alternatives</a:t>
            </a:r>
            <a:endParaRPr lang="en-US" sz="674" dirty="0"/>
          </a:p>
        </p:txBody>
      </p:sp>
      <p:sp>
        <p:nvSpPr>
          <p:cNvPr id="42" name="Shape 39"/>
          <p:cNvSpPr/>
          <p:nvPr/>
        </p:nvSpPr>
        <p:spPr>
          <a:xfrm>
            <a:off x="357188" y="3387533"/>
            <a:ext cx="4171950" cy="1141214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00050" y="3430395"/>
            <a:ext cx="4086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✓ DO</a:t>
            </a:r>
            <a:endParaRPr lang="en-US" sz="784" dirty="0"/>
          </a:p>
        </p:txBody>
      </p:sp>
      <p:sp>
        <p:nvSpPr>
          <p:cNvPr id="44" name="Text 41"/>
          <p:cNvSpPr/>
          <p:nvPr/>
        </p:nvSpPr>
        <p:spPr>
          <a:xfrm>
            <a:off x="400050" y="3630420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Prepare and practice key messages</a:t>
            </a:r>
            <a:endParaRPr lang="en-US" sz="674" dirty="0"/>
          </a:p>
        </p:txBody>
      </p:sp>
      <p:sp>
        <p:nvSpPr>
          <p:cNvPr id="45" name="Text 42"/>
          <p:cNvSpPr/>
          <p:nvPr/>
        </p:nvSpPr>
        <p:spPr>
          <a:xfrm>
            <a:off x="400050" y="3746506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Listen carefully to questions</a:t>
            </a:r>
            <a:endParaRPr lang="en-US" sz="674" dirty="0"/>
          </a:p>
        </p:txBody>
      </p:sp>
      <p:sp>
        <p:nvSpPr>
          <p:cNvPr id="46" name="Text 43"/>
          <p:cNvSpPr/>
          <p:nvPr/>
        </p:nvSpPr>
        <p:spPr>
          <a:xfrm>
            <a:off x="400050" y="3862592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Pause before answering</a:t>
            </a:r>
            <a:endParaRPr lang="en-US" sz="674" dirty="0"/>
          </a:p>
        </p:txBody>
      </p:sp>
      <p:sp>
        <p:nvSpPr>
          <p:cNvPr id="47" name="Text 44"/>
          <p:cNvSpPr/>
          <p:nvPr/>
        </p:nvSpPr>
        <p:spPr>
          <a:xfrm>
            <a:off x="400050" y="3978678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Correct inaccuracies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400050" y="4094764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Show empathy and concern</a:t>
            </a:r>
            <a:endParaRPr lang="en-US" sz="674" dirty="0"/>
          </a:p>
        </p:txBody>
      </p:sp>
      <p:sp>
        <p:nvSpPr>
          <p:cNvPr id="49" name="Text 46"/>
          <p:cNvSpPr/>
          <p:nvPr/>
        </p:nvSpPr>
        <p:spPr>
          <a:xfrm>
            <a:off x="400050" y="4210850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Admit when you don't know something</a:t>
            </a:r>
            <a:endParaRPr lang="en-US" sz="674" dirty="0"/>
          </a:p>
        </p:txBody>
      </p:sp>
      <p:sp>
        <p:nvSpPr>
          <p:cNvPr id="50" name="Text 47"/>
          <p:cNvSpPr/>
          <p:nvPr/>
        </p:nvSpPr>
        <p:spPr>
          <a:xfrm>
            <a:off x="400050" y="4326936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Commit to follow-up</a:t>
            </a:r>
            <a:endParaRPr lang="en-US" sz="674" dirty="0"/>
          </a:p>
        </p:txBody>
      </p:sp>
      <p:sp>
        <p:nvSpPr>
          <p:cNvPr id="51" name="Shape 48"/>
          <p:cNvSpPr/>
          <p:nvPr/>
        </p:nvSpPr>
        <p:spPr>
          <a:xfrm>
            <a:off x="4614863" y="3387533"/>
            <a:ext cx="4171950" cy="1141214"/>
          </a:xfrm>
          <a:prstGeom prst="rect">
            <a:avLst/>
          </a:prstGeom>
          <a:solidFill>
            <a:srgbClr val="FF4757">
              <a:alpha val="8000"/>
            </a:srgbClr>
          </a:solidFill>
          <a:ln w="18288">
            <a:solidFill>
              <a:srgbClr val="FF4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657725" y="3430395"/>
            <a:ext cx="4086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4757"/>
                </a:solidFill>
              </a:rPr>
              <a:t>✗ DON'T</a:t>
            </a:r>
            <a:endParaRPr lang="en-US" sz="784" dirty="0"/>
          </a:p>
        </p:txBody>
      </p:sp>
      <p:sp>
        <p:nvSpPr>
          <p:cNvPr id="53" name="Text 50"/>
          <p:cNvSpPr/>
          <p:nvPr/>
        </p:nvSpPr>
        <p:spPr>
          <a:xfrm>
            <a:off x="4657725" y="3630420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Say "no comment" (sounds evasive)</a:t>
            </a:r>
            <a:endParaRPr lang="en-US" sz="674" dirty="0"/>
          </a:p>
        </p:txBody>
      </p:sp>
      <p:sp>
        <p:nvSpPr>
          <p:cNvPr id="54" name="Text 51"/>
          <p:cNvSpPr/>
          <p:nvPr/>
        </p:nvSpPr>
        <p:spPr>
          <a:xfrm>
            <a:off x="4657725" y="3746506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Speculate or guess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4657725" y="3862592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Use jargon or technical language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4657725" y="3978678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Appear defensive or angry</a:t>
            </a:r>
            <a:endParaRPr lang="en-US" sz="674" dirty="0"/>
          </a:p>
        </p:txBody>
      </p:sp>
      <p:sp>
        <p:nvSpPr>
          <p:cNvPr id="57" name="Text 54"/>
          <p:cNvSpPr/>
          <p:nvPr/>
        </p:nvSpPr>
        <p:spPr>
          <a:xfrm>
            <a:off x="4657725" y="4094764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Make promises you can't keep</a:t>
            </a:r>
            <a:endParaRPr lang="en-US" sz="674" dirty="0"/>
          </a:p>
        </p:txBody>
      </p:sp>
      <p:sp>
        <p:nvSpPr>
          <p:cNvPr id="58" name="Text 55"/>
          <p:cNvSpPr/>
          <p:nvPr/>
        </p:nvSpPr>
        <p:spPr>
          <a:xfrm>
            <a:off x="4657725" y="4210850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Go "off the record"</a:t>
            </a:r>
            <a:endParaRPr lang="en-US" sz="674" dirty="0"/>
          </a:p>
        </p:txBody>
      </p:sp>
      <p:sp>
        <p:nvSpPr>
          <p:cNvPr id="59" name="Text 56"/>
          <p:cNvSpPr/>
          <p:nvPr/>
        </p:nvSpPr>
        <p:spPr>
          <a:xfrm>
            <a:off x="4657725" y="4326936"/>
            <a:ext cx="40862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Fill silence with rambling</a:t>
            </a:r>
            <a:endParaRPr lang="en-US" sz="67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50031"/>
            <a:ext cx="8429625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Social Media Amplifies Crises But Also Provides Powerful Communication Channel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357188" y="901508"/>
            <a:ext cx="4161234" cy="1221581"/>
          </a:xfrm>
          <a:prstGeom prst="rect">
            <a:avLst/>
          </a:prstGeom>
          <a:solidFill>
            <a:srgbClr val="FF4757">
              <a:alpha val="8000"/>
            </a:srgbClr>
          </a:solidFill>
          <a:ln w="18288">
            <a:solidFill>
              <a:srgbClr val="FF47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0050" y="944370"/>
            <a:ext cx="4075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4757"/>
                </a:solidFill>
              </a:rPr>
              <a:t>CRISIS AMPLIFICATION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00050" y="1144395"/>
            <a:ext cx="4075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Crises spread faster than ever through social media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400050" y="1297986"/>
            <a:ext cx="4075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Anyone can become a publisher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400050" y="1451577"/>
            <a:ext cx="4075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Viral content reaches millions in hours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400050" y="1605167"/>
            <a:ext cx="4075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Emotional content spreads faster than factual content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00050" y="1758758"/>
            <a:ext cx="4075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Misinformation and rumors proliferate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400050" y="1912348"/>
            <a:ext cx="4075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Stakeholders expect real-time responses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4625578" y="901508"/>
            <a:ext cx="4161234" cy="1221581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8441" y="944370"/>
            <a:ext cx="4075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CRISIS COMMUNICATION OPPORTUNITY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668441" y="1144395"/>
            <a:ext cx="4075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Direct channel to stakeholders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4668441" y="1297986"/>
            <a:ext cx="4075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Rapid information dissemination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4668441" y="1451577"/>
            <a:ext cx="4075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Two-way communication and feedback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668441" y="1605167"/>
            <a:ext cx="4075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Sentiment monitoring and analysis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4668441" y="1758758"/>
            <a:ext cx="4075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Rumor correction and fact-checking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4668441" y="1912348"/>
            <a:ext cx="4075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Humanizing organizational response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357188" y="2137377"/>
            <a:ext cx="8429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SOCIAL MEDIA CRISIS MANAGEMENT STRATEGY</a:t>
            </a:r>
            <a:endParaRPr lang="en-US" sz="784" dirty="0"/>
          </a:p>
        </p:txBody>
      </p:sp>
      <p:sp>
        <p:nvSpPr>
          <p:cNvPr id="21" name="Shape 18"/>
          <p:cNvSpPr/>
          <p:nvPr/>
        </p:nvSpPr>
        <p:spPr>
          <a:xfrm>
            <a:off x="357188" y="2351689"/>
            <a:ext cx="2762231" cy="1035844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0050" y="2394552"/>
            <a:ext cx="267650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1. MONITORING &amp; DETECTION</a:t>
            </a:r>
            <a:endParaRPr lang="en-US" sz="734" dirty="0"/>
          </a:p>
        </p:txBody>
      </p:sp>
      <p:sp>
        <p:nvSpPr>
          <p:cNvPr id="23" name="Text 20"/>
          <p:cNvSpPr/>
          <p:nvPr/>
        </p:nvSpPr>
        <p:spPr>
          <a:xfrm>
            <a:off x="400050" y="2576717"/>
            <a:ext cx="26765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24/7 social media monitoring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400050" y="2730308"/>
            <a:ext cx="26765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Keyword and hashtag tracking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400050" y="2883898"/>
            <a:ext cx="26765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Sentiment analysis tools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400050" y="3037489"/>
            <a:ext cx="26765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Influencer identification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400050" y="3191080"/>
            <a:ext cx="26765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Early warning indicators</a:t>
            </a:r>
            <a:endParaRPr lang="en-US" sz="674" dirty="0"/>
          </a:p>
        </p:txBody>
      </p:sp>
      <p:sp>
        <p:nvSpPr>
          <p:cNvPr id="28" name="Shape 25"/>
          <p:cNvSpPr/>
          <p:nvPr/>
        </p:nvSpPr>
        <p:spPr>
          <a:xfrm>
            <a:off x="3190856" y="2351689"/>
            <a:ext cx="2762259" cy="1035844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33719" y="2394552"/>
            <a:ext cx="26765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2. RESPONSE PROTOCOLS</a:t>
            </a:r>
            <a:endParaRPr lang="en-US" sz="734" dirty="0"/>
          </a:p>
        </p:txBody>
      </p:sp>
      <p:sp>
        <p:nvSpPr>
          <p:cNvPr id="30" name="Text 27"/>
          <p:cNvSpPr/>
          <p:nvPr/>
        </p:nvSpPr>
        <p:spPr>
          <a:xfrm>
            <a:off x="3233719" y="2576717"/>
            <a:ext cx="26765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Response time standards (minutes, not hours)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3233719" y="2730308"/>
            <a:ext cx="26765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Approval workflows for speed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3233719" y="2883898"/>
            <a:ext cx="26765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Pre-approved response templates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3233719" y="3037489"/>
            <a:ext cx="26765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Tone and voice guidelines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3233719" y="3191080"/>
            <a:ext cx="26765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Public vs. private response criteria</a:t>
            </a:r>
            <a:endParaRPr lang="en-US" sz="674" dirty="0"/>
          </a:p>
        </p:txBody>
      </p:sp>
      <p:sp>
        <p:nvSpPr>
          <p:cNvPr id="35" name="Shape 32"/>
          <p:cNvSpPr/>
          <p:nvPr/>
        </p:nvSpPr>
        <p:spPr>
          <a:xfrm>
            <a:off x="6024553" y="2351689"/>
            <a:ext cx="2762231" cy="1035844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67416" y="2394552"/>
            <a:ext cx="267650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3. CONTENT STRATEGY</a:t>
            </a:r>
            <a:endParaRPr lang="en-US" sz="734" dirty="0"/>
          </a:p>
        </p:txBody>
      </p:sp>
      <p:sp>
        <p:nvSpPr>
          <p:cNvPr id="37" name="Text 34"/>
          <p:cNvSpPr/>
          <p:nvPr/>
        </p:nvSpPr>
        <p:spPr>
          <a:xfrm>
            <a:off x="6067416" y="2576717"/>
            <a:ext cx="26765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Consistent messaging across platforms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6067416" y="2730308"/>
            <a:ext cx="26765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Platform-appropriate content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6067416" y="2883898"/>
            <a:ext cx="26765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Visual content (infographics, videos)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6067416" y="3037489"/>
            <a:ext cx="26765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Regular updates maintaining presence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6067416" y="3191080"/>
            <a:ext cx="26765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Proactive, not just reactive</a:t>
            </a:r>
            <a:endParaRPr lang="en-US" sz="674" dirty="0"/>
          </a:p>
        </p:txBody>
      </p:sp>
      <p:sp>
        <p:nvSpPr>
          <p:cNvPr id="42" name="Shape 39"/>
          <p:cNvSpPr/>
          <p:nvPr/>
        </p:nvSpPr>
        <p:spPr>
          <a:xfrm>
            <a:off x="357188" y="3430395"/>
            <a:ext cx="2053828" cy="785813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357188" y="3430395"/>
            <a:ext cx="21431" cy="785813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4" name="Text 41"/>
          <p:cNvSpPr/>
          <p:nvPr/>
        </p:nvSpPr>
        <p:spPr>
          <a:xfrm>
            <a:off x="400050" y="3473258"/>
            <a:ext cx="196810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TWITTER/X</a:t>
            </a:r>
            <a:endParaRPr lang="en-US" sz="683" dirty="0"/>
          </a:p>
        </p:txBody>
      </p:sp>
      <p:sp>
        <p:nvSpPr>
          <p:cNvPr id="45" name="Text 42"/>
          <p:cNvSpPr/>
          <p:nvPr/>
        </p:nvSpPr>
        <p:spPr>
          <a:xfrm>
            <a:off x="400050" y="3637564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Real-time updates</a:t>
            </a:r>
            <a:endParaRPr lang="en-US" sz="621" dirty="0"/>
          </a:p>
        </p:txBody>
      </p:sp>
      <p:sp>
        <p:nvSpPr>
          <p:cNvPr id="46" name="Text 43"/>
          <p:cNvSpPr/>
          <p:nvPr/>
        </p:nvSpPr>
        <p:spPr>
          <a:xfrm>
            <a:off x="400050" y="3773295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Brief, frequent posts</a:t>
            </a:r>
            <a:endParaRPr lang="en-US" sz="621" dirty="0"/>
          </a:p>
        </p:txBody>
      </p:sp>
      <p:sp>
        <p:nvSpPr>
          <p:cNvPr id="47" name="Text 44"/>
          <p:cNvSpPr/>
          <p:nvPr/>
        </p:nvSpPr>
        <p:spPr>
          <a:xfrm>
            <a:off x="400050" y="3909027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Hashtag strategy</a:t>
            </a:r>
            <a:endParaRPr lang="en-US" sz="621" dirty="0"/>
          </a:p>
        </p:txBody>
      </p:sp>
      <p:sp>
        <p:nvSpPr>
          <p:cNvPr id="48" name="Text 45"/>
          <p:cNvSpPr/>
          <p:nvPr/>
        </p:nvSpPr>
        <p:spPr>
          <a:xfrm>
            <a:off x="400050" y="4044758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Thread for detail</a:t>
            </a:r>
            <a:endParaRPr lang="en-US" sz="621" dirty="0"/>
          </a:p>
        </p:txBody>
      </p:sp>
      <p:sp>
        <p:nvSpPr>
          <p:cNvPr id="49" name="Shape 46"/>
          <p:cNvSpPr/>
          <p:nvPr/>
        </p:nvSpPr>
        <p:spPr>
          <a:xfrm>
            <a:off x="2482453" y="3430395"/>
            <a:ext cx="2053828" cy="785813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2482453" y="3430395"/>
            <a:ext cx="21431" cy="785813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1" name="Text 48"/>
          <p:cNvSpPr/>
          <p:nvPr/>
        </p:nvSpPr>
        <p:spPr>
          <a:xfrm>
            <a:off x="2525316" y="3473258"/>
            <a:ext cx="196810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FACEBOOK</a:t>
            </a:r>
            <a:endParaRPr lang="en-US" sz="683" dirty="0"/>
          </a:p>
        </p:txBody>
      </p:sp>
      <p:sp>
        <p:nvSpPr>
          <p:cNvPr id="52" name="Text 49"/>
          <p:cNvSpPr/>
          <p:nvPr/>
        </p:nvSpPr>
        <p:spPr>
          <a:xfrm>
            <a:off x="2525316" y="3637564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Longer-form updates</a:t>
            </a:r>
            <a:endParaRPr lang="en-US" sz="621" dirty="0"/>
          </a:p>
        </p:txBody>
      </p:sp>
      <p:sp>
        <p:nvSpPr>
          <p:cNvPr id="53" name="Text 50"/>
          <p:cNvSpPr/>
          <p:nvPr/>
        </p:nvSpPr>
        <p:spPr>
          <a:xfrm>
            <a:off x="2525316" y="3773295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Community management</a:t>
            </a:r>
            <a:endParaRPr lang="en-US" sz="621" dirty="0"/>
          </a:p>
        </p:txBody>
      </p:sp>
      <p:sp>
        <p:nvSpPr>
          <p:cNvPr id="54" name="Text 51"/>
          <p:cNvSpPr/>
          <p:nvPr/>
        </p:nvSpPr>
        <p:spPr>
          <a:xfrm>
            <a:off x="2525316" y="3909027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Live video capabilities</a:t>
            </a:r>
            <a:endParaRPr lang="en-US" sz="621" dirty="0"/>
          </a:p>
        </p:txBody>
      </p:sp>
      <p:sp>
        <p:nvSpPr>
          <p:cNvPr id="55" name="Text 52"/>
          <p:cNvSpPr/>
          <p:nvPr/>
        </p:nvSpPr>
        <p:spPr>
          <a:xfrm>
            <a:off x="2525316" y="4044758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Comments moderation</a:t>
            </a:r>
            <a:endParaRPr lang="en-US" sz="621" dirty="0"/>
          </a:p>
        </p:txBody>
      </p:sp>
      <p:sp>
        <p:nvSpPr>
          <p:cNvPr id="56" name="Shape 53"/>
          <p:cNvSpPr/>
          <p:nvPr/>
        </p:nvSpPr>
        <p:spPr>
          <a:xfrm>
            <a:off x="4607719" y="3430395"/>
            <a:ext cx="2053828" cy="785813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4607719" y="3430395"/>
            <a:ext cx="21431" cy="785813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8" name="Text 55"/>
          <p:cNvSpPr/>
          <p:nvPr/>
        </p:nvSpPr>
        <p:spPr>
          <a:xfrm>
            <a:off x="4650581" y="3473258"/>
            <a:ext cx="196810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LINKEDIN</a:t>
            </a:r>
            <a:endParaRPr lang="en-US" sz="683" dirty="0"/>
          </a:p>
        </p:txBody>
      </p:sp>
      <p:sp>
        <p:nvSpPr>
          <p:cNvPr id="59" name="Text 56"/>
          <p:cNvSpPr/>
          <p:nvPr/>
        </p:nvSpPr>
        <p:spPr>
          <a:xfrm>
            <a:off x="4650581" y="3637564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Professional tone</a:t>
            </a:r>
            <a:endParaRPr lang="en-US" sz="621" dirty="0"/>
          </a:p>
        </p:txBody>
      </p:sp>
      <p:sp>
        <p:nvSpPr>
          <p:cNvPr id="60" name="Text 57"/>
          <p:cNvSpPr/>
          <p:nvPr/>
        </p:nvSpPr>
        <p:spPr>
          <a:xfrm>
            <a:off x="4650581" y="3773295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Employee-focused</a:t>
            </a:r>
            <a:endParaRPr lang="en-US" sz="621" dirty="0"/>
          </a:p>
        </p:txBody>
      </p:sp>
      <p:sp>
        <p:nvSpPr>
          <p:cNvPr id="61" name="Text 58"/>
          <p:cNvSpPr/>
          <p:nvPr/>
        </p:nvSpPr>
        <p:spPr>
          <a:xfrm>
            <a:off x="4650581" y="3909027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Industry stakeholders</a:t>
            </a:r>
            <a:endParaRPr lang="en-US" sz="621" dirty="0"/>
          </a:p>
        </p:txBody>
      </p:sp>
      <p:sp>
        <p:nvSpPr>
          <p:cNvPr id="62" name="Text 59"/>
          <p:cNvSpPr/>
          <p:nvPr/>
        </p:nvSpPr>
        <p:spPr>
          <a:xfrm>
            <a:off x="4650581" y="4044758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Thought leadership</a:t>
            </a:r>
            <a:endParaRPr lang="en-US" sz="621" dirty="0"/>
          </a:p>
        </p:txBody>
      </p:sp>
      <p:sp>
        <p:nvSpPr>
          <p:cNvPr id="63" name="Shape 60"/>
          <p:cNvSpPr/>
          <p:nvPr/>
        </p:nvSpPr>
        <p:spPr>
          <a:xfrm>
            <a:off x="6732984" y="3430395"/>
            <a:ext cx="2053828" cy="785813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6732984" y="3430395"/>
            <a:ext cx="21431" cy="785813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5" name="Text 62"/>
          <p:cNvSpPr/>
          <p:nvPr/>
        </p:nvSpPr>
        <p:spPr>
          <a:xfrm>
            <a:off x="6775847" y="3473258"/>
            <a:ext cx="196810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INSTAGRAM</a:t>
            </a:r>
            <a:endParaRPr lang="en-US" sz="683" dirty="0"/>
          </a:p>
        </p:txBody>
      </p:sp>
      <p:sp>
        <p:nvSpPr>
          <p:cNvPr id="66" name="Text 63"/>
          <p:cNvSpPr/>
          <p:nvPr/>
        </p:nvSpPr>
        <p:spPr>
          <a:xfrm>
            <a:off x="6775847" y="3637564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Visual storytelling</a:t>
            </a:r>
            <a:endParaRPr lang="en-US" sz="621" dirty="0"/>
          </a:p>
        </p:txBody>
      </p:sp>
      <p:sp>
        <p:nvSpPr>
          <p:cNvPr id="67" name="Text 64"/>
          <p:cNvSpPr/>
          <p:nvPr/>
        </p:nvSpPr>
        <p:spPr>
          <a:xfrm>
            <a:off x="6775847" y="3773295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Behind-the-scenes</a:t>
            </a:r>
            <a:endParaRPr lang="en-US" sz="621" dirty="0"/>
          </a:p>
        </p:txBody>
      </p:sp>
      <p:sp>
        <p:nvSpPr>
          <p:cNvPr id="68" name="Text 65"/>
          <p:cNvSpPr/>
          <p:nvPr/>
        </p:nvSpPr>
        <p:spPr>
          <a:xfrm>
            <a:off x="6775847" y="3909027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Employee stories</a:t>
            </a:r>
            <a:endParaRPr lang="en-US" sz="621" dirty="0"/>
          </a:p>
        </p:txBody>
      </p:sp>
      <p:sp>
        <p:nvSpPr>
          <p:cNvPr id="69" name="Text 66"/>
          <p:cNvSpPr/>
          <p:nvPr/>
        </p:nvSpPr>
        <p:spPr>
          <a:xfrm>
            <a:off x="6775847" y="4044758"/>
            <a:ext cx="196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Stories for real-time</a:t>
            </a:r>
            <a:endParaRPr lang="en-US" sz="621" dirty="0"/>
          </a:p>
        </p:txBody>
      </p:sp>
      <p:sp>
        <p:nvSpPr>
          <p:cNvPr id="70" name="Shape 67"/>
          <p:cNvSpPr/>
          <p:nvPr/>
        </p:nvSpPr>
        <p:spPr>
          <a:xfrm>
            <a:off x="357188" y="4259070"/>
            <a:ext cx="8429625" cy="746522"/>
          </a:xfrm>
          <a:prstGeom prst="rect">
            <a:avLst/>
          </a:prstGeom>
          <a:solidFill>
            <a:srgbClr val="FF4757">
              <a:alpha val="8000"/>
            </a:srgbClr>
          </a:solidFill>
          <a:ln w="18288">
            <a:solidFill>
              <a:srgbClr val="FF4757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00050" y="4301933"/>
            <a:ext cx="8343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4757"/>
                </a:solidFill>
              </a:rPr>
              <a:t>⚠ COMMON SOCIAL MEDIA MISTAKES TO AVOID</a:t>
            </a:r>
            <a:endParaRPr lang="en-US" sz="784" dirty="0"/>
          </a:p>
        </p:txBody>
      </p:sp>
      <p:sp>
        <p:nvSpPr>
          <p:cNvPr id="72" name="Text 69"/>
          <p:cNvSpPr/>
          <p:nvPr/>
        </p:nvSpPr>
        <p:spPr>
          <a:xfrm>
            <a:off x="400050" y="4501958"/>
            <a:ext cx="27336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Deleting negative comments (appears to hide truth)</a:t>
            </a:r>
            <a:endParaRPr lang="en-US" sz="674" dirty="0"/>
          </a:p>
        </p:txBody>
      </p:sp>
      <p:sp>
        <p:nvSpPr>
          <p:cNvPr id="73" name="Text 70"/>
          <p:cNvSpPr/>
          <p:nvPr/>
        </p:nvSpPr>
        <p:spPr>
          <a:xfrm>
            <a:off x="400050" y="4648405"/>
            <a:ext cx="27336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Slow or no response (interpreted as indifference)</a:t>
            </a:r>
            <a:endParaRPr lang="en-US" sz="674" dirty="0"/>
          </a:p>
        </p:txBody>
      </p:sp>
      <p:sp>
        <p:nvSpPr>
          <p:cNvPr id="74" name="Text 71"/>
          <p:cNvSpPr/>
          <p:nvPr/>
        </p:nvSpPr>
        <p:spPr>
          <a:xfrm>
            <a:off x="400050" y="4794852"/>
            <a:ext cx="27336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Defensive or argumentative tone</a:t>
            </a:r>
            <a:endParaRPr lang="en-US" sz="674" dirty="0"/>
          </a:p>
        </p:txBody>
      </p:sp>
      <p:sp>
        <p:nvSpPr>
          <p:cNvPr id="75" name="Text 72"/>
          <p:cNvSpPr/>
          <p:nvPr/>
        </p:nvSpPr>
        <p:spPr>
          <a:xfrm>
            <a:off x="3205144" y="4501958"/>
            <a:ext cx="27336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Inconsistent information across platforms</a:t>
            </a:r>
            <a:endParaRPr lang="en-US" sz="674" dirty="0"/>
          </a:p>
        </p:txBody>
      </p:sp>
      <p:sp>
        <p:nvSpPr>
          <p:cNvPr id="76" name="Text 73"/>
          <p:cNvSpPr/>
          <p:nvPr/>
        </p:nvSpPr>
        <p:spPr>
          <a:xfrm>
            <a:off x="3205144" y="4648405"/>
            <a:ext cx="27336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Ignoring influencers and amplifiers</a:t>
            </a:r>
            <a:endParaRPr lang="en-US" sz="674" dirty="0"/>
          </a:p>
        </p:txBody>
      </p:sp>
      <p:sp>
        <p:nvSpPr>
          <p:cNvPr id="77" name="Text 74"/>
          <p:cNvSpPr/>
          <p:nvPr/>
        </p:nvSpPr>
        <p:spPr>
          <a:xfrm>
            <a:off x="3205144" y="4794852"/>
            <a:ext cx="27336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Automated responses to serious concerns</a:t>
            </a:r>
            <a:endParaRPr lang="en-US" sz="674" dirty="0"/>
          </a:p>
        </p:txBody>
      </p:sp>
      <p:sp>
        <p:nvSpPr>
          <p:cNvPr id="78" name="Text 75"/>
          <p:cNvSpPr/>
          <p:nvPr/>
        </p:nvSpPr>
        <p:spPr>
          <a:xfrm>
            <a:off x="6010266" y="4501958"/>
            <a:ext cx="27336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Continuing normal marketing during crisis</a:t>
            </a:r>
            <a:endParaRPr lang="en-US" sz="674" dirty="0"/>
          </a:p>
        </p:txBody>
      </p:sp>
      <p:sp>
        <p:nvSpPr>
          <p:cNvPr id="79" name="Text 76"/>
          <p:cNvSpPr/>
          <p:nvPr/>
        </p:nvSpPr>
        <p:spPr>
          <a:xfrm>
            <a:off x="6010266" y="4648405"/>
            <a:ext cx="27336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Failing to monitor after initial response</a:t>
            </a:r>
            <a:endParaRPr lang="en-US" sz="674" dirty="0"/>
          </a:p>
        </p:txBody>
      </p:sp>
      <p:sp>
        <p:nvSpPr>
          <p:cNvPr id="80" name="Text 77"/>
          <p:cNvSpPr/>
          <p:nvPr/>
        </p:nvSpPr>
        <p:spPr>
          <a:xfrm>
            <a:off x="6010266" y="4794852"/>
            <a:ext cx="27336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Not addressing misinformation promptly</a:t>
            </a:r>
            <a:endParaRPr lang="en-US" sz="67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50031"/>
            <a:ext cx="8429625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Employees Are Your Most Important Stakeholders and Powerful Ambassadors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357188" y="958658"/>
            <a:ext cx="4161234" cy="1110853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4338" y="1015808"/>
            <a:ext cx="40469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EMPLOYEES AS STAKEHOLDERS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14338" y="1230120"/>
            <a:ext cx="4046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Directly impacted by crisis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414338" y="1383711"/>
            <a:ext cx="4046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Need information to do their jobs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414338" y="1537302"/>
            <a:ext cx="4046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Concerned about job security and safety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414338" y="1690892"/>
            <a:ext cx="4046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Have families and networks asking questions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14338" y="1844483"/>
            <a:ext cx="4046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Can become advocates or critics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4625578" y="958658"/>
            <a:ext cx="4161234" cy="1110853"/>
          </a:xfrm>
          <a:prstGeom prst="rect">
            <a:avLst/>
          </a:prstGeom>
          <a:solidFill>
            <a:srgbClr val="FFB020">
              <a:alpha val="8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82728" y="1015808"/>
            <a:ext cx="40469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B020"/>
                </a:solidFill>
              </a:rPr>
              <a:t>EMPLOYEES AS COMMUNICATORS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682728" y="1230120"/>
            <a:ext cx="4046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Every employee is a spokesperson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4682728" y="1383711"/>
            <a:ext cx="4046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Personal networks trust employee voices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4682728" y="1537302"/>
            <a:ext cx="4046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Social media amplifies employee messages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4682728" y="1690892"/>
            <a:ext cx="4046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Positive employee communication builds credibility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682728" y="1844483"/>
            <a:ext cx="4046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Negative employee communication damages reputation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357188" y="2098086"/>
            <a:ext cx="8429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INTERNAL COMMUNICATION PRIORITIES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357188" y="2312398"/>
            <a:ext cx="2752716" cy="1364456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0050" y="2355261"/>
            <a:ext cx="266699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1. INFORMATION NEEDS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400050" y="2544570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What happened and why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400050" y="2698161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How it affects them personally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400050" y="2851752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How it affects the organization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400050" y="3005342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What actions are being taken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400050" y="3158933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What is expected of them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400050" y="3312523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When they will receive updates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400050" y="3466114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Who to contact with questions</a:t>
            </a:r>
            <a:endParaRPr lang="en-US" sz="674" dirty="0"/>
          </a:p>
        </p:txBody>
      </p:sp>
      <p:sp>
        <p:nvSpPr>
          <p:cNvPr id="28" name="Shape 25"/>
          <p:cNvSpPr/>
          <p:nvPr/>
        </p:nvSpPr>
        <p:spPr>
          <a:xfrm>
            <a:off x="3195628" y="2312398"/>
            <a:ext cx="2752716" cy="1364456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38491" y="2355261"/>
            <a:ext cx="266699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2. COMMUNICATION CHANNELS</a:t>
            </a:r>
            <a:endParaRPr lang="en-US" sz="734" dirty="0"/>
          </a:p>
        </p:txBody>
      </p:sp>
      <p:sp>
        <p:nvSpPr>
          <p:cNvPr id="30" name="Text 27"/>
          <p:cNvSpPr/>
          <p:nvPr/>
        </p:nvSpPr>
        <p:spPr>
          <a:xfrm>
            <a:off x="3238491" y="2544570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Email for detailed information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3238491" y="2698161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Intranet for centralized updates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3238491" y="2851752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Town halls for dialogue and Q&amp;A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3238491" y="3005342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Manager cascade for personal touch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3238491" y="3158933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Hotline for questions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3238491" y="3312523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Mobile apps for real-time alerts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3238491" y="3466114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Team meetings for discussion</a:t>
            </a:r>
            <a:endParaRPr lang="en-US" sz="674" dirty="0"/>
          </a:p>
        </p:txBody>
      </p:sp>
      <p:sp>
        <p:nvSpPr>
          <p:cNvPr id="37" name="Shape 34"/>
          <p:cNvSpPr/>
          <p:nvPr/>
        </p:nvSpPr>
        <p:spPr>
          <a:xfrm>
            <a:off x="6034069" y="2312398"/>
            <a:ext cx="2752744" cy="1335881"/>
          </a:xfrm>
          <a:prstGeom prst="rect">
            <a:avLst/>
          </a:prstGeom>
          <a:solidFill>
            <a:srgbClr val="FF4757">
              <a:alpha val="8000"/>
            </a:srgbClr>
          </a:solidFill>
          <a:ln w="18288">
            <a:solidFill>
              <a:srgbClr val="FF475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76931" y="2355261"/>
            <a:ext cx="26670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4757"/>
                </a:solidFill>
              </a:rPr>
              <a:t>3. TIMING</a:t>
            </a:r>
            <a:endParaRPr lang="en-US" sz="734" dirty="0"/>
          </a:p>
        </p:txBody>
      </p:sp>
      <p:sp>
        <p:nvSpPr>
          <p:cNvPr id="39" name="Text 36"/>
          <p:cNvSpPr/>
          <p:nvPr/>
        </p:nvSpPr>
        <p:spPr>
          <a:xfrm>
            <a:off x="6076931" y="2544570"/>
            <a:ext cx="26670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Employees should hear first, before external stakeholders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6076931" y="2698161"/>
            <a:ext cx="26670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Inform before they hear from media or social media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6076931" y="2851752"/>
            <a:ext cx="26670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Regular updates even if no new information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6076931" y="3005342"/>
            <a:ext cx="26670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Acknowledge uncertainty honestly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6076931" y="3158933"/>
            <a:ext cx="26670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Provide context and perspective</a:t>
            </a:r>
            <a:endParaRPr lang="en-US" sz="674" dirty="0"/>
          </a:p>
        </p:txBody>
      </p:sp>
      <p:sp>
        <p:nvSpPr>
          <p:cNvPr id="44" name="Shape 41"/>
          <p:cNvSpPr/>
          <p:nvPr/>
        </p:nvSpPr>
        <p:spPr>
          <a:xfrm>
            <a:off x="357188" y="3705430"/>
            <a:ext cx="2752716" cy="1364456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00050" y="3748292"/>
            <a:ext cx="266699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4. MESSAGING APPROACH</a:t>
            </a:r>
            <a:endParaRPr lang="en-US" sz="734" dirty="0"/>
          </a:p>
        </p:txBody>
      </p:sp>
      <p:sp>
        <p:nvSpPr>
          <p:cNvPr id="46" name="Text 43"/>
          <p:cNvSpPr/>
          <p:nvPr/>
        </p:nvSpPr>
        <p:spPr>
          <a:xfrm>
            <a:off x="400050" y="3937602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Honest and transparent</a:t>
            </a:r>
            <a:endParaRPr lang="en-US" sz="674" dirty="0"/>
          </a:p>
        </p:txBody>
      </p:sp>
      <p:sp>
        <p:nvSpPr>
          <p:cNvPr id="47" name="Text 44"/>
          <p:cNvSpPr/>
          <p:nvPr/>
        </p:nvSpPr>
        <p:spPr>
          <a:xfrm>
            <a:off x="400050" y="4091192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Acknowledge impact on employees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400050" y="4244783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Explain decisions and rationale</a:t>
            </a:r>
            <a:endParaRPr lang="en-US" sz="674" dirty="0"/>
          </a:p>
        </p:txBody>
      </p:sp>
      <p:sp>
        <p:nvSpPr>
          <p:cNvPr id="49" name="Text 46"/>
          <p:cNvSpPr/>
          <p:nvPr/>
        </p:nvSpPr>
        <p:spPr>
          <a:xfrm>
            <a:off x="400050" y="4398373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Provide talking points for external conversations</a:t>
            </a:r>
            <a:endParaRPr lang="en-US" sz="674" dirty="0"/>
          </a:p>
        </p:txBody>
      </p:sp>
      <p:sp>
        <p:nvSpPr>
          <p:cNvPr id="50" name="Text 47"/>
          <p:cNvSpPr/>
          <p:nvPr/>
        </p:nvSpPr>
        <p:spPr>
          <a:xfrm>
            <a:off x="400050" y="4551964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Show appreciation for their efforts</a:t>
            </a:r>
            <a:endParaRPr lang="en-US" sz="674" dirty="0"/>
          </a:p>
        </p:txBody>
      </p:sp>
      <p:sp>
        <p:nvSpPr>
          <p:cNvPr id="51" name="Text 48"/>
          <p:cNvSpPr/>
          <p:nvPr/>
        </p:nvSpPr>
        <p:spPr>
          <a:xfrm>
            <a:off x="400050" y="4705555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Address fears and concerns directly</a:t>
            </a:r>
            <a:endParaRPr lang="en-US" sz="674" dirty="0"/>
          </a:p>
        </p:txBody>
      </p:sp>
      <p:sp>
        <p:nvSpPr>
          <p:cNvPr id="52" name="Text 49"/>
          <p:cNvSpPr/>
          <p:nvPr/>
        </p:nvSpPr>
        <p:spPr>
          <a:xfrm>
            <a:off x="400050" y="4859145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Outline support resources available</a:t>
            </a:r>
            <a:endParaRPr lang="en-US" sz="674" dirty="0"/>
          </a:p>
        </p:txBody>
      </p:sp>
      <p:sp>
        <p:nvSpPr>
          <p:cNvPr id="53" name="Shape 50"/>
          <p:cNvSpPr/>
          <p:nvPr/>
        </p:nvSpPr>
        <p:spPr>
          <a:xfrm>
            <a:off x="3195628" y="3705430"/>
            <a:ext cx="2752716" cy="1364456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238491" y="3748292"/>
            <a:ext cx="266699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5. EMPLOYEE SUPPORT</a:t>
            </a:r>
            <a:endParaRPr lang="en-US" sz="734" dirty="0"/>
          </a:p>
        </p:txBody>
      </p:sp>
      <p:sp>
        <p:nvSpPr>
          <p:cNvPr id="55" name="Text 52"/>
          <p:cNvSpPr/>
          <p:nvPr/>
        </p:nvSpPr>
        <p:spPr>
          <a:xfrm>
            <a:off x="3238491" y="3937602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Counseling and mental health resources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3238491" y="4091192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Flexible work arrangements if needed</a:t>
            </a:r>
            <a:endParaRPr lang="en-US" sz="674" dirty="0"/>
          </a:p>
        </p:txBody>
      </p:sp>
      <p:sp>
        <p:nvSpPr>
          <p:cNvPr id="57" name="Text 54"/>
          <p:cNvSpPr/>
          <p:nvPr/>
        </p:nvSpPr>
        <p:spPr>
          <a:xfrm>
            <a:off x="3238491" y="4244783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Clear guidance on customer interactions</a:t>
            </a:r>
            <a:endParaRPr lang="en-US" sz="674" dirty="0"/>
          </a:p>
        </p:txBody>
      </p:sp>
      <p:sp>
        <p:nvSpPr>
          <p:cNvPr id="58" name="Text 55"/>
          <p:cNvSpPr/>
          <p:nvPr/>
        </p:nvSpPr>
        <p:spPr>
          <a:xfrm>
            <a:off x="3238491" y="4398373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FAQ document for common questions</a:t>
            </a:r>
            <a:endParaRPr lang="en-US" sz="674" dirty="0"/>
          </a:p>
        </p:txBody>
      </p:sp>
      <p:sp>
        <p:nvSpPr>
          <p:cNvPr id="59" name="Text 56"/>
          <p:cNvSpPr/>
          <p:nvPr/>
        </p:nvSpPr>
        <p:spPr>
          <a:xfrm>
            <a:off x="3238491" y="4551964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Manager training and support</a:t>
            </a:r>
            <a:endParaRPr lang="en-US" sz="674" dirty="0"/>
          </a:p>
        </p:txBody>
      </p:sp>
      <p:sp>
        <p:nvSpPr>
          <p:cNvPr id="60" name="Text 57"/>
          <p:cNvSpPr/>
          <p:nvPr/>
        </p:nvSpPr>
        <p:spPr>
          <a:xfrm>
            <a:off x="3238491" y="4705555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Recognition of extra efforts</a:t>
            </a:r>
            <a:endParaRPr lang="en-US" sz="674" dirty="0"/>
          </a:p>
        </p:txBody>
      </p:sp>
      <p:sp>
        <p:nvSpPr>
          <p:cNvPr id="61" name="Text 58"/>
          <p:cNvSpPr/>
          <p:nvPr/>
        </p:nvSpPr>
        <p:spPr>
          <a:xfrm>
            <a:off x="3238491" y="4859145"/>
            <a:ext cx="2666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Career transition support if applicable</a:t>
            </a:r>
            <a:endParaRPr lang="en-US" sz="674" dirty="0"/>
          </a:p>
        </p:txBody>
      </p:sp>
      <p:sp>
        <p:nvSpPr>
          <p:cNvPr id="62" name="Shape 59"/>
          <p:cNvSpPr/>
          <p:nvPr/>
        </p:nvSpPr>
        <p:spPr>
          <a:xfrm>
            <a:off x="6034069" y="3705430"/>
            <a:ext cx="2752744" cy="1335881"/>
          </a:xfrm>
          <a:prstGeom prst="rect">
            <a:avLst/>
          </a:prstGeom>
          <a:solidFill>
            <a:srgbClr val="FFB020">
              <a:alpha val="8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076931" y="3748292"/>
            <a:ext cx="26670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B020"/>
                </a:solidFill>
              </a:rPr>
              <a:t>6. EMPOWERING EMPLOYEE ADVOCACY</a:t>
            </a:r>
            <a:endParaRPr lang="en-US" sz="734" dirty="0"/>
          </a:p>
        </p:txBody>
      </p:sp>
      <p:sp>
        <p:nvSpPr>
          <p:cNvPr id="64" name="Text 61"/>
          <p:cNvSpPr/>
          <p:nvPr/>
        </p:nvSpPr>
        <p:spPr>
          <a:xfrm>
            <a:off x="6076931" y="3937602"/>
            <a:ext cx="26670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Provide accurate information</a:t>
            </a:r>
            <a:endParaRPr lang="en-US" sz="674" dirty="0"/>
          </a:p>
        </p:txBody>
      </p:sp>
      <p:sp>
        <p:nvSpPr>
          <p:cNvPr id="65" name="Text 62"/>
          <p:cNvSpPr/>
          <p:nvPr/>
        </p:nvSpPr>
        <p:spPr>
          <a:xfrm>
            <a:off x="6076931" y="4091192"/>
            <a:ext cx="26670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Equip with key messages</a:t>
            </a:r>
            <a:endParaRPr lang="en-US" sz="674" dirty="0"/>
          </a:p>
        </p:txBody>
      </p:sp>
      <p:sp>
        <p:nvSpPr>
          <p:cNvPr id="66" name="Text 63"/>
          <p:cNvSpPr/>
          <p:nvPr/>
        </p:nvSpPr>
        <p:spPr>
          <a:xfrm>
            <a:off x="6076931" y="4244783"/>
            <a:ext cx="26670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Trust them to communicate appropriately</a:t>
            </a:r>
            <a:endParaRPr lang="en-US" sz="674" dirty="0"/>
          </a:p>
        </p:txBody>
      </p:sp>
      <p:sp>
        <p:nvSpPr>
          <p:cNvPr id="67" name="Text 64"/>
          <p:cNvSpPr/>
          <p:nvPr/>
        </p:nvSpPr>
        <p:spPr>
          <a:xfrm>
            <a:off x="6076931" y="4398373"/>
            <a:ext cx="26670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Encourage authentic sharing</a:t>
            </a:r>
            <a:endParaRPr lang="en-US" sz="674" dirty="0"/>
          </a:p>
        </p:txBody>
      </p:sp>
      <p:sp>
        <p:nvSpPr>
          <p:cNvPr id="68" name="Text 65"/>
          <p:cNvSpPr/>
          <p:nvPr/>
        </p:nvSpPr>
        <p:spPr>
          <a:xfrm>
            <a:off x="6076931" y="4551964"/>
            <a:ext cx="26670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Recognize positive advocacy</a:t>
            </a:r>
            <a:endParaRPr lang="en-US" sz="674" dirty="0"/>
          </a:p>
        </p:txBody>
      </p:sp>
      <p:sp>
        <p:nvSpPr>
          <p:cNvPr id="69" name="Text 66"/>
          <p:cNvSpPr/>
          <p:nvPr/>
        </p:nvSpPr>
        <p:spPr>
          <a:xfrm>
            <a:off x="6076931" y="4705555"/>
            <a:ext cx="26670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Address misinformation quickly</a:t>
            </a:r>
            <a:endParaRPr lang="en-US" sz="67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50031"/>
            <a:ext cx="8429625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Marriott CEO's Authentic Video Message Demonstrated Power of Vulnerable Leadership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357188" y="958658"/>
            <a:ext cx="8429625" cy="1003697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28625" y="1030095"/>
            <a:ext cx="8286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CASE BACKGROUND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28625" y="1258695"/>
            <a:ext cx="40897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The Crisis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28625" y="1444433"/>
            <a:ext cx="4089797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In March 2020, COVID-19 pandemic devastated the hospitality industry. Marriott faced unprecedented crisis with occupancy rates plummeting, properties closing, and need to furlough tens of thousands of employees.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4625578" y="1258695"/>
            <a:ext cx="40897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The Response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625578" y="1444433"/>
            <a:ext cx="4089797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CEO Arne Sorenson recorded a 5-minute video message to employees. The video was raw, emotional, and deeply personal. Sorenson appeared visibly affected, his voice breaking as he discussed the difficult decisions ahead.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357188" y="2048080"/>
            <a:ext cx="8429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WHAT MADE IT EFFECTIVE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357188" y="2276680"/>
            <a:ext cx="2762231" cy="1168003"/>
          </a:xfrm>
          <a:prstGeom prst="rect">
            <a:avLst/>
          </a:prstGeom>
          <a:solidFill>
            <a:srgbClr val="FFB020">
              <a:alpha val="5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8625" y="2348117"/>
            <a:ext cx="26193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B020"/>
                </a:solidFill>
              </a:rPr>
              <a:t>1. RAW EMOTION AND AUTHENTICITY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28625" y="2562430"/>
            <a:ext cx="26193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Sorenson did not hide his emotions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428625" y="2730308"/>
            <a:ext cx="26193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Voice cracked discussing furloughs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428625" y="2898186"/>
            <a:ext cx="26193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No corporate polish or scripted delivery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428625" y="3066064"/>
            <a:ext cx="26193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Genuine human leadership on display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3190856" y="2276680"/>
            <a:ext cx="2762259" cy="1168003"/>
          </a:xfrm>
          <a:prstGeom prst="rect">
            <a:avLst/>
          </a:prstGeom>
          <a:solidFill>
            <a:srgbClr val="FFB020">
              <a:alpha val="5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62294" y="2348117"/>
            <a:ext cx="26193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B020"/>
                </a:solidFill>
              </a:rPr>
              <a:t>2. PERSONAL VULNERABILITY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3262294" y="2562430"/>
            <a:ext cx="26193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Disclosed ongoing cancer treatment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3262294" y="2730308"/>
            <a:ext cx="26193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Explained his appearance (no hair)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3262294" y="2898186"/>
            <a:ext cx="26193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Shared personal struggle alongside organizational crisis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3262294" y="3066064"/>
            <a:ext cx="26193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Courage to be vulnerable built connection</a:t>
            </a:r>
            <a:endParaRPr lang="en-US" sz="674" dirty="0"/>
          </a:p>
        </p:txBody>
      </p:sp>
      <p:sp>
        <p:nvSpPr>
          <p:cNvPr id="23" name="Shape 20"/>
          <p:cNvSpPr/>
          <p:nvPr/>
        </p:nvSpPr>
        <p:spPr>
          <a:xfrm>
            <a:off x="6024553" y="2276680"/>
            <a:ext cx="2762231" cy="1168003"/>
          </a:xfrm>
          <a:prstGeom prst="rect">
            <a:avLst/>
          </a:prstGeom>
          <a:solidFill>
            <a:srgbClr val="FFB020">
              <a:alpha val="5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95991" y="2348117"/>
            <a:ext cx="26193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B020"/>
                </a:solidFill>
              </a:rPr>
              <a:t>3. TRANSPARENCY AND EMPATHY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095991" y="2562430"/>
            <a:ext cx="26193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Openly described severity and business impact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6095991" y="2730308"/>
            <a:ext cx="26193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Explained necessity of furloughs and executive pay cuts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6095991" y="2898186"/>
            <a:ext cx="26193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Communicated support measures for employees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6095991" y="3066064"/>
            <a:ext cx="26193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Expressed real care and commitment to bring people back</a:t>
            </a:r>
            <a:endParaRPr lang="en-US" sz="674" dirty="0"/>
          </a:p>
        </p:txBody>
      </p:sp>
      <p:sp>
        <p:nvSpPr>
          <p:cNvPr id="29" name="Shape 26"/>
          <p:cNvSpPr/>
          <p:nvPr/>
        </p:nvSpPr>
        <p:spPr>
          <a:xfrm>
            <a:off x="357188" y="3391105"/>
            <a:ext cx="8429625" cy="1232297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8625" y="3462542"/>
            <a:ext cx="8286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KEY LESSONS LEARNED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428625" y="3691142"/>
            <a:ext cx="27050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Authenticity Over Polish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428625" y="3855448"/>
            <a:ext cx="2705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Genuine emotion resonates more than corporate perfection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3219431" y="3691142"/>
            <a:ext cx="27051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Vulnerability Builds Trust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3219431" y="3855448"/>
            <a:ext cx="27051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Leaders who show humanity create deeper connections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6010266" y="3691142"/>
            <a:ext cx="27050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Transparency Is Essential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6010266" y="3855448"/>
            <a:ext cx="27050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Honest communication about difficult decisions maintains credibility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428625" y="4219780"/>
            <a:ext cx="27050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Empathy Must Be Genuine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428625" y="4384086"/>
            <a:ext cx="2705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Stakeholders can distinguish real concern from performance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3219431" y="4219780"/>
            <a:ext cx="27051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Video Humanizes Leadership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3219431" y="4384086"/>
            <a:ext cx="27051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Visual communication conveys emotion better than text</a:t>
            </a:r>
            <a:endParaRPr lang="en-US" sz="67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50031"/>
            <a:ext cx="8429625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Slack's Transparent Technical Communication Set Standard for Service Outage Response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357188" y="930083"/>
            <a:ext cx="8429625" cy="982266"/>
          </a:xfrm>
          <a:prstGeom prst="rect">
            <a:avLst/>
          </a:prstGeom>
          <a:solidFill>
            <a:srgbClr val="00D9FF">
              <a:alpha val="8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28625" y="1001520"/>
            <a:ext cx="8286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CASE BACKGROUND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28625" y="1230120"/>
            <a:ext cx="41005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The Crisis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28625" y="1408714"/>
            <a:ext cx="4100513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In February 2022, Slack experienced a major service outage affecting millions of users worldwide. The platform was completely unavailable for several hours, impacting businesses that depend on Slack for critical communication.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4614863" y="1230120"/>
            <a:ext cx="41005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The Response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614863" y="1408714"/>
            <a:ext cx="4100513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Slack's engineering and communications teams provided frequent, technically detailed updates via their status page, Twitter, and blog. They maintained transparency about the root cause, impact, and recovery progress throughout the incident.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357188" y="1983786"/>
            <a:ext cx="8429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WHAT MADE IT EFFECTIVE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357188" y="2212386"/>
            <a:ext cx="4179094" cy="775097"/>
          </a:xfrm>
          <a:prstGeom prst="rect">
            <a:avLst/>
          </a:prstGeom>
          <a:solidFill>
            <a:srgbClr val="FFB020">
              <a:alpha val="5000"/>
            </a:srgbClr>
          </a:solidFill>
          <a:ln w="9144">
            <a:solidFill>
              <a:srgbClr val="FFB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4338" y="2269536"/>
            <a:ext cx="40647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B020"/>
                </a:solidFill>
              </a:rPr>
              <a:t>1. FREQUENT UPDATES (EVERY 30-60 MINUTES)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14338" y="2469561"/>
            <a:ext cx="4064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Updates posted every 30-60 minutes during active outage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414338" y="2623152"/>
            <a:ext cx="4064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Prevented information vacuum and speculation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414338" y="2776742"/>
            <a:ext cx="4064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Demonstrated urgency and commitment</a:t>
            </a:r>
            <a:endParaRPr lang="en-US" sz="674" dirty="0"/>
          </a:p>
        </p:txBody>
      </p:sp>
      <p:sp>
        <p:nvSpPr>
          <p:cNvPr id="16" name="Shape 13"/>
          <p:cNvSpPr/>
          <p:nvPr/>
        </p:nvSpPr>
        <p:spPr>
          <a:xfrm>
            <a:off x="4607719" y="2212386"/>
            <a:ext cx="4179094" cy="775097"/>
          </a:xfrm>
          <a:prstGeom prst="rect">
            <a:avLst/>
          </a:prstGeom>
          <a:solidFill>
            <a:srgbClr val="FFB020">
              <a:alpha val="5000"/>
            </a:srgbClr>
          </a:solidFill>
          <a:ln w="9144">
            <a:solidFill>
              <a:srgbClr val="FFB0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4869" y="2269536"/>
            <a:ext cx="40647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B020"/>
                </a:solidFill>
              </a:rPr>
              <a:t>2. TECHNICAL TRANSPARENCY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664869" y="2469561"/>
            <a:ext cx="4064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Provided technical details about root cause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4664869" y="2623152"/>
            <a:ext cx="4064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Explained what systems were affected and why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4664869" y="2776742"/>
            <a:ext cx="4064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Shared recovery steps being taken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357188" y="3044633"/>
            <a:ext cx="4179094" cy="775097"/>
          </a:xfrm>
          <a:prstGeom prst="rect">
            <a:avLst/>
          </a:prstGeom>
          <a:solidFill>
            <a:srgbClr val="FFB020">
              <a:alpha val="5000"/>
            </a:srgbClr>
          </a:solidFill>
          <a:ln w="9144">
            <a:solidFill>
              <a:srgbClr val="FFB0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4338" y="3101783"/>
            <a:ext cx="40647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B020"/>
                </a:solidFill>
              </a:rPr>
              <a:t>3. ACCOUNTABILITY AND OWNERSHIP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14338" y="3301808"/>
            <a:ext cx="4064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Took full responsibility for the outage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414338" y="3455398"/>
            <a:ext cx="4064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No deflection or blame-shifting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414338" y="3608989"/>
            <a:ext cx="4064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Apologized sincerely for impact on customers</a:t>
            </a:r>
            <a:endParaRPr lang="en-US" sz="674" dirty="0"/>
          </a:p>
        </p:txBody>
      </p:sp>
      <p:sp>
        <p:nvSpPr>
          <p:cNvPr id="26" name="Shape 23"/>
          <p:cNvSpPr/>
          <p:nvPr/>
        </p:nvSpPr>
        <p:spPr>
          <a:xfrm>
            <a:off x="4607719" y="3044633"/>
            <a:ext cx="4179094" cy="775097"/>
          </a:xfrm>
          <a:prstGeom prst="rect">
            <a:avLst/>
          </a:prstGeom>
          <a:solidFill>
            <a:srgbClr val="FFB020">
              <a:alpha val="5000"/>
            </a:srgbClr>
          </a:solidFill>
          <a:ln w="9144">
            <a:solidFill>
              <a:srgbClr val="FFB02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4869" y="3101783"/>
            <a:ext cx="40647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B020"/>
                </a:solidFill>
              </a:rPr>
              <a:t>4. POST-INCIDENT COMMUNICATION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664869" y="3301808"/>
            <a:ext cx="4064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Published detailed post-mortem analysis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4664869" y="3455398"/>
            <a:ext cx="4064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Outlined specific remediation steps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4664869" y="3608989"/>
            <a:ext cx="4064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Shared timeline of events and response</a:t>
            </a:r>
            <a:endParaRPr lang="en-US" sz="674" dirty="0"/>
          </a:p>
        </p:txBody>
      </p:sp>
      <p:sp>
        <p:nvSpPr>
          <p:cNvPr id="31" name="Shape 28"/>
          <p:cNvSpPr/>
          <p:nvPr/>
        </p:nvSpPr>
        <p:spPr>
          <a:xfrm>
            <a:off x="357188" y="3891167"/>
            <a:ext cx="8429625" cy="714375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4338" y="3948317"/>
            <a:ext cx="8315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KEY LESSONS LEARNED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414338" y="4162630"/>
            <a:ext cx="27241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Update Frequency Matters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3209916" y="4162630"/>
            <a:ext cx="27241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Technical Details Build Trust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6005494" y="4162630"/>
            <a:ext cx="27241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Own the Problem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414338" y="4384086"/>
            <a:ext cx="27241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Post-Mortem Is Essential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3209916" y="4384086"/>
            <a:ext cx="27241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Multiple Channels</a:t>
            </a:r>
            <a:endParaRPr lang="en-US" sz="68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76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50031"/>
            <a:ext cx="8429625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Crisis Communication Completes the Organizational Resilience Framework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930083"/>
            <a:ext cx="8429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THE RESILIENCE TRIANGLE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357188" y="1158683"/>
            <a:ext cx="2738428" cy="1034393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28625" y="1230120"/>
            <a:ext cx="25955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INCIDENT RESPONSE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1530158"/>
            <a:ext cx="259555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Technical response to security incidents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428625" y="1674456"/>
            <a:ext cx="259555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Detect, contain, eradicate threats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428625" y="1818754"/>
            <a:ext cx="259555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Forensic investigation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28625" y="1963052"/>
            <a:ext cx="259555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Restore normal operations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3202772" y="1158683"/>
            <a:ext cx="2738428" cy="1034393"/>
          </a:xfrm>
          <a:prstGeom prst="rect">
            <a:avLst/>
          </a:prstGeom>
          <a:solidFill>
            <a:srgbClr val="FFB020">
              <a:alpha val="8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74209" y="1230120"/>
            <a:ext cx="25955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B020"/>
                </a:solidFill>
              </a:rPr>
              <a:t>BC/DR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3274209" y="1530158"/>
            <a:ext cx="259555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Operational continuity during disruption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3274209" y="1674456"/>
            <a:ext cx="259555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Activate alternate sites and systems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3274209" y="1818754"/>
            <a:ext cx="259555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Restore critical business functions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3274209" y="1963052"/>
            <a:ext cx="259555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Meet RTO/RPO objectives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6048356" y="1158683"/>
            <a:ext cx="2738456" cy="1034393"/>
          </a:xfrm>
          <a:prstGeom prst="rect">
            <a:avLst/>
          </a:prstGeom>
          <a:solidFill>
            <a:srgbClr val="FF4757">
              <a:alpha val="8000"/>
            </a:srgbClr>
          </a:solidFill>
          <a:ln w="18288">
            <a:solidFill>
              <a:srgbClr val="FF47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19794" y="1230120"/>
            <a:ext cx="25955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4757"/>
                </a:solidFill>
              </a:rPr>
              <a:t>CRISIS COMMUNICATION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6119794" y="1530158"/>
            <a:ext cx="259558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Stakeholder information management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6119794" y="1674456"/>
            <a:ext cx="259558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Reputation protection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6119794" y="1818754"/>
            <a:ext cx="259558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Internal and external messaging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6119794" y="1963052"/>
            <a:ext cx="259558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Media and regulatory relations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357188" y="2250225"/>
            <a:ext cx="8429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INTEGRATION POINTS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357188" y="2478825"/>
            <a:ext cx="2762231" cy="697213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4338" y="2535975"/>
            <a:ext cx="26479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SHARED ACTIVATION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414338" y="2714569"/>
            <a:ext cx="2647931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All three teams activate simultaneously during major incidents. Crisis communication team needs real-time updates from IR and BC/DR teams.</a:t>
            </a:r>
            <a:endParaRPr lang="en-US" sz="674" dirty="0"/>
          </a:p>
        </p:txBody>
      </p:sp>
      <p:sp>
        <p:nvSpPr>
          <p:cNvPr id="27" name="Shape 24"/>
          <p:cNvSpPr/>
          <p:nvPr/>
        </p:nvSpPr>
        <p:spPr>
          <a:xfrm>
            <a:off x="3190856" y="2478825"/>
            <a:ext cx="2762259" cy="697213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48006" y="2535975"/>
            <a:ext cx="26479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COORDINATED MESSAGING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3248006" y="2714569"/>
            <a:ext cx="264795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Technical findings from IR inform communication messages. BC/DR recovery timelines shape stakeholder expectations.</a:t>
            </a:r>
            <a:endParaRPr lang="en-US" sz="674" dirty="0"/>
          </a:p>
        </p:txBody>
      </p:sp>
      <p:sp>
        <p:nvSpPr>
          <p:cNvPr id="30" name="Shape 27"/>
          <p:cNvSpPr/>
          <p:nvPr/>
        </p:nvSpPr>
        <p:spPr>
          <a:xfrm>
            <a:off x="6024553" y="2478825"/>
            <a:ext cx="2762231" cy="697213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81703" y="2535975"/>
            <a:ext cx="26479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UNIFIED COMMAND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6081703" y="2714569"/>
            <a:ext cx="2647931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Single incident commander coordinates all three disciplines. Regular status meetings ensure alignment and information sharing.</a:t>
            </a:r>
            <a:endParaRPr lang="en-US" sz="674" dirty="0"/>
          </a:p>
        </p:txBody>
      </p:sp>
      <p:sp>
        <p:nvSpPr>
          <p:cNvPr id="33" name="Shape 30"/>
          <p:cNvSpPr/>
          <p:nvPr/>
        </p:nvSpPr>
        <p:spPr>
          <a:xfrm>
            <a:off x="357188" y="3233189"/>
            <a:ext cx="2762231" cy="697213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4338" y="3290339"/>
            <a:ext cx="26479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STAKEHOLDER PRIORITIES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414338" y="3468932"/>
            <a:ext cx="2647931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Crisis communication identifies key stakeholder concerns. IR and BC/DR teams prioritize actions based on stakeholder impact.</a:t>
            </a:r>
            <a:endParaRPr lang="en-US" sz="674" dirty="0"/>
          </a:p>
        </p:txBody>
      </p:sp>
      <p:sp>
        <p:nvSpPr>
          <p:cNvPr id="36" name="Shape 33"/>
          <p:cNvSpPr/>
          <p:nvPr/>
        </p:nvSpPr>
        <p:spPr>
          <a:xfrm>
            <a:off x="3190856" y="3233189"/>
            <a:ext cx="2762259" cy="697213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48006" y="3290339"/>
            <a:ext cx="26479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JOINT TESTING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3248006" y="3468932"/>
            <a:ext cx="2647959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Tabletop exercises include all three teams. Simulations test coordination, communication flows, and decision-making processes.</a:t>
            </a:r>
            <a:endParaRPr lang="en-US" sz="674" dirty="0"/>
          </a:p>
        </p:txBody>
      </p:sp>
      <p:sp>
        <p:nvSpPr>
          <p:cNvPr id="39" name="Shape 36"/>
          <p:cNvSpPr/>
          <p:nvPr/>
        </p:nvSpPr>
        <p:spPr>
          <a:xfrm>
            <a:off x="6024553" y="3233189"/>
            <a:ext cx="2762231" cy="697213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81703" y="3290339"/>
            <a:ext cx="26479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LESSONS LEARNED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6081703" y="3468932"/>
            <a:ext cx="2647931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Post-incident reviews include all three disciplines. Communication effectiveness evaluated alongside technical and operational response.</a:t>
            </a:r>
            <a:endParaRPr lang="en-US" sz="674" dirty="0"/>
          </a:p>
        </p:txBody>
      </p:sp>
      <p:sp>
        <p:nvSpPr>
          <p:cNvPr id="42" name="Shape 39"/>
          <p:cNvSpPr/>
          <p:nvPr/>
        </p:nvSpPr>
        <p:spPr>
          <a:xfrm>
            <a:off x="357188" y="4001839"/>
            <a:ext cx="8429625" cy="1278703"/>
          </a:xfrm>
          <a:prstGeom prst="rect">
            <a:avLst/>
          </a:prstGeom>
          <a:solidFill>
            <a:srgbClr val="FF4757">
              <a:alpha val="5000"/>
            </a:srgbClr>
          </a:solidFill>
          <a:ln w="18288">
            <a:solidFill>
              <a:srgbClr val="FF4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28625" y="4073277"/>
            <a:ext cx="8286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4757"/>
                </a:solidFill>
              </a:rPr>
              <a:t>EXAMPLE: RANSOMWARE ATTACK COORDINATION</a:t>
            </a:r>
            <a:endParaRPr lang="en-US" sz="784" dirty="0"/>
          </a:p>
        </p:txBody>
      </p:sp>
      <p:sp>
        <p:nvSpPr>
          <p:cNvPr id="44" name="Text 41"/>
          <p:cNvSpPr/>
          <p:nvPr/>
        </p:nvSpPr>
        <p:spPr>
          <a:xfrm>
            <a:off x="428625" y="4301877"/>
            <a:ext cx="26907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INCIDENT RESPONSE</a:t>
            </a:r>
            <a:endParaRPr lang="en-US" sz="683" dirty="0"/>
          </a:p>
        </p:txBody>
      </p:sp>
      <p:sp>
        <p:nvSpPr>
          <p:cNvPr id="45" name="Text 42"/>
          <p:cNvSpPr/>
          <p:nvPr/>
        </p:nvSpPr>
        <p:spPr>
          <a:xfrm>
            <a:off x="428625" y="4473327"/>
            <a:ext cx="269079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Isolate infected systems</a:t>
            </a:r>
            <a:endParaRPr lang="en-US" sz="674" dirty="0"/>
          </a:p>
        </p:txBody>
      </p:sp>
      <p:sp>
        <p:nvSpPr>
          <p:cNvPr id="46" name="Text 43"/>
          <p:cNvSpPr/>
          <p:nvPr/>
        </p:nvSpPr>
        <p:spPr>
          <a:xfrm>
            <a:off x="428625" y="4617625"/>
            <a:ext cx="269079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Identify ransomware variant</a:t>
            </a:r>
            <a:endParaRPr lang="en-US" sz="674" dirty="0"/>
          </a:p>
        </p:txBody>
      </p:sp>
      <p:sp>
        <p:nvSpPr>
          <p:cNvPr id="47" name="Text 44"/>
          <p:cNvSpPr/>
          <p:nvPr/>
        </p:nvSpPr>
        <p:spPr>
          <a:xfrm>
            <a:off x="428625" y="4761923"/>
            <a:ext cx="269079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Assess data encryption scope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428625" y="4906221"/>
            <a:ext cx="269079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Determine attack vector</a:t>
            </a:r>
            <a:endParaRPr lang="en-US" sz="674" dirty="0"/>
          </a:p>
        </p:txBody>
      </p:sp>
      <p:sp>
        <p:nvSpPr>
          <p:cNvPr id="49" name="Text 46"/>
          <p:cNvSpPr/>
          <p:nvPr/>
        </p:nvSpPr>
        <p:spPr>
          <a:xfrm>
            <a:off x="428625" y="5050520"/>
            <a:ext cx="269079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Provide technical updates to crisis comm team</a:t>
            </a:r>
            <a:endParaRPr lang="en-US" sz="674" dirty="0"/>
          </a:p>
        </p:txBody>
      </p:sp>
      <p:sp>
        <p:nvSpPr>
          <p:cNvPr id="50" name="Text 47"/>
          <p:cNvSpPr/>
          <p:nvPr/>
        </p:nvSpPr>
        <p:spPr>
          <a:xfrm>
            <a:off x="3226575" y="4301877"/>
            <a:ext cx="26908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B020"/>
                </a:solidFill>
              </a:rPr>
              <a:t>BC/DR</a:t>
            </a:r>
            <a:endParaRPr lang="en-US" sz="683" dirty="0"/>
          </a:p>
        </p:txBody>
      </p:sp>
      <p:sp>
        <p:nvSpPr>
          <p:cNvPr id="51" name="Text 48"/>
          <p:cNvSpPr/>
          <p:nvPr/>
        </p:nvSpPr>
        <p:spPr>
          <a:xfrm>
            <a:off x="3226575" y="4473327"/>
            <a:ext cx="269082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Activate backup systems</a:t>
            </a:r>
            <a:endParaRPr lang="en-US" sz="674" dirty="0"/>
          </a:p>
        </p:txBody>
      </p:sp>
      <p:sp>
        <p:nvSpPr>
          <p:cNvPr id="52" name="Text 49"/>
          <p:cNvSpPr/>
          <p:nvPr/>
        </p:nvSpPr>
        <p:spPr>
          <a:xfrm>
            <a:off x="3226575" y="4617625"/>
            <a:ext cx="269082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Restore critical functions from clean backups</a:t>
            </a:r>
            <a:endParaRPr lang="en-US" sz="674" dirty="0"/>
          </a:p>
        </p:txBody>
      </p:sp>
      <p:sp>
        <p:nvSpPr>
          <p:cNvPr id="53" name="Text 50"/>
          <p:cNvSpPr/>
          <p:nvPr/>
        </p:nvSpPr>
        <p:spPr>
          <a:xfrm>
            <a:off x="3226575" y="4761923"/>
            <a:ext cx="269082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Establish recovery timelines</a:t>
            </a:r>
            <a:endParaRPr lang="en-US" sz="674" dirty="0"/>
          </a:p>
        </p:txBody>
      </p:sp>
      <p:sp>
        <p:nvSpPr>
          <p:cNvPr id="54" name="Text 51"/>
          <p:cNvSpPr/>
          <p:nvPr/>
        </p:nvSpPr>
        <p:spPr>
          <a:xfrm>
            <a:off x="3226575" y="4906221"/>
            <a:ext cx="269082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Prioritize system restoration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3226575" y="5050520"/>
            <a:ext cx="269082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Communicate recovery status to crisis comm team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6024553" y="4301877"/>
            <a:ext cx="26907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4757"/>
                </a:solidFill>
              </a:rPr>
              <a:t>CRISIS COMMUNICATION</a:t>
            </a:r>
            <a:endParaRPr lang="en-US" sz="683" dirty="0"/>
          </a:p>
        </p:txBody>
      </p:sp>
      <p:sp>
        <p:nvSpPr>
          <p:cNvPr id="57" name="Text 54"/>
          <p:cNvSpPr/>
          <p:nvPr/>
        </p:nvSpPr>
        <p:spPr>
          <a:xfrm>
            <a:off x="6024553" y="4473327"/>
            <a:ext cx="269079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Acknowledge incident within 15 minutes</a:t>
            </a:r>
            <a:endParaRPr lang="en-US" sz="674" dirty="0"/>
          </a:p>
        </p:txBody>
      </p:sp>
      <p:sp>
        <p:nvSpPr>
          <p:cNvPr id="58" name="Text 55"/>
          <p:cNvSpPr/>
          <p:nvPr/>
        </p:nvSpPr>
        <p:spPr>
          <a:xfrm>
            <a:off x="6024553" y="4617625"/>
            <a:ext cx="269079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Update employees before external announcement</a:t>
            </a:r>
            <a:endParaRPr lang="en-US" sz="674" dirty="0"/>
          </a:p>
        </p:txBody>
      </p:sp>
      <p:sp>
        <p:nvSpPr>
          <p:cNvPr id="59" name="Text 56"/>
          <p:cNvSpPr/>
          <p:nvPr/>
        </p:nvSpPr>
        <p:spPr>
          <a:xfrm>
            <a:off x="6024553" y="4761923"/>
            <a:ext cx="269079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Inform customers of service impact</a:t>
            </a:r>
            <a:endParaRPr lang="en-US" sz="674" dirty="0"/>
          </a:p>
        </p:txBody>
      </p:sp>
      <p:sp>
        <p:nvSpPr>
          <p:cNvPr id="60" name="Text 57"/>
          <p:cNvSpPr/>
          <p:nvPr/>
        </p:nvSpPr>
        <p:spPr>
          <a:xfrm>
            <a:off x="6024553" y="4906221"/>
            <a:ext cx="269079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Provide recovery timeline updates</a:t>
            </a:r>
            <a:endParaRPr lang="en-US" sz="674" dirty="0"/>
          </a:p>
        </p:txBody>
      </p:sp>
      <p:sp>
        <p:nvSpPr>
          <p:cNvPr id="61" name="Text 58"/>
          <p:cNvSpPr/>
          <p:nvPr/>
        </p:nvSpPr>
        <p:spPr>
          <a:xfrm>
            <a:off x="6024553" y="5050520"/>
            <a:ext cx="269079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Coordinate regulatory notifications</a:t>
            </a:r>
            <a:endParaRPr lang="en-US" sz="67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50031"/>
            <a:ext cx="8429625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Effective Crisis Communication Protects Reputation and Guides Stakeholders Through Uncertainty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972945"/>
            <a:ext cx="3506688" cy="4143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42470" y="972945"/>
            <a:ext cx="474434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CORE PRINCIPLES RECAP</a:t>
            </a:r>
            <a:endParaRPr lang="en-US" sz="734" dirty="0"/>
          </a:p>
        </p:txBody>
      </p:sp>
      <p:sp>
        <p:nvSpPr>
          <p:cNvPr id="6" name="Shape 2"/>
          <p:cNvSpPr/>
          <p:nvPr/>
        </p:nvSpPr>
        <p:spPr>
          <a:xfrm>
            <a:off x="4042470" y="1162255"/>
            <a:ext cx="2350740" cy="455721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071045" y="1190830"/>
            <a:ext cx="229359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SCCT Framework</a:t>
            </a:r>
            <a:endParaRPr lang="en-US" sz="634" dirty="0"/>
          </a:p>
        </p:txBody>
      </p:sp>
      <p:sp>
        <p:nvSpPr>
          <p:cNvPr id="8" name="Text 4"/>
          <p:cNvSpPr/>
          <p:nvPr/>
        </p:nvSpPr>
        <p:spPr>
          <a:xfrm>
            <a:off x="4071045" y="1335128"/>
            <a:ext cx="229359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Match response strategy to crisis type and responsibility level</a:t>
            </a:r>
            <a:endParaRPr lang="en-US" sz="621" dirty="0"/>
          </a:p>
        </p:txBody>
      </p:sp>
      <p:sp>
        <p:nvSpPr>
          <p:cNvPr id="9" name="Shape 5"/>
          <p:cNvSpPr/>
          <p:nvPr/>
        </p:nvSpPr>
        <p:spPr>
          <a:xfrm>
            <a:off x="6436072" y="1162255"/>
            <a:ext cx="2350740" cy="441434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64647" y="1190830"/>
            <a:ext cx="229359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15-20-60-90 Timeline</a:t>
            </a:r>
            <a:endParaRPr lang="en-US" sz="634" dirty="0"/>
          </a:p>
        </p:txBody>
      </p:sp>
      <p:sp>
        <p:nvSpPr>
          <p:cNvPr id="11" name="Text 7"/>
          <p:cNvSpPr/>
          <p:nvPr/>
        </p:nvSpPr>
        <p:spPr>
          <a:xfrm>
            <a:off x="6464647" y="1335128"/>
            <a:ext cx="229359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Establish communication rhythm within first 90 minutes</a:t>
            </a:r>
            <a:endParaRPr lang="en-US" sz="621" dirty="0"/>
          </a:p>
        </p:txBody>
      </p:sp>
      <p:sp>
        <p:nvSpPr>
          <p:cNvPr id="12" name="Shape 8"/>
          <p:cNvSpPr/>
          <p:nvPr/>
        </p:nvSpPr>
        <p:spPr>
          <a:xfrm>
            <a:off x="4042470" y="1646551"/>
            <a:ext cx="2350740" cy="455721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071045" y="1675126"/>
            <a:ext cx="229359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Employees First</a:t>
            </a:r>
            <a:endParaRPr lang="en-US" sz="634" dirty="0"/>
          </a:p>
        </p:txBody>
      </p:sp>
      <p:sp>
        <p:nvSpPr>
          <p:cNvPr id="14" name="Text 10"/>
          <p:cNvSpPr/>
          <p:nvPr/>
        </p:nvSpPr>
        <p:spPr>
          <a:xfrm>
            <a:off x="4071045" y="1819424"/>
            <a:ext cx="229359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Internal stakeholders are most important and powerful ambassadors</a:t>
            </a:r>
            <a:endParaRPr lang="en-US" sz="621" dirty="0"/>
          </a:p>
        </p:txBody>
      </p:sp>
      <p:sp>
        <p:nvSpPr>
          <p:cNvPr id="15" name="Shape 11"/>
          <p:cNvSpPr/>
          <p:nvPr/>
        </p:nvSpPr>
        <p:spPr>
          <a:xfrm>
            <a:off x="6436072" y="1646551"/>
            <a:ext cx="2350740" cy="441434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64647" y="1675126"/>
            <a:ext cx="229359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Authenticity Over Polish</a:t>
            </a:r>
            <a:endParaRPr lang="en-US" sz="634" dirty="0"/>
          </a:p>
        </p:txBody>
      </p:sp>
      <p:sp>
        <p:nvSpPr>
          <p:cNvPr id="17" name="Text 13"/>
          <p:cNvSpPr/>
          <p:nvPr/>
        </p:nvSpPr>
        <p:spPr>
          <a:xfrm>
            <a:off x="6464647" y="1819424"/>
            <a:ext cx="229359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Genuine emotion and vulnerability build deeper trust</a:t>
            </a:r>
            <a:endParaRPr lang="en-US" sz="621" dirty="0"/>
          </a:p>
        </p:txBody>
      </p:sp>
      <p:sp>
        <p:nvSpPr>
          <p:cNvPr id="18" name="Text 14"/>
          <p:cNvSpPr/>
          <p:nvPr/>
        </p:nvSpPr>
        <p:spPr>
          <a:xfrm>
            <a:off x="4042470" y="2145134"/>
            <a:ext cx="474434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B020"/>
                </a:solidFill>
              </a:rPr>
              <a:t>SUCCESS FACTORS</a:t>
            </a:r>
            <a:endParaRPr lang="en-US" sz="734" dirty="0"/>
          </a:p>
        </p:txBody>
      </p:sp>
      <p:sp>
        <p:nvSpPr>
          <p:cNvPr id="19" name="Shape 15"/>
          <p:cNvSpPr/>
          <p:nvPr/>
        </p:nvSpPr>
        <p:spPr>
          <a:xfrm>
            <a:off x="4042470" y="2334444"/>
            <a:ext cx="4744343" cy="545716"/>
          </a:xfrm>
          <a:prstGeom prst="rect">
            <a:avLst/>
          </a:prstGeom>
          <a:solidFill>
            <a:srgbClr val="FFB020">
              <a:alpha val="5000"/>
            </a:srgbClr>
          </a:solidFill>
          <a:ln w="9144">
            <a:solidFill>
              <a:srgbClr val="FFB02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085332" y="2377306"/>
            <a:ext cx="230787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</a:t>
            </a:r>
            <a:r>
              <a:rPr lang="en-US" sz="584" b="1" dirty="0">
                <a:solidFill>
                  <a:srgbClr val="B8C5D6"/>
                </a:solidFill>
              </a:rPr>
              <a:t>Preparation:</a:t>
            </a:r>
            <a:r>
              <a:rPr lang="en-US" sz="621" dirty="0">
                <a:solidFill>
                  <a:srgbClr val="B8C5D6"/>
                </a:solidFill>
              </a:rPr>
              <a:t> Plans, templates, training before crisis</a:t>
            </a:r>
            <a:endParaRPr lang="en-US" sz="621" dirty="0"/>
          </a:p>
        </p:txBody>
      </p:sp>
      <p:sp>
        <p:nvSpPr>
          <p:cNvPr id="21" name="Text 17"/>
          <p:cNvSpPr/>
          <p:nvPr/>
        </p:nvSpPr>
        <p:spPr>
          <a:xfrm>
            <a:off x="6436072" y="2377306"/>
            <a:ext cx="230787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</a:t>
            </a:r>
            <a:r>
              <a:rPr lang="en-US" sz="584" b="1" dirty="0">
                <a:solidFill>
                  <a:srgbClr val="B8C5D6"/>
                </a:solidFill>
              </a:rPr>
              <a:t>Speed:</a:t>
            </a:r>
            <a:r>
              <a:rPr lang="en-US" sz="621" dirty="0">
                <a:solidFill>
                  <a:srgbClr val="B8C5D6"/>
                </a:solidFill>
              </a:rPr>
              <a:t> Acknowledge quickly, update regularly</a:t>
            </a:r>
            <a:endParaRPr lang="en-US" sz="621" dirty="0"/>
          </a:p>
        </p:txBody>
      </p:sp>
      <p:sp>
        <p:nvSpPr>
          <p:cNvPr id="22" name="Text 18"/>
          <p:cNvSpPr/>
          <p:nvPr/>
        </p:nvSpPr>
        <p:spPr>
          <a:xfrm>
            <a:off x="4085332" y="2540161"/>
            <a:ext cx="230787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</a:t>
            </a:r>
            <a:r>
              <a:rPr lang="en-US" sz="584" b="1" dirty="0">
                <a:solidFill>
                  <a:srgbClr val="B8C5D6"/>
                </a:solidFill>
              </a:rPr>
              <a:t>Consistency:</a:t>
            </a:r>
            <a:r>
              <a:rPr lang="en-US" sz="621" dirty="0">
                <a:solidFill>
                  <a:srgbClr val="B8C5D6"/>
                </a:solidFill>
              </a:rPr>
              <a:t> Aligned messaging across all channels</a:t>
            </a:r>
            <a:endParaRPr lang="en-US" sz="621" dirty="0"/>
          </a:p>
        </p:txBody>
      </p:sp>
      <p:sp>
        <p:nvSpPr>
          <p:cNvPr id="23" name="Text 19"/>
          <p:cNvSpPr/>
          <p:nvPr/>
        </p:nvSpPr>
        <p:spPr>
          <a:xfrm>
            <a:off x="6436072" y="2540161"/>
            <a:ext cx="230787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</a:t>
            </a:r>
            <a:r>
              <a:rPr lang="en-US" sz="584" b="1" dirty="0">
                <a:solidFill>
                  <a:srgbClr val="B8C5D6"/>
                </a:solidFill>
              </a:rPr>
              <a:t>Empathy:</a:t>
            </a:r>
            <a:r>
              <a:rPr lang="en-US" sz="621" dirty="0">
                <a:solidFill>
                  <a:srgbClr val="B8C5D6"/>
                </a:solidFill>
              </a:rPr>
              <a:t> Genuine concern for affected stakeholders</a:t>
            </a:r>
            <a:endParaRPr lang="en-US" sz="621" dirty="0"/>
          </a:p>
        </p:txBody>
      </p:sp>
      <p:sp>
        <p:nvSpPr>
          <p:cNvPr id="24" name="Text 20"/>
          <p:cNvSpPr/>
          <p:nvPr/>
        </p:nvSpPr>
        <p:spPr>
          <a:xfrm>
            <a:off x="4085332" y="2703016"/>
            <a:ext cx="465861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</a:t>
            </a:r>
            <a:r>
              <a:rPr lang="en-US" sz="584" b="1" dirty="0">
                <a:solidFill>
                  <a:srgbClr val="B8C5D6"/>
                </a:solidFill>
              </a:rPr>
              <a:t>Continuous Learning:</a:t>
            </a:r>
            <a:r>
              <a:rPr lang="en-US" sz="621" dirty="0">
                <a:solidFill>
                  <a:srgbClr val="B8C5D6"/>
                </a:solidFill>
              </a:rPr>
              <a:t> Post-crisis review and plan updates</a:t>
            </a:r>
            <a:endParaRPr lang="en-US" sz="621" dirty="0"/>
          </a:p>
        </p:txBody>
      </p:sp>
      <p:sp>
        <p:nvSpPr>
          <p:cNvPr id="25" name="Text 21"/>
          <p:cNvSpPr/>
          <p:nvPr/>
        </p:nvSpPr>
        <p:spPr>
          <a:xfrm>
            <a:off x="4042470" y="2923022"/>
            <a:ext cx="474434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4757"/>
                </a:solidFill>
              </a:rPr>
              <a:t>COMMON PITFALLS TO AVOID</a:t>
            </a:r>
            <a:endParaRPr lang="en-US" sz="734" dirty="0"/>
          </a:p>
        </p:txBody>
      </p:sp>
      <p:sp>
        <p:nvSpPr>
          <p:cNvPr id="26" name="Shape 22"/>
          <p:cNvSpPr/>
          <p:nvPr/>
        </p:nvSpPr>
        <p:spPr>
          <a:xfrm>
            <a:off x="4042470" y="3112331"/>
            <a:ext cx="4744343" cy="545716"/>
          </a:xfrm>
          <a:prstGeom prst="rect">
            <a:avLst/>
          </a:prstGeom>
          <a:solidFill>
            <a:srgbClr val="FF4757">
              <a:alpha val="5000"/>
            </a:srgbClr>
          </a:solidFill>
          <a:ln w="9144">
            <a:solidFill>
              <a:srgbClr val="FF475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085332" y="3155193"/>
            <a:ext cx="230787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</a:t>
            </a:r>
            <a:r>
              <a:rPr lang="en-US" sz="584" b="1" dirty="0">
                <a:solidFill>
                  <a:srgbClr val="B8C5D6"/>
                </a:solidFill>
              </a:rPr>
              <a:t>Silence or Delay:</a:t>
            </a:r>
            <a:r>
              <a:rPr lang="en-US" sz="621" dirty="0">
                <a:solidFill>
                  <a:srgbClr val="B8C5D6"/>
                </a:solidFill>
              </a:rPr>
              <a:t> Vacuum fills with speculation</a:t>
            </a:r>
            <a:endParaRPr lang="en-US" sz="621" dirty="0"/>
          </a:p>
        </p:txBody>
      </p:sp>
      <p:sp>
        <p:nvSpPr>
          <p:cNvPr id="28" name="Text 24"/>
          <p:cNvSpPr/>
          <p:nvPr/>
        </p:nvSpPr>
        <p:spPr>
          <a:xfrm>
            <a:off x="6436072" y="3155193"/>
            <a:ext cx="230787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</a:t>
            </a:r>
            <a:r>
              <a:rPr lang="en-US" sz="584" b="1" dirty="0">
                <a:solidFill>
                  <a:srgbClr val="B8C5D6"/>
                </a:solidFill>
              </a:rPr>
              <a:t>Inconsistent Messages:</a:t>
            </a:r>
            <a:r>
              <a:rPr lang="en-US" sz="621" dirty="0">
                <a:solidFill>
                  <a:srgbClr val="B8C5D6"/>
                </a:solidFill>
              </a:rPr>
              <a:t> Erodes credibility and trust</a:t>
            </a:r>
            <a:endParaRPr lang="en-US" sz="621" dirty="0"/>
          </a:p>
        </p:txBody>
      </p:sp>
      <p:sp>
        <p:nvSpPr>
          <p:cNvPr id="29" name="Text 25"/>
          <p:cNvSpPr/>
          <p:nvPr/>
        </p:nvSpPr>
        <p:spPr>
          <a:xfrm>
            <a:off x="4085332" y="3318049"/>
            <a:ext cx="230787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</a:t>
            </a:r>
            <a:r>
              <a:rPr lang="en-US" sz="584" b="1" dirty="0">
                <a:solidFill>
                  <a:srgbClr val="B8C5D6"/>
                </a:solidFill>
              </a:rPr>
              <a:t>Defensive Posture:</a:t>
            </a:r>
            <a:r>
              <a:rPr lang="en-US" sz="621" dirty="0">
                <a:solidFill>
                  <a:srgbClr val="B8C5D6"/>
                </a:solidFill>
              </a:rPr>
              <a:t> Appears evasive or uncaring</a:t>
            </a:r>
            <a:endParaRPr lang="en-US" sz="621" dirty="0"/>
          </a:p>
        </p:txBody>
      </p:sp>
      <p:sp>
        <p:nvSpPr>
          <p:cNvPr id="30" name="Text 26"/>
          <p:cNvSpPr/>
          <p:nvPr/>
        </p:nvSpPr>
        <p:spPr>
          <a:xfrm>
            <a:off x="6436072" y="3318049"/>
            <a:ext cx="230787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</a:t>
            </a:r>
            <a:r>
              <a:rPr lang="en-US" sz="584" b="1" dirty="0">
                <a:solidFill>
                  <a:srgbClr val="B8C5D6"/>
                </a:solidFill>
              </a:rPr>
              <a:t>Ignoring Employees:</a:t>
            </a:r>
            <a:r>
              <a:rPr lang="en-US" sz="621" dirty="0">
                <a:solidFill>
                  <a:srgbClr val="B8C5D6"/>
                </a:solidFill>
              </a:rPr>
              <a:t> Turns advocates into critics</a:t>
            </a:r>
            <a:endParaRPr lang="en-US" sz="621" dirty="0"/>
          </a:p>
        </p:txBody>
      </p:sp>
      <p:sp>
        <p:nvSpPr>
          <p:cNvPr id="31" name="Text 27"/>
          <p:cNvSpPr/>
          <p:nvPr/>
        </p:nvSpPr>
        <p:spPr>
          <a:xfrm>
            <a:off x="4085332" y="3480904"/>
            <a:ext cx="465861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B8C5D6"/>
                </a:solidFill>
              </a:rPr>
              <a:t>• </a:t>
            </a:r>
            <a:r>
              <a:rPr lang="en-US" sz="584" b="1" dirty="0">
                <a:solidFill>
                  <a:srgbClr val="B8C5D6"/>
                </a:solidFill>
              </a:rPr>
              <a:t>No Follow-through:</a:t>
            </a:r>
            <a:r>
              <a:rPr lang="en-US" sz="621" dirty="0">
                <a:solidFill>
                  <a:srgbClr val="B8C5D6"/>
                </a:solidFill>
              </a:rPr>
              <a:t> Promises without action destroy reputation</a:t>
            </a:r>
            <a:endParaRPr lang="en-US" sz="621" dirty="0"/>
          </a:p>
        </p:txBody>
      </p:sp>
      <p:sp>
        <p:nvSpPr>
          <p:cNvPr id="32" name="Shape 28"/>
          <p:cNvSpPr/>
          <p:nvPr/>
        </p:nvSpPr>
        <p:spPr>
          <a:xfrm>
            <a:off x="4042470" y="3700909"/>
            <a:ext cx="4744343" cy="977940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085332" y="3743771"/>
            <a:ext cx="465861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NEXT STEPS: IMPLEMENTING YOUR CRISIS COMMUNICATION PROGRAM</a:t>
            </a:r>
            <a:endParaRPr lang="en-US" sz="734" dirty="0"/>
          </a:p>
        </p:txBody>
      </p:sp>
      <p:sp>
        <p:nvSpPr>
          <p:cNvPr id="34" name="Text 30"/>
          <p:cNvSpPr/>
          <p:nvPr/>
        </p:nvSpPr>
        <p:spPr>
          <a:xfrm>
            <a:off x="4085332" y="3933081"/>
            <a:ext cx="15052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1</a:t>
            </a:r>
            <a:endParaRPr lang="en-US" sz="885" dirty="0"/>
          </a:p>
        </p:txBody>
      </p:sp>
      <p:sp>
        <p:nvSpPr>
          <p:cNvPr id="35" name="Text 31"/>
          <p:cNvSpPr/>
          <p:nvPr/>
        </p:nvSpPr>
        <p:spPr>
          <a:xfrm>
            <a:off x="4085332" y="4140250"/>
            <a:ext cx="150523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B8C5D6"/>
                </a:solidFill>
              </a:rPr>
              <a:t>Develop Your Plan</a:t>
            </a:r>
            <a:endParaRPr lang="en-US" sz="634" dirty="0"/>
          </a:p>
        </p:txBody>
      </p:sp>
      <p:sp>
        <p:nvSpPr>
          <p:cNvPr id="36" name="Text 32"/>
          <p:cNvSpPr/>
          <p:nvPr/>
        </p:nvSpPr>
        <p:spPr>
          <a:xfrm>
            <a:off x="4085332" y="4277404"/>
            <a:ext cx="1505238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B8C5D6"/>
                </a:solidFill>
              </a:rPr>
              <a:t>Create crisis communication plan with team structure, templates, and protocols</a:t>
            </a:r>
            <a:endParaRPr lang="en-US" sz="568" dirty="0"/>
          </a:p>
        </p:txBody>
      </p:sp>
      <p:sp>
        <p:nvSpPr>
          <p:cNvPr id="37" name="Text 33"/>
          <p:cNvSpPr/>
          <p:nvPr/>
        </p:nvSpPr>
        <p:spPr>
          <a:xfrm>
            <a:off x="5662008" y="3933081"/>
            <a:ext cx="15052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2</a:t>
            </a:r>
            <a:endParaRPr lang="en-US" sz="885" dirty="0"/>
          </a:p>
        </p:txBody>
      </p:sp>
      <p:sp>
        <p:nvSpPr>
          <p:cNvPr id="38" name="Text 34"/>
          <p:cNvSpPr/>
          <p:nvPr/>
        </p:nvSpPr>
        <p:spPr>
          <a:xfrm>
            <a:off x="5662008" y="4140250"/>
            <a:ext cx="150523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B8C5D6"/>
                </a:solidFill>
              </a:rPr>
              <a:t>Train Your Team</a:t>
            </a:r>
            <a:endParaRPr lang="en-US" sz="634" dirty="0"/>
          </a:p>
        </p:txBody>
      </p:sp>
      <p:sp>
        <p:nvSpPr>
          <p:cNvPr id="39" name="Text 35"/>
          <p:cNvSpPr/>
          <p:nvPr/>
        </p:nvSpPr>
        <p:spPr>
          <a:xfrm>
            <a:off x="5662008" y="4277404"/>
            <a:ext cx="1505238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B8C5D6"/>
                </a:solidFill>
              </a:rPr>
              <a:t>Spokesperson training, media relations, social media management</a:t>
            </a:r>
            <a:endParaRPr lang="en-US" sz="568" dirty="0"/>
          </a:p>
        </p:txBody>
      </p:sp>
      <p:sp>
        <p:nvSpPr>
          <p:cNvPr id="40" name="Text 36"/>
          <p:cNvSpPr/>
          <p:nvPr/>
        </p:nvSpPr>
        <p:spPr>
          <a:xfrm>
            <a:off x="7238684" y="3933081"/>
            <a:ext cx="15052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3</a:t>
            </a:r>
            <a:endParaRPr lang="en-US" sz="885" dirty="0"/>
          </a:p>
        </p:txBody>
      </p:sp>
      <p:sp>
        <p:nvSpPr>
          <p:cNvPr id="41" name="Text 37"/>
          <p:cNvSpPr/>
          <p:nvPr/>
        </p:nvSpPr>
        <p:spPr>
          <a:xfrm>
            <a:off x="7238684" y="4140250"/>
            <a:ext cx="150523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B8C5D6"/>
                </a:solidFill>
              </a:rPr>
              <a:t>Test Regularly</a:t>
            </a:r>
            <a:endParaRPr lang="en-US" sz="634" dirty="0"/>
          </a:p>
        </p:txBody>
      </p:sp>
      <p:sp>
        <p:nvSpPr>
          <p:cNvPr id="42" name="Text 38"/>
          <p:cNvSpPr/>
          <p:nvPr/>
        </p:nvSpPr>
        <p:spPr>
          <a:xfrm>
            <a:off x="7238684" y="4277404"/>
            <a:ext cx="1505238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B8C5D6"/>
                </a:solidFill>
              </a:rPr>
              <a:t>Tabletop exercises, simulations, and annual plan reviews</a:t>
            </a:r>
            <a:endParaRPr lang="en-US" sz="568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8429625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00D9FF"/>
                </a:solidFill>
              </a:rPr>
              <a:t>Thank You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357188" y="798649"/>
            <a:ext cx="8429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B8C5D6"/>
                </a:solidFill>
              </a:rPr>
              <a:t>GRC105 - Incident Management and Business Continuity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357188" y="1062968"/>
            <a:ext cx="84296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B020"/>
                </a:solidFill>
              </a:rPr>
              <a:t>Crisis Communication and Stakeholder Management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357188" y="1448730"/>
            <a:ext cx="8429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KEY RESOURCES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357188" y="1691618"/>
            <a:ext cx="2714625" cy="1364456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2913" y="1777343"/>
            <a:ext cx="2543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FRAMEWORKS &amp; STANDARDS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42913" y="2020230"/>
            <a:ext cx="2543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</a:t>
            </a:r>
            <a:r>
              <a:rPr lang="en-US" sz="634" b="1" dirty="0">
                <a:solidFill>
                  <a:srgbClr val="B8C5D6"/>
                </a:solidFill>
              </a:rPr>
              <a:t>SCCT:</a:t>
            </a:r>
            <a:r>
              <a:rPr lang="en-US" sz="674" dirty="0">
                <a:solidFill>
                  <a:srgbClr val="B8C5D6"/>
                </a:solidFill>
              </a:rPr>
              <a:t> Situational Crisis Communication Theory by W. Timothy Coombs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42913" y="2327411"/>
            <a:ext cx="2543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</a:t>
            </a:r>
            <a:r>
              <a:rPr lang="en-US" sz="634" b="1" dirty="0">
                <a:solidFill>
                  <a:srgbClr val="B8C5D6"/>
                </a:solidFill>
              </a:rPr>
              <a:t>NIST SP 800-61:</a:t>
            </a:r>
            <a:r>
              <a:rPr lang="en-US" sz="674" dirty="0">
                <a:solidFill>
                  <a:srgbClr val="B8C5D6"/>
                </a:solidFill>
              </a:rPr>
              <a:t> Computer Security Incident Handling Guide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442913" y="2634593"/>
            <a:ext cx="2543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</a:t>
            </a:r>
            <a:r>
              <a:rPr lang="en-US" sz="634" b="1" dirty="0">
                <a:solidFill>
                  <a:srgbClr val="B8C5D6"/>
                </a:solidFill>
              </a:rPr>
              <a:t>ISO 22301:</a:t>
            </a:r>
            <a:r>
              <a:rPr lang="en-US" sz="674" dirty="0">
                <a:solidFill>
                  <a:srgbClr val="B8C5D6"/>
                </a:solidFill>
              </a:rPr>
              <a:t> Business Continuity Management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442913" y="2802471"/>
            <a:ext cx="2543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</a:t>
            </a:r>
            <a:r>
              <a:rPr lang="en-US" sz="634" b="1" dirty="0">
                <a:solidFill>
                  <a:srgbClr val="B8C5D6"/>
                </a:solidFill>
              </a:rPr>
              <a:t>CISA:</a:t>
            </a:r>
            <a:r>
              <a:rPr lang="en-US" sz="674" dirty="0">
                <a:solidFill>
                  <a:srgbClr val="B8C5D6"/>
                </a:solidFill>
              </a:rPr>
              <a:t> Crisis Communication Resources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3214688" y="1691618"/>
            <a:ext cx="2714625" cy="1364456"/>
          </a:xfrm>
          <a:prstGeom prst="rect">
            <a:avLst/>
          </a:prstGeom>
          <a:solidFill>
            <a:srgbClr val="FFB020">
              <a:alpha val="5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00413" y="1777343"/>
            <a:ext cx="2543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B020"/>
                </a:solidFill>
              </a:rPr>
              <a:t>TOOLS &amp; PLATFORMS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3300413" y="2020230"/>
            <a:ext cx="2543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</a:t>
            </a:r>
            <a:r>
              <a:rPr lang="en-US" sz="634" b="1" dirty="0">
                <a:solidFill>
                  <a:srgbClr val="B8C5D6"/>
                </a:solidFill>
              </a:rPr>
              <a:t>Social Media Monitoring:</a:t>
            </a:r>
            <a:r>
              <a:rPr lang="en-US" sz="674" dirty="0">
                <a:solidFill>
                  <a:srgbClr val="B8C5D6"/>
                </a:solidFill>
              </a:rPr>
              <a:t> Brandwatch, Sprout Social, Hootsuite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3300413" y="2327411"/>
            <a:ext cx="2543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</a:t>
            </a:r>
            <a:r>
              <a:rPr lang="en-US" sz="634" b="1" dirty="0">
                <a:solidFill>
                  <a:srgbClr val="B8C5D6"/>
                </a:solidFill>
              </a:rPr>
              <a:t>Crisis Management:</a:t>
            </a:r>
            <a:r>
              <a:rPr lang="en-US" sz="674" dirty="0">
                <a:solidFill>
                  <a:srgbClr val="B8C5D6"/>
                </a:solidFill>
              </a:rPr>
              <a:t> Everbridge, OnSolve, AlertMedia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3300413" y="2495290"/>
            <a:ext cx="2543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</a:t>
            </a:r>
            <a:r>
              <a:rPr lang="en-US" sz="634" b="1" dirty="0">
                <a:solidFill>
                  <a:srgbClr val="B8C5D6"/>
                </a:solidFill>
              </a:rPr>
              <a:t>Status Pages:</a:t>
            </a:r>
            <a:r>
              <a:rPr lang="en-US" sz="674" dirty="0">
                <a:solidFill>
                  <a:srgbClr val="B8C5D6"/>
                </a:solidFill>
              </a:rPr>
              <a:t> StatusPage.io, Atlassian Statuspage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3300413" y="2663168"/>
            <a:ext cx="2543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</a:t>
            </a:r>
            <a:r>
              <a:rPr lang="en-US" sz="634" b="1" dirty="0">
                <a:solidFill>
                  <a:srgbClr val="B8C5D6"/>
                </a:solidFill>
              </a:rPr>
              <a:t>Communication:</a:t>
            </a:r>
            <a:r>
              <a:rPr lang="en-US" sz="674" dirty="0">
                <a:solidFill>
                  <a:srgbClr val="B8C5D6"/>
                </a:solidFill>
              </a:rPr>
              <a:t> Slack, Microsoft Teams, Zoom</a:t>
            </a:r>
            <a:endParaRPr lang="en-US" sz="674" dirty="0"/>
          </a:p>
        </p:txBody>
      </p:sp>
      <p:sp>
        <p:nvSpPr>
          <p:cNvPr id="19" name="Shape 16"/>
          <p:cNvSpPr/>
          <p:nvPr/>
        </p:nvSpPr>
        <p:spPr>
          <a:xfrm>
            <a:off x="6072188" y="1691618"/>
            <a:ext cx="2714625" cy="1364456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57913" y="1777343"/>
            <a:ext cx="2543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LEARNING RESOURCES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6157913" y="2020230"/>
            <a:ext cx="2543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</a:t>
            </a:r>
            <a:r>
              <a:rPr lang="en-US" sz="634" b="1" dirty="0">
                <a:solidFill>
                  <a:srgbClr val="B8C5D6"/>
                </a:solidFill>
              </a:rPr>
              <a:t>Books:</a:t>
            </a:r>
            <a:r>
              <a:rPr lang="en-US" sz="674" dirty="0">
                <a:solidFill>
                  <a:srgbClr val="B8C5D6"/>
                </a:solidFill>
              </a:rPr>
              <a:t> "Ongoing Crisis Communication" by W. Timothy Coombs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6157913" y="2327411"/>
            <a:ext cx="2543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</a:t>
            </a:r>
            <a:r>
              <a:rPr lang="en-US" sz="634" b="1" dirty="0">
                <a:solidFill>
                  <a:srgbClr val="B8C5D6"/>
                </a:solidFill>
              </a:rPr>
              <a:t>Organizations:</a:t>
            </a:r>
            <a:r>
              <a:rPr lang="en-US" sz="674" dirty="0">
                <a:solidFill>
                  <a:srgbClr val="B8C5D6"/>
                </a:solidFill>
              </a:rPr>
              <a:t> PRSA, IABC, Crisis Communication Network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6157913" y="2634593"/>
            <a:ext cx="2543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</a:t>
            </a:r>
            <a:r>
              <a:rPr lang="en-US" sz="634" b="1" dirty="0">
                <a:solidFill>
                  <a:srgbClr val="B8C5D6"/>
                </a:solidFill>
              </a:rPr>
              <a:t>Training:</a:t>
            </a:r>
            <a:r>
              <a:rPr lang="en-US" sz="674" dirty="0">
                <a:solidFill>
                  <a:srgbClr val="B8C5D6"/>
                </a:solidFill>
              </a:rPr>
              <a:t> Media training, spokesperson certification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6157913" y="2802471"/>
            <a:ext cx="2543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• </a:t>
            </a:r>
            <a:r>
              <a:rPr lang="en-US" sz="634" b="1" dirty="0">
                <a:solidFill>
                  <a:srgbClr val="B8C5D6"/>
                </a:solidFill>
              </a:rPr>
              <a:t>Case Studies:</a:t>
            </a:r>
            <a:r>
              <a:rPr lang="en-US" sz="674" dirty="0">
                <a:solidFill>
                  <a:srgbClr val="B8C5D6"/>
                </a:solidFill>
              </a:rPr>
              <a:t> Harvard Business Review, PR News</a:t>
            </a:r>
            <a:endParaRPr lang="en-US" sz="674" dirty="0"/>
          </a:p>
        </p:txBody>
      </p:sp>
      <p:sp>
        <p:nvSpPr>
          <p:cNvPr id="25" name="Shape 22"/>
          <p:cNvSpPr/>
          <p:nvPr/>
        </p:nvSpPr>
        <p:spPr>
          <a:xfrm>
            <a:off x="357188" y="3184661"/>
            <a:ext cx="8429625" cy="1243013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3284674"/>
            <a:ext cx="82296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D9FF"/>
                </a:solidFill>
              </a:rPr>
              <a:t>QUESTIONS AND DISCUSSION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457200" y="3670436"/>
            <a:ext cx="8229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B8C5D6"/>
                </a:solidFill>
              </a:rPr>
              <a:t>What crisis communication challenges are you facing in your organization?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457200" y="3899036"/>
            <a:ext cx="8229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B8C5D6"/>
                </a:solidFill>
              </a:rPr>
              <a:t>How can you apply these frameworks and best practices to your context?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57200" y="4127636"/>
            <a:ext cx="8229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B8C5D6"/>
                </a:solidFill>
              </a:rPr>
              <a:t>What steps will you take to strengthen your crisis communication capabilities?</a:t>
            </a:r>
            <a:endParaRPr lang="en-US" sz="834" dirty="0"/>
          </a:p>
        </p:txBody>
      </p:sp>
      <p:sp>
        <p:nvSpPr>
          <p:cNvPr id="30" name="Shape 27"/>
          <p:cNvSpPr/>
          <p:nvPr/>
        </p:nvSpPr>
        <p:spPr>
          <a:xfrm>
            <a:off x="357188" y="4527686"/>
            <a:ext cx="4143375" cy="553641"/>
          </a:xfrm>
          <a:prstGeom prst="rect">
            <a:avLst/>
          </a:prstGeom>
          <a:solidFill>
            <a:srgbClr val="FFB020">
              <a:alpha val="5000"/>
            </a:srgbClr>
          </a:solidFill>
          <a:ln w="18288">
            <a:solidFill>
              <a:srgbClr val="FFB02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2913" y="4613411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B020"/>
                </a:solidFill>
              </a:rPr>
              <a:t>INTERNATIONAL CYBERSECURITY AND DIGITAL FORENSICS ACADEMY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442913" y="4827724"/>
            <a:ext cx="39719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GRC105 - Incident Management and Business Continuity</a:t>
            </a:r>
            <a:endParaRPr lang="en-US" sz="674" dirty="0"/>
          </a:p>
        </p:txBody>
      </p:sp>
      <p:sp>
        <p:nvSpPr>
          <p:cNvPr id="33" name="Shape 30"/>
          <p:cNvSpPr/>
          <p:nvPr/>
        </p:nvSpPr>
        <p:spPr>
          <a:xfrm>
            <a:off x="4643438" y="4527686"/>
            <a:ext cx="4143375" cy="553641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29163" y="4613411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NEXT WEEK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4729163" y="4827724"/>
            <a:ext cx="39719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B8C5D6"/>
                </a:solidFill>
              </a:rPr>
              <a:t>Continue building your organizational resilience capabilities</a:t>
            </a:r>
            <a:endParaRPr lang="en-US" sz="67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3982</Words>
  <Application>Microsoft Office PowerPoint</Application>
  <PresentationFormat>On-screen Show (16:9)</PresentationFormat>
  <Paragraphs>647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Aminu Idris</cp:lastModifiedBy>
  <cp:revision>2</cp:revision>
  <dcterms:created xsi:type="dcterms:W3CDTF">2025-11-19T16:53:41Z</dcterms:created>
  <dcterms:modified xsi:type="dcterms:W3CDTF">2025-12-31T01:29:40Z</dcterms:modified>
</cp:coreProperties>
</file>